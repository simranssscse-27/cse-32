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8"/>
  </p:notesMasterIdLst>
  <p:sldIdLst>
    <p:sldId id="350" r:id="rId2"/>
    <p:sldId id="376" r:id="rId3"/>
    <p:sldId id="578" r:id="rId4"/>
    <p:sldId id="579" r:id="rId5"/>
    <p:sldId id="263" r:id="rId6"/>
    <p:sldId id="264" r:id="rId7"/>
    <p:sldId id="278" r:id="rId8"/>
    <p:sldId id="279" r:id="rId9"/>
    <p:sldId id="280" r:id="rId10"/>
    <p:sldId id="266" r:id="rId11"/>
    <p:sldId id="267" r:id="rId12"/>
    <p:sldId id="274" r:id="rId13"/>
    <p:sldId id="268" r:id="rId14"/>
    <p:sldId id="269" r:id="rId15"/>
    <p:sldId id="270" r:id="rId16"/>
    <p:sldId id="271" r:id="rId17"/>
    <p:sldId id="262" r:id="rId18"/>
    <p:sldId id="580" r:id="rId19"/>
    <p:sldId id="581" r:id="rId20"/>
    <p:sldId id="582" r:id="rId21"/>
    <p:sldId id="277" r:id="rId22"/>
    <p:sldId id="276" r:id="rId23"/>
    <p:sldId id="597" r:id="rId24"/>
    <p:sldId id="598" r:id="rId25"/>
    <p:sldId id="611" r:id="rId26"/>
    <p:sldId id="610" r:id="rId27"/>
    <p:sldId id="589" r:id="rId28"/>
    <p:sldId id="587" r:id="rId29"/>
    <p:sldId id="590" r:id="rId30"/>
    <p:sldId id="603" r:id="rId31"/>
    <p:sldId id="604" r:id="rId32"/>
    <p:sldId id="606" r:id="rId33"/>
    <p:sldId id="592" r:id="rId34"/>
    <p:sldId id="605" r:id="rId35"/>
    <p:sldId id="607" r:id="rId36"/>
    <p:sldId id="612" r:id="rId37"/>
    <p:sldId id="613" r:id="rId38"/>
    <p:sldId id="608" r:id="rId39"/>
    <p:sldId id="378" r:id="rId40"/>
    <p:sldId id="614" r:id="rId41"/>
    <p:sldId id="615" r:id="rId42"/>
    <p:sldId id="273" r:id="rId43"/>
    <p:sldId id="384" r:id="rId44"/>
    <p:sldId id="379" r:id="rId45"/>
    <p:sldId id="380" r:id="rId46"/>
    <p:sldId id="616" r:id="rId47"/>
    <p:sldId id="617" r:id="rId48"/>
    <p:sldId id="382" r:id="rId49"/>
    <p:sldId id="618" r:id="rId50"/>
    <p:sldId id="619" r:id="rId51"/>
    <p:sldId id="385" r:id="rId52"/>
    <p:sldId id="620" r:id="rId53"/>
    <p:sldId id="621" r:id="rId54"/>
    <p:sldId id="272" r:id="rId55"/>
    <p:sldId id="383" r:id="rId56"/>
    <p:sldId id="622" r:id="rId57"/>
    <p:sldId id="386" r:id="rId58"/>
    <p:sldId id="387" r:id="rId59"/>
    <p:sldId id="389" r:id="rId60"/>
    <p:sldId id="256" r:id="rId61"/>
    <p:sldId id="393" r:id="rId62"/>
    <p:sldId id="394" r:id="rId63"/>
    <p:sldId id="395" r:id="rId64"/>
    <p:sldId id="396" r:id="rId65"/>
    <p:sldId id="259" r:id="rId66"/>
    <p:sldId id="265" r:id="rId67"/>
    <p:sldId id="260" r:id="rId68"/>
    <p:sldId id="623" r:id="rId69"/>
    <p:sldId id="390" r:id="rId70"/>
    <p:sldId id="311" r:id="rId71"/>
    <p:sldId id="624" r:id="rId72"/>
    <p:sldId id="625" r:id="rId73"/>
    <p:sldId id="626" r:id="rId74"/>
    <p:sldId id="553" r:id="rId75"/>
    <p:sldId id="627" r:id="rId76"/>
    <p:sldId id="554" r:id="rId77"/>
    <p:sldId id="555" r:id="rId78"/>
    <p:sldId id="556" r:id="rId79"/>
    <p:sldId id="557" r:id="rId80"/>
    <p:sldId id="559" r:id="rId81"/>
    <p:sldId id="572" r:id="rId82"/>
    <p:sldId id="573" r:id="rId83"/>
    <p:sldId id="575" r:id="rId84"/>
    <p:sldId id="576" r:id="rId85"/>
    <p:sldId id="577" r:id="rId86"/>
    <p:sldId id="628"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D54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46" autoAdjust="0"/>
    <p:restoredTop sz="95256" autoAdjust="0"/>
  </p:normalViewPr>
  <p:slideViewPr>
    <p:cSldViewPr>
      <p:cViewPr varScale="1">
        <p:scale>
          <a:sx n="68" d="100"/>
          <a:sy n="68" d="100"/>
        </p:scale>
        <p:origin x="764" y="68"/>
      </p:cViewPr>
      <p:guideLst>
        <p:guide orient="horz" pos="2160"/>
        <p:guide pos="384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84" Type="http://schemas.openxmlformats.org/officeDocument/2006/relationships/slide" Target="slides/slide83.xml"/><Relationship Id="rId89"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microsoft.com/office/2016/11/relationships/changesInfo" Target="changesInfos/changesInfo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notesMaster" Target="notesMasters/notesMaster1.xml"/><Relationship Id="rId9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gar Aeri" userId="bd00f59c150191bf" providerId="LiveId" clId="{384B88AF-9363-49A8-BB6B-6BA1A7A5E50D}"/>
    <pc:docChg chg="undo custSel addSld delSld modSld sldOrd">
      <pc:chgData name="Sagar Aeri" userId="bd00f59c150191bf" providerId="LiveId" clId="{384B88AF-9363-49A8-BB6B-6BA1A7A5E50D}" dt="2025-08-28T06:43:26.759" v="560" actId="1076"/>
      <pc:docMkLst>
        <pc:docMk/>
      </pc:docMkLst>
      <pc:sldChg chg="modSp add del mod modTransition">
        <pc:chgData name="Sagar Aeri" userId="bd00f59c150191bf" providerId="LiveId" clId="{384B88AF-9363-49A8-BB6B-6BA1A7A5E50D}" dt="2025-08-25T07:38:59.632" v="153" actId="47"/>
        <pc:sldMkLst>
          <pc:docMk/>
          <pc:sldMk cId="0" sldId="256"/>
        </pc:sldMkLst>
      </pc:sldChg>
      <pc:sldChg chg="modSp add mod modTransition">
        <pc:chgData name="Sagar Aeri" userId="bd00f59c150191bf" providerId="LiveId" clId="{384B88AF-9363-49A8-BB6B-6BA1A7A5E50D}" dt="2025-08-25T07:34:15.995" v="145" actId="1076"/>
        <pc:sldMkLst>
          <pc:docMk/>
          <pc:sldMk cId="3254524249" sldId="262"/>
        </pc:sldMkLst>
        <pc:spChg chg="mod">
          <ac:chgData name="Sagar Aeri" userId="bd00f59c150191bf" providerId="LiveId" clId="{384B88AF-9363-49A8-BB6B-6BA1A7A5E50D}" dt="2025-08-25T07:34:15.995" v="145" actId="1076"/>
          <ac:spMkLst>
            <pc:docMk/>
            <pc:sldMk cId="3254524249" sldId="262"/>
            <ac:spMk id="3" creationId="{3E3E3A24-DA19-48EA-8D8E-9F20F8548E11}"/>
          </ac:spMkLst>
        </pc:spChg>
      </pc:sldChg>
      <pc:sldChg chg="modSp add mod modTransition">
        <pc:chgData name="Sagar Aeri" userId="bd00f59c150191bf" providerId="LiveId" clId="{384B88AF-9363-49A8-BB6B-6BA1A7A5E50D}" dt="2025-08-25T07:26:22.209" v="103" actId="14100"/>
        <pc:sldMkLst>
          <pc:docMk/>
          <pc:sldMk cId="773627265" sldId="263"/>
        </pc:sldMkLst>
        <pc:spChg chg="mod">
          <ac:chgData name="Sagar Aeri" userId="bd00f59c150191bf" providerId="LiveId" clId="{384B88AF-9363-49A8-BB6B-6BA1A7A5E50D}" dt="2025-08-25T07:26:22.209" v="103" actId="14100"/>
          <ac:spMkLst>
            <pc:docMk/>
            <pc:sldMk cId="773627265" sldId="263"/>
            <ac:spMk id="9" creationId="{1F75C647-80DA-40D2-A726-49C44F084489}"/>
          </ac:spMkLst>
        </pc:spChg>
      </pc:sldChg>
      <pc:sldChg chg="modSp add mod modTransition">
        <pc:chgData name="Sagar Aeri" userId="bd00f59c150191bf" providerId="LiveId" clId="{384B88AF-9363-49A8-BB6B-6BA1A7A5E50D}" dt="2025-08-25T07:27:23.589" v="105" actId="1076"/>
        <pc:sldMkLst>
          <pc:docMk/>
          <pc:sldMk cId="2799726311" sldId="264"/>
        </pc:sldMkLst>
        <pc:spChg chg="mod">
          <ac:chgData name="Sagar Aeri" userId="bd00f59c150191bf" providerId="LiveId" clId="{384B88AF-9363-49A8-BB6B-6BA1A7A5E50D}" dt="2025-08-25T07:27:23.589" v="105" actId="1076"/>
          <ac:spMkLst>
            <pc:docMk/>
            <pc:sldMk cId="2799726311" sldId="264"/>
            <ac:spMk id="3" creationId="{E9A876DB-1D2D-45B6-8F0C-2231D7CD1BD4}"/>
          </ac:spMkLst>
        </pc:spChg>
      </pc:sldChg>
      <pc:sldChg chg="modSp add del mod modTransition">
        <pc:chgData name="Sagar Aeri" userId="bd00f59c150191bf" providerId="LiveId" clId="{384B88AF-9363-49A8-BB6B-6BA1A7A5E50D}" dt="2025-08-25T08:05:27.881" v="293" actId="47"/>
        <pc:sldMkLst>
          <pc:docMk/>
          <pc:sldMk cId="3342120860" sldId="265"/>
        </pc:sldMkLst>
      </pc:sldChg>
      <pc:sldChg chg="add modTransition">
        <pc:chgData name="Sagar Aeri" userId="bd00f59c150191bf" providerId="LiveId" clId="{384B88AF-9363-49A8-BB6B-6BA1A7A5E50D}" dt="2025-08-25T07:27:00.872" v="104"/>
        <pc:sldMkLst>
          <pc:docMk/>
          <pc:sldMk cId="1627604271" sldId="266"/>
        </pc:sldMkLst>
      </pc:sldChg>
      <pc:sldChg chg="add modTransition">
        <pc:chgData name="Sagar Aeri" userId="bd00f59c150191bf" providerId="LiveId" clId="{384B88AF-9363-49A8-BB6B-6BA1A7A5E50D}" dt="2025-08-25T07:27:00.872" v="104"/>
        <pc:sldMkLst>
          <pc:docMk/>
          <pc:sldMk cId="519617742" sldId="267"/>
        </pc:sldMkLst>
      </pc:sldChg>
      <pc:sldChg chg="add modTransition">
        <pc:chgData name="Sagar Aeri" userId="bd00f59c150191bf" providerId="LiveId" clId="{384B88AF-9363-49A8-BB6B-6BA1A7A5E50D}" dt="2025-08-25T07:27:00.872" v="104"/>
        <pc:sldMkLst>
          <pc:docMk/>
          <pc:sldMk cId="0" sldId="268"/>
        </pc:sldMkLst>
      </pc:sldChg>
      <pc:sldChg chg="add modTransition">
        <pc:chgData name="Sagar Aeri" userId="bd00f59c150191bf" providerId="LiveId" clId="{384B88AF-9363-49A8-BB6B-6BA1A7A5E50D}" dt="2025-08-25T07:27:00.872" v="104"/>
        <pc:sldMkLst>
          <pc:docMk/>
          <pc:sldMk cId="0" sldId="269"/>
        </pc:sldMkLst>
      </pc:sldChg>
      <pc:sldChg chg="add modTransition">
        <pc:chgData name="Sagar Aeri" userId="bd00f59c150191bf" providerId="LiveId" clId="{384B88AF-9363-49A8-BB6B-6BA1A7A5E50D}" dt="2025-08-25T07:27:00.872" v="104"/>
        <pc:sldMkLst>
          <pc:docMk/>
          <pc:sldMk cId="0" sldId="270"/>
        </pc:sldMkLst>
      </pc:sldChg>
      <pc:sldChg chg="add modTransition">
        <pc:chgData name="Sagar Aeri" userId="bd00f59c150191bf" providerId="LiveId" clId="{384B88AF-9363-49A8-BB6B-6BA1A7A5E50D}" dt="2025-08-25T07:27:00.872" v="104"/>
        <pc:sldMkLst>
          <pc:docMk/>
          <pc:sldMk cId="0" sldId="271"/>
        </pc:sldMkLst>
      </pc:sldChg>
      <pc:sldChg chg="add del modTransition">
        <pc:chgData name="Sagar Aeri" userId="bd00f59c150191bf" providerId="LiveId" clId="{384B88AF-9363-49A8-BB6B-6BA1A7A5E50D}" dt="2025-08-25T08:12:56.830" v="359" actId="47"/>
        <pc:sldMkLst>
          <pc:docMk/>
          <pc:sldMk cId="0" sldId="272"/>
        </pc:sldMkLst>
      </pc:sldChg>
      <pc:sldChg chg="add del modTransition">
        <pc:chgData name="Sagar Aeri" userId="bd00f59c150191bf" providerId="LiveId" clId="{384B88AF-9363-49A8-BB6B-6BA1A7A5E50D}" dt="2025-08-25T08:05:45.781" v="294" actId="47"/>
        <pc:sldMkLst>
          <pc:docMk/>
          <pc:sldMk cId="0" sldId="273"/>
        </pc:sldMkLst>
      </pc:sldChg>
      <pc:sldChg chg="add modTransition">
        <pc:chgData name="Sagar Aeri" userId="bd00f59c150191bf" providerId="LiveId" clId="{384B88AF-9363-49A8-BB6B-6BA1A7A5E50D}" dt="2025-08-25T07:27:00.872" v="104"/>
        <pc:sldMkLst>
          <pc:docMk/>
          <pc:sldMk cId="2751754266" sldId="274"/>
        </pc:sldMkLst>
      </pc:sldChg>
      <pc:sldChg chg="add del modTransition">
        <pc:chgData name="Sagar Aeri" userId="bd00f59c150191bf" providerId="LiveId" clId="{384B88AF-9363-49A8-BB6B-6BA1A7A5E50D}" dt="2025-08-25T08:05:57.466" v="295" actId="47"/>
        <pc:sldMkLst>
          <pc:docMk/>
          <pc:sldMk cId="0" sldId="275"/>
        </pc:sldMkLst>
      </pc:sldChg>
      <pc:sldChg chg="modSp add mod ord modTransition">
        <pc:chgData name="Sagar Aeri" userId="bd00f59c150191bf" providerId="LiveId" clId="{384B88AF-9363-49A8-BB6B-6BA1A7A5E50D}" dt="2025-08-25T08:07:44.952" v="317"/>
        <pc:sldMkLst>
          <pc:docMk/>
          <pc:sldMk cId="0" sldId="276"/>
        </pc:sldMkLst>
        <pc:spChg chg="mod">
          <ac:chgData name="Sagar Aeri" userId="bd00f59c150191bf" providerId="LiveId" clId="{384B88AF-9363-49A8-BB6B-6BA1A7A5E50D}" dt="2025-08-25T08:07:32.012" v="313" actId="20577"/>
          <ac:spMkLst>
            <pc:docMk/>
            <pc:sldMk cId="0" sldId="276"/>
            <ac:spMk id="2" creationId="{00000000-0000-0000-0000-000000000000}"/>
          </ac:spMkLst>
        </pc:spChg>
        <pc:spChg chg="mod">
          <ac:chgData name="Sagar Aeri" userId="bd00f59c150191bf" providerId="LiveId" clId="{384B88AF-9363-49A8-BB6B-6BA1A7A5E50D}" dt="2025-08-25T07:33:57.934" v="140" actId="27636"/>
          <ac:spMkLst>
            <pc:docMk/>
            <pc:sldMk cId="0" sldId="276"/>
            <ac:spMk id="3" creationId="{00000000-0000-0000-0000-000000000000}"/>
          </ac:spMkLst>
        </pc:spChg>
      </pc:sldChg>
      <pc:sldChg chg="addSp delSp modSp add mod modTransition">
        <pc:chgData name="Sagar Aeri" userId="bd00f59c150191bf" providerId="LiveId" clId="{384B88AF-9363-49A8-BB6B-6BA1A7A5E50D}" dt="2025-08-25T07:40:37.338" v="160" actId="1076"/>
        <pc:sldMkLst>
          <pc:docMk/>
          <pc:sldMk cId="0" sldId="277"/>
        </pc:sldMkLst>
        <pc:picChg chg="add mod">
          <ac:chgData name="Sagar Aeri" userId="bd00f59c150191bf" providerId="LiveId" clId="{384B88AF-9363-49A8-BB6B-6BA1A7A5E50D}" dt="2025-08-25T07:40:37.338" v="160" actId="1076"/>
          <ac:picMkLst>
            <pc:docMk/>
            <pc:sldMk cId="0" sldId="277"/>
            <ac:picMk id="3" creationId="{7707E0C3-901A-4B08-2FE8-0E7203735EC0}"/>
          </ac:picMkLst>
        </pc:picChg>
      </pc:sldChg>
      <pc:sldChg chg="modSp add mod modTransition">
        <pc:chgData name="Sagar Aeri" userId="bd00f59c150191bf" providerId="LiveId" clId="{384B88AF-9363-49A8-BB6B-6BA1A7A5E50D}" dt="2025-08-25T07:27:40.971" v="106" actId="1076"/>
        <pc:sldMkLst>
          <pc:docMk/>
          <pc:sldMk cId="148436346" sldId="278"/>
        </pc:sldMkLst>
        <pc:spChg chg="mod">
          <ac:chgData name="Sagar Aeri" userId="bd00f59c150191bf" providerId="LiveId" clId="{384B88AF-9363-49A8-BB6B-6BA1A7A5E50D}" dt="2025-08-25T07:27:40.971" v="106" actId="1076"/>
          <ac:spMkLst>
            <pc:docMk/>
            <pc:sldMk cId="148436346" sldId="278"/>
            <ac:spMk id="2" creationId="{3F85FDCA-D8E0-40A2-8E77-0732143E940F}"/>
          </ac:spMkLst>
        </pc:spChg>
      </pc:sldChg>
      <pc:sldChg chg="add modTransition">
        <pc:chgData name="Sagar Aeri" userId="bd00f59c150191bf" providerId="LiveId" clId="{384B88AF-9363-49A8-BB6B-6BA1A7A5E50D}" dt="2025-08-25T07:27:00.872" v="104"/>
        <pc:sldMkLst>
          <pc:docMk/>
          <pc:sldMk cId="2082787017" sldId="279"/>
        </pc:sldMkLst>
      </pc:sldChg>
      <pc:sldChg chg="add modTransition">
        <pc:chgData name="Sagar Aeri" userId="bd00f59c150191bf" providerId="LiveId" clId="{384B88AF-9363-49A8-BB6B-6BA1A7A5E50D}" dt="2025-08-25T07:27:00.872" v="104"/>
        <pc:sldMkLst>
          <pc:docMk/>
          <pc:sldMk cId="2064853038" sldId="280"/>
        </pc:sldMkLst>
      </pc:sldChg>
      <pc:sldChg chg="modSp add mod">
        <pc:chgData name="Sagar Aeri" userId="bd00f59c150191bf" providerId="LiveId" clId="{384B88AF-9363-49A8-BB6B-6BA1A7A5E50D}" dt="2025-08-25T08:42:09.948" v="454" actId="20577"/>
        <pc:sldMkLst>
          <pc:docMk/>
          <pc:sldMk cId="0" sldId="350"/>
        </pc:sldMkLst>
        <pc:spChg chg="mod">
          <ac:chgData name="Sagar Aeri" userId="bd00f59c150191bf" providerId="LiveId" clId="{384B88AF-9363-49A8-BB6B-6BA1A7A5E50D}" dt="2025-08-25T06:25:04.123" v="4"/>
          <ac:spMkLst>
            <pc:docMk/>
            <pc:sldMk cId="0" sldId="350"/>
            <ac:spMk id="4" creationId="{DA2F8DEF-6020-6E48-831F-EC3C0708A617}"/>
          </ac:spMkLst>
        </pc:spChg>
        <pc:spChg chg="mod">
          <ac:chgData name="Sagar Aeri" userId="bd00f59c150191bf" providerId="LiveId" clId="{384B88AF-9363-49A8-BB6B-6BA1A7A5E50D}" dt="2025-08-25T08:42:09.948" v="454" actId="20577"/>
          <ac:spMkLst>
            <pc:docMk/>
            <pc:sldMk cId="0" sldId="350"/>
            <ac:spMk id="5122" creationId="{9C2BB71C-9F21-7741-8059-E214690E60DD}"/>
          </ac:spMkLst>
        </pc:spChg>
      </pc:sldChg>
      <pc:sldChg chg="delSp add setBg delDesignElem">
        <pc:chgData name="Sagar Aeri" userId="bd00f59c150191bf" providerId="LiveId" clId="{384B88AF-9363-49A8-BB6B-6BA1A7A5E50D}" dt="2025-08-25T06:24:44.311" v="1"/>
        <pc:sldMkLst>
          <pc:docMk/>
          <pc:sldMk cId="3216973048" sldId="376"/>
        </pc:sldMkLst>
      </pc:sldChg>
      <pc:sldChg chg="modSp del mod">
        <pc:chgData name="Sagar Aeri" userId="bd00f59c150191bf" providerId="LiveId" clId="{384B88AF-9363-49A8-BB6B-6BA1A7A5E50D}" dt="2025-08-25T06:25:43.298" v="74" actId="47"/>
        <pc:sldMkLst>
          <pc:docMk/>
          <pc:sldMk cId="2780443139" sldId="543"/>
        </pc:sldMkLst>
      </pc:sldChg>
      <pc:sldChg chg="add del">
        <pc:chgData name="Sagar Aeri" userId="bd00f59c150191bf" providerId="LiveId" clId="{384B88AF-9363-49A8-BB6B-6BA1A7A5E50D}" dt="2025-08-25T07:32:45.414" v="109" actId="47"/>
        <pc:sldMkLst>
          <pc:docMk/>
          <pc:sldMk cId="3305765979" sldId="544"/>
        </pc:sldMkLst>
      </pc:sldChg>
      <pc:sldChg chg="del">
        <pc:chgData name="Sagar Aeri" userId="bd00f59c150191bf" providerId="LiveId" clId="{384B88AF-9363-49A8-BB6B-6BA1A7A5E50D}" dt="2025-08-25T07:33:55.952" v="136" actId="47"/>
        <pc:sldMkLst>
          <pc:docMk/>
          <pc:sldMk cId="3329191919" sldId="553"/>
        </pc:sldMkLst>
      </pc:sldChg>
      <pc:sldChg chg="del">
        <pc:chgData name="Sagar Aeri" userId="bd00f59c150191bf" providerId="LiveId" clId="{384B88AF-9363-49A8-BB6B-6BA1A7A5E50D}" dt="2025-08-25T07:33:38.816" v="111" actId="47"/>
        <pc:sldMkLst>
          <pc:docMk/>
          <pc:sldMk cId="514471526" sldId="554"/>
        </pc:sldMkLst>
      </pc:sldChg>
      <pc:sldChg chg="del">
        <pc:chgData name="Sagar Aeri" userId="bd00f59c150191bf" providerId="LiveId" clId="{384B88AF-9363-49A8-BB6B-6BA1A7A5E50D}" dt="2025-08-25T07:33:54.179" v="134" actId="47"/>
        <pc:sldMkLst>
          <pc:docMk/>
          <pc:sldMk cId="1477816021" sldId="555"/>
        </pc:sldMkLst>
      </pc:sldChg>
      <pc:sldChg chg="del">
        <pc:chgData name="Sagar Aeri" userId="bd00f59c150191bf" providerId="LiveId" clId="{384B88AF-9363-49A8-BB6B-6BA1A7A5E50D}" dt="2025-08-25T07:33:53.673" v="133" actId="47"/>
        <pc:sldMkLst>
          <pc:docMk/>
          <pc:sldMk cId="2472644215" sldId="556"/>
        </pc:sldMkLst>
      </pc:sldChg>
      <pc:sldChg chg="del">
        <pc:chgData name="Sagar Aeri" userId="bd00f59c150191bf" providerId="LiveId" clId="{384B88AF-9363-49A8-BB6B-6BA1A7A5E50D}" dt="2025-08-25T07:33:53.103" v="132" actId="47"/>
        <pc:sldMkLst>
          <pc:docMk/>
          <pc:sldMk cId="939756086" sldId="557"/>
        </pc:sldMkLst>
      </pc:sldChg>
      <pc:sldChg chg="del">
        <pc:chgData name="Sagar Aeri" userId="bd00f59c150191bf" providerId="LiveId" clId="{384B88AF-9363-49A8-BB6B-6BA1A7A5E50D}" dt="2025-08-25T07:33:52.523" v="131" actId="47"/>
        <pc:sldMkLst>
          <pc:docMk/>
          <pc:sldMk cId="451392756" sldId="558"/>
        </pc:sldMkLst>
      </pc:sldChg>
      <pc:sldChg chg="del">
        <pc:chgData name="Sagar Aeri" userId="bd00f59c150191bf" providerId="LiveId" clId="{384B88AF-9363-49A8-BB6B-6BA1A7A5E50D}" dt="2025-08-25T07:33:51.903" v="130" actId="47"/>
        <pc:sldMkLst>
          <pc:docMk/>
          <pc:sldMk cId="3677473121" sldId="559"/>
        </pc:sldMkLst>
      </pc:sldChg>
      <pc:sldChg chg="del">
        <pc:chgData name="Sagar Aeri" userId="bd00f59c150191bf" providerId="LiveId" clId="{384B88AF-9363-49A8-BB6B-6BA1A7A5E50D}" dt="2025-08-25T07:33:51.338" v="129" actId="47"/>
        <pc:sldMkLst>
          <pc:docMk/>
          <pc:sldMk cId="1344267998" sldId="560"/>
        </pc:sldMkLst>
      </pc:sldChg>
      <pc:sldChg chg="del">
        <pc:chgData name="Sagar Aeri" userId="bd00f59c150191bf" providerId="LiveId" clId="{384B88AF-9363-49A8-BB6B-6BA1A7A5E50D}" dt="2025-08-25T07:33:50.937" v="128" actId="47"/>
        <pc:sldMkLst>
          <pc:docMk/>
          <pc:sldMk cId="825822349" sldId="561"/>
        </pc:sldMkLst>
      </pc:sldChg>
      <pc:sldChg chg="del">
        <pc:chgData name="Sagar Aeri" userId="bd00f59c150191bf" providerId="LiveId" clId="{384B88AF-9363-49A8-BB6B-6BA1A7A5E50D}" dt="2025-08-25T07:33:50.387" v="127" actId="47"/>
        <pc:sldMkLst>
          <pc:docMk/>
          <pc:sldMk cId="1510287893" sldId="562"/>
        </pc:sldMkLst>
      </pc:sldChg>
      <pc:sldChg chg="del">
        <pc:chgData name="Sagar Aeri" userId="bd00f59c150191bf" providerId="LiveId" clId="{384B88AF-9363-49A8-BB6B-6BA1A7A5E50D}" dt="2025-08-25T07:33:49.790" v="126" actId="47"/>
        <pc:sldMkLst>
          <pc:docMk/>
          <pc:sldMk cId="1814700560" sldId="563"/>
        </pc:sldMkLst>
      </pc:sldChg>
      <pc:sldChg chg="del">
        <pc:chgData name="Sagar Aeri" userId="bd00f59c150191bf" providerId="LiveId" clId="{384B88AF-9363-49A8-BB6B-6BA1A7A5E50D}" dt="2025-08-25T07:33:49.275" v="125" actId="47"/>
        <pc:sldMkLst>
          <pc:docMk/>
          <pc:sldMk cId="1441291741" sldId="564"/>
        </pc:sldMkLst>
      </pc:sldChg>
      <pc:sldChg chg="del">
        <pc:chgData name="Sagar Aeri" userId="bd00f59c150191bf" providerId="LiveId" clId="{384B88AF-9363-49A8-BB6B-6BA1A7A5E50D}" dt="2025-08-25T07:33:48.791" v="124" actId="47"/>
        <pc:sldMkLst>
          <pc:docMk/>
          <pc:sldMk cId="2846139373" sldId="565"/>
        </pc:sldMkLst>
      </pc:sldChg>
      <pc:sldChg chg="del">
        <pc:chgData name="Sagar Aeri" userId="bd00f59c150191bf" providerId="LiveId" clId="{384B88AF-9363-49A8-BB6B-6BA1A7A5E50D}" dt="2025-08-25T07:33:48.226" v="123" actId="47"/>
        <pc:sldMkLst>
          <pc:docMk/>
          <pc:sldMk cId="2618432361" sldId="566"/>
        </pc:sldMkLst>
      </pc:sldChg>
      <pc:sldChg chg="del">
        <pc:chgData name="Sagar Aeri" userId="bd00f59c150191bf" providerId="LiveId" clId="{384B88AF-9363-49A8-BB6B-6BA1A7A5E50D}" dt="2025-08-25T07:33:47.684" v="122" actId="47"/>
        <pc:sldMkLst>
          <pc:docMk/>
          <pc:sldMk cId="3656580372" sldId="567"/>
        </pc:sldMkLst>
      </pc:sldChg>
      <pc:sldChg chg="del">
        <pc:chgData name="Sagar Aeri" userId="bd00f59c150191bf" providerId="LiveId" clId="{384B88AF-9363-49A8-BB6B-6BA1A7A5E50D}" dt="2025-08-25T07:33:47.228" v="121" actId="47"/>
        <pc:sldMkLst>
          <pc:docMk/>
          <pc:sldMk cId="1023961125" sldId="568"/>
        </pc:sldMkLst>
      </pc:sldChg>
      <pc:sldChg chg="del">
        <pc:chgData name="Sagar Aeri" userId="bd00f59c150191bf" providerId="LiveId" clId="{384B88AF-9363-49A8-BB6B-6BA1A7A5E50D}" dt="2025-08-25T07:33:46.810" v="120" actId="47"/>
        <pc:sldMkLst>
          <pc:docMk/>
          <pc:sldMk cId="3178713020" sldId="569"/>
        </pc:sldMkLst>
      </pc:sldChg>
      <pc:sldChg chg="del">
        <pc:chgData name="Sagar Aeri" userId="bd00f59c150191bf" providerId="LiveId" clId="{384B88AF-9363-49A8-BB6B-6BA1A7A5E50D}" dt="2025-08-25T07:33:46.407" v="119" actId="47"/>
        <pc:sldMkLst>
          <pc:docMk/>
          <pc:sldMk cId="2439276753" sldId="570"/>
        </pc:sldMkLst>
      </pc:sldChg>
      <pc:sldChg chg="del">
        <pc:chgData name="Sagar Aeri" userId="bd00f59c150191bf" providerId="LiveId" clId="{384B88AF-9363-49A8-BB6B-6BA1A7A5E50D}" dt="2025-08-25T07:33:45.878" v="118" actId="47"/>
        <pc:sldMkLst>
          <pc:docMk/>
          <pc:sldMk cId="3723931354" sldId="571"/>
        </pc:sldMkLst>
      </pc:sldChg>
      <pc:sldChg chg="del">
        <pc:chgData name="Sagar Aeri" userId="bd00f59c150191bf" providerId="LiveId" clId="{384B88AF-9363-49A8-BB6B-6BA1A7A5E50D}" dt="2025-08-25T07:33:45.425" v="117" actId="47"/>
        <pc:sldMkLst>
          <pc:docMk/>
          <pc:sldMk cId="348455349" sldId="572"/>
        </pc:sldMkLst>
      </pc:sldChg>
      <pc:sldChg chg="del">
        <pc:chgData name="Sagar Aeri" userId="bd00f59c150191bf" providerId="LiveId" clId="{384B88AF-9363-49A8-BB6B-6BA1A7A5E50D}" dt="2025-08-25T07:33:45.143" v="116" actId="47"/>
        <pc:sldMkLst>
          <pc:docMk/>
          <pc:sldMk cId="1173137635" sldId="573"/>
        </pc:sldMkLst>
      </pc:sldChg>
      <pc:sldChg chg="del">
        <pc:chgData name="Sagar Aeri" userId="bd00f59c150191bf" providerId="LiveId" clId="{384B88AF-9363-49A8-BB6B-6BA1A7A5E50D}" dt="2025-08-25T07:33:44.910" v="115" actId="47"/>
        <pc:sldMkLst>
          <pc:docMk/>
          <pc:sldMk cId="1951692579" sldId="574"/>
        </pc:sldMkLst>
      </pc:sldChg>
      <pc:sldChg chg="del">
        <pc:chgData name="Sagar Aeri" userId="bd00f59c150191bf" providerId="LiveId" clId="{384B88AF-9363-49A8-BB6B-6BA1A7A5E50D}" dt="2025-08-25T07:33:44.644" v="114" actId="47"/>
        <pc:sldMkLst>
          <pc:docMk/>
          <pc:sldMk cId="1887204223" sldId="575"/>
        </pc:sldMkLst>
      </pc:sldChg>
      <pc:sldChg chg="del">
        <pc:chgData name="Sagar Aeri" userId="bd00f59c150191bf" providerId="LiveId" clId="{384B88AF-9363-49A8-BB6B-6BA1A7A5E50D}" dt="2025-08-25T07:33:44.360" v="113" actId="47"/>
        <pc:sldMkLst>
          <pc:docMk/>
          <pc:sldMk cId="49523614" sldId="576"/>
        </pc:sldMkLst>
      </pc:sldChg>
      <pc:sldChg chg="del">
        <pc:chgData name="Sagar Aeri" userId="bd00f59c150191bf" providerId="LiveId" clId="{384B88AF-9363-49A8-BB6B-6BA1A7A5E50D}" dt="2025-08-25T07:33:43.913" v="112" actId="47"/>
        <pc:sldMkLst>
          <pc:docMk/>
          <pc:sldMk cId="4235033766" sldId="577"/>
        </pc:sldMkLst>
      </pc:sldChg>
      <pc:sldChg chg="addSp delSp modSp new mod modClrScheme chgLayout">
        <pc:chgData name="Sagar Aeri" userId="bd00f59c150191bf" providerId="LiveId" clId="{384B88AF-9363-49A8-BB6B-6BA1A7A5E50D}" dt="2025-08-25T07:25:00.909" v="97" actId="20577"/>
        <pc:sldMkLst>
          <pc:docMk/>
          <pc:sldMk cId="3178480382" sldId="578"/>
        </pc:sldMkLst>
        <pc:spChg chg="mod ord">
          <ac:chgData name="Sagar Aeri" userId="bd00f59c150191bf" providerId="LiveId" clId="{384B88AF-9363-49A8-BB6B-6BA1A7A5E50D}" dt="2025-08-25T07:24:24.033" v="79" actId="700"/>
          <ac:spMkLst>
            <pc:docMk/>
            <pc:sldMk cId="3178480382" sldId="578"/>
            <ac:spMk id="4" creationId="{BEF13BBF-2AA0-DB60-5274-9EA49D03A794}"/>
          </ac:spMkLst>
        </pc:spChg>
        <pc:spChg chg="mod ord">
          <ac:chgData name="Sagar Aeri" userId="bd00f59c150191bf" providerId="LiveId" clId="{384B88AF-9363-49A8-BB6B-6BA1A7A5E50D}" dt="2025-08-25T07:24:24.033" v="79" actId="700"/>
          <ac:spMkLst>
            <pc:docMk/>
            <pc:sldMk cId="3178480382" sldId="578"/>
            <ac:spMk id="5" creationId="{805EFC48-014E-46DC-70D4-31FFA9F0C0E7}"/>
          </ac:spMkLst>
        </pc:spChg>
        <pc:spChg chg="mod ord">
          <ac:chgData name="Sagar Aeri" userId="bd00f59c150191bf" providerId="LiveId" clId="{384B88AF-9363-49A8-BB6B-6BA1A7A5E50D}" dt="2025-08-25T07:24:24.033" v="79" actId="700"/>
          <ac:spMkLst>
            <pc:docMk/>
            <pc:sldMk cId="3178480382" sldId="578"/>
            <ac:spMk id="6" creationId="{B7578441-D024-C0CA-C750-3FBFB314E015}"/>
          </ac:spMkLst>
        </pc:spChg>
        <pc:spChg chg="add mod">
          <ac:chgData name="Sagar Aeri" userId="bd00f59c150191bf" providerId="LiveId" clId="{384B88AF-9363-49A8-BB6B-6BA1A7A5E50D}" dt="2025-08-25T07:25:00.909" v="97" actId="20577"/>
          <ac:spMkLst>
            <pc:docMk/>
            <pc:sldMk cId="3178480382" sldId="578"/>
            <ac:spMk id="7" creationId="{E5B0E78C-BC4B-4CA4-B23D-B7CDAE7E58E8}"/>
          </ac:spMkLst>
        </pc:spChg>
        <pc:spChg chg="add mod">
          <ac:chgData name="Sagar Aeri" userId="bd00f59c150191bf" providerId="LiveId" clId="{384B88AF-9363-49A8-BB6B-6BA1A7A5E50D}" dt="2025-08-25T07:24:50.373" v="87" actId="1076"/>
          <ac:spMkLst>
            <pc:docMk/>
            <pc:sldMk cId="3178480382" sldId="578"/>
            <ac:spMk id="9" creationId="{BEEE43BE-2D93-F421-4C8A-57F5251E8658}"/>
          </ac:spMkLst>
        </pc:spChg>
      </pc:sldChg>
      <pc:sldChg chg="addSp modSp new">
        <pc:chgData name="Sagar Aeri" userId="bd00f59c150191bf" providerId="LiveId" clId="{384B88AF-9363-49A8-BB6B-6BA1A7A5E50D}" dt="2025-08-25T07:25:50.863" v="99"/>
        <pc:sldMkLst>
          <pc:docMk/>
          <pc:sldMk cId="2185588368" sldId="579"/>
        </pc:sldMkLst>
        <pc:spChg chg="add mod">
          <ac:chgData name="Sagar Aeri" userId="bd00f59c150191bf" providerId="LiveId" clId="{384B88AF-9363-49A8-BB6B-6BA1A7A5E50D}" dt="2025-08-25T07:25:50.863" v="99"/>
          <ac:spMkLst>
            <pc:docMk/>
            <pc:sldMk cId="2185588368" sldId="579"/>
            <ac:spMk id="5" creationId="{E5B0E78C-BC4B-4CA4-B23D-B7CDAE7E58E8}"/>
          </ac:spMkLst>
        </pc:spChg>
      </pc:sldChg>
      <pc:sldChg chg="modSp add mod modTransition">
        <pc:chgData name="Sagar Aeri" userId="bd00f59c150191bf" providerId="LiveId" clId="{384B88AF-9363-49A8-BB6B-6BA1A7A5E50D}" dt="2025-08-25T08:08:45.388" v="335" actId="14100"/>
        <pc:sldMkLst>
          <pc:docMk/>
          <pc:sldMk cId="2262424416" sldId="580"/>
        </pc:sldMkLst>
        <pc:spChg chg="mod">
          <ac:chgData name="Sagar Aeri" userId="bd00f59c150191bf" providerId="LiveId" clId="{384B88AF-9363-49A8-BB6B-6BA1A7A5E50D}" dt="2025-08-25T08:08:45.388" v="335" actId="14100"/>
          <ac:spMkLst>
            <pc:docMk/>
            <pc:sldMk cId="2262424416" sldId="580"/>
            <ac:spMk id="2" creationId="{D74E2BE4-081D-4427-8B0F-EDF5AE3FDA9E}"/>
          </ac:spMkLst>
        </pc:spChg>
      </pc:sldChg>
      <pc:sldChg chg="new del">
        <pc:chgData name="Sagar Aeri" userId="bd00f59c150191bf" providerId="LiveId" clId="{384B88AF-9363-49A8-BB6B-6BA1A7A5E50D}" dt="2025-08-25T07:33:54.899" v="135" actId="47"/>
        <pc:sldMkLst>
          <pc:docMk/>
          <pc:sldMk cId="3438062864" sldId="580"/>
        </pc:sldMkLst>
      </pc:sldChg>
      <pc:sldChg chg="modSp add mod modTransition">
        <pc:chgData name="Sagar Aeri" userId="bd00f59c150191bf" providerId="LiveId" clId="{384B88AF-9363-49A8-BB6B-6BA1A7A5E50D}" dt="2025-08-25T08:09:01.545" v="339" actId="20577"/>
        <pc:sldMkLst>
          <pc:docMk/>
          <pc:sldMk cId="4890294" sldId="581"/>
        </pc:sldMkLst>
        <pc:spChg chg="mod">
          <ac:chgData name="Sagar Aeri" userId="bd00f59c150191bf" providerId="LiveId" clId="{384B88AF-9363-49A8-BB6B-6BA1A7A5E50D}" dt="2025-08-25T08:09:01.545" v="339" actId="20577"/>
          <ac:spMkLst>
            <pc:docMk/>
            <pc:sldMk cId="4890294" sldId="581"/>
            <ac:spMk id="2" creationId="{5C7366E0-3B11-436A-A0B6-0CA9AC6BFCFD}"/>
          </ac:spMkLst>
        </pc:spChg>
      </pc:sldChg>
      <pc:sldChg chg="modSp add modTransition">
        <pc:chgData name="Sagar Aeri" userId="bd00f59c150191bf" providerId="LiveId" clId="{384B88AF-9363-49A8-BB6B-6BA1A7A5E50D}" dt="2025-08-25T08:09:17.861" v="340"/>
        <pc:sldMkLst>
          <pc:docMk/>
          <pc:sldMk cId="0" sldId="582"/>
        </pc:sldMkLst>
        <pc:picChg chg="mod">
          <ac:chgData name="Sagar Aeri" userId="bd00f59c150191bf" providerId="LiveId" clId="{384B88AF-9363-49A8-BB6B-6BA1A7A5E50D}" dt="2025-08-25T08:09:17.861" v="340"/>
          <ac:picMkLst>
            <pc:docMk/>
            <pc:sldMk cId="0" sldId="582"/>
            <ac:picMk id="41987" creationId="{00000000-0000-0000-0000-000000000000}"/>
          </ac:picMkLst>
        </pc:picChg>
      </pc:sldChg>
      <pc:sldChg chg="delSp modSp add del mod modTransition">
        <pc:chgData name="Sagar Aeri" userId="bd00f59c150191bf" providerId="LiveId" clId="{384B88AF-9363-49A8-BB6B-6BA1A7A5E50D}" dt="2025-08-25T08:07:54.072" v="318" actId="47"/>
        <pc:sldMkLst>
          <pc:docMk/>
          <pc:sldMk cId="0" sldId="583"/>
        </pc:sldMkLst>
      </pc:sldChg>
      <pc:sldChg chg="delSp modSp add del mod modTransition">
        <pc:chgData name="Sagar Aeri" userId="bd00f59c150191bf" providerId="LiveId" clId="{384B88AF-9363-49A8-BB6B-6BA1A7A5E50D}" dt="2025-08-25T08:07:54.603" v="319" actId="47"/>
        <pc:sldMkLst>
          <pc:docMk/>
          <pc:sldMk cId="0" sldId="584"/>
        </pc:sldMkLst>
      </pc:sldChg>
      <pc:sldChg chg="delSp modSp add del mod modTransition">
        <pc:chgData name="Sagar Aeri" userId="bd00f59c150191bf" providerId="LiveId" clId="{384B88AF-9363-49A8-BB6B-6BA1A7A5E50D}" dt="2025-08-25T08:07:55.462" v="320" actId="47"/>
        <pc:sldMkLst>
          <pc:docMk/>
          <pc:sldMk cId="0" sldId="585"/>
        </pc:sldMkLst>
      </pc:sldChg>
      <pc:sldChg chg="addSp delSp modSp add del mod modTransition">
        <pc:chgData name="Sagar Aeri" userId="bd00f59c150191bf" providerId="LiveId" clId="{384B88AF-9363-49A8-BB6B-6BA1A7A5E50D}" dt="2025-08-25T08:10:19.511" v="347" actId="47"/>
        <pc:sldMkLst>
          <pc:docMk/>
          <pc:sldMk cId="0" sldId="586"/>
        </pc:sldMkLst>
      </pc:sldChg>
      <pc:sldChg chg="modSp add mod ord modTransition">
        <pc:chgData name="Sagar Aeri" userId="bd00f59c150191bf" providerId="LiveId" clId="{384B88AF-9363-49A8-BB6B-6BA1A7A5E50D}" dt="2025-08-25T08:10:05.275" v="346"/>
        <pc:sldMkLst>
          <pc:docMk/>
          <pc:sldMk cId="0" sldId="587"/>
        </pc:sldMkLst>
        <pc:spChg chg="mod">
          <ac:chgData name="Sagar Aeri" userId="bd00f59c150191bf" providerId="LiveId" clId="{384B88AF-9363-49A8-BB6B-6BA1A7A5E50D}" dt="2025-08-25T07:41:37.795" v="163" actId="1076"/>
          <ac:spMkLst>
            <pc:docMk/>
            <pc:sldMk cId="0" sldId="587"/>
            <ac:spMk id="4" creationId="{00000000-0000-0000-0000-000000000000}"/>
          </ac:spMkLst>
        </pc:spChg>
      </pc:sldChg>
      <pc:sldChg chg="addSp delSp modSp add del mod modTransition">
        <pc:chgData name="Sagar Aeri" userId="bd00f59c150191bf" providerId="LiveId" clId="{384B88AF-9363-49A8-BB6B-6BA1A7A5E50D}" dt="2025-08-25T07:39:24.501" v="157" actId="47"/>
        <pc:sldMkLst>
          <pc:docMk/>
          <pc:sldMk cId="0" sldId="588"/>
        </pc:sldMkLst>
      </pc:sldChg>
      <pc:sldChg chg="modSp add mod ord modTransition">
        <pc:chgData name="Sagar Aeri" userId="bd00f59c150191bf" providerId="LiveId" clId="{384B88AF-9363-49A8-BB6B-6BA1A7A5E50D}" dt="2025-08-25T07:48:43.376" v="207" actId="1076"/>
        <pc:sldMkLst>
          <pc:docMk/>
          <pc:sldMk cId="0" sldId="589"/>
        </pc:sldMkLst>
        <pc:picChg chg="mod">
          <ac:chgData name="Sagar Aeri" userId="bd00f59c150191bf" providerId="LiveId" clId="{384B88AF-9363-49A8-BB6B-6BA1A7A5E50D}" dt="2025-08-25T07:48:43.376" v="207" actId="1076"/>
          <ac:picMkLst>
            <pc:docMk/>
            <pc:sldMk cId="0" sldId="589"/>
            <ac:picMk id="5" creationId="{00000000-0000-0000-0000-000000000000}"/>
          </ac:picMkLst>
        </pc:picChg>
      </pc:sldChg>
      <pc:sldChg chg="modSp add mod modTransition">
        <pc:chgData name="Sagar Aeri" userId="bd00f59c150191bf" providerId="LiveId" clId="{384B88AF-9363-49A8-BB6B-6BA1A7A5E50D}" dt="2025-08-25T07:42:36.223" v="170" actId="1076"/>
        <pc:sldMkLst>
          <pc:docMk/>
          <pc:sldMk cId="3350064412" sldId="590"/>
        </pc:sldMkLst>
        <pc:spChg chg="mod">
          <ac:chgData name="Sagar Aeri" userId="bd00f59c150191bf" providerId="LiveId" clId="{384B88AF-9363-49A8-BB6B-6BA1A7A5E50D}" dt="2025-08-25T07:42:36.223" v="170" actId="1076"/>
          <ac:spMkLst>
            <pc:docMk/>
            <pc:sldMk cId="3350064412" sldId="590"/>
            <ac:spMk id="2" creationId="{40B668BB-4509-4759-8808-1B2E39240086}"/>
          </ac:spMkLst>
        </pc:spChg>
      </pc:sldChg>
      <pc:sldChg chg="add del modTransition">
        <pc:chgData name="Sagar Aeri" userId="bd00f59c150191bf" providerId="LiveId" clId="{384B88AF-9363-49A8-BB6B-6BA1A7A5E50D}" dt="2025-08-25T07:44:37.636" v="196" actId="47"/>
        <pc:sldMkLst>
          <pc:docMk/>
          <pc:sldMk cId="0" sldId="591"/>
        </pc:sldMkLst>
      </pc:sldChg>
      <pc:sldChg chg="modSp add mod ord modTransition">
        <pc:chgData name="Sagar Aeri" userId="bd00f59c150191bf" providerId="LiveId" clId="{384B88AF-9363-49A8-BB6B-6BA1A7A5E50D}" dt="2025-08-25T08:12:50.597" v="357"/>
        <pc:sldMkLst>
          <pc:docMk/>
          <pc:sldMk cId="70250613" sldId="592"/>
        </pc:sldMkLst>
        <pc:spChg chg="mod">
          <ac:chgData name="Sagar Aeri" userId="bd00f59c150191bf" providerId="LiveId" clId="{384B88AF-9363-49A8-BB6B-6BA1A7A5E50D}" dt="2025-08-25T08:12:40.756" v="355" actId="1076"/>
          <ac:spMkLst>
            <pc:docMk/>
            <pc:sldMk cId="70250613" sldId="592"/>
            <ac:spMk id="2" creationId="{F4A1ACA1-761D-4F4D-9BAA-6068FE96C566}"/>
          </ac:spMkLst>
        </pc:spChg>
      </pc:sldChg>
      <pc:sldChg chg="add del modTransition">
        <pc:chgData name="Sagar Aeri" userId="bd00f59c150191bf" providerId="LiveId" clId="{384B88AF-9363-49A8-BB6B-6BA1A7A5E50D}" dt="2025-08-25T08:04:59.150" v="292" actId="47"/>
        <pc:sldMkLst>
          <pc:docMk/>
          <pc:sldMk cId="0" sldId="593"/>
        </pc:sldMkLst>
      </pc:sldChg>
      <pc:sldChg chg="add del modTransition">
        <pc:chgData name="Sagar Aeri" userId="bd00f59c150191bf" providerId="LiveId" clId="{384B88AF-9363-49A8-BB6B-6BA1A7A5E50D}" dt="2025-08-25T07:49:22.588" v="208" actId="47"/>
        <pc:sldMkLst>
          <pc:docMk/>
          <pc:sldMk cId="0" sldId="594"/>
        </pc:sldMkLst>
      </pc:sldChg>
      <pc:sldChg chg="add del modTransition">
        <pc:chgData name="Sagar Aeri" userId="bd00f59c150191bf" providerId="LiveId" clId="{384B88AF-9363-49A8-BB6B-6BA1A7A5E50D}" dt="2025-08-25T08:12:56.330" v="358" actId="47"/>
        <pc:sldMkLst>
          <pc:docMk/>
          <pc:sldMk cId="0" sldId="595"/>
        </pc:sldMkLst>
      </pc:sldChg>
      <pc:sldChg chg="add del modTransition">
        <pc:chgData name="Sagar Aeri" userId="bd00f59c150191bf" providerId="LiveId" clId="{384B88AF-9363-49A8-BB6B-6BA1A7A5E50D}" dt="2025-08-25T08:12:57.783" v="360" actId="47"/>
        <pc:sldMkLst>
          <pc:docMk/>
          <pc:sldMk cId="0" sldId="596"/>
        </pc:sldMkLst>
      </pc:sldChg>
      <pc:sldChg chg="modSp add del mod ord modTransition">
        <pc:chgData name="Sagar Aeri" userId="bd00f59c150191bf" providerId="LiveId" clId="{384B88AF-9363-49A8-BB6B-6BA1A7A5E50D}" dt="2025-08-25T08:09:35.418" v="344" actId="1076"/>
        <pc:sldMkLst>
          <pc:docMk/>
          <pc:sldMk cId="272702990" sldId="597"/>
        </pc:sldMkLst>
        <pc:spChg chg="mod">
          <ac:chgData name="Sagar Aeri" userId="bd00f59c150191bf" providerId="LiveId" clId="{384B88AF-9363-49A8-BB6B-6BA1A7A5E50D}" dt="2025-08-25T07:44:18.240" v="195" actId="14100"/>
          <ac:spMkLst>
            <pc:docMk/>
            <pc:sldMk cId="272702990" sldId="597"/>
            <ac:spMk id="2" creationId="{BA31689A-B64A-473B-800D-932B83C864EB}"/>
          </ac:spMkLst>
        </pc:spChg>
        <pc:spChg chg="mod">
          <ac:chgData name="Sagar Aeri" userId="bd00f59c150191bf" providerId="LiveId" clId="{384B88AF-9363-49A8-BB6B-6BA1A7A5E50D}" dt="2025-08-25T07:44:05.087" v="188" actId="1076"/>
          <ac:spMkLst>
            <pc:docMk/>
            <pc:sldMk cId="272702990" sldId="597"/>
            <ac:spMk id="3" creationId="{A32626F9-C0F7-470E-A6E6-C019D6307040}"/>
          </ac:spMkLst>
        </pc:spChg>
        <pc:picChg chg="mod">
          <ac:chgData name="Sagar Aeri" userId="bd00f59c150191bf" providerId="LiveId" clId="{384B88AF-9363-49A8-BB6B-6BA1A7A5E50D}" dt="2025-08-25T08:09:35.418" v="344" actId="1076"/>
          <ac:picMkLst>
            <pc:docMk/>
            <pc:sldMk cId="272702990" sldId="597"/>
            <ac:picMk id="4" creationId="{B683DC4F-0F1A-449C-844C-15E85C42A734}"/>
          </ac:picMkLst>
        </pc:picChg>
      </pc:sldChg>
      <pc:sldChg chg="modSp add del mod ord modTransition">
        <pc:chgData name="Sagar Aeri" userId="bd00f59c150191bf" providerId="LiveId" clId="{384B88AF-9363-49A8-BB6B-6BA1A7A5E50D}" dt="2025-08-25T08:13:29.395" v="366"/>
        <pc:sldMkLst>
          <pc:docMk/>
          <pc:sldMk cId="2090566921" sldId="598"/>
        </pc:sldMkLst>
        <pc:spChg chg="mod">
          <ac:chgData name="Sagar Aeri" userId="bd00f59c150191bf" providerId="LiveId" clId="{384B88AF-9363-49A8-BB6B-6BA1A7A5E50D}" dt="2025-08-25T07:43:59.479" v="187" actId="1076"/>
          <ac:spMkLst>
            <pc:docMk/>
            <pc:sldMk cId="2090566921" sldId="598"/>
            <ac:spMk id="2" creationId="{5C7366E0-3B11-436A-A0B6-0CA9AC6BFCFD}"/>
          </ac:spMkLst>
        </pc:spChg>
      </pc:sldChg>
      <pc:sldChg chg="modSp add del mod modTransition">
        <pc:chgData name="Sagar Aeri" userId="bd00f59c150191bf" providerId="LiveId" clId="{384B88AF-9363-49A8-BB6B-6BA1A7A5E50D}" dt="2025-08-25T08:04:42.210" v="290" actId="47"/>
        <pc:sldMkLst>
          <pc:docMk/>
          <pc:sldMk cId="3431501507" sldId="599"/>
        </pc:sldMkLst>
      </pc:sldChg>
      <pc:sldChg chg="add del modTransition">
        <pc:chgData name="Sagar Aeri" userId="bd00f59c150191bf" providerId="LiveId" clId="{384B88AF-9363-49A8-BB6B-6BA1A7A5E50D}" dt="2025-08-25T08:04:43.756" v="291" actId="47"/>
        <pc:sldMkLst>
          <pc:docMk/>
          <pc:sldMk cId="0" sldId="600"/>
        </pc:sldMkLst>
      </pc:sldChg>
      <pc:sldChg chg="add del modTransition">
        <pc:chgData name="Sagar Aeri" userId="bd00f59c150191bf" providerId="LiveId" clId="{384B88AF-9363-49A8-BB6B-6BA1A7A5E50D}" dt="2025-08-25T07:43:13.895" v="176" actId="47"/>
        <pc:sldMkLst>
          <pc:docMk/>
          <pc:sldMk cId="0" sldId="601"/>
        </pc:sldMkLst>
      </pc:sldChg>
      <pc:sldChg chg="modSp add del mod modTransition">
        <pc:chgData name="Sagar Aeri" userId="bd00f59c150191bf" providerId="LiveId" clId="{384B88AF-9363-49A8-BB6B-6BA1A7A5E50D}" dt="2025-08-25T07:43:10.693" v="175" actId="47"/>
        <pc:sldMkLst>
          <pc:docMk/>
          <pc:sldMk cId="0" sldId="602"/>
        </pc:sldMkLst>
      </pc:sldChg>
      <pc:sldChg chg="modSp add mod">
        <pc:chgData name="Sagar Aeri" userId="bd00f59c150191bf" providerId="LiveId" clId="{384B88AF-9363-49A8-BB6B-6BA1A7A5E50D}" dt="2025-08-25T07:49:39.997" v="209" actId="1076"/>
        <pc:sldMkLst>
          <pc:docMk/>
          <pc:sldMk cId="766094983" sldId="603"/>
        </pc:sldMkLst>
        <pc:spChg chg="mod">
          <ac:chgData name="Sagar Aeri" userId="bd00f59c150191bf" providerId="LiveId" clId="{384B88AF-9363-49A8-BB6B-6BA1A7A5E50D}" dt="2025-08-25T07:49:39.997" v="209" actId="1076"/>
          <ac:spMkLst>
            <pc:docMk/>
            <pc:sldMk cId="766094983" sldId="603"/>
            <ac:spMk id="4" creationId="{BD2EDC43-AB40-CF18-2822-2629169559AE}"/>
          </ac:spMkLst>
        </pc:spChg>
      </pc:sldChg>
      <pc:sldChg chg="delSp modSp add mod">
        <pc:chgData name="Sagar Aeri" userId="bd00f59c150191bf" providerId="LiveId" clId="{384B88AF-9363-49A8-BB6B-6BA1A7A5E50D}" dt="2025-08-25T07:51:19.279" v="220" actId="1076"/>
        <pc:sldMkLst>
          <pc:docMk/>
          <pc:sldMk cId="1047402964" sldId="604"/>
        </pc:sldMkLst>
        <pc:spChg chg="mod">
          <ac:chgData name="Sagar Aeri" userId="bd00f59c150191bf" providerId="LiveId" clId="{384B88AF-9363-49A8-BB6B-6BA1A7A5E50D}" dt="2025-08-25T07:51:09.969" v="216" actId="14100"/>
          <ac:spMkLst>
            <pc:docMk/>
            <pc:sldMk cId="1047402964" sldId="604"/>
            <ac:spMk id="5" creationId="{F20422EB-879F-B1C4-D928-C85AE08AEA73}"/>
          </ac:spMkLst>
        </pc:spChg>
        <pc:spChg chg="mod">
          <ac:chgData name="Sagar Aeri" userId="bd00f59c150191bf" providerId="LiveId" clId="{384B88AF-9363-49A8-BB6B-6BA1A7A5E50D}" dt="2025-08-25T07:51:17.889" v="219" actId="1076"/>
          <ac:spMkLst>
            <pc:docMk/>
            <pc:sldMk cId="1047402964" sldId="604"/>
            <ac:spMk id="18" creationId="{E353A409-CDFC-2F39-ED7E-24EA12A4075B}"/>
          </ac:spMkLst>
        </pc:spChg>
        <pc:picChg chg="mod">
          <ac:chgData name="Sagar Aeri" userId="bd00f59c150191bf" providerId="LiveId" clId="{384B88AF-9363-49A8-BB6B-6BA1A7A5E50D}" dt="2025-08-25T07:51:19.279" v="220" actId="1076"/>
          <ac:picMkLst>
            <pc:docMk/>
            <pc:sldMk cId="1047402964" sldId="604"/>
            <ac:picMk id="4" creationId="{92F879F2-038E-EEDB-4C67-784332C1B6A1}"/>
          </ac:picMkLst>
        </pc:picChg>
      </pc:sldChg>
      <pc:sldChg chg="modSp add mod">
        <pc:chgData name="Sagar Aeri" userId="bd00f59c150191bf" providerId="LiveId" clId="{384B88AF-9363-49A8-BB6B-6BA1A7A5E50D}" dt="2025-08-25T07:42:56.872" v="173" actId="1076"/>
        <pc:sldMkLst>
          <pc:docMk/>
          <pc:sldMk cId="100070375" sldId="605"/>
        </pc:sldMkLst>
        <pc:spChg chg="mod">
          <ac:chgData name="Sagar Aeri" userId="bd00f59c150191bf" providerId="LiveId" clId="{384B88AF-9363-49A8-BB6B-6BA1A7A5E50D}" dt="2025-08-25T07:42:54.357" v="172" actId="1076"/>
          <ac:spMkLst>
            <pc:docMk/>
            <pc:sldMk cId="100070375" sldId="605"/>
            <ac:spMk id="3" creationId="{4B1CB0E4-3421-D697-7331-33E1D2B0B5AC}"/>
          </ac:spMkLst>
        </pc:spChg>
        <pc:spChg chg="mod">
          <ac:chgData name="Sagar Aeri" userId="bd00f59c150191bf" providerId="LiveId" clId="{384B88AF-9363-49A8-BB6B-6BA1A7A5E50D}" dt="2025-08-25T07:42:56.872" v="173" actId="1076"/>
          <ac:spMkLst>
            <pc:docMk/>
            <pc:sldMk cId="100070375" sldId="605"/>
            <ac:spMk id="5" creationId="{C4076398-6B15-6B82-DF44-ADBFDCD0C152}"/>
          </ac:spMkLst>
        </pc:spChg>
      </pc:sldChg>
      <pc:sldChg chg="delSp modSp add mod">
        <pc:chgData name="Sagar Aeri" userId="bd00f59c150191bf" providerId="LiveId" clId="{384B88AF-9363-49A8-BB6B-6BA1A7A5E50D}" dt="2025-08-25T07:51:48.525" v="228" actId="1076"/>
        <pc:sldMkLst>
          <pc:docMk/>
          <pc:sldMk cId="1504633851" sldId="606"/>
        </pc:sldMkLst>
        <pc:spChg chg="mod">
          <ac:chgData name="Sagar Aeri" userId="bd00f59c150191bf" providerId="LiveId" clId="{384B88AF-9363-49A8-BB6B-6BA1A7A5E50D}" dt="2025-08-25T07:51:40.683" v="224" actId="14100"/>
          <ac:spMkLst>
            <pc:docMk/>
            <pc:sldMk cId="1504633851" sldId="606"/>
            <ac:spMk id="13" creationId="{D6C5A3FD-68CC-A304-D0DC-64F0D6CE6E40}"/>
          </ac:spMkLst>
        </pc:spChg>
        <pc:picChg chg="mod">
          <ac:chgData name="Sagar Aeri" userId="bd00f59c150191bf" providerId="LiveId" clId="{384B88AF-9363-49A8-BB6B-6BA1A7A5E50D}" dt="2025-08-25T07:51:48.525" v="228" actId="1076"/>
          <ac:picMkLst>
            <pc:docMk/>
            <pc:sldMk cId="1504633851" sldId="606"/>
            <ac:picMk id="3" creationId="{DBE6ABDB-9AE7-085D-E9EB-751929D53CF6}"/>
          </ac:picMkLst>
        </pc:picChg>
      </pc:sldChg>
      <pc:sldChg chg="addSp delSp modSp new mod">
        <pc:chgData name="Sagar Aeri" userId="bd00f59c150191bf" providerId="LiveId" clId="{384B88AF-9363-49A8-BB6B-6BA1A7A5E50D}" dt="2025-08-25T08:15:17.895" v="379" actId="1076"/>
        <pc:sldMkLst>
          <pc:docMk/>
          <pc:sldMk cId="2451110829" sldId="607"/>
        </pc:sldMkLst>
        <pc:spChg chg="add mod">
          <ac:chgData name="Sagar Aeri" userId="bd00f59c150191bf" providerId="LiveId" clId="{384B88AF-9363-49A8-BB6B-6BA1A7A5E50D}" dt="2025-08-25T07:55:08.507" v="268" actId="21"/>
          <ac:spMkLst>
            <pc:docMk/>
            <pc:sldMk cId="2451110829" sldId="607"/>
            <ac:spMk id="5" creationId="{5EC567B1-390A-CF41-3FF5-2FA82A667036}"/>
          </ac:spMkLst>
        </pc:spChg>
        <pc:spChg chg="add mod">
          <ac:chgData name="Sagar Aeri" userId="bd00f59c150191bf" providerId="LiveId" clId="{384B88AF-9363-49A8-BB6B-6BA1A7A5E50D}" dt="2025-08-25T07:54:03.412" v="260" actId="1076"/>
          <ac:spMkLst>
            <pc:docMk/>
            <pc:sldMk cId="2451110829" sldId="607"/>
            <ac:spMk id="7" creationId="{203FAE33-5967-2011-0795-05D11BE4D660}"/>
          </ac:spMkLst>
        </pc:spChg>
        <pc:spChg chg="add mod">
          <ac:chgData name="Sagar Aeri" userId="bd00f59c150191bf" providerId="LiveId" clId="{384B88AF-9363-49A8-BB6B-6BA1A7A5E50D}" dt="2025-08-25T08:15:17.895" v="379" actId="1076"/>
          <ac:spMkLst>
            <pc:docMk/>
            <pc:sldMk cId="2451110829" sldId="607"/>
            <ac:spMk id="10" creationId="{F977B559-6B9B-272D-7236-68D8783E4491}"/>
          </ac:spMkLst>
        </pc:spChg>
        <pc:picChg chg="add mod">
          <ac:chgData name="Sagar Aeri" userId="bd00f59c150191bf" providerId="LiveId" clId="{384B88AF-9363-49A8-BB6B-6BA1A7A5E50D}" dt="2025-08-25T08:15:09.210" v="376" actId="1076"/>
          <ac:picMkLst>
            <pc:docMk/>
            <pc:sldMk cId="2451110829" sldId="607"/>
            <ac:picMk id="11" creationId="{AD475239-8A88-214C-96F5-4640F9754323}"/>
          </ac:picMkLst>
        </pc:picChg>
      </pc:sldChg>
      <pc:sldChg chg="addSp delSp modSp new mod">
        <pc:chgData name="Sagar Aeri" userId="bd00f59c150191bf" providerId="LiveId" clId="{384B88AF-9363-49A8-BB6B-6BA1A7A5E50D}" dt="2025-08-25T08:15:03.992" v="375" actId="14100"/>
        <pc:sldMkLst>
          <pc:docMk/>
          <pc:sldMk cId="184633460" sldId="608"/>
        </pc:sldMkLst>
        <pc:picChg chg="add mod">
          <ac:chgData name="Sagar Aeri" userId="bd00f59c150191bf" providerId="LiveId" clId="{384B88AF-9363-49A8-BB6B-6BA1A7A5E50D}" dt="2025-08-25T08:15:03.992" v="375" actId="14100"/>
          <ac:picMkLst>
            <pc:docMk/>
            <pc:sldMk cId="184633460" sldId="608"/>
            <ac:picMk id="8" creationId="{BE59655E-C155-E407-D2FF-DAD8E502B2ED}"/>
          </ac:picMkLst>
        </pc:picChg>
      </pc:sldChg>
      <pc:sldChg chg="add del">
        <pc:chgData name="Sagar Aeri" userId="bd00f59c150191bf" providerId="LiveId" clId="{384B88AF-9363-49A8-BB6B-6BA1A7A5E50D}" dt="2025-08-25T07:52:51.575" v="232"/>
        <pc:sldMkLst>
          <pc:docMk/>
          <pc:sldMk cId="517987928" sldId="608"/>
        </pc:sldMkLst>
      </pc:sldChg>
      <pc:sldChg chg="addSp modSp new del mod">
        <pc:chgData name="Sagar Aeri" userId="bd00f59c150191bf" providerId="LiveId" clId="{384B88AF-9363-49A8-BB6B-6BA1A7A5E50D}" dt="2025-08-25T08:15:25.589" v="380" actId="47"/>
        <pc:sldMkLst>
          <pc:docMk/>
          <pc:sldMk cId="654567080" sldId="609"/>
        </pc:sldMkLst>
      </pc:sldChg>
      <pc:sldChg chg="modSp add mod ord modTransition">
        <pc:chgData name="Sagar Aeri" userId="bd00f59c150191bf" providerId="LiveId" clId="{384B88AF-9363-49A8-BB6B-6BA1A7A5E50D}" dt="2025-08-25T08:11:53.541" v="353" actId="1076"/>
        <pc:sldMkLst>
          <pc:docMk/>
          <pc:sldMk cId="0" sldId="610"/>
        </pc:sldMkLst>
        <pc:spChg chg="mod">
          <ac:chgData name="Sagar Aeri" userId="bd00f59c150191bf" providerId="LiveId" clId="{384B88AF-9363-49A8-BB6B-6BA1A7A5E50D}" dt="2025-08-25T08:11:53.541" v="353" actId="1076"/>
          <ac:spMkLst>
            <pc:docMk/>
            <pc:sldMk cId="0" sldId="610"/>
            <ac:spMk id="4" creationId="{00000000-0000-0000-0000-000000000000}"/>
          </ac:spMkLst>
        </pc:spChg>
      </pc:sldChg>
      <pc:sldChg chg="add modTransition">
        <pc:chgData name="Sagar Aeri" userId="bd00f59c150191bf" providerId="LiveId" clId="{384B88AF-9363-49A8-BB6B-6BA1A7A5E50D}" dt="2025-08-25T08:12:17.140" v="354"/>
        <pc:sldMkLst>
          <pc:docMk/>
          <pc:sldMk cId="0" sldId="611"/>
        </pc:sldMkLst>
      </pc:sldChg>
      <pc:sldChg chg="addSp new">
        <pc:chgData name="Sagar Aeri" userId="bd00f59c150191bf" providerId="LiveId" clId="{384B88AF-9363-49A8-BB6B-6BA1A7A5E50D}" dt="2025-08-25T08:17:10.202" v="383"/>
        <pc:sldMkLst>
          <pc:docMk/>
          <pc:sldMk cId="2855480308" sldId="612"/>
        </pc:sldMkLst>
        <pc:picChg chg="add">
          <ac:chgData name="Sagar Aeri" userId="bd00f59c150191bf" providerId="LiveId" clId="{384B88AF-9363-49A8-BB6B-6BA1A7A5E50D}" dt="2025-08-25T08:17:10.202" v="383"/>
          <ac:picMkLst>
            <pc:docMk/>
            <pc:sldMk cId="2855480308" sldId="612"/>
            <ac:picMk id="6" creationId="{188D3930-1624-96BF-CBF8-3D467C41D5DA}"/>
          </ac:picMkLst>
        </pc:picChg>
      </pc:sldChg>
      <pc:sldChg chg="addSp modSp new mod">
        <pc:chgData name="Sagar Aeri" userId="bd00f59c150191bf" providerId="LiveId" clId="{384B88AF-9363-49A8-BB6B-6BA1A7A5E50D}" dt="2025-08-25T08:20:03.860" v="453" actId="403"/>
        <pc:sldMkLst>
          <pc:docMk/>
          <pc:sldMk cId="1553553721" sldId="613"/>
        </pc:sldMkLst>
        <pc:spChg chg="add mod">
          <ac:chgData name="Sagar Aeri" userId="bd00f59c150191bf" providerId="LiveId" clId="{384B88AF-9363-49A8-BB6B-6BA1A7A5E50D}" dt="2025-08-25T08:20:03.860" v="453" actId="403"/>
          <ac:spMkLst>
            <pc:docMk/>
            <pc:sldMk cId="1553553721" sldId="613"/>
            <ac:spMk id="6" creationId="{C6766428-6804-5F64-D322-74C7557E7E98}"/>
          </ac:spMkLst>
        </pc:spChg>
      </pc:sldChg>
      <pc:sldChg chg="new">
        <pc:chgData name="Sagar Aeri" userId="bd00f59c150191bf" providerId="LiveId" clId="{384B88AF-9363-49A8-BB6B-6BA1A7A5E50D}" dt="2025-08-27T10:48:27.869" v="455" actId="680"/>
        <pc:sldMkLst>
          <pc:docMk/>
          <pc:sldMk cId="2525723534" sldId="614"/>
        </pc:sldMkLst>
      </pc:sldChg>
      <pc:sldChg chg="addSp modSp new mod">
        <pc:chgData name="Sagar Aeri" userId="bd00f59c150191bf" providerId="LiveId" clId="{384B88AF-9363-49A8-BB6B-6BA1A7A5E50D}" dt="2025-08-28T06:42:17.032" v="556" actId="732"/>
        <pc:sldMkLst>
          <pc:docMk/>
          <pc:sldMk cId="1229983349" sldId="615"/>
        </pc:sldMkLst>
        <pc:picChg chg="add mod modCrop">
          <ac:chgData name="Sagar Aeri" userId="bd00f59c150191bf" providerId="LiveId" clId="{384B88AF-9363-49A8-BB6B-6BA1A7A5E50D}" dt="2025-08-28T06:42:17.032" v="556" actId="732"/>
          <ac:picMkLst>
            <pc:docMk/>
            <pc:sldMk cId="1229983349" sldId="615"/>
            <ac:picMk id="6" creationId="{D67FC397-8683-A44F-FDFF-645FA1E982A1}"/>
          </ac:picMkLst>
        </pc:picChg>
        <pc:picChg chg="add mod">
          <ac:chgData name="Sagar Aeri" userId="bd00f59c150191bf" providerId="LiveId" clId="{384B88AF-9363-49A8-BB6B-6BA1A7A5E50D}" dt="2025-08-28T06:41:40.338" v="552" actId="1076"/>
          <ac:picMkLst>
            <pc:docMk/>
            <pc:sldMk cId="1229983349" sldId="615"/>
            <ac:picMk id="1026" creationId="{26427CD2-7F3C-BBD2-AA39-B0B37F02C083}"/>
          </ac:picMkLst>
        </pc:picChg>
      </pc:sldChg>
      <pc:sldChg chg="addSp delSp modSp new mod">
        <pc:chgData name="Sagar Aeri" userId="bd00f59c150191bf" providerId="LiveId" clId="{384B88AF-9363-49A8-BB6B-6BA1A7A5E50D}" dt="2025-08-28T06:43:26.759" v="560" actId="1076"/>
        <pc:sldMkLst>
          <pc:docMk/>
          <pc:sldMk cId="2155520577" sldId="616"/>
        </pc:sldMkLst>
        <pc:picChg chg="add mod modCrop">
          <ac:chgData name="Sagar Aeri" userId="bd00f59c150191bf" providerId="LiveId" clId="{384B88AF-9363-49A8-BB6B-6BA1A7A5E50D}" dt="2025-08-28T06:36:07.457" v="551" actId="732"/>
          <ac:picMkLst>
            <pc:docMk/>
            <pc:sldMk cId="2155520577" sldId="616"/>
            <ac:picMk id="6" creationId="{D0930BB6-B9CA-1E89-CE78-2E046ADE4BCD}"/>
          </ac:picMkLst>
        </pc:picChg>
        <pc:picChg chg="add mod modCrop">
          <ac:chgData name="Sagar Aeri" userId="bd00f59c150191bf" providerId="LiveId" clId="{384B88AF-9363-49A8-BB6B-6BA1A7A5E50D}" dt="2025-08-28T06:32:08.952" v="517" actId="1076"/>
          <ac:picMkLst>
            <pc:docMk/>
            <pc:sldMk cId="2155520577" sldId="616"/>
            <ac:picMk id="7" creationId="{9C4BE0DB-55BF-88A3-C817-122718C17AA2}"/>
          </ac:picMkLst>
        </pc:picChg>
        <pc:picChg chg="add mod">
          <ac:chgData name="Sagar Aeri" userId="bd00f59c150191bf" providerId="LiveId" clId="{384B88AF-9363-49A8-BB6B-6BA1A7A5E50D}" dt="2025-08-28T06:35:45.246" v="549"/>
          <ac:picMkLst>
            <pc:docMk/>
            <pc:sldMk cId="2155520577" sldId="616"/>
            <ac:picMk id="8" creationId="{4CF6304E-E230-8065-93DF-FDD765DF0B1C}"/>
          </ac:picMkLst>
        </pc:picChg>
        <pc:picChg chg="add mod">
          <ac:chgData name="Sagar Aeri" userId="bd00f59c150191bf" providerId="LiveId" clId="{384B88AF-9363-49A8-BB6B-6BA1A7A5E50D}" dt="2025-08-28T06:35:24.639" v="548" actId="1076"/>
          <ac:picMkLst>
            <pc:docMk/>
            <pc:sldMk cId="2155520577" sldId="616"/>
            <ac:picMk id="10" creationId="{8D03ACB2-F1A1-9AA5-B973-7663B748C591}"/>
          </ac:picMkLst>
        </pc:picChg>
        <pc:picChg chg="add mod">
          <ac:chgData name="Sagar Aeri" userId="bd00f59c150191bf" providerId="LiveId" clId="{384B88AF-9363-49A8-BB6B-6BA1A7A5E50D}" dt="2025-08-28T06:34:11.983" v="534" actId="1076"/>
          <ac:picMkLst>
            <pc:docMk/>
            <pc:sldMk cId="2155520577" sldId="616"/>
            <ac:picMk id="11" creationId="{D4FF1D72-7C22-D986-FC34-44BA7B3AE5EC}"/>
          </ac:picMkLst>
        </pc:picChg>
        <pc:picChg chg="add mod modCrop">
          <ac:chgData name="Sagar Aeri" userId="bd00f59c150191bf" providerId="LiveId" clId="{384B88AF-9363-49A8-BB6B-6BA1A7A5E50D}" dt="2025-08-28T06:43:26.759" v="560" actId="1076"/>
          <ac:picMkLst>
            <pc:docMk/>
            <pc:sldMk cId="2155520577" sldId="616"/>
            <ac:picMk id="12" creationId="{524D9DAC-0BF9-FD93-9B75-57F98C7B92A9}"/>
          </ac:picMkLst>
        </pc:picChg>
      </pc:sldChg>
    </pc:docChg>
  </pc:docChgLst>
  <pc:docChgLst>
    <pc:chgData name="Sagar Aeri" userId="bd00f59c150191bf" providerId="LiveId" clId="{E8FCB0AB-3A15-4853-B52A-C1E66AE2557E}"/>
    <pc:docChg chg="custSel addSld delSld modSld">
      <pc:chgData name="Sagar Aeri" userId="bd00f59c150191bf" providerId="LiveId" clId="{E8FCB0AB-3A15-4853-B52A-C1E66AE2557E}" dt="2025-09-09T06:32:32.318" v="13"/>
      <pc:docMkLst>
        <pc:docMk/>
      </pc:docMkLst>
      <pc:sldChg chg="add">
        <pc:chgData name="Sagar Aeri" userId="bd00f59c150191bf" providerId="LiveId" clId="{E8FCB0AB-3A15-4853-B52A-C1E66AE2557E}" dt="2025-09-09T06:31:59.328" v="11"/>
        <pc:sldMkLst>
          <pc:docMk/>
          <pc:sldMk cId="0" sldId="256"/>
        </pc:sldMkLst>
      </pc:sldChg>
      <pc:sldChg chg="add">
        <pc:chgData name="Sagar Aeri" userId="bd00f59c150191bf" providerId="LiveId" clId="{E8FCB0AB-3A15-4853-B52A-C1E66AE2557E}" dt="2025-09-09T06:31:59.328" v="11"/>
        <pc:sldMkLst>
          <pc:docMk/>
          <pc:sldMk cId="0" sldId="259"/>
        </pc:sldMkLst>
      </pc:sldChg>
      <pc:sldChg chg="add">
        <pc:chgData name="Sagar Aeri" userId="bd00f59c150191bf" providerId="LiveId" clId="{E8FCB0AB-3A15-4853-B52A-C1E66AE2557E}" dt="2025-09-09T06:31:59.328" v="11"/>
        <pc:sldMkLst>
          <pc:docMk/>
          <pc:sldMk cId="0" sldId="260"/>
        </pc:sldMkLst>
      </pc:sldChg>
      <pc:sldChg chg="add">
        <pc:chgData name="Sagar Aeri" userId="bd00f59c150191bf" providerId="LiveId" clId="{E8FCB0AB-3A15-4853-B52A-C1E66AE2557E}" dt="2025-09-09T06:31:59.328" v="11"/>
        <pc:sldMkLst>
          <pc:docMk/>
          <pc:sldMk cId="0" sldId="265"/>
        </pc:sldMkLst>
      </pc:sldChg>
      <pc:sldChg chg="add">
        <pc:chgData name="Sagar Aeri" userId="bd00f59c150191bf" providerId="LiveId" clId="{E8FCB0AB-3A15-4853-B52A-C1E66AE2557E}" dt="2025-09-09T06:31:59.328" v="11"/>
        <pc:sldMkLst>
          <pc:docMk/>
          <pc:sldMk cId="2371995503" sldId="272"/>
        </pc:sldMkLst>
      </pc:sldChg>
      <pc:sldChg chg="add">
        <pc:chgData name="Sagar Aeri" userId="bd00f59c150191bf" providerId="LiveId" clId="{E8FCB0AB-3A15-4853-B52A-C1E66AE2557E}" dt="2025-09-09T06:31:59.328" v="11"/>
        <pc:sldMkLst>
          <pc:docMk/>
          <pc:sldMk cId="244707686" sldId="273"/>
        </pc:sldMkLst>
      </pc:sldChg>
      <pc:sldChg chg="add">
        <pc:chgData name="Sagar Aeri" userId="bd00f59c150191bf" providerId="LiveId" clId="{E8FCB0AB-3A15-4853-B52A-C1E66AE2557E}" dt="2025-09-09T06:31:59.328" v="11"/>
        <pc:sldMkLst>
          <pc:docMk/>
          <pc:sldMk cId="0" sldId="311"/>
        </pc:sldMkLst>
      </pc:sldChg>
      <pc:sldChg chg="modSp mod">
        <pc:chgData name="Sagar Aeri" userId="bd00f59c150191bf" providerId="LiveId" clId="{E8FCB0AB-3A15-4853-B52A-C1E66AE2557E}" dt="2025-09-09T06:30:00.192" v="5" actId="207"/>
        <pc:sldMkLst>
          <pc:docMk/>
          <pc:sldMk cId="0" sldId="350"/>
        </pc:sldMkLst>
        <pc:spChg chg="mod">
          <ac:chgData name="Sagar Aeri" userId="bd00f59c150191bf" providerId="LiveId" clId="{E8FCB0AB-3A15-4853-B52A-C1E66AE2557E}" dt="2025-09-09T06:30:00.192" v="5" actId="207"/>
          <ac:spMkLst>
            <pc:docMk/>
            <pc:sldMk cId="0" sldId="350"/>
            <ac:spMk id="4" creationId="{DA2F8DEF-6020-6E48-831F-EC3C0708A617}"/>
          </ac:spMkLst>
        </pc:spChg>
        <pc:spChg chg="mod">
          <ac:chgData name="Sagar Aeri" userId="bd00f59c150191bf" providerId="LiveId" clId="{E8FCB0AB-3A15-4853-B52A-C1E66AE2557E}" dt="2025-09-09T06:29:51.501" v="2" actId="20577"/>
          <ac:spMkLst>
            <pc:docMk/>
            <pc:sldMk cId="0" sldId="350"/>
            <ac:spMk id="5122" creationId="{9C2BB71C-9F21-7741-8059-E214690E60DD}"/>
          </ac:spMkLst>
        </pc:spChg>
      </pc:sldChg>
      <pc:sldChg chg="add">
        <pc:chgData name="Sagar Aeri" userId="bd00f59c150191bf" providerId="LiveId" clId="{E8FCB0AB-3A15-4853-B52A-C1E66AE2557E}" dt="2025-09-09T06:31:59.328" v="11"/>
        <pc:sldMkLst>
          <pc:docMk/>
          <pc:sldMk cId="785754770" sldId="378"/>
        </pc:sldMkLst>
      </pc:sldChg>
      <pc:sldChg chg="add">
        <pc:chgData name="Sagar Aeri" userId="bd00f59c150191bf" providerId="LiveId" clId="{E8FCB0AB-3A15-4853-B52A-C1E66AE2557E}" dt="2025-09-09T06:31:59.328" v="11"/>
        <pc:sldMkLst>
          <pc:docMk/>
          <pc:sldMk cId="699466453" sldId="379"/>
        </pc:sldMkLst>
      </pc:sldChg>
      <pc:sldChg chg="add">
        <pc:chgData name="Sagar Aeri" userId="bd00f59c150191bf" providerId="LiveId" clId="{E8FCB0AB-3A15-4853-B52A-C1E66AE2557E}" dt="2025-09-09T06:31:59.328" v="11"/>
        <pc:sldMkLst>
          <pc:docMk/>
          <pc:sldMk cId="1472401317" sldId="380"/>
        </pc:sldMkLst>
      </pc:sldChg>
      <pc:sldChg chg="add">
        <pc:chgData name="Sagar Aeri" userId="bd00f59c150191bf" providerId="LiveId" clId="{E8FCB0AB-3A15-4853-B52A-C1E66AE2557E}" dt="2025-09-09T06:31:59.328" v="11"/>
        <pc:sldMkLst>
          <pc:docMk/>
          <pc:sldMk cId="4187222447" sldId="382"/>
        </pc:sldMkLst>
      </pc:sldChg>
      <pc:sldChg chg="add">
        <pc:chgData name="Sagar Aeri" userId="bd00f59c150191bf" providerId="LiveId" clId="{E8FCB0AB-3A15-4853-B52A-C1E66AE2557E}" dt="2025-09-09T06:31:59.328" v="11"/>
        <pc:sldMkLst>
          <pc:docMk/>
          <pc:sldMk cId="1242480072" sldId="383"/>
        </pc:sldMkLst>
      </pc:sldChg>
      <pc:sldChg chg="add">
        <pc:chgData name="Sagar Aeri" userId="bd00f59c150191bf" providerId="LiveId" clId="{E8FCB0AB-3A15-4853-B52A-C1E66AE2557E}" dt="2025-09-09T06:31:59.328" v="11"/>
        <pc:sldMkLst>
          <pc:docMk/>
          <pc:sldMk cId="1934583095" sldId="384"/>
        </pc:sldMkLst>
      </pc:sldChg>
      <pc:sldChg chg="add">
        <pc:chgData name="Sagar Aeri" userId="bd00f59c150191bf" providerId="LiveId" clId="{E8FCB0AB-3A15-4853-B52A-C1E66AE2557E}" dt="2025-09-09T06:31:59.328" v="11"/>
        <pc:sldMkLst>
          <pc:docMk/>
          <pc:sldMk cId="2531217711" sldId="385"/>
        </pc:sldMkLst>
      </pc:sldChg>
      <pc:sldChg chg="add">
        <pc:chgData name="Sagar Aeri" userId="bd00f59c150191bf" providerId="LiveId" clId="{E8FCB0AB-3A15-4853-B52A-C1E66AE2557E}" dt="2025-09-09T06:31:59.328" v="11"/>
        <pc:sldMkLst>
          <pc:docMk/>
          <pc:sldMk cId="2169595426" sldId="386"/>
        </pc:sldMkLst>
      </pc:sldChg>
      <pc:sldChg chg="add">
        <pc:chgData name="Sagar Aeri" userId="bd00f59c150191bf" providerId="LiveId" clId="{E8FCB0AB-3A15-4853-B52A-C1E66AE2557E}" dt="2025-09-09T06:31:59.328" v="11"/>
        <pc:sldMkLst>
          <pc:docMk/>
          <pc:sldMk cId="3408598211" sldId="387"/>
        </pc:sldMkLst>
      </pc:sldChg>
      <pc:sldChg chg="add">
        <pc:chgData name="Sagar Aeri" userId="bd00f59c150191bf" providerId="LiveId" clId="{E8FCB0AB-3A15-4853-B52A-C1E66AE2557E}" dt="2025-09-09T06:31:59.328" v="11"/>
        <pc:sldMkLst>
          <pc:docMk/>
          <pc:sldMk cId="0" sldId="389"/>
        </pc:sldMkLst>
      </pc:sldChg>
      <pc:sldChg chg="add">
        <pc:chgData name="Sagar Aeri" userId="bd00f59c150191bf" providerId="LiveId" clId="{E8FCB0AB-3A15-4853-B52A-C1E66AE2557E}" dt="2025-09-09T06:31:59.328" v="11"/>
        <pc:sldMkLst>
          <pc:docMk/>
          <pc:sldMk cId="0" sldId="390"/>
        </pc:sldMkLst>
      </pc:sldChg>
      <pc:sldChg chg="modSp add mod">
        <pc:chgData name="Sagar Aeri" userId="bd00f59c150191bf" providerId="LiveId" clId="{E8FCB0AB-3A15-4853-B52A-C1E66AE2557E}" dt="2025-09-09T06:31:59.515" v="12" actId="27636"/>
        <pc:sldMkLst>
          <pc:docMk/>
          <pc:sldMk cId="0" sldId="393"/>
        </pc:sldMkLst>
        <pc:spChg chg="mod">
          <ac:chgData name="Sagar Aeri" userId="bd00f59c150191bf" providerId="LiveId" clId="{E8FCB0AB-3A15-4853-B52A-C1E66AE2557E}" dt="2025-09-09T06:31:59.515" v="12" actId="27636"/>
          <ac:spMkLst>
            <pc:docMk/>
            <pc:sldMk cId="0" sldId="393"/>
            <ac:spMk id="2" creationId="{00000000-0000-0000-0000-000000000000}"/>
          </ac:spMkLst>
        </pc:spChg>
      </pc:sldChg>
      <pc:sldChg chg="add">
        <pc:chgData name="Sagar Aeri" userId="bd00f59c150191bf" providerId="LiveId" clId="{E8FCB0AB-3A15-4853-B52A-C1E66AE2557E}" dt="2025-09-09T06:31:59.328" v="11"/>
        <pc:sldMkLst>
          <pc:docMk/>
          <pc:sldMk cId="4034042383" sldId="394"/>
        </pc:sldMkLst>
      </pc:sldChg>
      <pc:sldChg chg="add">
        <pc:chgData name="Sagar Aeri" userId="bd00f59c150191bf" providerId="LiveId" clId="{E8FCB0AB-3A15-4853-B52A-C1E66AE2557E}" dt="2025-09-09T06:31:59.328" v="11"/>
        <pc:sldMkLst>
          <pc:docMk/>
          <pc:sldMk cId="2958014769" sldId="395"/>
        </pc:sldMkLst>
      </pc:sldChg>
      <pc:sldChg chg="add">
        <pc:chgData name="Sagar Aeri" userId="bd00f59c150191bf" providerId="LiveId" clId="{E8FCB0AB-3A15-4853-B52A-C1E66AE2557E}" dt="2025-09-09T06:31:59.328" v="11"/>
        <pc:sldMkLst>
          <pc:docMk/>
          <pc:sldMk cId="2693245186" sldId="396"/>
        </pc:sldMkLst>
      </pc:sldChg>
      <pc:sldChg chg="add">
        <pc:chgData name="Sagar Aeri" userId="bd00f59c150191bf" providerId="LiveId" clId="{E8FCB0AB-3A15-4853-B52A-C1E66AE2557E}" dt="2025-09-09T06:32:32.318" v="13"/>
        <pc:sldMkLst>
          <pc:docMk/>
          <pc:sldMk cId="3329191919" sldId="553"/>
        </pc:sldMkLst>
      </pc:sldChg>
      <pc:sldChg chg="add">
        <pc:chgData name="Sagar Aeri" userId="bd00f59c150191bf" providerId="LiveId" clId="{E8FCB0AB-3A15-4853-B52A-C1E66AE2557E}" dt="2025-09-09T06:32:32.318" v="13"/>
        <pc:sldMkLst>
          <pc:docMk/>
          <pc:sldMk cId="514471526" sldId="554"/>
        </pc:sldMkLst>
      </pc:sldChg>
      <pc:sldChg chg="add">
        <pc:chgData name="Sagar Aeri" userId="bd00f59c150191bf" providerId="LiveId" clId="{E8FCB0AB-3A15-4853-B52A-C1E66AE2557E}" dt="2025-09-09T06:32:32.318" v="13"/>
        <pc:sldMkLst>
          <pc:docMk/>
          <pc:sldMk cId="1477816021" sldId="555"/>
        </pc:sldMkLst>
      </pc:sldChg>
      <pc:sldChg chg="add">
        <pc:chgData name="Sagar Aeri" userId="bd00f59c150191bf" providerId="LiveId" clId="{E8FCB0AB-3A15-4853-B52A-C1E66AE2557E}" dt="2025-09-09T06:32:32.318" v="13"/>
        <pc:sldMkLst>
          <pc:docMk/>
          <pc:sldMk cId="2472644215" sldId="556"/>
        </pc:sldMkLst>
      </pc:sldChg>
      <pc:sldChg chg="add">
        <pc:chgData name="Sagar Aeri" userId="bd00f59c150191bf" providerId="LiveId" clId="{E8FCB0AB-3A15-4853-B52A-C1E66AE2557E}" dt="2025-09-09T06:32:32.318" v="13"/>
        <pc:sldMkLst>
          <pc:docMk/>
          <pc:sldMk cId="939756086" sldId="557"/>
        </pc:sldMkLst>
      </pc:sldChg>
      <pc:sldChg chg="add">
        <pc:chgData name="Sagar Aeri" userId="bd00f59c150191bf" providerId="LiveId" clId="{E8FCB0AB-3A15-4853-B52A-C1E66AE2557E}" dt="2025-09-09T06:32:32.318" v="13"/>
        <pc:sldMkLst>
          <pc:docMk/>
          <pc:sldMk cId="3677473121" sldId="559"/>
        </pc:sldMkLst>
      </pc:sldChg>
      <pc:sldChg chg="add">
        <pc:chgData name="Sagar Aeri" userId="bd00f59c150191bf" providerId="LiveId" clId="{E8FCB0AB-3A15-4853-B52A-C1E66AE2557E}" dt="2025-09-09T06:32:32.318" v="13"/>
        <pc:sldMkLst>
          <pc:docMk/>
          <pc:sldMk cId="348455349" sldId="572"/>
        </pc:sldMkLst>
      </pc:sldChg>
      <pc:sldChg chg="add">
        <pc:chgData name="Sagar Aeri" userId="bd00f59c150191bf" providerId="LiveId" clId="{E8FCB0AB-3A15-4853-B52A-C1E66AE2557E}" dt="2025-09-09T06:32:32.318" v="13"/>
        <pc:sldMkLst>
          <pc:docMk/>
          <pc:sldMk cId="1173137635" sldId="573"/>
        </pc:sldMkLst>
      </pc:sldChg>
      <pc:sldChg chg="add">
        <pc:chgData name="Sagar Aeri" userId="bd00f59c150191bf" providerId="LiveId" clId="{E8FCB0AB-3A15-4853-B52A-C1E66AE2557E}" dt="2025-09-09T06:32:32.318" v="13"/>
        <pc:sldMkLst>
          <pc:docMk/>
          <pc:sldMk cId="1887204223" sldId="575"/>
        </pc:sldMkLst>
      </pc:sldChg>
      <pc:sldChg chg="add">
        <pc:chgData name="Sagar Aeri" userId="bd00f59c150191bf" providerId="LiveId" clId="{E8FCB0AB-3A15-4853-B52A-C1E66AE2557E}" dt="2025-09-09T06:32:32.318" v="13"/>
        <pc:sldMkLst>
          <pc:docMk/>
          <pc:sldMk cId="49523614" sldId="576"/>
        </pc:sldMkLst>
      </pc:sldChg>
      <pc:sldChg chg="add">
        <pc:chgData name="Sagar Aeri" userId="bd00f59c150191bf" providerId="LiveId" clId="{E8FCB0AB-3A15-4853-B52A-C1E66AE2557E}" dt="2025-09-09T06:32:32.318" v="13"/>
        <pc:sldMkLst>
          <pc:docMk/>
          <pc:sldMk cId="4235033766" sldId="577"/>
        </pc:sldMkLst>
      </pc:sldChg>
      <pc:sldChg chg="add">
        <pc:chgData name="Sagar Aeri" userId="bd00f59c150191bf" providerId="LiveId" clId="{E8FCB0AB-3A15-4853-B52A-C1E66AE2557E}" dt="2025-09-09T06:31:59.328" v="11"/>
        <pc:sldMkLst>
          <pc:docMk/>
          <pc:sldMk cId="1562509659" sldId="614"/>
        </pc:sldMkLst>
      </pc:sldChg>
      <pc:sldChg chg="del">
        <pc:chgData name="Sagar Aeri" userId="bd00f59c150191bf" providerId="LiveId" clId="{E8FCB0AB-3A15-4853-B52A-C1E66AE2557E}" dt="2025-09-09T06:30:06.868" v="6" actId="47"/>
        <pc:sldMkLst>
          <pc:docMk/>
          <pc:sldMk cId="2525723534" sldId="614"/>
        </pc:sldMkLst>
      </pc:sldChg>
      <pc:sldChg chg="add">
        <pc:chgData name="Sagar Aeri" userId="bd00f59c150191bf" providerId="LiveId" clId="{E8FCB0AB-3A15-4853-B52A-C1E66AE2557E}" dt="2025-09-09T06:31:59.328" v="11"/>
        <pc:sldMkLst>
          <pc:docMk/>
          <pc:sldMk cId="0" sldId="615"/>
        </pc:sldMkLst>
      </pc:sldChg>
      <pc:sldChg chg="del">
        <pc:chgData name="Sagar Aeri" userId="bd00f59c150191bf" providerId="LiveId" clId="{E8FCB0AB-3A15-4853-B52A-C1E66AE2557E}" dt="2025-09-09T06:31:05.394" v="10" actId="47"/>
        <pc:sldMkLst>
          <pc:docMk/>
          <pc:sldMk cId="1229983349" sldId="615"/>
        </pc:sldMkLst>
      </pc:sldChg>
      <pc:sldChg chg="delSp del mod">
        <pc:chgData name="Sagar Aeri" userId="bd00f59c150191bf" providerId="LiveId" clId="{E8FCB0AB-3A15-4853-B52A-C1E66AE2557E}" dt="2025-09-09T06:31:04.884" v="9" actId="47"/>
        <pc:sldMkLst>
          <pc:docMk/>
          <pc:sldMk cId="2155520577" sldId="616"/>
        </pc:sldMkLst>
        <pc:picChg chg="del">
          <ac:chgData name="Sagar Aeri" userId="bd00f59c150191bf" providerId="LiveId" clId="{E8FCB0AB-3A15-4853-B52A-C1E66AE2557E}" dt="2025-09-09T06:30:10.446" v="7" actId="478"/>
          <ac:picMkLst>
            <pc:docMk/>
            <pc:sldMk cId="2155520577" sldId="616"/>
            <ac:picMk id="7" creationId="{9C4BE0DB-55BF-88A3-C817-122718C17AA2}"/>
          </ac:picMkLst>
        </pc:picChg>
        <pc:picChg chg="del">
          <ac:chgData name="Sagar Aeri" userId="bd00f59c150191bf" providerId="LiveId" clId="{E8FCB0AB-3A15-4853-B52A-C1E66AE2557E}" dt="2025-09-09T06:30:12.113" v="8" actId="478"/>
          <ac:picMkLst>
            <pc:docMk/>
            <pc:sldMk cId="2155520577" sldId="616"/>
            <ac:picMk id="10" creationId="{8D03ACB2-F1A1-9AA5-B973-7663B748C591}"/>
          </ac:picMkLst>
        </pc:picChg>
      </pc:sldChg>
      <pc:sldChg chg="add">
        <pc:chgData name="Sagar Aeri" userId="bd00f59c150191bf" providerId="LiveId" clId="{E8FCB0AB-3A15-4853-B52A-C1E66AE2557E}" dt="2025-09-09T06:31:59.328" v="11"/>
        <pc:sldMkLst>
          <pc:docMk/>
          <pc:sldMk cId="3281671972" sldId="616"/>
        </pc:sldMkLst>
      </pc:sldChg>
      <pc:sldChg chg="add">
        <pc:chgData name="Sagar Aeri" userId="bd00f59c150191bf" providerId="LiveId" clId="{E8FCB0AB-3A15-4853-B52A-C1E66AE2557E}" dt="2025-09-09T06:31:59.328" v="11"/>
        <pc:sldMkLst>
          <pc:docMk/>
          <pc:sldMk cId="519053433" sldId="617"/>
        </pc:sldMkLst>
      </pc:sldChg>
      <pc:sldChg chg="add">
        <pc:chgData name="Sagar Aeri" userId="bd00f59c150191bf" providerId="LiveId" clId="{E8FCB0AB-3A15-4853-B52A-C1E66AE2557E}" dt="2025-09-09T06:31:59.328" v="11"/>
        <pc:sldMkLst>
          <pc:docMk/>
          <pc:sldMk cId="3838805792" sldId="618"/>
        </pc:sldMkLst>
      </pc:sldChg>
      <pc:sldChg chg="add">
        <pc:chgData name="Sagar Aeri" userId="bd00f59c150191bf" providerId="LiveId" clId="{E8FCB0AB-3A15-4853-B52A-C1E66AE2557E}" dt="2025-09-09T06:31:59.328" v="11"/>
        <pc:sldMkLst>
          <pc:docMk/>
          <pc:sldMk cId="1395169464" sldId="619"/>
        </pc:sldMkLst>
      </pc:sldChg>
      <pc:sldChg chg="add">
        <pc:chgData name="Sagar Aeri" userId="bd00f59c150191bf" providerId="LiveId" clId="{E8FCB0AB-3A15-4853-B52A-C1E66AE2557E}" dt="2025-09-09T06:31:59.328" v="11"/>
        <pc:sldMkLst>
          <pc:docMk/>
          <pc:sldMk cId="913334421" sldId="620"/>
        </pc:sldMkLst>
      </pc:sldChg>
      <pc:sldChg chg="add">
        <pc:chgData name="Sagar Aeri" userId="bd00f59c150191bf" providerId="LiveId" clId="{E8FCB0AB-3A15-4853-B52A-C1E66AE2557E}" dt="2025-09-09T06:31:59.328" v="11"/>
        <pc:sldMkLst>
          <pc:docMk/>
          <pc:sldMk cId="1660432992" sldId="621"/>
        </pc:sldMkLst>
      </pc:sldChg>
      <pc:sldChg chg="add">
        <pc:chgData name="Sagar Aeri" userId="bd00f59c150191bf" providerId="LiveId" clId="{E8FCB0AB-3A15-4853-B52A-C1E66AE2557E}" dt="2025-09-09T06:31:59.328" v="11"/>
        <pc:sldMkLst>
          <pc:docMk/>
          <pc:sldMk cId="2196166040" sldId="622"/>
        </pc:sldMkLst>
      </pc:sldChg>
      <pc:sldChg chg="add">
        <pc:chgData name="Sagar Aeri" userId="bd00f59c150191bf" providerId="LiveId" clId="{E8FCB0AB-3A15-4853-B52A-C1E66AE2557E}" dt="2025-09-09T06:31:59.328" v="11"/>
        <pc:sldMkLst>
          <pc:docMk/>
          <pc:sldMk cId="0" sldId="623"/>
        </pc:sldMkLst>
      </pc:sldChg>
      <pc:sldChg chg="add">
        <pc:chgData name="Sagar Aeri" userId="bd00f59c150191bf" providerId="LiveId" clId="{E8FCB0AB-3A15-4853-B52A-C1E66AE2557E}" dt="2025-09-09T06:32:32.318" v="13"/>
        <pc:sldMkLst>
          <pc:docMk/>
          <pc:sldMk cId="2323980195" sldId="624"/>
        </pc:sldMkLst>
      </pc:sldChg>
      <pc:sldChg chg="add">
        <pc:chgData name="Sagar Aeri" userId="bd00f59c150191bf" providerId="LiveId" clId="{E8FCB0AB-3A15-4853-B52A-C1E66AE2557E}" dt="2025-09-09T06:32:32.318" v="13"/>
        <pc:sldMkLst>
          <pc:docMk/>
          <pc:sldMk cId="1186632340" sldId="625"/>
        </pc:sldMkLst>
      </pc:sldChg>
      <pc:sldChg chg="add">
        <pc:chgData name="Sagar Aeri" userId="bd00f59c150191bf" providerId="LiveId" clId="{E8FCB0AB-3A15-4853-B52A-C1E66AE2557E}" dt="2025-09-09T06:32:32.318" v="13"/>
        <pc:sldMkLst>
          <pc:docMk/>
          <pc:sldMk cId="2396467651" sldId="626"/>
        </pc:sldMkLst>
      </pc:sldChg>
      <pc:sldChg chg="add">
        <pc:chgData name="Sagar Aeri" userId="bd00f59c150191bf" providerId="LiveId" clId="{E8FCB0AB-3A15-4853-B52A-C1E66AE2557E}" dt="2025-09-09T06:32:32.318" v="13"/>
        <pc:sldMkLst>
          <pc:docMk/>
          <pc:sldMk cId="2434187693" sldId="627"/>
        </pc:sldMkLst>
      </pc:sldChg>
      <pc:sldChg chg="add">
        <pc:chgData name="Sagar Aeri" userId="bd00f59c150191bf" providerId="LiveId" clId="{E8FCB0AB-3A15-4853-B52A-C1E66AE2557E}" dt="2025-09-09T06:32:32.318" v="13"/>
        <pc:sldMkLst>
          <pc:docMk/>
          <pc:sldMk cId="2494346218" sldId="62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7378584-52B0-FC4D-AE45-7301D11129A4}" type="datetimeFigureOut">
              <a:rPr lang="en-US" smtClean="0"/>
              <a:pPr/>
              <a:t>9/9/2025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81077D-BC7D-1E45-ACAB-88A9C84F9F62}" type="slidenum">
              <a:rPr lang="en-US" smtClean="0"/>
              <a:pPr/>
              <a:t>‹#›</a:t>
            </a:fld>
            <a:endParaRPr lang="en-US"/>
          </a:p>
        </p:txBody>
      </p:sp>
    </p:spTree>
    <p:extLst>
      <p:ext uri="{BB962C8B-B14F-4D97-AF65-F5344CB8AC3E}">
        <p14:creationId xmlns:p14="http://schemas.microsoft.com/office/powerpoint/2010/main" val="269232915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a:extLst>
              <a:ext uri="{FF2B5EF4-FFF2-40B4-BE49-F238E27FC236}">
                <a16:creationId xmlns:a16="http://schemas.microsoft.com/office/drawing/2014/main" id="{729FDE61-D9F6-6120-663A-F5DE73C2B83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a:extLst>
              <a:ext uri="{FF2B5EF4-FFF2-40B4-BE49-F238E27FC236}">
                <a16:creationId xmlns:a16="http://schemas.microsoft.com/office/drawing/2014/main" id="{3E8655A5-4DC4-CB6D-BAA1-4022DED6EE6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64516" name="Slide Number Placeholder 3">
            <a:extLst>
              <a:ext uri="{FF2B5EF4-FFF2-40B4-BE49-F238E27FC236}">
                <a16:creationId xmlns:a16="http://schemas.microsoft.com/office/drawing/2014/main" id="{88AD23AF-2CB7-CF2B-5B8D-4A0BA1D0C59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fld id="{856B91DA-5BDF-4112-8AB7-D29ED6CF790A}" type="slidenum">
              <a:rPr lang="en-US" altLang="en-US" sz="1200"/>
              <a:pPr eaLnBrk="1" hangingPunct="1"/>
              <a:t>70</a:t>
            </a:fld>
            <a:endParaRPr lang="en-US" altLang="en-US" sz="12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9CDD88F-DC28-455D-8350-5F870010B929}" type="datetime1">
              <a:rPr lang="en-US" smtClean="0"/>
              <a:t>9/9/2025</a:t>
            </a:fld>
            <a:endParaRPr lang="en-IN"/>
          </a:p>
        </p:txBody>
      </p:sp>
      <p:sp>
        <p:nvSpPr>
          <p:cNvPr id="5" name="Footer Placeholder 4"/>
          <p:cNvSpPr>
            <a:spLocks noGrp="1"/>
          </p:cNvSpPr>
          <p:nvPr>
            <p:ph type="ftr" sz="quarter" idx="11"/>
          </p:nvPr>
        </p:nvSpPr>
        <p:spPr/>
        <p:txBody>
          <a:bodyPr/>
          <a:lstStyle/>
          <a:p>
            <a:r>
              <a:rPr lang="en-IN"/>
              <a:t>CMOS</a:t>
            </a:r>
          </a:p>
        </p:txBody>
      </p:sp>
      <p:sp>
        <p:nvSpPr>
          <p:cNvPr id="6" name="Slide Number Placeholder 5"/>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51764B9-257A-40B2-8A9F-65019AD936B9}" type="datetime1">
              <a:rPr lang="en-US" smtClean="0"/>
              <a:t>9/9/2025</a:t>
            </a:fld>
            <a:endParaRPr lang="en-IN"/>
          </a:p>
        </p:txBody>
      </p:sp>
      <p:sp>
        <p:nvSpPr>
          <p:cNvPr id="5" name="Footer Placeholder 4"/>
          <p:cNvSpPr>
            <a:spLocks noGrp="1"/>
          </p:cNvSpPr>
          <p:nvPr>
            <p:ph type="ftr" sz="quarter" idx="11"/>
          </p:nvPr>
        </p:nvSpPr>
        <p:spPr/>
        <p:txBody>
          <a:bodyPr/>
          <a:lstStyle/>
          <a:p>
            <a:r>
              <a:rPr lang="en-IN"/>
              <a:t>CMOS</a:t>
            </a:r>
          </a:p>
        </p:txBody>
      </p:sp>
      <p:sp>
        <p:nvSpPr>
          <p:cNvPr id="6" name="Slide Number Placeholder 5"/>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44C5EE8-5948-4F48-83EA-B354F5917778}" type="datetime1">
              <a:rPr lang="en-US" smtClean="0"/>
              <a:t>9/9/2025</a:t>
            </a:fld>
            <a:endParaRPr lang="en-IN"/>
          </a:p>
        </p:txBody>
      </p:sp>
      <p:sp>
        <p:nvSpPr>
          <p:cNvPr id="5" name="Footer Placeholder 4"/>
          <p:cNvSpPr>
            <a:spLocks noGrp="1"/>
          </p:cNvSpPr>
          <p:nvPr>
            <p:ph type="ftr" sz="quarter" idx="11"/>
          </p:nvPr>
        </p:nvSpPr>
        <p:spPr/>
        <p:txBody>
          <a:bodyPr/>
          <a:lstStyle/>
          <a:p>
            <a:r>
              <a:rPr lang="en-IN"/>
              <a:t>CMOS</a:t>
            </a:r>
          </a:p>
        </p:txBody>
      </p:sp>
      <p:sp>
        <p:nvSpPr>
          <p:cNvPr id="6" name="Slide Number Placeholder 5"/>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46A7643A-C730-43BA-9883-125D0632AA2E}" type="datetime1">
              <a:rPr lang="en-US" smtClean="0"/>
              <a:t>9/9/2025</a:t>
            </a:fld>
            <a:endParaRPr lang="en-IN"/>
          </a:p>
        </p:txBody>
      </p:sp>
      <p:sp>
        <p:nvSpPr>
          <p:cNvPr id="6" name="Footer Placeholder 5"/>
          <p:cNvSpPr>
            <a:spLocks noGrp="1"/>
          </p:cNvSpPr>
          <p:nvPr>
            <p:ph type="ftr" sz="quarter" idx="11"/>
          </p:nvPr>
        </p:nvSpPr>
        <p:spPr/>
        <p:txBody>
          <a:bodyPr/>
          <a:lstStyle/>
          <a:p>
            <a:r>
              <a:rPr lang="en-IN"/>
              <a:t>CMOS</a:t>
            </a:r>
          </a:p>
        </p:txBody>
      </p:sp>
      <p:sp>
        <p:nvSpPr>
          <p:cNvPr id="7" name="Slide Number Placeholder 6"/>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DC69DB3D-68DB-4A9A-8BF6-0E7D0356EFB8}" type="datetime1">
              <a:rPr lang="en-US" smtClean="0"/>
              <a:t>9/9/2025</a:t>
            </a:fld>
            <a:endParaRPr lang="en-IN"/>
          </a:p>
        </p:txBody>
      </p:sp>
      <p:sp>
        <p:nvSpPr>
          <p:cNvPr id="8" name="Footer Placeholder 7"/>
          <p:cNvSpPr>
            <a:spLocks noGrp="1"/>
          </p:cNvSpPr>
          <p:nvPr>
            <p:ph type="ftr" sz="quarter" idx="11"/>
          </p:nvPr>
        </p:nvSpPr>
        <p:spPr/>
        <p:txBody>
          <a:bodyPr/>
          <a:lstStyle/>
          <a:p>
            <a:r>
              <a:rPr lang="en-IN"/>
              <a:t>CMOS</a:t>
            </a:r>
          </a:p>
        </p:txBody>
      </p:sp>
      <p:sp>
        <p:nvSpPr>
          <p:cNvPr id="9" name="Slide Number Placeholder 8"/>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3383B38F-20A2-469B-BE82-A0C486463B85}" type="datetime1">
              <a:rPr lang="en-US" smtClean="0"/>
              <a:t>9/9/2025</a:t>
            </a:fld>
            <a:endParaRPr lang="en-IN"/>
          </a:p>
        </p:txBody>
      </p:sp>
      <p:sp>
        <p:nvSpPr>
          <p:cNvPr id="4" name="Footer Placeholder 3"/>
          <p:cNvSpPr>
            <a:spLocks noGrp="1"/>
          </p:cNvSpPr>
          <p:nvPr>
            <p:ph type="ftr" sz="quarter" idx="11"/>
          </p:nvPr>
        </p:nvSpPr>
        <p:spPr/>
        <p:txBody>
          <a:bodyPr/>
          <a:lstStyle/>
          <a:p>
            <a:r>
              <a:rPr lang="en-IN"/>
              <a:t>CMOS</a:t>
            </a:r>
          </a:p>
        </p:txBody>
      </p:sp>
      <p:sp>
        <p:nvSpPr>
          <p:cNvPr id="5" name="Slide Number Placeholder 4"/>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p:cNvSpPr>
            <a:spLocks noGrp="1"/>
          </p:cNvSpPr>
          <p:nvPr>
            <p:ph type="ftr" sz="quarter" idx="11"/>
          </p:nvPr>
        </p:nvSpPr>
        <p:spPr/>
        <p:txBody>
          <a:bodyPr/>
          <a:lstStyle/>
          <a:p>
            <a:r>
              <a:rPr lang="en-IN"/>
              <a:t>CMOS</a:t>
            </a:r>
          </a:p>
        </p:txBody>
      </p:sp>
      <p:sp>
        <p:nvSpPr>
          <p:cNvPr id="4" name="Slide Number Placeholder 3"/>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6DC4EB04-F8DC-4FF3-A2A2-3C9DAF2DB00F}" type="datetime1">
              <a:rPr lang="en-US" smtClean="0"/>
              <a:t>9/9/2025</a:t>
            </a:fld>
            <a:endParaRPr lang="en-IN"/>
          </a:p>
        </p:txBody>
      </p:sp>
      <p:sp>
        <p:nvSpPr>
          <p:cNvPr id="6" name="Footer Placeholder 5"/>
          <p:cNvSpPr>
            <a:spLocks noGrp="1"/>
          </p:cNvSpPr>
          <p:nvPr>
            <p:ph type="ftr" sz="quarter" idx="11"/>
          </p:nvPr>
        </p:nvSpPr>
        <p:spPr/>
        <p:txBody>
          <a:bodyPr/>
          <a:lstStyle/>
          <a:p>
            <a:r>
              <a:rPr lang="en-IN"/>
              <a:t>CMOS</a:t>
            </a:r>
          </a:p>
        </p:txBody>
      </p:sp>
      <p:sp>
        <p:nvSpPr>
          <p:cNvPr id="7" name="Slide Number Placeholder 6"/>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39EE45C-3927-4BA8-9DBF-FDA29B589A10}" type="datetime1">
              <a:rPr lang="en-US" smtClean="0"/>
              <a:t>9/9/2025</a:t>
            </a:fld>
            <a:endParaRPr lang="en-IN"/>
          </a:p>
        </p:txBody>
      </p:sp>
      <p:sp>
        <p:nvSpPr>
          <p:cNvPr id="6" name="Footer Placeholder 5"/>
          <p:cNvSpPr>
            <a:spLocks noGrp="1"/>
          </p:cNvSpPr>
          <p:nvPr>
            <p:ph type="ftr" sz="quarter" idx="11"/>
          </p:nvPr>
        </p:nvSpPr>
        <p:spPr/>
        <p:txBody>
          <a:bodyPr/>
          <a:lstStyle/>
          <a:p>
            <a:r>
              <a:rPr lang="en-IN"/>
              <a:t>CMOS</a:t>
            </a:r>
          </a:p>
        </p:txBody>
      </p:sp>
      <p:sp>
        <p:nvSpPr>
          <p:cNvPr id="7" name="Slide Number Placeholder 6"/>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C9FBA6A8-A6E7-4F74-BFDD-EED93C74942C}" type="datetime1">
              <a:rPr lang="en-US" smtClean="0"/>
              <a:t>9/9/2025</a:t>
            </a:fld>
            <a:endParaRPr lang="en-IN"/>
          </a:p>
        </p:txBody>
      </p:sp>
      <p:sp>
        <p:nvSpPr>
          <p:cNvPr id="5" name="Footer Placeholder 4"/>
          <p:cNvSpPr>
            <a:spLocks noGrp="1"/>
          </p:cNvSpPr>
          <p:nvPr>
            <p:ph type="ftr" sz="quarter" idx="11"/>
          </p:nvPr>
        </p:nvSpPr>
        <p:spPr/>
        <p:txBody>
          <a:bodyPr/>
          <a:lstStyle/>
          <a:p>
            <a:r>
              <a:rPr lang="en-IN"/>
              <a:t>CMOS</a:t>
            </a:r>
          </a:p>
        </p:txBody>
      </p:sp>
      <p:sp>
        <p:nvSpPr>
          <p:cNvPr id="6" name="Slide Number Placeholder 5"/>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DD247AA-A089-4B9B-9EC4-36DD54450BB8}" type="datetime1">
              <a:rPr lang="en-US" smtClean="0"/>
              <a:t>9/9/2025</a:t>
            </a:fld>
            <a:endParaRPr lang="en-IN"/>
          </a:p>
        </p:txBody>
      </p:sp>
      <p:sp>
        <p:nvSpPr>
          <p:cNvPr id="5" name="Footer Placeholder 4"/>
          <p:cNvSpPr>
            <a:spLocks noGrp="1"/>
          </p:cNvSpPr>
          <p:nvPr>
            <p:ph type="ftr" sz="quarter" idx="11"/>
          </p:nvPr>
        </p:nvSpPr>
        <p:spPr/>
        <p:txBody>
          <a:bodyPr/>
          <a:lstStyle/>
          <a:p>
            <a:r>
              <a:rPr lang="en-IN"/>
              <a:t>CMOS</a:t>
            </a:r>
          </a:p>
        </p:txBody>
      </p:sp>
      <p:sp>
        <p:nvSpPr>
          <p:cNvPr id="6" name="Slide Number Placeholder 5"/>
          <p:cNvSpPr>
            <a:spLocks noGrp="1"/>
          </p:cNvSpPr>
          <p:nvPr>
            <p:ph type="sldNum" sz="quarter" idx="12"/>
          </p:nvPr>
        </p:nvSpPr>
        <p:spPr/>
        <p:txBody>
          <a:bodyPr/>
          <a:lstStyle/>
          <a:p>
            <a:fld id="{BC2E8B6D-A843-4976-BA70-A811246CC566}" type="slidenum">
              <a:rPr lang="en-IN" smtClean="0"/>
              <a:pPr/>
              <a:t>‹#›</a:t>
            </a:fld>
            <a:endParaRPr lang="en-I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8C3632A-87C9-49C9-A890-15B45733121B}" type="datetime1">
              <a:rPr lang="en-US" smtClean="0"/>
              <a:t>9/9/2025</a:t>
            </a:fld>
            <a:endParaRPr lang="en-IN"/>
          </a:p>
        </p:txBody>
      </p:sp>
      <p:sp>
        <p:nvSpPr>
          <p:cNvPr id="4" name="Footer Placeholder 3"/>
          <p:cNvSpPr>
            <a:spLocks noGrp="1"/>
          </p:cNvSpPr>
          <p:nvPr>
            <p:ph type="ftr" sz="quarter" idx="11"/>
          </p:nvPr>
        </p:nvSpPr>
        <p:spPr/>
        <p:txBody>
          <a:bodyPr/>
          <a:lstStyle/>
          <a:p>
            <a:r>
              <a:rPr lang="en-IN"/>
              <a:t>CMOS</a:t>
            </a:r>
          </a:p>
        </p:txBody>
      </p:sp>
      <p:sp>
        <p:nvSpPr>
          <p:cNvPr id="5" name="Slide Number Placeholder 4"/>
          <p:cNvSpPr>
            <a:spLocks noGrp="1"/>
          </p:cNvSpPr>
          <p:nvPr>
            <p:ph type="sldNum" sz="quarter" idx="12"/>
          </p:nvPr>
        </p:nvSpPr>
        <p:spPr/>
        <p:txBody>
          <a:bodyPr/>
          <a:lstStyle/>
          <a:p>
            <a:fld id="{BC2E8B6D-A843-4976-BA70-A811246CC566}" type="slidenum">
              <a:rPr lang="en-IN" smtClean="0"/>
              <a:pPr/>
              <a:t>‹#›</a:t>
            </a:fld>
            <a:endParaRPr lang="en-IN"/>
          </a:p>
        </p:txBody>
      </p:sp>
    </p:spTree>
    <p:extLst>
      <p:ext uri="{BB962C8B-B14F-4D97-AF65-F5344CB8AC3E}">
        <p14:creationId xmlns:p14="http://schemas.microsoft.com/office/powerpoint/2010/main" val="28477250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609600" y="1600201"/>
            <a:ext cx="109728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609600" y="6356351"/>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4D9D8DA-30DB-49D2-A1A4-DE172595EB07}" type="datetime1">
              <a:rPr lang="en-US" smtClean="0"/>
              <a:t>9/9/2025</a:t>
            </a:fld>
            <a:endParaRPr lang="en-IN"/>
          </a:p>
        </p:txBody>
      </p:sp>
      <p:sp>
        <p:nvSpPr>
          <p:cNvPr id="5" name="Footer Placeholder 4"/>
          <p:cNvSpPr>
            <a:spLocks noGrp="1"/>
          </p:cNvSpPr>
          <p:nvPr>
            <p:ph type="ftr" sz="quarter" idx="3"/>
          </p:nvPr>
        </p:nvSpPr>
        <p:spPr>
          <a:xfrm>
            <a:off x="4165600" y="6356351"/>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CMOS</a:t>
            </a:r>
          </a:p>
        </p:txBody>
      </p:sp>
      <p:sp>
        <p:nvSpPr>
          <p:cNvPr id="6" name="Slide Number Placeholder 5"/>
          <p:cNvSpPr>
            <a:spLocks noGrp="1"/>
          </p:cNvSpPr>
          <p:nvPr>
            <p:ph type="sldNum" sz="quarter" idx="4"/>
          </p:nvPr>
        </p:nvSpPr>
        <p:spPr>
          <a:xfrm>
            <a:off x="8737600" y="6356351"/>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C2E8B6D-A843-4976-BA70-A811246CC566}" type="slidenum">
              <a:rPr lang="en-IN" smtClean="0"/>
              <a:pPr/>
              <a:t>‹#›</a:t>
            </a:fld>
            <a:endParaRPr lang="en-IN"/>
          </a:p>
        </p:txBody>
      </p:sp>
      <p:pic>
        <p:nvPicPr>
          <p:cNvPr id="7" name="Picture 6">
            <a:extLst>
              <a:ext uri="{FF2B5EF4-FFF2-40B4-BE49-F238E27FC236}">
                <a16:creationId xmlns:a16="http://schemas.microsoft.com/office/drawing/2014/main" id="{0B46E13C-371B-CF87-F566-120D759C8796}"/>
              </a:ext>
            </a:extLst>
          </p:cNvPr>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0" y="44451"/>
            <a:ext cx="1800200" cy="887055"/>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60.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00.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0.png"/><Relationship Id="rId7" Type="http://schemas.openxmlformats.org/officeDocument/2006/relationships/image" Target="../media/image28.png"/><Relationship Id="rId2" Type="http://schemas.openxmlformats.org/officeDocument/2006/relationships/image" Target="../media/image230.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0.png"/><Relationship Id="rId9" Type="http://schemas.openxmlformats.org/officeDocument/2006/relationships/image" Target="../media/image30.png"/></Relationships>
</file>

<file path=ppt/slides/_rels/slide30.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33.emf"/><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microsoft.com/office/2007/relationships/hdphoto" Target="../media/hdphoto4.wdp"/><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36.png"/><Relationship Id="rId1" Type="http://schemas.openxmlformats.org/officeDocument/2006/relationships/slideLayout" Target="../slideLayouts/slideLayout7.xml"/><Relationship Id="rId5" Type="http://schemas.microsoft.com/office/2007/relationships/hdphoto" Target="../media/hdphoto5.wdp"/><Relationship Id="rId4" Type="http://schemas.openxmlformats.org/officeDocument/2006/relationships/image" Target="../media/image38.png"/></Relationships>
</file>

<file path=ppt/slides/_rels/slide4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microsoft.com/office/2007/relationships/hdphoto" Target="../media/hdphoto6.wdp"/><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microsoft.com/office/2007/relationships/hdphoto" Target="../media/hdphoto7.wdp"/><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7.xml"/><Relationship Id="rId5" Type="http://schemas.microsoft.com/office/2007/relationships/hdphoto" Target="../media/hdphoto8.wdp"/><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image" Target="../media/image45.png"/><Relationship Id="rId1" Type="http://schemas.openxmlformats.org/officeDocument/2006/relationships/slideLayout" Target="../slideLayouts/slideLayout7.xml"/><Relationship Id="rId4" Type="http://schemas.microsoft.com/office/2007/relationships/hdphoto" Target="../media/hdphoto9.wdp"/></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 Id="rId4" Type="http://schemas.openxmlformats.org/officeDocument/2006/relationships/image" Target="../media/image60.png"/></Relationships>
</file>

<file path=ppt/slides/_rels/slide67.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2.xml"/><Relationship Id="rId4" Type="http://schemas.openxmlformats.org/officeDocument/2006/relationships/image" Target="../media/image64.png"/></Relationships>
</file>

<file path=ppt/slides/_rels/slide69.xml.rels><?xml version="1.0" encoding="UTF-8" standalone="yes"?>
<Relationships xmlns="http://schemas.openxmlformats.org/package/2006/relationships"><Relationship Id="rId3" Type="http://schemas.microsoft.com/office/2007/relationships/hdphoto" Target="../media/hdphoto10.wdp"/><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3" Type="http://schemas.microsoft.com/office/2007/relationships/hdphoto" Target="../media/hdphoto11.wdp"/><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8" Type="http://schemas.openxmlformats.org/officeDocument/2006/relationships/image" Target="../media/image74.png"/><Relationship Id="rId13" Type="http://schemas.openxmlformats.org/officeDocument/2006/relationships/image" Target="../media/image79.png"/><Relationship Id="rId18" Type="http://schemas.openxmlformats.org/officeDocument/2006/relationships/image" Target="../media/image84.png"/><Relationship Id="rId3" Type="http://schemas.openxmlformats.org/officeDocument/2006/relationships/image" Target="../media/image69.png"/><Relationship Id="rId21" Type="http://schemas.openxmlformats.org/officeDocument/2006/relationships/image" Target="../media/image87.png"/><Relationship Id="rId7" Type="http://schemas.openxmlformats.org/officeDocument/2006/relationships/image" Target="../media/image73.png"/><Relationship Id="rId12" Type="http://schemas.openxmlformats.org/officeDocument/2006/relationships/image" Target="../media/image78.png"/><Relationship Id="rId17" Type="http://schemas.openxmlformats.org/officeDocument/2006/relationships/image" Target="../media/image83.png"/><Relationship Id="rId2" Type="http://schemas.openxmlformats.org/officeDocument/2006/relationships/image" Target="../media/image68.png"/><Relationship Id="rId16" Type="http://schemas.openxmlformats.org/officeDocument/2006/relationships/image" Target="../media/image82.png"/><Relationship Id="rId20" Type="http://schemas.openxmlformats.org/officeDocument/2006/relationships/image" Target="../media/image86.png"/><Relationship Id="rId1" Type="http://schemas.openxmlformats.org/officeDocument/2006/relationships/slideLayout" Target="../slideLayouts/slideLayout2.xml"/><Relationship Id="rId6" Type="http://schemas.openxmlformats.org/officeDocument/2006/relationships/image" Target="../media/image72.png"/><Relationship Id="rId11" Type="http://schemas.openxmlformats.org/officeDocument/2006/relationships/image" Target="../media/image77.png"/><Relationship Id="rId5" Type="http://schemas.openxmlformats.org/officeDocument/2006/relationships/image" Target="../media/image71.png"/><Relationship Id="rId15" Type="http://schemas.openxmlformats.org/officeDocument/2006/relationships/image" Target="../media/image81.png"/><Relationship Id="rId10" Type="http://schemas.openxmlformats.org/officeDocument/2006/relationships/image" Target="../media/image76.png"/><Relationship Id="rId19" Type="http://schemas.openxmlformats.org/officeDocument/2006/relationships/image" Target="../media/image85.png"/><Relationship Id="rId4" Type="http://schemas.openxmlformats.org/officeDocument/2006/relationships/image" Target="../media/image70.png"/><Relationship Id="rId9" Type="http://schemas.openxmlformats.org/officeDocument/2006/relationships/image" Target="../media/image75.png"/><Relationship Id="rId14" Type="http://schemas.openxmlformats.org/officeDocument/2006/relationships/image" Target="../media/image80.png"/><Relationship Id="rId22" Type="http://schemas.openxmlformats.org/officeDocument/2006/relationships/image" Target="../media/image88.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92.jpg"/><Relationship Id="rId2" Type="http://schemas.openxmlformats.org/officeDocument/2006/relationships/image" Target="../media/image91.jpg"/><Relationship Id="rId1" Type="http://schemas.openxmlformats.org/officeDocument/2006/relationships/slideLayout" Target="../slideLayouts/slideLayout2.xml"/><Relationship Id="rId4" Type="http://schemas.openxmlformats.org/officeDocument/2006/relationships/image" Target="../media/image93.jpg"/></Relationships>
</file>

<file path=ppt/slides/_rels/slide81.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99.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5" name="Process 4">
            <a:extLst>
              <a:ext uri="{FF2B5EF4-FFF2-40B4-BE49-F238E27FC236}">
                <a16:creationId xmlns:a16="http://schemas.microsoft.com/office/drawing/2014/main" id="{55AD755F-DACA-206F-C34A-6AF806FFE160}"/>
              </a:ext>
            </a:extLst>
          </p:cNvPr>
          <p:cNvSpPr/>
          <p:nvPr/>
        </p:nvSpPr>
        <p:spPr>
          <a:xfrm>
            <a:off x="0" y="8092"/>
            <a:ext cx="12192000" cy="6858000"/>
          </a:xfrm>
          <a:prstGeom prst="flowChartProcess">
            <a:avLst/>
          </a:prstGeom>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122" name="Subtitle 2">
            <a:extLst>
              <a:ext uri="{FF2B5EF4-FFF2-40B4-BE49-F238E27FC236}">
                <a16:creationId xmlns:a16="http://schemas.microsoft.com/office/drawing/2014/main" id="{9C2BB71C-9F21-7741-8059-E214690E60DD}"/>
              </a:ext>
            </a:extLst>
          </p:cNvPr>
          <p:cNvSpPr>
            <a:spLocks noGrp="1"/>
          </p:cNvSpPr>
          <p:nvPr>
            <p:ph type="subTitle" idx="1"/>
          </p:nvPr>
        </p:nvSpPr>
        <p:spPr>
          <a:xfrm>
            <a:off x="1775520" y="4899416"/>
            <a:ext cx="9001000" cy="1471600"/>
          </a:xfrm>
        </p:spPr>
        <p:txBody>
          <a:bodyPr>
            <a:normAutofit/>
          </a:bodyPr>
          <a:lstStyle/>
          <a:p>
            <a:pPr eaLnBrk="1" hangingPunct="1">
              <a:lnSpc>
                <a:spcPct val="100000"/>
              </a:lnSpc>
            </a:pPr>
            <a:r>
              <a:rPr lang="en-IN" altLang="en-US" sz="2400" b="1" dirty="0">
                <a:solidFill>
                  <a:schemeClr val="tx1"/>
                </a:solidFill>
              </a:rPr>
              <a:t>DR SHIVANI SHARMA</a:t>
            </a:r>
          </a:p>
        </p:txBody>
      </p:sp>
      <p:sp>
        <p:nvSpPr>
          <p:cNvPr id="4" name="Subtitle 2">
            <a:extLst>
              <a:ext uri="{FF2B5EF4-FFF2-40B4-BE49-F238E27FC236}">
                <a16:creationId xmlns:a16="http://schemas.microsoft.com/office/drawing/2014/main" id="{DA2F8DEF-6020-6E48-831F-EC3C0708A617}"/>
              </a:ext>
            </a:extLst>
          </p:cNvPr>
          <p:cNvSpPr txBox="1">
            <a:spLocks/>
          </p:cNvSpPr>
          <p:nvPr/>
        </p:nvSpPr>
        <p:spPr>
          <a:xfrm>
            <a:off x="407368" y="2276872"/>
            <a:ext cx="11377264" cy="917575"/>
          </a:xfrm>
          <a:prstGeom prst="rect">
            <a:avLst/>
          </a:prstGeom>
        </p:spPr>
        <p:txBody>
          <a:bodyPr/>
          <a:lstStyle/>
          <a:p>
            <a:pPr algn="ctr" defTabSz="685800">
              <a:buClr>
                <a:srgbClr val="5B9BD5"/>
              </a:buClr>
              <a:buSzPct val="70000"/>
              <a:defRPr/>
            </a:pPr>
            <a:r>
              <a:rPr lang="en-US" sz="5400" dirty="0"/>
              <a:t>Unit No:2</a:t>
            </a:r>
          </a:p>
          <a:p>
            <a:pPr algn="ctr" defTabSz="685800">
              <a:buClr>
                <a:srgbClr val="5B9BD5"/>
              </a:buClr>
              <a:buSzPct val="70000"/>
              <a:defRPr/>
            </a:pPr>
            <a:r>
              <a:rPr lang="en-US" sz="5400" dirty="0"/>
              <a:t>Transistors and their Applications: </a:t>
            </a:r>
          </a:p>
        </p:txBody>
      </p:sp>
      <p:pic>
        <p:nvPicPr>
          <p:cNvPr id="6" name="Picture 5">
            <a:extLst>
              <a:ext uri="{FF2B5EF4-FFF2-40B4-BE49-F238E27FC236}">
                <a16:creationId xmlns:a16="http://schemas.microsoft.com/office/drawing/2014/main" id="{B8BBA6EB-5CF0-3406-0721-7BB6CB88061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043772" y="191822"/>
            <a:ext cx="4104456" cy="2022486"/>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46900"/>
    </mc:Choice>
    <mc:Fallback xmlns="">
      <p:transition spd="slow" advTm="469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EABCBA-0A33-940E-30B3-B259BE161461}"/>
              </a:ext>
            </a:extLst>
          </p:cNvPr>
          <p:cNvSpPr txBox="1">
            <a:spLocks/>
          </p:cNvSpPr>
          <p:nvPr/>
        </p:nvSpPr>
        <p:spPr>
          <a:xfrm>
            <a:off x="479376" y="1031177"/>
            <a:ext cx="10909640" cy="1249394"/>
          </a:xfrm>
          <a:prstGeom prst="rect">
            <a:avLst/>
          </a:prstGeom>
        </p:spPr>
        <p:txBody>
          <a:bodyPr vert="horz" lIns="91440" tIns="45720" rIns="91440" bIns="45720" rtlCol="0" anchor="ctr">
            <a:normAutofit/>
          </a:bodyPr>
          <a:lst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lnSpc>
                <a:spcPct val="90000"/>
              </a:lnSpc>
              <a:spcAft>
                <a:spcPts val="600"/>
              </a:spcAft>
            </a:pPr>
            <a:r>
              <a:rPr lang="en-US" sz="6600" kern="1200" dirty="0">
                <a:solidFill>
                  <a:schemeClr val="tx1"/>
                </a:solidFill>
                <a:latin typeface="+mj-lt"/>
                <a:ea typeface="+mj-ea"/>
                <a:cs typeface="+mj-cs"/>
              </a:rPr>
              <a:t>MODULE 2 </a:t>
            </a:r>
          </a:p>
          <a:p>
            <a:pPr algn="ctr">
              <a:lnSpc>
                <a:spcPct val="90000"/>
              </a:lnSpc>
              <a:spcAft>
                <a:spcPts val="600"/>
              </a:spcAft>
            </a:pPr>
            <a:endParaRPr lang="en-US" sz="6600" b="1" kern="1200" dirty="0">
              <a:solidFill>
                <a:schemeClr val="tx1"/>
              </a:solidFill>
              <a:latin typeface="+mj-lt"/>
              <a:ea typeface="+mj-ea"/>
              <a:cs typeface="+mj-cs"/>
            </a:endParaRPr>
          </a:p>
        </p:txBody>
      </p:sp>
      <p:pic>
        <p:nvPicPr>
          <p:cNvPr id="7" name="Picture 6">
            <a:extLst>
              <a:ext uri="{FF2B5EF4-FFF2-40B4-BE49-F238E27FC236}">
                <a16:creationId xmlns:a16="http://schemas.microsoft.com/office/drawing/2014/main" id="{0B46E13C-371B-CF87-F566-120D759C8796}"/>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7328" y="31419"/>
            <a:ext cx="1800200" cy="887055"/>
          </a:xfrm>
          <a:prstGeom prst="rect">
            <a:avLst/>
          </a:prstGeom>
        </p:spPr>
      </p:pic>
      <p:graphicFrame>
        <p:nvGraphicFramePr>
          <p:cNvPr id="3" name="Table 2">
            <a:extLst>
              <a:ext uri="{FF2B5EF4-FFF2-40B4-BE49-F238E27FC236}">
                <a16:creationId xmlns:a16="http://schemas.microsoft.com/office/drawing/2014/main" id="{7251FFED-43B2-89E9-E1A3-8CEA8FB59D8A}"/>
              </a:ext>
            </a:extLst>
          </p:cNvPr>
          <p:cNvGraphicFramePr>
            <a:graphicFrameLocks noGrp="1"/>
          </p:cNvGraphicFramePr>
          <p:nvPr/>
        </p:nvGraphicFramePr>
        <p:xfrm>
          <a:off x="320040" y="2809399"/>
          <a:ext cx="11548872" cy="3234500"/>
        </p:xfrm>
        <a:graphic>
          <a:graphicData uri="http://schemas.openxmlformats.org/drawingml/2006/table">
            <a:tbl>
              <a:tblPr firstRow="1" firstCol="1" bandRow="1"/>
              <a:tblGrid>
                <a:gridCol w="11548872">
                  <a:extLst>
                    <a:ext uri="{9D8B030D-6E8A-4147-A177-3AD203B41FA5}">
                      <a16:colId xmlns:a16="http://schemas.microsoft.com/office/drawing/2014/main" val="2370480234"/>
                    </a:ext>
                  </a:extLst>
                </a:gridCol>
              </a:tblGrid>
              <a:tr h="389121">
                <a:tc>
                  <a:txBody>
                    <a:bodyPr/>
                    <a:lstStyle/>
                    <a:p>
                      <a:pPr marL="228600" indent="-9144" algn="l" fontAlgn="ctr">
                        <a:lnSpc>
                          <a:spcPct val="97000"/>
                        </a:lnSpc>
                        <a:spcAft>
                          <a:spcPts val="10"/>
                        </a:spcAft>
                        <a:buNone/>
                      </a:pPr>
                      <a:r>
                        <a:rPr lang="en-US" sz="2100" b="1"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Unit II:  Transistors and their Applications</a:t>
                      </a:r>
                      <a:endParaRPr lang="en-US" sz="3100" b="0" i="0" u="none" strike="noStrike" dirty="0">
                        <a:effectLst/>
                        <a:latin typeface="Arial" panose="020B0604020202020204" pitchFamily="34" charset="0"/>
                      </a:endParaRPr>
                    </a:p>
                  </a:txBody>
                  <a:tcPr marL="118681" marR="67033" marT="1648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8232623"/>
                  </a:ext>
                </a:extLst>
              </a:tr>
              <a:tr h="2845379">
                <a:tc>
                  <a:txBody>
                    <a:bodyPr/>
                    <a:lstStyle/>
                    <a:p>
                      <a:pPr marL="228600" indent="-9144" algn="just" fontAlgn="ctr">
                        <a:lnSpc>
                          <a:spcPct val="97000"/>
                        </a:lnSpc>
                        <a:spcAft>
                          <a:spcPts val="10"/>
                        </a:spcAft>
                        <a:buNone/>
                      </a:pPr>
                      <a:r>
                        <a:rPr lang="en-US" sz="2100" b="1"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BJT:</a:t>
                      </a:r>
                      <a:r>
                        <a:rPr lang="en-US" sz="2100" b="0"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Construction &amp; Working Principle of Bipolar Junction Transistor, Common Base, Common Emitter and Common Collector Configurations and their characteristics, BJT as a switch</a:t>
                      </a:r>
                      <a:endParaRPr lang="en-US" sz="3100" b="0" i="0" u="none" strike="noStrike" dirty="0">
                        <a:effectLst/>
                        <a:latin typeface="Arial" panose="020B0604020202020204" pitchFamily="34" charset="0"/>
                      </a:endParaRPr>
                    </a:p>
                    <a:p>
                      <a:pPr marL="228600" indent="-9144" algn="just" fontAlgn="ctr">
                        <a:lnSpc>
                          <a:spcPct val="97000"/>
                        </a:lnSpc>
                        <a:spcAft>
                          <a:spcPts val="10"/>
                        </a:spcAft>
                        <a:buNone/>
                      </a:pPr>
                      <a:r>
                        <a:rPr lang="en-US" sz="2100" b="0"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a:t>
                      </a:r>
                      <a:endParaRPr lang="en-US" sz="3100" b="0" i="0" u="none" strike="noStrike" dirty="0">
                        <a:effectLst/>
                        <a:latin typeface="Arial" panose="020B0604020202020204" pitchFamily="34" charset="0"/>
                      </a:endParaRPr>
                    </a:p>
                    <a:p>
                      <a:pPr marL="228600" indent="-9144" algn="just" fontAlgn="ctr">
                        <a:lnSpc>
                          <a:spcPct val="97000"/>
                        </a:lnSpc>
                        <a:spcAft>
                          <a:spcPts val="10"/>
                        </a:spcAft>
                        <a:buNone/>
                      </a:pPr>
                      <a:r>
                        <a:rPr lang="en-US" sz="2100" b="1"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FET:</a:t>
                      </a:r>
                      <a:r>
                        <a:rPr lang="en-US" sz="2100" b="0"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Comparison of BJT &amp; FET;</a:t>
                      </a:r>
                      <a:r>
                        <a:rPr lang="en-US" sz="2100" b="1"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a:t>
                      </a:r>
                      <a:r>
                        <a:rPr lang="en-US" sz="2100" b="0"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Construction, Working Principle and Characteristics of JFET &amp; MOSFET (Enhancement and Depletion), Concept of pinch-off, FET as a voltage variable resistor and a constant current source</a:t>
                      </a:r>
                      <a:endParaRPr lang="en-US" sz="3100" b="0" i="0" u="none" strike="noStrike" dirty="0">
                        <a:effectLst/>
                        <a:latin typeface="Arial" panose="020B0604020202020204" pitchFamily="34" charset="0"/>
                      </a:endParaRPr>
                    </a:p>
                    <a:p>
                      <a:pPr marL="228600" indent="-9144" algn="just" fontAlgn="ctr">
                        <a:lnSpc>
                          <a:spcPct val="97000"/>
                        </a:lnSpc>
                        <a:spcAft>
                          <a:spcPts val="10"/>
                        </a:spcAft>
                        <a:buNone/>
                      </a:pPr>
                      <a:r>
                        <a:rPr lang="en-US" sz="2100" b="0"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a:t>
                      </a:r>
                      <a:endParaRPr lang="en-US" sz="3100" b="0" i="0" u="none" strike="noStrike" dirty="0">
                        <a:effectLst/>
                        <a:latin typeface="Arial" panose="020B0604020202020204" pitchFamily="34" charset="0"/>
                      </a:endParaRPr>
                    </a:p>
                    <a:p>
                      <a:pPr marL="228600" indent="-9144" algn="just" fontAlgn="ctr">
                        <a:lnSpc>
                          <a:spcPct val="97000"/>
                        </a:lnSpc>
                        <a:spcAft>
                          <a:spcPts val="600"/>
                        </a:spcAft>
                        <a:buNone/>
                      </a:pPr>
                      <a:r>
                        <a:rPr lang="en-US" sz="2100" b="1"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CMOS:</a:t>
                      </a:r>
                      <a:r>
                        <a:rPr lang="en-US" sz="2100" b="0"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Construction, Working Principle and Characteristics of</a:t>
                      </a:r>
                      <a:r>
                        <a:rPr lang="en-US" sz="2100" b="1"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 </a:t>
                      </a:r>
                      <a:r>
                        <a:rPr lang="en-US" sz="2100" b="0" i="0" u="none" strike="noStrike" dirty="0">
                          <a:solidFill>
                            <a:srgbClr val="000000"/>
                          </a:solidFill>
                          <a:effectLst/>
                          <a:latin typeface="Times New Roman" panose="02020603050405020304" pitchFamily="18" charset="0"/>
                          <a:ea typeface="Times New Roman" panose="02020603050405020304" pitchFamily="18" charset="0"/>
                          <a:cs typeface="Mangal" panose="02040503050203030202" pitchFamily="18" charset="0"/>
                        </a:rPr>
                        <a:t>CMOS. NOT, NAND &amp; NOR implementation using CMOS</a:t>
                      </a:r>
                      <a:endParaRPr lang="en-US" sz="3100" b="0" i="0" u="none" strike="noStrike" dirty="0">
                        <a:effectLst/>
                        <a:latin typeface="Arial" panose="020B0604020202020204" pitchFamily="34" charset="0"/>
                      </a:endParaRPr>
                    </a:p>
                  </a:txBody>
                  <a:tcPr marL="118681" marR="67033" marT="16483"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88532829"/>
                  </a:ext>
                </a:extLst>
              </a:tr>
            </a:tbl>
          </a:graphicData>
        </a:graphic>
      </p:graphicFrame>
    </p:spTree>
    <p:extLst>
      <p:ext uri="{BB962C8B-B14F-4D97-AF65-F5344CB8AC3E}">
        <p14:creationId xmlns:p14="http://schemas.microsoft.com/office/powerpoint/2010/main" val="3216973048"/>
      </p:ext>
    </p:extLst>
  </p:cSld>
  <p:clrMapOvr>
    <a:masterClrMapping/>
  </p:clrMapOvr>
  <mc:AlternateContent xmlns:mc="http://schemas.openxmlformats.org/markup-compatibility/2006" xmlns:p14="http://schemas.microsoft.com/office/powerpoint/2010/main">
    <mc:Choice Requires="p14">
      <p:transition spd="slow" p14:dur="2000" advTm="3423"/>
    </mc:Choice>
    <mc:Fallback xmlns="">
      <p:transition spd="slow" advTm="3423"/>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BEF13BBF-2AA0-DB60-5274-9EA49D03A794}"/>
              </a:ext>
            </a:extLst>
          </p:cNvPr>
          <p:cNvSpPr>
            <a:spLocks noGrp="1"/>
          </p:cNvSpPr>
          <p:nvPr>
            <p:ph type="dt" sz="half" idx="10"/>
          </p:nvPr>
        </p:nvSpPr>
        <p:spPr/>
        <p:txBody>
          <a:bodyPr/>
          <a:lstStyle/>
          <a:p>
            <a:fld id="{E51764B9-257A-40B2-8A9F-65019AD936B9}" type="datetime1">
              <a:rPr lang="en-US" smtClean="0"/>
              <a:t>9/9/2025</a:t>
            </a:fld>
            <a:endParaRPr lang="en-IN"/>
          </a:p>
        </p:txBody>
      </p:sp>
      <p:sp>
        <p:nvSpPr>
          <p:cNvPr id="5" name="Footer Placeholder 4">
            <a:extLst>
              <a:ext uri="{FF2B5EF4-FFF2-40B4-BE49-F238E27FC236}">
                <a16:creationId xmlns:a16="http://schemas.microsoft.com/office/drawing/2014/main" id="{805EFC48-014E-46DC-70D4-31FFA9F0C0E7}"/>
              </a:ext>
            </a:extLst>
          </p:cNvPr>
          <p:cNvSpPr>
            <a:spLocks noGrp="1"/>
          </p:cNvSpPr>
          <p:nvPr>
            <p:ph type="ftr" sz="quarter" idx="11"/>
          </p:nvPr>
        </p:nvSpPr>
        <p:spPr/>
        <p:txBody>
          <a:bodyPr/>
          <a:lstStyle/>
          <a:p>
            <a:r>
              <a:rPr lang="en-IN"/>
              <a:t>CMOS</a:t>
            </a:r>
          </a:p>
        </p:txBody>
      </p:sp>
      <p:sp>
        <p:nvSpPr>
          <p:cNvPr id="6" name="Slide Number Placeholder 5">
            <a:extLst>
              <a:ext uri="{FF2B5EF4-FFF2-40B4-BE49-F238E27FC236}">
                <a16:creationId xmlns:a16="http://schemas.microsoft.com/office/drawing/2014/main" id="{B7578441-D024-C0CA-C750-3FBFB314E015}"/>
              </a:ext>
            </a:extLst>
          </p:cNvPr>
          <p:cNvSpPr>
            <a:spLocks noGrp="1"/>
          </p:cNvSpPr>
          <p:nvPr>
            <p:ph type="sldNum" sz="quarter" idx="12"/>
          </p:nvPr>
        </p:nvSpPr>
        <p:spPr/>
        <p:txBody>
          <a:bodyPr/>
          <a:lstStyle/>
          <a:p>
            <a:fld id="{BC2E8B6D-A843-4976-BA70-A811246CC566}" type="slidenum">
              <a:rPr lang="en-IN" smtClean="0"/>
              <a:pPr/>
              <a:t>3</a:t>
            </a:fld>
            <a:endParaRPr lang="en-IN"/>
          </a:p>
        </p:txBody>
      </p:sp>
      <p:sp>
        <p:nvSpPr>
          <p:cNvPr id="7" name="Rectangle 6">
            <a:extLst>
              <a:ext uri="{FF2B5EF4-FFF2-40B4-BE49-F238E27FC236}">
                <a16:creationId xmlns:a16="http://schemas.microsoft.com/office/drawing/2014/main" id="{E5B0E78C-BC4B-4CA4-B23D-B7CDAE7E58E8}"/>
              </a:ext>
            </a:extLst>
          </p:cNvPr>
          <p:cNvSpPr/>
          <p:nvPr/>
        </p:nvSpPr>
        <p:spPr>
          <a:xfrm>
            <a:off x="1783659" y="1412776"/>
            <a:ext cx="8624681" cy="4278094"/>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buFont typeface="Arial" panose="020B0604020202020204" pitchFamily="34" charset="0"/>
              <a:buChar char="•"/>
            </a:pPr>
            <a:endParaRPr lang="en-IN" sz="2400" dirty="0">
              <a:ea typeface="Calibri" panose="020F0502020204030204" pitchFamily="34" charset="0"/>
              <a:cs typeface="Times New Roman" panose="02020603050405020304" pitchFamily="18" charset="0"/>
            </a:endParaRPr>
          </a:p>
          <a:p>
            <a:pPr marL="457200" indent="-457200" algn="just">
              <a:buFont typeface="Arial" panose="020B0604020202020204" pitchFamily="34" charset="0"/>
              <a:buChar char="•"/>
            </a:pPr>
            <a:endParaRPr lang="en-IN" sz="2400" dirty="0">
              <a:ea typeface="Calibri" panose="020F0502020204030204" pitchFamily="34" charset="0"/>
              <a:cs typeface="Times New Roman" panose="02020603050405020304" pitchFamily="18" charset="0"/>
            </a:endParaRPr>
          </a:p>
          <a:p>
            <a:pPr marL="457200" indent="-457200" algn="just">
              <a:buFont typeface="Arial" panose="020B0604020202020204" pitchFamily="34" charset="0"/>
              <a:buChar char="•"/>
            </a:pPr>
            <a:r>
              <a:rPr lang="en-US" sz="2000" dirty="0"/>
              <a:t>The term "transistor" is derived from the combination of two words: "transfer" and "resistor." The name reflects the primary function of a transistor, which is to transfer an electrical signal (amplify or switch) while acting as a resistor to control the flow of current.</a:t>
            </a:r>
            <a:endParaRPr lang="en-IN" sz="2000" dirty="0">
              <a:ea typeface="Calibri" panose="020F0502020204030204" pitchFamily="34" charset="0"/>
              <a:cs typeface="Mangal" panose="02040503050203030202" pitchFamily="18" charset="0"/>
            </a:endParaRPr>
          </a:p>
          <a:p>
            <a:pPr marL="457200" indent="-457200" algn="just">
              <a:buFont typeface="Arial" panose="020B0604020202020204" pitchFamily="34" charset="0"/>
              <a:buChar char="•"/>
            </a:pPr>
            <a:r>
              <a:rPr lang="en-IN" sz="2000" dirty="0">
                <a:cs typeface="Times New Roman" panose="02020603050405020304" pitchFamily="18" charset="0"/>
              </a:rPr>
              <a:t>“Transistor” (Transfer +resistor).</a:t>
            </a:r>
            <a:r>
              <a:rPr lang="en-US" sz="2000" dirty="0"/>
              <a:t>Before the invention of transistors, electronic amplification and switching were primarily achieved using vacuum tubes. However, vacuum tubes had several limitations, including large size, high power consumption, and the tendency to generate significant heat. The need for a more compact, efficient, and reliable alternative led to the development of transistors.</a:t>
            </a:r>
          </a:p>
          <a:p>
            <a:pPr marL="457200" indent="-457200" algn="just">
              <a:buFont typeface="Arial" panose="020B0604020202020204" pitchFamily="34" charset="0"/>
              <a:buChar char="•"/>
            </a:pP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EEE43BE-2D93-F421-4C8A-57F5251E8658}"/>
              </a:ext>
            </a:extLst>
          </p:cNvPr>
          <p:cNvSpPr txBox="1"/>
          <p:nvPr/>
        </p:nvSpPr>
        <p:spPr>
          <a:xfrm>
            <a:off x="2423592" y="556816"/>
            <a:ext cx="6094428" cy="523220"/>
          </a:xfrm>
          <a:prstGeom prst="rect">
            <a:avLst/>
          </a:prstGeom>
          <a:noFill/>
        </p:spPr>
        <p:txBody>
          <a:bodyPr wrap="square">
            <a:spAutoFit/>
          </a:bodyPr>
          <a:lstStyle/>
          <a:p>
            <a:pPr algn="ctr"/>
            <a:r>
              <a:rPr lang="en-US" sz="2800" b="1" dirty="0"/>
              <a:t>Need for Transistors:</a:t>
            </a:r>
          </a:p>
        </p:txBody>
      </p:sp>
    </p:spTree>
    <p:extLst>
      <p:ext uri="{BB962C8B-B14F-4D97-AF65-F5344CB8AC3E}">
        <p14:creationId xmlns:p14="http://schemas.microsoft.com/office/powerpoint/2010/main" val="31784803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ED583A4-8393-7C2C-CC21-5EFA55C92296}"/>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AD991DEC-0D77-3E22-7B94-9FBC4748E4F8}"/>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F027F753-91AC-918E-32A4-4AC9BC9865BB}"/>
              </a:ext>
            </a:extLst>
          </p:cNvPr>
          <p:cNvSpPr>
            <a:spLocks noGrp="1"/>
          </p:cNvSpPr>
          <p:nvPr>
            <p:ph type="sldNum" sz="quarter" idx="12"/>
          </p:nvPr>
        </p:nvSpPr>
        <p:spPr/>
        <p:txBody>
          <a:bodyPr/>
          <a:lstStyle/>
          <a:p>
            <a:fld id="{BC2E8B6D-A843-4976-BA70-A811246CC566}" type="slidenum">
              <a:rPr lang="en-IN" smtClean="0"/>
              <a:pPr/>
              <a:t>4</a:t>
            </a:fld>
            <a:endParaRPr lang="en-IN"/>
          </a:p>
        </p:txBody>
      </p:sp>
      <p:sp>
        <p:nvSpPr>
          <p:cNvPr id="5" name="Rectangle 4">
            <a:extLst>
              <a:ext uri="{FF2B5EF4-FFF2-40B4-BE49-F238E27FC236}">
                <a16:creationId xmlns:a16="http://schemas.microsoft.com/office/drawing/2014/main" id="{E5B0E78C-BC4B-4CA4-B23D-B7CDAE7E58E8}"/>
              </a:ext>
            </a:extLst>
          </p:cNvPr>
          <p:cNvSpPr/>
          <p:nvPr/>
        </p:nvSpPr>
        <p:spPr>
          <a:xfrm>
            <a:off x="1783659" y="520512"/>
            <a:ext cx="8624681" cy="5816977"/>
          </a:xfrm>
          <a:prstGeom prst="rect">
            <a:avLst/>
          </a:prstGeom>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457200" indent="-457200" algn="just">
              <a:buFont typeface="Arial" panose="020B0604020202020204" pitchFamily="34" charset="0"/>
              <a:buChar char="•"/>
            </a:pPr>
            <a:endParaRPr lang="en-IN" sz="2400" dirty="0">
              <a:ea typeface="Calibri" panose="020F0502020204030204" pitchFamily="34" charset="0"/>
              <a:cs typeface="Times New Roman" panose="02020603050405020304" pitchFamily="18" charset="0"/>
            </a:endParaRPr>
          </a:p>
          <a:p>
            <a:pPr marL="457200" indent="-457200" algn="just">
              <a:buFont typeface="Arial" panose="020B0604020202020204" pitchFamily="34" charset="0"/>
              <a:buChar char="•"/>
            </a:pPr>
            <a:endParaRPr lang="en-IN" sz="2400" dirty="0">
              <a:ea typeface="Calibri" panose="020F0502020204030204" pitchFamily="34" charset="0"/>
              <a:cs typeface="Times New Roman" panose="02020603050405020304" pitchFamily="18" charset="0"/>
            </a:endParaRPr>
          </a:p>
          <a:p>
            <a:r>
              <a:rPr lang="en-US" b="1" dirty="0"/>
              <a:t>Amplification:</a:t>
            </a:r>
            <a:endParaRPr lang="en-US" dirty="0"/>
          </a:p>
          <a:p>
            <a:pPr lvl="1"/>
            <a:r>
              <a:rPr lang="en-US" b="1" dirty="0"/>
              <a:t>Audio Amplifiers:</a:t>
            </a:r>
            <a:r>
              <a:rPr lang="en-US" dirty="0"/>
              <a:t> Transistors are widely used in audio amplifiers to boost the strength of weak audio signals, making them suitable for driving speakers.</a:t>
            </a:r>
          </a:p>
          <a:p>
            <a:pPr lvl="1"/>
            <a:r>
              <a:rPr lang="en-US" b="1" dirty="0"/>
              <a:t>Radio Frequency (RF) Amplifiers:</a:t>
            </a:r>
            <a:r>
              <a:rPr lang="en-US" dirty="0"/>
              <a:t> In communication systems, transistors amplify radio frequency signals before transmission or reception.</a:t>
            </a:r>
          </a:p>
          <a:p>
            <a:r>
              <a:rPr lang="en-US" b="1" dirty="0"/>
              <a:t>Switching:</a:t>
            </a:r>
            <a:endParaRPr lang="en-US" dirty="0"/>
          </a:p>
          <a:p>
            <a:pPr lvl="1"/>
            <a:r>
              <a:rPr lang="en-US" b="1" dirty="0"/>
              <a:t>Digital Logic Gates:</a:t>
            </a:r>
            <a:r>
              <a:rPr lang="en-US" dirty="0"/>
              <a:t> Transistors are the building blocks of digital circuits, forming the basis of logic gates (AND, OR, NOT, etc.) used in computers, microcontrollers, and other digital devices.</a:t>
            </a:r>
          </a:p>
          <a:p>
            <a:pPr lvl="1"/>
            <a:r>
              <a:rPr lang="en-US" b="1" dirty="0"/>
              <a:t>Microprocessor and Integrated Circuits:</a:t>
            </a:r>
            <a:r>
              <a:rPr lang="en-US" dirty="0"/>
              <a:t> Transistors are crucial components in the design of microprocessors and other integrated circuits, enabling the processing and control of digital signals.</a:t>
            </a:r>
          </a:p>
          <a:p>
            <a:pPr marL="457200" indent="-457200" algn="just">
              <a:buFont typeface="Arial" panose="020B0604020202020204" pitchFamily="34" charset="0"/>
              <a:buChar char="•"/>
            </a:pPr>
            <a:r>
              <a:rPr lang="en-US" sz="2000" b="1" dirty="0"/>
              <a:t>Signal Modulation</a:t>
            </a:r>
          </a:p>
          <a:p>
            <a:pPr marL="457200" indent="-457200" algn="just">
              <a:buFont typeface="Arial" panose="020B0604020202020204" pitchFamily="34" charset="0"/>
              <a:buChar char="•"/>
            </a:pPr>
            <a:r>
              <a:rPr lang="en-US" sz="2000" b="1" dirty="0"/>
              <a:t>Voltage Regulation</a:t>
            </a:r>
          </a:p>
          <a:p>
            <a:pPr marL="457200" indent="-457200" algn="just">
              <a:buFont typeface="Arial" panose="020B0604020202020204" pitchFamily="34" charset="0"/>
              <a:buChar char="•"/>
            </a:pPr>
            <a:r>
              <a:rPr lang="en-US" sz="2000" b="1" dirty="0"/>
              <a:t>Power Amplification</a:t>
            </a:r>
            <a:endParaRPr lang="en-US" sz="2400" b="1" dirty="0"/>
          </a:p>
          <a:p>
            <a:pPr marL="457200" indent="-457200" algn="just">
              <a:buFont typeface="Arial" panose="020B0604020202020204" pitchFamily="34" charset="0"/>
              <a:buChar char="•"/>
            </a:pPr>
            <a:r>
              <a:rPr lang="en-US" sz="2400" b="1" dirty="0"/>
              <a:t>Light Emitting Diodes (LEDs) Driving</a:t>
            </a:r>
          </a:p>
          <a:p>
            <a:pPr marL="457200" indent="-457200" algn="just">
              <a:buFont typeface="Arial" panose="020B0604020202020204" pitchFamily="34" charset="0"/>
              <a:buChar char="•"/>
            </a:pPr>
            <a:r>
              <a:rPr lang="en-US" sz="2400" b="1" dirty="0"/>
              <a:t>Sensors </a:t>
            </a:r>
            <a:endParaRPr lang="en-IN" sz="2400"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185588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F75C647-80DA-40D2-A726-49C44F084489}"/>
              </a:ext>
            </a:extLst>
          </p:cNvPr>
          <p:cNvSpPr txBox="1">
            <a:spLocks/>
          </p:cNvSpPr>
          <p:nvPr/>
        </p:nvSpPr>
        <p:spPr>
          <a:xfrm>
            <a:off x="2567608" y="188640"/>
            <a:ext cx="6120680" cy="648072"/>
          </a:xfrm>
          <a:prstGeom prst="rect">
            <a:avLst/>
          </a:prstGeom>
          <a:solidFill>
            <a:schemeClr val="accent1">
              <a:lumMod val="60000"/>
              <a:lumOff val="40000"/>
            </a:schemeClr>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t>Classification of Transistor</a:t>
            </a:r>
            <a:endParaRPr lang="en-US" sz="3200" b="1" dirty="0">
              <a:effectLst>
                <a:outerShdw blurRad="38100" dist="38100" dir="2700000" algn="tl">
                  <a:srgbClr val="000000">
                    <a:alpha val="43137"/>
                  </a:srgbClr>
                </a:outerShdw>
              </a:effectLst>
            </a:endParaRPr>
          </a:p>
        </p:txBody>
      </p:sp>
      <p:pic>
        <p:nvPicPr>
          <p:cNvPr id="10" name="Picture 9">
            <a:extLst>
              <a:ext uri="{FF2B5EF4-FFF2-40B4-BE49-F238E27FC236}">
                <a16:creationId xmlns:a16="http://schemas.microsoft.com/office/drawing/2014/main" id="{9D44A320-A8F9-4B55-B3C8-0A5431B5FE6C}"/>
              </a:ext>
            </a:extLst>
          </p:cNvPr>
          <p:cNvPicPr/>
          <p:nvPr/>
        </p:nvPicPr>
        <p:blipFill>
          <a:blip r:embed="rId2"/>
          <a:stretch>
            <a:fillRect/>
          </a:stretch>
        </p:blipFill>
        <p:spPr>
          <a:xfrm>
            <a:off x="1752600" y="990600"/>
            <a:ext cx="8534400" cy="4800600"/>
          </a:xfrm>
          <a:prstGeom prst="rect">
            <a:avLst/>
          </a:prstGeom>
        </p:spPr>
      </p:pic>
    </p:spTree>
    <p:extLst>
      <p:ext uri="{BB962C8B-B14F-4D97-AF65-F5344CB8AC3E}">
        <p14:creationId xmlns:p14="http://schemas.microsoft.com/office/powerpoint/2010/main" val="7736272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9A876DB-1D2D-45B6-8F0C-2231D7CD1BD4}"/>
              </a:ext>
            </a:extLst>
          </p:cNvPr>
          <p:cNvSpPr txBox="1">
            <a:spLocks/>
          </p:cNvSpPr>
          <p:nvPr/>
        </p:nvSpPr>
        <p:spPr>
          <a:xfrm>
            <a:off x="2839853" y="39756"/>
            <a:ext cx="7772400" cy="686084"/>
          </a:xfrm>
          <a:prstGeom prst="rect">
            <a:avLst/>
          </a:prstGeom>
          <a:solidFill>
            <a:schemeClr val="accent1">
              <a:lumMod val="60000"/>
              <a:lumOff val="4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63500" algn="just">
              <a:lnSpc>
                <a:spcPct val="115000"/>
              </a:lnSpc>
              <a:spcBef>
                <a:spcPts val="790"/>
              </a:spcBef>
            </a:pPr>
            <a:r>
              <a:rPr lang="en-US" sz="3200" b="1" dirty="0">
                <a:latin typeface="Times New Roman" panose="02020603050405020304" pitchFamily="18" charset="0"/>
                <a:ea typeface="Times New Roman" panose="02020603050405020304" pitchFamily="18" charset="0"/>
              </a:rPr>
              <a:t>Construction of Transistor</a:t>
            </a:r>
            <a:endParaRPr lang="en-IN" sz="3200" dirty="0">
              <a:latin typeface="Times New Roman" panose="02020603050405020304" pitchFamily="18" charset="0"/>
              <a:ea typeface="Times New Roman" panose="02020603050405020304" pitchFamily="18" charset="0"/>
            </a:endParaRPr>
          </a:p>
        </p:txBody>
      </p:sp>
      <p:sp>
        <p:nvSpPr>
          <p:cNvPr id="4" name="Rectangle 3">
            <a:extLst>
              <a:ext uri="{FF2B5EF4-FFF2-40B4-BE49-F238E27FC236}">
                <a16:creationId xmlns:a16="http://schemas.microsoft.com/office/drawing/2014/main" id="{5D25A1FA-FD42-4104-8978-09820CF9169F}"/>
              </a:ext>
            </a:extLst>
          </p:cNvPr>
          <p:cNvSpPr/>
          <p:nvPr/>
        </p:nvSpPr>
        <p:spPr>
          <a:xfrm>
            <a:off x="1524002" y="640138"/>
            <a:ext cx="1212191" cy="646331"/>
          </a:xfrm>
          <a:prstGeom prst="rect">
            <a:avLst/>
          </a:prstGeom>
        </p:spPr>
        <p:txBody>
          <a:bodyPr wrap="none">
            <a:spAutoFit/>
          </a:bodyPr>
          <a:lstStyle/>
          <a:p>
            <a:pPr algn="ctr"/>
            <a:r>
              <a:rPr lang="en-IN" sz="3600" b="1" dirty="0">
                <a:latin typeface="Calibri" panose="020F0502020204030204" pitchFamily="34" charset="0"/>
                <a:ea typeface="Calibri" panose="020F0502020204030204" pitchFamily="34" charset="0"/>
                <a:cs typeface="Mangal" panose="02040503050203030202" pitchFamily="18" charset="0"/>
              </a:rPr>
              <a:t>n-p-n</a:t>
            </a:r>
            <a:endParaRPr lang="en-IN" sz="3600" dirty="0"/>
          </a:p>
        </p:txBody>
      </p:sp>
      <p:pic>
        <p:nvPicPr>
          <p:cNvPr id="5" name="Picture 4">
            <a:extLst>
              <a:ext uri="{FF2B5EF4-FFF2-40B4-BE49-F238E27FC236}">
                <a16:creationId xmlns:a16="http://schemas.microsoft.com/office/drawing/2014/main" id="{DA400814-6837-4C0D-A00D-44B3511599F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215958" y="1181174"/>
            <a:ext cx="3639018" cy="2476426"/>
          </a:xfrm>
          <a:prstGeom prst="rect">
            <a:avLst/>
          </a:prstGeom>
          <a:noFill/>
          <a:ln>
            <a:noFill/>
          </a:ln>
        </p:spPr>
      </p:pic>
      <p:pic>
        <p:nvPicPr>
          <p:cNvPr id="6" name="Picture 5">
            <a:extLst>
              <a:ext uri="{FF2B5EF4-FFF2-40B4-BE49-F238E27FC236}">
                <a16:creationId xmlns:a16="http://schemas.microsoft.com/office/drawing/2014/main" id="{80CDBCCD-EE39-4D35-B91D-ADB247F8E504}"/>
              </a:ext>
            </a:extLst>
          </p:cNvPr>
          <p:cNvPicPr/>
          <p:nvPr/>
        </p:nvPicPr>
        <p:blipFill>
          <a:blip r:embed="rId3">
            <a:extLst>
              <a:ext uri="{28A0092B-C50C-407E-A947-70E740481C1C}">
                <a14:useLocalDpi xmlns:a14="http://schemas.microsoft.com/office/drawing/2010/main" val="0"/>
              </a:ext>
            </a:extLst>
          </a:blip>
          <a:srcRect/>
          <a:stretch>
            <a:fillRect/>
          </a:stretch>
        </p:blipFill>
        <p:spPr bwMode="auto">
          <a:xfrm>
            <a:off x="6337027" y="963304"/>
            <a:ext cx="2305877" cy="2614785"/>
          </a:xfrm>
          <a:prstGeom prst="rect">
            <a:avLst/>
          </a:prstGeom>
          <a:noFill/>
          <a:ln>
            <a:noFill/>
          </a:ln>
        </p:spPr>
      </p:pic>
      <p:sp>
        <p:nvSpPr>
          <p:cNvPr id="8" name="Rectangle 7">
            <a:extLst>
              <a:ext uri="{FF2B5EF4-FFF2-40B4-BE49-F238E27FC236}">
                <a16:creationId xmlns:a16="http://schemas.microsoft.com/office/drawing/2014/main" id="{CDF2181A-2344-4421-8F8D-0AF4E6F92D38}"/>
              </a:ext>
            </a:extLst>
          </p:cNvPr>
          <p:cNvSpPr/>
          <p:nvPr/>
        </p:nvSpPr>
        <p:spPr>
          <a:xfrm>
            <a:off x="1597205" y="3657600"/>
            <a:ext cx="1242648" cy="593304"/>
          </a:xfrm>
          <a:prstGeom prst="rect">
            <a:avLst/>
          </a:prstGeom>
        </p:spPr>
        <p:txBody>
          <a:bodyPr wrap="none">
            <a:spAutoFit/>
          </a:bodyPr>
          <a:lstStyle/>
          <a:p>
            <a:pPr algn="just">
              <a:lnSpc>
                <a:spcPct val="107000"/>
              </a:lnSpc>
              <a:spcAft>
                <a:spcPts val="800"/>
              </a:spcAft>
            </a:pPr>
            <a:r>
              <a:rPr lang="en-IN" sz="3200" b="1" dirty="0">
                <a:latin typeface="Times New Roman" panose="02020603050405020304" pitchFamily="18" charset="0"/>
                <a:ea typeface="Calibri" panose="020F0502020204030204" pitchFamily="34" charset="0"/>
                <a:cs typeface="Mangal" panose="02040503050203030202" pitchFamily="18" charset="0"/>
              </a:rPr>
              <a:t>p-n-p </a:t>
            </a:r>
            <a:endParaRPr lang="en-IN" sz="3200" b="1" dirty="0">
              <a:latin typeface="Calibri" panose="020F0502020204030204" pitchFamily="34" charset="0"/>
              <a:ea typeface="Calibri" panose="020F0502020204030204" pitchFamily="34" charset="0"/>
              <a:cs typeface="Mangal" panose="02040503050203030202" pitchFamily="18" charset="0"/>
            </a:endParaRPr>
          </a:p>
        </p:txBody>
      </p:sp>
      <p:pic>
        <p:nvPicPr>
          <p:cNvPr id="9" name="Picture 8">
            <a:extLst>
              <a:ext uri="{FF2B5EF4-FFF2-40B4-BE49-F238E27FC236}">
                <a16:creationId xmlns:a16="http://schemas.microsoft.com/office/drawing/2014/main" id="{2BCD3AA3-D53C-4E81-9CDD-E9020A0A751D}"/>
              </a:ext>
            </a:extLst>
          </p:cNvPr>
          <p:cNvPicPr/>
          <p:nvPr/>
        </p:nvPicPr>
        <p:blipFill>
          <a:blip r:embed="rId4">
            <a:extLst>
              <a:ext uri="{28A0092B-C50C-407E-A947-70E740481C1C}">
                <a14:useLocalDpi xmlns:a14="http://schemas.microsoft.com/office/drawing/2010/main" val="0"/>
              </a:ext>
            </a:extLst>
          </a:blip>
          <a:srcRect/>
          <a:stretch>
            <a:fillRect/>
          </a:stretch>
        </p:blipFill>
        <p:spPr bwMode="auto">
          <a:xfrm>
            <a:off x="1730756" y="4487160"/>
            <a:ext cx="3565145" cy="2240170"/>
          </a:xfrm>
          <a:prstGeom prst="rect">
            <a:avLst/>
          </a:prstGeom>
          <a:noFill/>
          <a:ln>
            <a:noFill/>
          </a:ln>
        </p:spPr>
      </p:pic>
      <p:pic>
        <p:nvPicPr>
          <p:cNvPr id="10" name="Picture 9">
            <a:extLst>
              <a:ext uri="{FF2B5EF4-FFF2-40B4-BE49-F238E27FC236}">
                <a16:creationId xmlns:a16="http://schemas.microsoft.com/office/drawing/2014/main" id="{0E8ADDB0-FE16-468E-8416-A97483D79840}"/>
              </a:ext>
            </a:extLst>
          </p:cNvPr>
          <p:cNvPicPr/>
          <p:nvPr/>
        </p:nvPicPr>
        <p:blipFill>
          <a:blip r:embed="rId5">
            <a:extLst>
              <a:ext uri="{28A0092B-C50C-407E-A947-70E740481C1C}">
                <a14:useLocalDpi xmlns:a14="http://schemas.microsoft.com/office/drawing/2010/main" val="0"/>
              </a:ext>
            </a:extLst>
          </a:blip>
          <a:srcRect/>
          <a:stretch>
            <a:fillRect/>
          </a:stretch>
        </p:blipFill>
        <p:spPr bwMode="auto">
          <a:xfrm>
            <a:off x="6096002" y="3815553"/>
            <a:ext cx="3093347" cy="2911779"/>
          </a:xfrm>
          <a:prstGeom prst="rect">
            <a:avLst/>
          </a:prstGeom>
          <a:noFill/>
          <a:ln>
            <a:noFill/>
          </a:ln>
        </p:spPr>
      </p:pic>
    </p:spTree>
    <p:extLst>
      <p:ext uri="{BB962C8B-B14F-4D97-AF65-F5344CB8AC3E}">
        <p14:creationId xmlns:p14="http://schemas.microsoft.com/office/powerpoint/2010/main" val="27997263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F85FDCA-D8E0-40A2-8E77-0732143E940F}"/>
              </a:ext>
            </a:extLst>
          </p:cNvPr>
          <p:cNvSpPr/>
          <p:nvPr/>
        </p:nvSpPr>
        <p:spPr>
          <a:xfrm>
            <a:off x="1847528" y="1019114"/>
            <a:ext cx="8858250" cy="5813323"/>
          </a:xfrm>
          <a:prstGeom prst="rect">
            <a:avLst/>
          </a:prstGeom>
        </p:spPr>
        <p:txBody>
          <a:bodyPr wrap="square">
            <a:spAutoFit/>
          </a:bodyPr>
          <a:lstStyle/>
          <a:p>
            <a:pPr marL="285750" indent="-285750" algn="just">
              <a:lnSpc>
                <a:spcPct val="107000"/>
              </a:lnSpc>
              <a:spcAft>
                <a:spcPts val="800"/>
              </a:spcAft>
              <a:buFont typeface="Arial" panose="020B0604020202020204" pitchFamily="34" charset="0"/>
              <a:buChar char="•"/>
            </a:pPr>
            <a:r>
              <a:rPr lang="en-IN" sz="2400" b="1" dirty="0">
                <a:ea typeface="Calibri" panose="020F0502020204030204" pitchFamily="34" charset="0"/>
                <a:cs typeface="Mangal" panose="02040503050203030202" pitchFamily="18" charset="0"/>
              </a:rPr>
              <a:t>Emitter</a:t>
            </a:r>
            <a:r>
              <a:rPr lang="en-IN" sz="2400" dirty="0">
                <a:ea typeface="Calibri" panose="020F0502020204030204" pitchFamily="34" charset="0"/>
                <a:cs typeface="Mangal" panose="02040503050203030202" pitchFamily="18" charset="0"/>
              </a:rPr>
              <a:t>: </a:t>
            </a:r>
            <a:r>
              <a:rPr lang="en-US" sz="2400" dirty="0">
                <a:latin typeface="Times New Roman" pitchFamily="18" charset="0"/>
                <a:cs typeface="Times New Roman" pitchFamily="18" charset="0"/>
              </a:rPr>
              <a:t>The emitter is one of the three layers in a BJT. It is heavily doped with either P-type or N-type material, depending on whether the transistor is PNP or NPN.</a:t>
            </a:r>
            <a:r>
              <a:rPr lang="en-IN" sz="2400" dirty="0">
                <a:ea typeface="Calibri" panose="020F0502020204030204" pitchFamily="34" charset="0"/>
                <a:cs typeface="Mangal" panose="02040503050203030202" pitchFamily="18" charset="0"/>
              </a:rPr>
              <a:t> </a:t>
            </a:r>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In an NPN transistor, the emitter is made of N-type material (negatively doped), while in a PNP transistor, it is made of P-type material (positively doped).</a:t>
            </a:r>
          </a:p>
          <a:p>
            <a:endParaRPr lang="en-US" sz="2400" dirty="0">
              <a:latin typeface="Times New Roman" pitchFamily="18" charset="0"/>
              <a:cs typeface="Times New Roman" pitchFamily="18" charset="0"/>
            </a:endParaRPr>
          </a:p>
          <a:p>
            <a:endParaRPr lang="en-US" sz="2400" dirty="0">
              <a:latin typeface="Times New Roman" pitchFamily="18" charset="0"/>
              <a:cs typeface="Times New Roman" pitchFamily="18" charset="0"/>
            </a:endParaRPr>
          </a:p>
          <a:p>
            <a:r>
              <a:rPr lang="en-US" sz="2400" dirty="0">
                <a:latin typeface="Times New Roman" pitchFamily="18" charset="0"/>
                <a:cs typeface="Times New Roman" pitchFamily="18" charset="0"/>
              </a:rPr>
              <a:t>The emitter is the source of charge carriers (electrons in NPN or holes in PNP) that flow into the base </a:t>
            </a:r>
            <a:r>
              <a:rPr lang="en-US" sz="2800" dirty="0">
                <a:latin typeface="Times New Roman" pitchFamily="18" charset="0"/>
                <a:cs typeface="Times New Roman" pitchFamily="18" charset="0"/>
              </a:rPr>
              <a:t>region.</a:t>
            </a:r>
          </a:p>
          <a:p>
            <a:pPr algn="just">
              <a:lnSpc>
                <a:spcPct val="107000"/>
              </a:lnSpc>
              <a:spcAft>
                <a:spcPts val="800"/>
              </a:spcAft>
            </a:pPr>
            <a:endParaRPr lang="en-IN" sz="3200" dirty="0">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endParaRPr lang="en-IN" sz="3200" dirty="0">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endParaRPr lang="en-IN" sz="3200" dirty="0">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1484363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46B3867-3B77-4ECB-8B58-13D82F002F09}"/>
              </a:ext>
            </a:extLst>
          </p:cNvPr>
          <p:cNvSpPr/>
          <p:nvPr/>
        </p:nvSpPr>
        <p:spPr>
          <a:xfrm>
            <a:off x="1779932" y="785795"/>
            <a:ext cx="8888068" cy="3570593"/>
          </a:xfrm>
          <a:prstGeom prst="rect">
            <a:avLst/>
          </a:prstGeom>
        </p:spPr>
        <p:txBody>
          <a:bodyPr wrap="square">
            <a:spAutoFit/>
          </a:bodyPr>
          <a:lstStyle/>
          <a:p>
            <a:pPr marL="457200" indent="-457200" algn="just">
              <a:lnSpc>
                <a:spcPct val="107000"/>
              </a:lnSpc>
              <a:spcAft>
                <a:spcPts val="800"/>
              </a:spcAft>
              <a:buFont typeface="Arial" panose="020B0604020202020204" pitchFamily="34" charset="0"/>
              <a:buChar char="•"/>
            </a:pPr>
            <a:r>
              <a:rPr lang="en-IN" sz="2400" b="1" dirty="0">
                <a:ea typeface="Calibri" panose="020F0502020204030204" pitchFamily="34" charset="0"/>
                <a:cs typeface="Mangal" panose="02040503050203030202" pitchFamily="18" charset="0"/>
              </a:rPr>
              <a:t>Base:</a:t>
            </a:r>
            <a:endParaRPr lang="en-US" sz="2400" dirty="0"/>
          </a:p>
          <a:p>
            <a:r>
              <a:rPr lang="en-US" sz="2400" dirty="0"/>
              <a:t>The base is the middle layer of the transistor and is lightly doped. It separates the emitter from the collector.</a:t>
            </a:r>
          </a:p>
          <a:p>
            <a:r>
              <a:rPr lang="en-IN" sz="2400" dirty="0">
                <a:ea typeface="Calibri" panose="020F0502020204030204" pitchFamily="34" charset="0"/>
                <a:cs typeface="Mangal" panose="02040503050203030202" pitchFamily="18" charset="0"/>
              </a:rPr>
              <a:t>So most of the carrier coming from emitter passes to collector.</a:t>
            </a:r>
            <a:endParaRPr lang="en-US" sz="2400" dirty="0"/>
          </a:p>
          <a:p>
            <a:r>
              <a:rPr lang="en-US" sz="2400" dirty="0"/>
              <a:t>The base controls the flow of charge carriers from the emitter to the collector. By applying a small input current to the base, the larger output current between the collector and emitter can be controlled, leading to amplification.</a:t>
            </a:r>
          </a:p>
          <a:p>
            <a:pPr marL="457200" indent="-457200" algn="just">
              <a:lnSpc>
                <a:spcPct val="107000"/>
              </a:lnSpc>
              <a:spcAft>
                <a:spcPts val="800"/>
              </a:spcAft>
              <a:buFont typeface="Arial" panose="020B0604020202020204" pitchFamily="34" charset="0"/>
              <a:buChar char="•"/>
            </a:pPr>
            <a:endParaRPr lang="en-IN" sz="2400" dirty="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08278701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DC2ED721-B4CD-4569-B3E5-ACA2A4FB2284}"/>
              </a:ext>
            </a:extLst>
          </p:cNvPr>
          <p:cNvSpPr/>
          <p:nvPr/>
        </p:nvSpPr>
        <p:spPr>
          <a:xfrm>
            <a:off x="1524001" y="500042"/>
            <a:ext cx="8758859" cy="3699026"/>
          </a:xfrm>
          <a:prstGeom prst="rect">
            <a:avLst/>
          </a:prstGeom>
        </p:spPr>
        <p:txBody>
          <a:bodyPr wrap="square">
            <a:spAutoFit/>
          </a:bodyPr>
          <a:lstStyle/>
          <a:p>
            <a:pPr marL="457200" indent="-457200" algn="just">
              <a:lnSpc>
                <a:spcPct val="107000"/>
              </a:lnSpc>
              <a:spcAft>
                <a:spcPts val="800"/>
              </a:spcAft>
              <a:buFont typeface="Arial" panose="020B0604020202020204" pitchFamily="34" charset="0"/>
              <a:buChar char="•"/>
            </a:pPr>
            <a:r>
              <a:rPr lang="en-IN" sz="2400" b="1" dirty="0">
                <a:ea typeface="Calibri" panose="020F0502020204030204" pitchFamily="34" charset="0"/>
                <a:cs typeface="Mangal" panose="02040503050203030202" pitchFamily="18" charset="0"/>
              </a:rPr>
              <a:t>Collector: </a:t>
            </a:r>
            <a:endParaRPr lang="en-IN" sz="2400" dirty="0">
              <a:ea typeface="Calibri" panose="020F0502020204030204" pitchFamily="34" charset="0"/>
              <a:cs typeface="Mangal" panose="02040503050203030202" pitchFamily="18" charset="0"/>
            </a:endParaRPr>
          </a:p>
          <a:p>
            <a:pPr marL="457200" indent="-457200" algn="just">
              <a:lnSpc>
                <a:spcPct val="107000"/>
              </a:lnSpc>
              <a:spcAft>
                <a:spcPts val="800"/>
              </a:spcAft>
              <a:buFont typeface="Arial" panose="020B0604020202020204" pitchFamily="34" charset="0"/>
              <a:buChar char="•"/>
            </a:pPr>
            <a:endParaRPr lang="en-IN" sz="2400" dirty="0">
              <a:ea typeface="Calibri" panose="020F0502020204030204" pitchFamily="34" charset="0"/>
              <a:cs typeface="Mangal" panose="02040503050203030202" pitchFamily="18" charset="0"/>
            </a:endParaRPr>
          </a:p>
          <a:p>
            <a:r>
              <a:rPr lang="en-US" sz="2400" dirty="0"/>
              <a:t>The collector is the layer on the opposite side of the base from the emitter. It is typically larger and more heavily doped than the base </a:t>
            </a:r>
            <a:r>
              <a:rPr lang="en-IN" sz="2400" dirty="0">
                <a:ea typeface="Calibri" panose="020F0502020204030204" pitchFamily="34" charset="0"/>
                <a:cs typeface="Mangal" panose="02040503050203030202" pitchFamily="18" charset="0"/>
              </a:rPr>
              <a:t>but less than emitter.</a:t>
            </a:r>
            <a:endParaRPr lang="en-US" sz="2400" dirty="0"/>
          </a:p>
          <a:p>
            <a:r>
              <a:rPr lang="en-US" sz="2400" dirty="0"/>
              <a:t>The collector collects the majority of charge carriers (electrons in NPN or holes in PNP) that pass through the base-emitter junction. The collected carriers form the output current.</a:t>
            </a:r>
          </a:p>
          <a:p>
            <a:pPr marL="457200" indent="-457200" algn="just">
              <a:lnSpc>
                <a:spcPct val="107000"/>
              </a:lnSpc>
              <a:spcAft>
                <a:spcPts val="800"/>
              </a:spcAft>
              <a:buFont typeface="Arial" panose="020B0604020202020204" pitchFamily="34" charset="0"/>
              <a:buChar char="•"/>
            </a:pPr>
            <a:endParaRPr lang="en-IN" sz="2400" dirty="0">
              <a:ea typeface="Calibri" panose="020F0502020204030204" pitchFamily="34" charset="0"/>
              <a:cs typeface="Mangal" panose="02040503050203030202" pitchFamily="18" charset="0"/>
            </a:endParaRPr>
          </a:p>
        </p:txBody>
      </p:sp>
      <p:sp>
        <p:nvSpPr>
          <p:cNvPr id="5" name="Rectangle 4">
            <a:extLst>
              <a:ext uri="{FF2B5EF4-FFF2-40B4-BE49-F238E27FC236}">
                <a16:creationId xmlns:a16="http://schemas.microsoft.com/office/drawing/2014/main" id="{19E21233-20E0-468A-B184-BDA94D646C18}"/>
              </a:ext>
            </a:extLst>
          </p:cNvPr>
          <p:cNvSpPr/>
          <p:nvPr/>
        </p:nvSpPr>
        <p:spPr>
          <a:xfrm>
            <a:off x="3048000" y="5082258"/>
            <a:ext cx="5867400" cy="1248803"/>
          </a:xfrm>
          <a:prstGeom prst="rect">
            <a:avLst/>
          </a:prstGeom>
        </p:spPr>
        <p:txBody>
          <a:bodyPr wrap="square">
            <a:spAutoFit/>
          </a:bodyPr>
          <a:lstStyle/>
          <a:p>
            <a:pPr algn="just">
              <a:lnSpc>
                <a:spcPct val="107000"/>
              </a:lnSpc>
              <a:spcAft>
                <a:spcPts val="800"/>
              </a:spcAft>
            </a:pPr>
            <a:r>
              <a:rPr lang="en-US" sz="3200" b="1" dirty="0">
                <a:latin typeface="Times New Roman" panose="02020603050405020304" pitchFamily="18" charset="0"/>
                <a:ea typeface="Calibri" panose="020F0502020204030204" pitchFamily="34" charset="0"/>
                <a:cs typeface="Mangal" panose="02040503050203030202" pitchFamily="18" charset="0"/>
              </a:rPr>
              <a:t>Area profile: C &gt; E &gt; B</a:t>
            </a:r>
            <a:endParaRPr lang="en-IN" sz="3200" dirty="0">
              <a:latin typeface="Calibri" panose="020F0502020204030204" pitchFamily="34" charset="0"/>
              <a:ea typeface="Calibri" panose="020F0502020204030204" pitchFamily="34" charset="0"/>
              <a:cs typeface="Mangal" panose="02040503050203030202" pitchFamily="18" charset="0"/>
            </a:endParaRPr>
          </a:p>
          <a:p>
            <a:pPr algn="just">
              <a:lnSpc>
                <a:spcPct val="107000"/>
              </a:lnSpc>
              <a:spcAft>
                <a:spcPts val="800"/>
              </a:spcAft>
            </a:pPr>
            <a:r>
              <a:rPr lang="en-US" sz="3200" b="1" dirty="0">
                <a:latin typeface="Times New Roman" panose="02020603050405020304" pitchFamily="18" charset="0"/>
                <a:ea typeface="Calibri" panose="020F0502020204030204" pitchFamily="34" charset="0"/>
                <a:cs typeface="Mangal" panose="02040503050203030202" pitchFamily="18" charset="0"/>
              </a:rPr>
              <a:t>Doping profile: E &gt; C &gt; B</a:t>
            </a:r>
            <a:endParaRPr lang="en-IN" sz="3200" dirty="0">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0648530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20DA655E-0573-4812-87EC-9F068C02C1DB}"/>
              </a:ext>
            </a:extLst>
          </p:cNvPr>
          <p:cNvSpPr txBox="1">
            <a:spLocks/>
          </p:cNvSpPr>
          <p:nvPr/>
        </p:nvSpPr>
        <p:spPr>
          <a:xfrm>
            <a:off x="1524000" y="-79513"/>
            <a:ext cx="9144000" cy="669303"/>
          </a:xfrm>
          <a:prstGeom prst="rect">
            <a:avLst/>
          </a:prstGeom>
          <a:solidFill>
            <a:schemeClr val="accent1">
              <a:lumMod val="60000"/>
              <a:lumOff val="40000"/>
            </a:schemeClr>
          </a:solidFill>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Mode or Working Regions of Transistor</a:t>
            </a:r>
            <a:endParaRPr lang="en-IN" sz="3200" dirty="0"/>
          </a:p>
        </p:txBody>
      </p:sp>
      <p:sp>
        <p:nvSpPr>
          <p:cNvPr id="4" name="Rectangle 3">
            <a:extLst>
              <a:ext uri="{FF2B5EF4-FFF2-40B4-BE49-F238E27FC236}">
                <a16:creationId xmlns:a16="http://schemas.microsoft.com/office/drawing/2014/main" id="{1396DF68-5D07-489A-935B-FF57EBAC0C15}"/>
              </a:ext>
            </a:extLst>
          </p:cNvPr>
          <p:cNvSpPr/>
          <p:nvPr/>
        </p:nvSpPr>
        <p:spPr>
          <a:xfrm>
            <a:off x="1581962" y="669303"/>
            <a:ext cx="6401111" cy="593304"/>
          </a:xfrm>
          <a:prstGeom prst="rect">
            <a:avLst/>
          </a:prstGeom>
        </p:spPr>
        <p:txBody>
          <a:bodyPr wrap="none">
            <a:spAutoFit/>
          </a:bodyPr>
          <a:lstStyle/>
          <a:p>
            <a:pPr marL="457200" indent="-457200" algn="just">
              <a:lnSpc>
                <a:spcPct val="107000"/>
              </a:lnSpc>
              <a:spcAft>
                <a:spcPts val="800"/>
              </a:spcAft>
              <a:buFont typeface="Arial" panose="020B0604020202020204" pitchFamily="34" charset="0"/>
              <a:buChar char="•"/>
            </a:pPr>
            <a:r>
              <a:rPr lang="en-IN" sz="3200" dirty="0">
                <a:latin typeface="Times New Roman" panose="02020603050405020304" pitchFamily="18" charset="0"/>
                <a:ea typeface="Calibri" panose="020F0502020204030204" pitchFamily="34" charset="0"/>
                <a:cs typeface="Mangal" panose="02040503050203030202" pitchFamily="18" charset="0"/>
              </a:rPr>
              <a:t>Transistor operates in three modes:</a:t>
            </a:r>
            <a:endParaRPr lang="en-IN" sz="3200" dirty="0">
              <a:latin typeface="Calibri" panose="020F0502020204030204" pitchFamily="34" charset="0"/>
              <a:ea typeface="Calibri" panose="020F0502020204030204" pitchFamily="34" charset="0"/>
              <a:cs typeface="Mangal" panose="02040503050203030202" pitchFamily="18" charset="0"/>
            </a:endParaRPr>
          </a:p>
        </p:txBody>
      </p:sp>
      <p:sp>
        <p:nvSpPr>
          <p:cNvPr id="6" name="Rectangle 5">
            <a:extLst>
              <a:ext uri="{FF2B5EF4-FFF2-40B4-BE49-F238E27FC236}">
                <a16:creationId xmlns:a16="http://schemas.microsoft.com/office/drawing/2014/main" id="{62E62076-3B68-49A5-BB2E-AE4E67A99DC0}"/>
              </a:ext>
            </a:extLst>
          </p:cNvPr>
          <p:cNvSpPr/>
          <p:nvPr/>
        </p:nvSpPr>
        <p:spPr>
          <a:xfrm>
            <a:off x="1675724" y="1408690"/>
            <a:ext cx="2719975" cy="523220"/>
          </a:xfrm>
          <a:prstGeom prst="rect">
            <a:avLst/>
          </a:prstGeom>
        </p:spPr>
        <p:txBody>
          <a:bodyPr wrap="none">
            <a:spAutoFit/>
          </a:bodyPr>
          <a:lstStyle/>
          <a:p>
            <a:r>
              <a:rPr lang="en-IN" sz="2800" b="1" dirty="0" err="1">
                <a:latin typeface="Times New Roman" panose="02020603050405020304" pitchFamily="18" charset="0"/>
                <a:ea typeface="Calibri" panose="020F0502020204030204" pitchFamily="34" charset="0"/>
              </a:rPr>
              <a:t>i</a:t>
            </a:r>
            <a:r>
              <a:rPr lang="en-IN" sz="2800" b="1" dirty="0">
                <a:latin typeface="Times New Roman" panose="02020603050405020304" pitchFamily="18" charset="0"/>
                <a:ea typeface="Calibri" panose="020F0502020204030204" pitchFamily="34" charset="0"/>
              </a:rPr>
              <a:t>) Active region:</a:t>
            </a:r>
            <a:r>
              <a:rPr lang="en-IN" sz="2800" dirty="0">
                <a:latin typeface="Times New Roman" panose="02020603050405020304" pitchFamily="18" charset="0"/>
                <a:ea typeface="Calibri" panose="020F0502020204030204" pitchFamily="34" charset="0"/>
              </a:rPr>
              <a:t> </a:t>
            </a:r>
            <a:endParaRPr lang="en-IN" sz="2800" dirty="0"/>
          </a:p>
        </p:txBody>
      </p:sp>
      <p:sp>
        <p:nvSpPr>
          <p:cNvPr id="7" name="Rectangle 6">
            <a:extLst>
              <a:ext uri="{FF2B5EF4-FFF2-40B4-BE49-F238E27FC236}">
                <a16:creationId xmlns:a16="http://schemas.microsoft.com/office/drawing/2014/main" id="{547C42B7-4553-4563-BB52-2F8B1FB44400}"/>
              </a:ext>
            </a:extLst>
          </p:cNvPr>
          <p:cNvSpPr/>
          <p:nvPr/>
        </p:nvSpPr>
        <p:spPr>
          <a:xfrm>
            <a:off x="1524000" y="1931912"/>
            <a:ext cx="9144000" cy="1384995"/>
          </a:xfrm>
          <a:prstGeom prst="rect">
            <a:avLst/>
          </a:prstGeom>
        </p:spPr>
        <p:txBody>
          <a:bodyPr wrap="square">
            <a:spAutoFit/>
          </a:bodyPr>
          <a:lstStyle/>
          <a:p>
            <a:pPr marL="457200" indent="-457200" algn="just">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In active region emitter-base junction (J</a:t>
            </a:r>
            <a:r>
              <a:rPr lang="en-IN" sz="2800" baseline="-25000" dirty="0">
                <a:latin typeface="Times New Roman" panose="02020603050405020304" pitchFamily="18" charset="0"/>
                <a:ea typeface="Calibri" panose="020F0502020204030204" pitchFamily="34" charset="0"/>
              </a:rPr>
              <a:t>E</a:t>
            </a:r>
            <a:r>
              <a:rPr lang="en-IN" sz="2800" dirty="0">
                <a:latin typeface="Times New Roman" panose="02020603050405020304" pitchFamily="18" charset="0"/>
                <a:ea typeface="Calibri" panose="020F0502020204030204" pitchFamily="34" charset="0"/>
              </a:rPr>
              <a:t>) is forward biased and collector -base junction (J</a:t>
            </a:r>
            <a:r>
              <a:rPr lang="en-IN" sz="2800" baseline="-25000" dirty="0">
                <a:latin typeface="Times New Roman" panose="02020603050405020304" pitchFamily="18" charset="0"/>
                <a:ea typeface="Calibri" panose="020F0502020204030204" pitchFamily="34" charset="0"/>
              </a:rPr>
              <a:t>C</a:t>
            </a:r>
            <a:r>
              <a:rPr lang="en-IN" sz="2800" dirty="0">
                <a:latin typeface="Times New Roman" panose="02020603050405020304" pitchFamily="18" charset="0"/>
                <a:ea typeface="Calibri" panose="020F0502020204030204" pitchFamily="34" charset="0"/>
              </a:rPr>
              <a:t>) is reverse biased. In this region transistor works as an </a:t>
            </a:r>
            <a:r>
              <a:rPr lang="en-IN" sz="2800" b="1" dirty="0">
                <a:latin typeface="Times New Roman" panose="02020603050405020304" pitchFamily="18" charset="0"/>
                <a:ea typeface="Calibri" panose="020F0502020204030204" pitchFamily="34" charset="0"/>
              </a:rPr>
              <a:t>amplifier.</a:t>
            </a:r>
            <a:endParaRPr lang="en-IN" sz="2800" dirty="0"/>
          </a:p>
        </p:txBody>
      </p:sp>
      <p:pic>
        <p:nvPicPr>
          <p:cNvPr id="8" name="Picture 7">
            <a:extLst>
              <a:ext uri="{FF2B5EF4-FFF2-40B4-BE49-F238E27FC236}">
                <a16:creationId xmlns:a16="http://schemas.microsoft.com/office/drawing/2014/main" id="{3238F834-9E52-4DAB-9DD0-D2F72F82164A}"/>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095472" y="3286124"/>
            <a:ext cx="8358246" cy="3571876"/>
          </a:xfrm>
          <a:prstGeom prst="rect">
            <a:avLst/>
          </a:prstGeom>
          <a:noFill/>
          <a:ln>
            <a:noFill/>
          </a:ln>
        </p:spPr>
      </p:pic>
    </p:spTree>
    <p:extLst>
      <p:ext uri="{BB962C8B-B14F-4D97-AF65-F5344CB8AC3E}">
        <p14:creationId xmlns:p14="http://schemas.microsoft.com/office/powerpoint/2010/main" val="1627604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65513BA-D9A3-4CBA-8208-3BAFB7C70079}"/>
              </a:ext>
            </a:extLst>
          </p:cNvPr>
          <p:cNvSpPr/>
          <p:nvPr/>
        </p:nvSpPr>
        <p:spPr>
          <a:xfrm>
            <a:off x="1752601" y="457200"/>
            <a:ext cx="3501215" cy="523220"/>
          </a:xfrm>
          <a:prstGeom prst="rect">
            <a:avLst/>
          </a:prstGeom>
          <a:solidFill>
            <a:schemeClr val="accent1">
              <a:lumMod val="60000"/>
              <a:lumOff val="40000"/>
            </a:schemeClr>
          </a:solidFill>
        </p:spPr>
        <p:txBody>
          <a:bodyPr wrap="none">
            <a:spAutoFit/>
          </a:bodyPr>
          <a:lstStyle/>
          <a:p>
            <a:r>
              <a:rPr lang="en-IN" sz="2800" b="1" dirty="0">
                <a:latin typeface="Times New Roman" panose="02020603050405020304" pitchFamily="18" charset="0"/>
                <a:ea typeface="Calibri" panose="020F0502020204030204" pitchFamily="34" charset="0"/>
              </a:rPr>
              <a:t>ii) Saturation region: </a:t>
            </a:r>
            <a:endParaRPr lang="en-IN" sz="2800" dirty="0"/>
          </a:p>
        </p:txBody>
      </p:sp>
      <p:sp>
        <p:nvSpPr>
          <p:cNvPr id="3" name="Rectangle 2">
            <a:extLst>
              <a:ext uri="{FF2B5EF4-FFF2-40B4-BE49-F238E27FC236}">
                <a16:creationId xmlns:a16="http://schemas.microsoft.com/office/drawing/2014/main" id="{8012E878-111F-4713-8CE2-A0A1E3A82AFF}"/>
              </a:ext>
            </a:extLst>
          </p:cNvPr>
          <p:cNvSpPr/>
          <p:nvPr/>
        </p:nvSpPr>
        <p:spPr>
          <a:xfrm>
            <a:off x="1606478" y="1676401"/>
            <a:ext cx="9061522" cy="1384995"/>
          </a:xfrm>
          <a:prstGeom prst="rect">
            <a:avLst/>
          </a:prstGeom>
        </p:spPr>
        <p:txBody>
          <a:bodyPr wrap="square">
            <a:spAutoFit/>
          </a:bodyPr>
          <a:lstStyle/>
          <a:p>
            <a:pPr marL="457200" indent="-457200">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In this region</a:t>
            </a:r>
            <a:r>
              <a:rPr lang="en-IN" sz="2800" b="1" dirty="0">
                <a:latin typeface="Times New Roman" panose="02020603050405020304" pitchFamily="18" charset="0"/>
                <a:ea typeface="Calibri" panose="020F0502020204030204" pitchFamily="34" charset="0"/>
              </a:rPr>
              <a:t> </a:t>
            </a:r>
            <a:r>
              <a:rPr lang="en-IN" sz="2800" dirty="0">
                <a:latin typeface="Times New Roman" panose="02020603050405020304" pitchFamily="18" charset="0"/>
                <a:ea typeface="Calibri" panose="020F0502020204030204" pitchFamily="34" charset="0"/>
              </a:rPr>
              <a:t>emitter-base junction (J</a:t>
            </a:r>
            <a:r>
              <a:rPr lang="en-IN" sz="2800" baseline="-25000" dirty="0">
                <a:latin typeface="Times New Roman" panose="02020603050405020304" pitchFamily="18" charset="0"/>
                <a:ea typeface="Calibri" panose="020F0502020204030204" pitchFamily="34" charset="0"/>
              </a:rPr>
              <a:t>E</a:t>
            </a:r>
            <a:r>
              <a:rPr lang="en-IN" sz="2800" dirty="0">
                <a:latin typeface="Times New Roman" panose="02020603050405020304" pitchFamily="18" charset="0"/>
                <a:ea typeface="Calibri" panose="020F0502020204030204" pitchFamily="34" charset="0"/>
              </a:rPr>
              <a:t>) and collector -base junction (J</a:t>
            </a:r>
            <a:r>
              <a:rPr lang="en-IN" sz="2800" baseline="-25000" dirty="0">
                <a:latin typeface="Times New Roman" panose="02020603050405020304" pitchFamily="18" charset="0"/>
                <a:ea typeface="Calibri" panose="020F0502020204030204" pitchFamily="34" charset="0"/>
              </a:rPr>
              <a:t>C</a:t>
            </a:r>
            <a:r>
              <a:rPr lang="en-IN" sz="2800" dirty="0">
                <a:latin typeface="Times New Roman" panose="02020603050405020304" pitchFamily="18" charset="0"/>
                <a:ea typeface="Calibri" panose="020F0502020204030204" pitchFamily="34" charset="0"/>
              </a:rPr>
              <a:t>) are forward biased. In this region transistor works as a </a:t>
            </a:r>
            <a:r>
              <a:rPr lang="en-IN" sz="2800" b="1" dirty="0">
                <a:latin typeface="Times New Roman" panose="02020603050405020304" pitchFamily="18" charset="0"/>
                <a:ea typeface="Calibri" panose="020F0502020204030204" pitchFamily="34" charset="0"/>
              </a:rPr>
              <a:t>closed switch.</a:t>
            </a:r>
            <a:endParaRPr lang="en-IN" sz="2800" dirty="0"/>
          </a:p>
        </p:txBody>
      </p:sp>
      <p:pic>
        <p:nvPicPr>
          <p:cNvPr id="4" name="Picture 3">
            <a:extLst>
              <a:ext uri="{FF2B5EF4-FFF2-40B4-BE49-F238E27FC236}">
                <a16:creationId xmlns:a16="http://schemas.microsoft.com/office/drawing/2014/main" id="{6A92D2E3-1E97-4800-8125-05D06F9ED6A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276601" y="3200401"/>
            <a:ext cx="5164621" cy="2086643"/>
          </a:xfrm>
          <a:prstGeom prst="rect">
            <a:avLst/>
          </a:prstGeom>
          <a:noFill/>
          <a:ln>
            <a:noFill/>
          </a:ln>
        </p:spPr>
      </p:pic>
    </p:spTree>
    <p:extLst>
      <p:ext uri="{BB962C8B-B14F-4D97-AF65-F5344CB8AC3E}">
        <p14:creationId xmlns:p14="http://schemas.microsoft.com/office/powerpoint/2010/main" val="519617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D6C02CF9-9850-4CEE-93DF-BE581569026B}"/>
              </a:ext>
            </a:extLst>
          </p:cNvPr>
          <p:cNvSpPr/>
          <p:nvPr/>
        </p:nvSpPr>
        <p:spPr>
          <a:xfrm>
            <a:off x="1524000" y="838200"/>
            <a:ext cx="3172600" cy="523220"/>
          </a:xfrm>
          <a:prstGeom prst="rect">
            <a:avLst/>
          </a:prstGeom>
          <a:solidFill>
            <a:srgbClr val="FFFF00"/>
          </a:solidFill>
        </p:spPr>
        <p:txBody>
          <a:bodyPr wrap="none">
            <a:spAutoFit/>
          </a:bodyPr>
          <a:lstStyle/>
          <a:p>
            <a:r>
              <a:rPr lang="en-IN" sz="2800" b="1" dirty="0">
                <a:latin typeface="Times New Roman" panose="02020603050405020304" pitchFamily="18" charset="0"/>
                <a:ea typeface="Calibri" panose="020F0502020204030204" pitchFamily="34" charset="0"/>
              </a:rPr>
              <a:t> iii) Cut-off region:</a:t>
            </a:r>
            <a:r>
              <a:rPr lang="en-IN" sz="2800" dirty="0">
                <a:latin typeface="Times New Roman" panose="02020603050405020304" pitchFamily="18" charset="0"/>
                <a:ea typeface="Calibri" panose="020F0502020204030204" pitchFamily="34" charset="0"/>
              </a:rPr>
              <a:t> </a:t>
            </a:r>
            <a:endParaRPr lang="en-IN" sz="2800" dirty="0"/>
          </a:p>
        </p:txBody>
      </p:sp>
      <p:sp>
        <p:nvSpPr>
          <p:cNvPr id="6" name="Rectangle 5">
            <a:extLst>
              <a:ext uri="{FF2B5EF4-FFF2-40B4-BE49-F238E27FC236}">
                <a16:creationId xmlns:a16="http://schemas.microsoft.com/office/drawing/2014/main" id="{CED951F0-00E2-4F58-BF2B-7095A0E626FC}"/>
              </a:ext>
            </a:extLst>
          </p:cNvPr>
          <p:cNvSpPr/>
          <p:nvPr/>
        </p:nvSpPr>
        <p:spPr>
          <a:xfrm>
            <a:off x="1524000" y="1981201"/>
            <a:ext cx="8883098" cy="1384995"/>
          </a:xfrm>
          <a:prstGeom prst="rect">
            <a:avLst/>
          </a:prstGeom>
        </p:spPr>
        <p:txBody>
          <a:bodyPr wrap="square">
            <a:spAutoFit/>
          </a:bodyPr>
          <a:lstStyle/>
          <a:p>
            <a:pPr marL="457200" indent="-457200">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In this region</a:t>
            </a:r>
            <a:r>
              <a:rPr lang="en-IN" sz="2800" b="1" dirty="0">
                <a:latin typeface="Times New Roman" panose="02020603050405020304" pitchFamily="18" charset="0"/>
                <a:ea typeface="Calibri" panose="020F0502020204030204" pitchFamily="34" charset="0"/>
              </a:rPr>
              <a:t> </a:t>
            </a:r>
            <a:r>
              <a:rPr lang="en-IN" sz="2800" dirty="0">
                <a:latin typeface="Times New Roman" panose="02020603050405020304" pitchFamily="18" charset="0"/>
                <a:ea typeface="Calibri" panose="020F0502020204030204" pitchFamily="34" charset="0"/>
              </a:rPr>
              <a:t>emitter-base junction (J</a:t>
            </a:r>
            <a:r>
              <a:rPr lang="en-IN" sz="2800" baseline="-25000" dirty="0">
                <a:latin typeface="Times New Roman" panose="02020603050405020304" pitchFamily="18" charset="0"/>
                <a:ea typeface="Calibri" panose="020F0502020204030204" pitchFamily="34" charset="0"/>
              </a:rPr>
              <a:t>E</a:t>
            </a:r>
            <a:r>
              <a:rPr lang="en-IN" sz="2800" dirty="0">
                <a:latin typeface="Times New Roman" panose="02020603050405020304" pitchFamily="18" charset="0"/>
                <a:ea typeface="Calibri" panose="020F0502020204030204" pitchFamily="34" charset="0"/>
              </a:rPr>
              <a:t>) and collector -base junction (J</a:t>
            </a:r>
            <a:r>
              <a:rPr lang="en-IN" sz="2800" baseline="-25000" dirty="0">
                <a:latin typeface="Times New Roman" panose="02020603050405020304" pitchFamily="18" charset="0"/>
                <a:ea typeface="Calibri" panose="020F0502020204030204" pitchFamily="34" charset="0"/>
              </a:rPr>
              <a:t>C</a:t>
            </a:r>
            <a:r>
              <a:rPr lang="en-IN" sz="2800" dirty="0">
                <a:latin typeface="Times New Roman" panose="02020603050405020304" pitchFamily="18" charset="0"/>
                <a:ea typeface="Calibri" panose="020F0502020204030204" pitchFamily="34" charset="0"/>
              </a:rPr>
              <a:t>) are reverse biased. In this region transistor works as a </a:t>
            </a:r>
            <a:r>
              <a:rPr lang="en-IN" sz="2800" b="1" dirty="0">
                <a:latin typeface="Times New Roman" panose="02020603050405020304" pitchFamily="18" charset="0"/>
                <a:ea typeface="Calibri" panose="020F0502020204030204" pitchFamily="34" charset="0"/>
              </a:rPr>
              <a:t>open switch.</a:t>
            </a:r>
            <a:endParaRPr lang="en-IN" sz="2800" dirty="0"/>
          </a:p>
        </p:txBody>
      </p:sp>
      <p:pic>
        <p:nvPicPr>
          <p:cNvPr id="8" name="Picture 7">
            <a:extLst>
              <a:ext uri="{FF2B5EF4-FFF2-40B4-BE49-F238E27FC236}">
                <a16:creationId xmlns:a16="http://schemas.microsoft.com/office/drawing/2014/main" id="{266C4054-56AD-42B5-B828-5D30031DF60B}"/>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1952596" y="3505200"/>
            <a:ext cx="8215370" cy="2924196"/>
          </a:xfrm>
          <a:prstGeom prst="rect">
            <a:avLst/>
          </a:prstGeom>
          <a:noFill/>
          <a:ln>
            <a:noFill/>
          </a:ln>
        </p:spPr>
      </p:pic>
    </p:spTree>
    <p:extLst>
      <p:ext uri="{BB962C8B-B14F-4D97-AF65-F5344CB8AC3E}">
        <p14:creationId xmlns:p14="http://schemas.microsoft.com/office/powerpoint/2010/main" val="275175426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228600"/>
            <a:ext cx="8382000" cy="1020762"/>
          </a:xfrm>
        </p:spPr>
        <p:txBody>
          <a:bodyPr>
            <a:normAutofit fontScale="90000"/>
          </a:bodyPr>
          <a:lstStyle/>
          <a:p>
            <a:r>
              <a:rPr lang="en-US" b="1" dirty="0">
                <a:solidFill>
                  <a:schemeClr val="tx1"/>
                </a:solidFill>
              </a:rPr>
              <a:t>Operation of Transistor in Active Region</a:t>
            </a:r>
          </a:p>
        </p:txBody>
      </p:sp>
      <p:sp>
        <p:nvSpPr>
          <p:cNvPr id="3" name="Content Placeholder 2"/>
          <p:cNvSpPr>
            <a:spLocks noGrp="1"/>
          </p:cNvSpPr>
          <p:nvPr>
            <p:ph idx="1"/>
          </p:nvPr>
        </p:nvSpPr>
        <p:spPr>
          <a:xfrm>
            <a:off x="2057400" y="1371600"/>
            <a:ext cx="8229600" cy="5181600"/>
          </a:xfrm>
        </p:spPr>
        <p:txBody>
          <a:bodyPr>
            <a:noAutofit/>
          </a:bodyPr>
          <a:lstStyle/>
          <a:p>
            <a:pPr algn="just">
              <a:lnSpc>
                <a:spcPct val="150000"/>
              </a:lnSpc>
            </a:pPr>
            <a:r>
              <a:rPr lang="en-IN" sz="2400" dirty="0"/>
              <a:t>To operate BJT in active region J</a:t>
            </a:r>
            <a:r>
              <a:rPr lang="en-IN" sz="2400" baseline="-25000" dirty="0"/>
              <a:t>EB</a:t>
            </a:r>
            <a:r>
              <a:rPr lang="en-IN" sz="2400" dirty="0"/>
              <a:t> (emitter base junction) must be forward biased and J</a:t>
            </a:r>
            <a:r>
              <a:rPr lang="en-IN" sz="2400" baseline="-25000" dirty="0"/>
              <a:t>CB</a:t>
            </a:r>
            <a:r>
              <a:rPr lang="en-IN" sz="2400" dirty="0"/>
              <a:t> (collector base junction) must be reverse biased.</a:t>
            </a:r>
            <a:endParaRPr lang="en-US" sz="2400" dirty="0"/>
          </a:p>
          <a:p>
            <a:pPr algn="just">
              <a:lnSpc>
                <a:spcPct val="150000"/>
              </a:lnSpc>
            </a:pPr>
            <a:endParaRPr lang="en-US" sz="2400" dirty="0">
              <a:solidFill>
                <a:schemeClr val="accent1"/>
              </a:solidFill>
            </a:endParaRPr>
          </a:p>
        </p:txBody>
      </p:sp>
      <p:pic>
        <p:nvPicPr>
          <p:cNvPr id="4" name="Picture 3"/>
          <p:cNvPicPr/>
          <p:nvPr/>
        </p:nvPicPr>
        <p:blipFill>
          <a:blip r:embed="rId2" cstate="print">
            <a:lum bright="-40000" contrast="40000"/>
          </a:blip>
          <a:srcRect/>
          <a:stretch>
            <a:fillRect/>
          </a:stretch>
        </p:blipFill>
        <p:spPr bwMode="auto">
          <a:xfrm>
            <a:off x="3276600" y="3657600"/>
            <a:ext cx="5867400" cy="23622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00200" y="274638"/>
            <a:ext cx="8382000" cy="1020762"/>
          </a:xfrm>
        </p:spPr>
        <p:txBody>
          <a:bodyPr>
            <a:normAutofit fontScale="90000"/>
          </a:bodyPr>
          <a:lstStyle/>
          <a:p>
            <a:r>
              <a:rPr lang="en-US" b="1" dirty="0">
                <a:solidFill>
                  <a:schemeClr val="tx1"/>
                </a:solidFill>
              </a:rPr>
              <a:t>Operation of Transistor in Active Region</a:t>
            </a:r>
          </a:p>
        </p:txBody>
      </p:sp>
      <p:sp>
        <p:nvSpPr>
          <p:cNvPr id="3" name="Content Placeholder 2"/>
          <p:cNvSpPr>
            <a:spLocks noGrp="1"/>
          </p:cNvSpPr>
          <p:nvPr>
            <p:ph idx="1"/>
          </p:nvPr>
        </p:nvSpPr>
        <p:spPr>
          <a:xfrm>
            <a:off x="2057400" y="1371600"/>
            <a:ext cx="8229600" cy="5181600"/>
          </a:xfrm>
        </p:spPr>
        <p:txBody>
          <a:bodyPr>
            <a:noAutofit/>
          </a:bodyPr>
          <a:lstStyle/>
          <a:p>
            <a:pPr lvl="0">
              <a:lnSpc>
                <a:spcPct val="150000"/>
              </a:lnSpc>
            </a:pPr>
            <a:r>
              <a:rPr lang="en-IN" sz="2400" dirty="0"/>
              <a:t>J</a:t>
            </a:r>
            <a:r>
              <a:rPr lang="en-IN" sz="2400" baseline="-25000" dirty="0"/>
              <a:t>EB </a:t>
            </a:r>
            <a:r>
              <a:rPr lang="en-IN" sz="2400" dirty="0"/>
              <a:t>is forward biased by the battery V</a:t>
            </a:r>
            <a:r>
              <a:rPr lang="en-IN" sz="2400" baseline="-25000" dirty="0"/>
              <a:t>EE</a:t>
            </a:r>
            <a:r>
              <a:rPr lang="en-IN" sz="2400" dirty="0"/>
              <a:t> by which the depletion region will decrease and a majority carrier flow will occur from emitter to base giving current </a:t>
            </a:r>
            <a:r>
              <a:rPr lang="en-IN" sz="2400" dirty="0" err="1"/>
              <a:t>I</a:t>
            </a:r>
            <a:r>
              <a:rPr lang="en-IN" sz="2400" baseline="-25000" dirty="0" err="1"/>
              <a:t>majority</a:t>
            </a:r>
            <a:r>
              <a:rPr lang="en-IN" sz="2400" baseline="-25000" dirty="0"/>
              <a:t> </a:t>
            </a:r>
            <a:r>
              <a:rPr lang="en-IN" sz="2400" dirty="0"/>
              <a:t>or I</a:t>
            </a:r>
            <a:r>
              <a:rPr lang="en-IN" sz="2400" baseline="-25000" dirty="0"/>
              <a:t>E</a:t>
            </a:r>
            <a:r>
              <a:rPr lang="en-IN" sz="2400" dirty="0"/>
              <a:t>. </a:t>
            </a:r>
          </a:p>
          <a:p>
            <a:pPr lvl="0">
              <a:lnSpc>
                <a:spcPct val="150000"/>
              </a:lnSpc>
            </a:pPr>
            <a:endParaRPr lang="en-IN" sz="2400" dirty="0"/>
          </a:p>
          <a:p>
            <a:pPr lvl="0">
              <a:lnSpc>
                <a:spcPct val="150000"/>
              </a:lnSpc>
            </a:pPr>
            <a:endParaRPr lang="en-IN" sz="2400" dirty="0"/>
          </a:p>
          <a:p>
            <a:pPr lvl="0">
              <a:lnSpc>
                <a:spcPct val="150000"/>
              </a:lnSpc>
            </a:pPr>
            <a:r>
              <a:rPr lang="en-IN" sz="2400" dirty="0"/>
              <a:t>So,</a:t>
            </a:r>
            <a:r>
              <a:rPr lang="en-IN" sz="2400" b="1" dirty="0"/>
              <a:t> </a:t>
            </a:r>
            <a:r>
              <a:rPr lang="en-IN" sz="2400" dirty="0"/>
              <a:t>Here, </a:t>
            </a:r>
            <a:r>
              <a:rPr lang="en-IN" sz="2400" dirty="0" err="1"/>
              <a:t>I</a:t>
            </a:r>
            <a:r>
              <a:rPr lang="en-IN" sz="2400" baseline="-25000" dirty="0" err="1"/>
              <a:t>eE</a:t>
            </a:r>
            <a:r>
              <a:rPr lang="en-IN" sz="2400" dirty="0"/>
              <a:t> is current due to electrons of emitter region and </a:t>
            </a:r>
            <a:r>
              <a:rPr lang="en-IN" sz="2400" dirty="0" err="1"/>
              <a:t>I</a:t>
            </a:r>
            <a:r>
              <a:rPr lang="en-IN" sz="2400" baseline="-25000" dirty="0" err="1"/>
              <a:t>hB</a:t>
            </a:r>
            <a:r>
              <a:rPr lang="en-IN" sz="2400" dirty="0"/>
              <a:t> is current due to holes in base region.</a:t>
            </a:r>
            <a:endParaRPr lang="en-US" sz="2400" dirty="0"/>
          </a:p>
          <a:p>
            <a:pPr lvl="0">
              <a:lnSpc>
                <a:spcPct val="150000"/>
              </a:lnSpc>
            </a:pPr>
            <a:endParaRPr lang="en-US" sz="2400" dirty="0"/>
          </a:p>
          <a:p>
            <a:pPr algn="just">
              <a:lnSpc>
                <a:spcPct val="150000"/>
              </a:lnSpc>
            </a:pPr>
            <a:endParaRPr lang="en-US" sz="2400" dirty="0"/>
          </a:p>
        </p:txBody>
      </p:sp>
      <p:sp>
        <p:nvSpPr>
          <p:cNvPr id="19458" name="Rectangle 2"/>
          <p:cNvSpPr>
            <a:spLocks noChangeArrowheads="1"/>
          </p:cNvSpPr>
          <p:nvPr/>
        </p:nvSpPr>
        <p:spPr bwMode="auto">
          <a:xfrm>
            <a:off x="152400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19457"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733801" y="3276600"/>
            <a:ext cx="4550229" cy="609600"/>
          </a:xfrm>
          <a:prstGeom prst="rect">
            <a:avLst/>
          </a:prstGeom>
          <a:noFill/>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35560" y="476672"/>
            <a:ext cx="7237040" cy="544090"/>
          </a:xfrm>
          <a:solidFill>
            <a:schemeClr val="accent1">
              <a:lumMod val="60000"/>
              <a:lumOff val="40000"/>
            </a:schemeClr>
          </a:solidFill>
        </p:spPr>
        <p:txBody>
          <a:bodyPr>
            <a:normAutofit fontScale="90000"/>
          </a:bodyPr>
          <a:lstStyle/>
          <a:p>
            <a:r>
              <a:rPr lang="en-US" sz="3600" b="1" dirty="0"/>
              <a:t>Operation of Transistor in Active Region</a:t>
            </a:r>
          </a:p>
        </p:txBody>
      </p:sp>
      <p:sp>
        <p:nvSpPr>
          <p:cNvPr id="3" name="Content Placeholder 2"/>
          <p:cNvSpPr>
            <a:spLocks noGrp="1"/>
          </p:cNvSpPr>
          <p:nvPr>
            <p:ph idx="1"/>
          </p:nvPr>
        </p:nvSpPr>
        <p:spPr>
          <a:xfrm>
            <a:off x="2057400" y="1371600"/>
            <a:ext cx="8229600" cy="5181600"/>
          </a:xfrm>
        </p:spPr>
        <p:txBody>
          <a:bodyPr>
            <a:noAutofit/>
          </a:bodyPr>
          <a:lstStyle/>
          <a:p>
            <a:pPr lvl="0" algn="just"/>
            <a:r>
              <a:rPr lang="en-IN" sz="2400" dirty="0"/>
              <a:t>In base region there is recombination between electrons and holes due to which base current is obtained. As number of holes in base is very small, base current is very small.</a:t>
            </a:r>
            <a:endParaRPr lang="en-US" sz="2400" dirty="0"/>
          </a:p>
          <a:p>
            <a:pPr lvl="0" algn="just"/>
            <a:r>
              <a:rPr lang="en-IN" sz="2400" dirty="0"/>
              <a:t>J</a:t>
            </a:r>
            <a:r>
              <a:rPr lang="en-IN" sz="2400" baseline="-25000" dirty="0"/>
              <a:t>CB </a:t>
            </a:r>
            <a:r>
              <a:rPr lang="en-IN" sz="2400" dirty="0"/>
              <a:t>is reverse biased by V</a:t>
            </a:r>
            <a:r>
              <a:rPr lang="en-IN" sz="2400" baseline="-25000" dirty="0"/>
              <a:t>CC</a:t>
            </a:r>
            <a:r>
              <a:rPr lang="en-IN" sz="2400" dirty="0"/>
              <a:t>. So collector current is due to flow of minority charge carriers from both sides of the junction. In base minority carriers are electrons left after recombination and in collector minority carriers are holes. So,</a:t>
            </a:r>
            <a:endParaRPr lang="en-US" sz="2400" dirty="0"/>
          </a:p>
          <a:p>
            <a:pPr algn="just"/>
            <a:r>
              <a:rPr lang="en-IN" sz="2400" dirty="0"/>
              <a:t>Directions of all terminal currents are shown in figure and it is clear that,</a:t>
            </a:r>
            <a:endParaRPr lang="en-US" sz="2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4000" y="0"/>
            <a:ext cx="9144000" cy="1020762"/>
          </a:xfrm>
          <a:solidFill>
            <a:srgbClr val="FFFF00"/>
          </a:solidFill>
        </p:spPr>
        <p:txBody>
          <a:bodyPr>
            <a:noAutofit/>
          </a:bodyPr>
          <a:lstStyle/>
          <a:p>
            <a:r>
              <a:rPr lang="en-US" sz="3200" b="1" dirty="0"/>
              <a:t>Operation of Transistor in Active Region</a:t>
            </a:r>
          </a:p>
        </p:txBody>
      </p:sp>
      <p:sp>
        <p:nvSpPr>
          <p:cNvPr id="3" name="Content Placeholder 2"/>
          <p:cNvSpPr>
            <a:spLocks noGrp="1"/>
          </p:cNvSpPr>
          <p:nvPr>
            <p:ph idx="1"/>
          </p:nvPr>
        </p:nvSpPr>
        <p:spPr>
          <a:xfrm>
            <a:off x="2057400" y="2286000"/>
            <a:ext cx="8229600" cy="4267200"/>
          </a:xfrm>
        </p:spPr>
        <p:txBody>
          <a:bodyPr>
            <a:noAutofit/>
          </a:bodyPr>
          <a:lstStyle/>
          <a:p>
            <a:pPr algn="just"/>
            <a:r>
              <a:rPr lang="en-IN" sz="2800" dirty="0"/>
              <a:t>Directions of all terminal currents are shown in figure and it is clear that,</a:t>
            </a:r>
            <a:endParaRPr lang="en-US" sz="2800" dirty="0"/>
          </a:p>
          <a:p>
            <a:pPr lvl="0" algn="just">
              <a:buNone/>
            </a:pPr>
            <a:endParaRPr lang="en-US" sz="2800" dirty="0">
              <a:solidFill>
                <a:schemeClr val="accent1"/>
              </a:solidFill>
            </a:endParaRPr>
          </a:p>
        </p:txBody>
      </p:sp>
      <p:sp>
        <p:nvSpPr>
          <p:cNvPr id="29698" name="Rectangle 2"/>
          <p:cNvSpPr>
            <a:spLocks noChangeArrowheads="1"/>
          </p:cNvSpPr>
          <p:nvPr/>
        </p:nvSpPr>
        <p:spPr bwMode="auto">
          <a:xfrm>
            <a:off x="152400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9697" name="Picture 1"/>
          <p:cNvPicPr>
            <a:picLocks noChangeAspect="1" noChangeArrowheads="1"/>
          </p:cNvPicPr>
          <p:nvPr/>
        </p:nvPicPr>
        <p:blipFill>
          <a:blip r:embed="rId2">
            <a:clrChange>
              <a:clrFrom>
                <a:srgbClr val="FFFFFF"/>
              </a:clrFrom>
              <a:clrTo>
                <a:srgbClr val="FFFFFF">
                  <a:alpha val="0"/>
                </a:srgbClr>
              </a:clrTo>
            </a:clrChange>
          </a:blip>
          <a:srcRect/>
          <a:stretch>
            <a:fillRect/>
          </a:stretch>
        </p:blipFill>
        <p:spPr bwMode="auto">
          <a:xfrm>
            <a:off x="3200400" y="1524000"/>
            <a:ext cx="6553200" cy="609600"/>
          </a:xfrm>
          <a:prstGeom prst="rect">
            <a:avLst/>
          </a:prstGeom>
          <a:noFill/>
        </p:spPr>
      </p:pic>
      <p:sp>
        <p:nvSpPr>
          <p:cNvPr id="29700" name="Rectangle 4"/>
          <p:cNvSpPr>
            <a:spLocks noChangeArrowheads="1"/>
          </p:cNvSpPr>
          <p:nvPr/>
        </p:nvSpPr>
        <p:spPr bwMode="auto">
          <a:xfrm>
            <a:off x="152400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29699" name="Picture 3"/>
          <p:cNvPicPr>
            <a:picLocks noChangeAspect="1" noChangeArrowheads="1"/>
          </p:cNvPicPr>
          <p:nvPr/>
        </p:nvPicPr>
        <p:blipFill>
          <a:blip r:embed="rId3">
            <a:clrChange>
              <a:clrFrom>
                <a:srgbClr val="FFFFFF"/>
              </a:clrFrom>
              <a:clrTo>
                <a:srgbClr val="FFFFFF">
                  <a:alpha val="0"/>
                </a:srgbClr>
              </a:clrTo>
            </a:clrChange>
          </a:blip>
          <a:srcRect/>
          <a:stretch>
            <a:fillRect/>
          </a:stretch>
        </p:blipFill>
        <p:spPr bwMode="auto">
          <a:xfrm>
            <a:off x="4343400" y="3581400"/>
            <a:ext cx="2133600" cy="533400"/>
          </a:xfrm>
          <a:prstGeom prst="rect">
            <a:avLst/>
          </a:prstGeom>
          <a:noFill/>
        </p:spPr>
      </p:pic>
      <p:pic>
        <p:nvPicPr>
          <p:cNvPr id="8" name="Picture 7"/>
          <p:cNvPicPr/>
          <p:nvPr/>
        </p:nvPicPr>
        <p:blipFill>
          <a:blip r:embed="rId4" cstate="print">
            <a:lum bright="-40000" contrast="40000"/>
          </a:blip>
          <a:srcRect/>
          <a:stretch>
            <a:fillRect/>
          </a:stretch>
        </p:blipFill>
        <p:spPr bwMode="auto">
          <a:xfrm>
            <a:off x="2819400" y="4191000"/>
            <a:ext cx="5867400" cy="22098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3E3E3A24-DA19-48EA-8D8E-9F20F8548E11}"/>
              </a:ext>
            </a:extLst>
          </p:cNvPr>
          <p:cNvSpPr txBox="1">
            <a:spLocks/>
          </p:cNvSpPr>
          <p:nvPr/>
        </p:nvSpPr>
        <p:spPr>
          <a:xfrm>
            <a:off x="2423592" y="291734"/>
            <a:ext cx="7772399" cy="669303"/>
          </a:xfrm>
          <a:prstGeom prst="rect">
            <a:avLst/>
          </a:prstGeom>
          <a:solidFill>
            <a:schemeClr val="accent1">
              <a:lumMod val="60000"/>
              <a:lumOff val="4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just">
              <a:lnSpc>
                <a:spcPct val="107000"/>
              </a:lnSpc>
              <a:spcAft>
                <a:spcPts val="800"/>
              </a:spcAft>
              <a:tabLst>
                <a:tab pos="90170" algn="l"/>
                <a:tab pos="180340" algn="l"/>
                <a:tab pos="4876800" algn="l"/>
              </a:tabLst>
            </a:pPr>
            <a:r>
              <a:rPr lang="en-IN" sz="3200" dirty="0">
                <a:ea typeface="Calibri" panose="020F0502020204030204" pitchFamily="34" charset="0"/>
                <a:cs typeface="Mangal" panose="02040503050203030202" pitchFamily="18" charset="0"/>
              </a:rPr>
              <a:t>Transistor Configuration or Connection</a:t>
            </a:r>
          </a:p>
        </p:txBody>
      </p:sp>
      <p:sp>
        <p:nvSpPr>
          <p:cNvPr id="4" name="Rectangle 3">
            <a:extLst>
              <a:ext uri="{FF2B5EF4-FFF2-40B4-BE49-F238E27FC236}">
                <a16:creationId xmlns:a16="http://schemas.microsoft.com/office/drawing/2014/main" id="{B956EC4F-4FAC-4B11-A79B-A6D4F5EB79E3}"/>
              </a:ext>
            </a:extLst>
          </p:cNvPr>
          <p:cNvSpPr/>
          <p:nvPr/>
        </p:nvSpPr>
        <p:spPr>
          <a:xfrm>
            <a:off x="1655694" y="990601"/>
            <a:ext cx="9012307" cy="1384995"/>
          </a:xfrm>
          <a:prstGeom prst="rect">
            <a:avLst/>
          </a:prstGeom>
        </p:spPr>
        <p:txBody>
          <a:bodyPr wrap="square">
            <a:spAutoFit/>
          </a:bodyPr>
          <a:lstStyle/>
          <a:p>
            <a:pPr marL="285750" indent="-285750" algn="just">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Transistor has three terminals emitter, base and collector. But we require four termina</a:t>
            </a:r>
            <a:r>
              <a:rPr lang="en-IN" sz="2800" dirty="0">
                <a:latin typeface="Times New Roman" panose="02020603050405020304" pitchFamily="18" charset="0"/>
              </a:rPr>
              <a:t>ls to connect the transistor in a circuit as an amplifier. Two for input and two for output.</a:t>
            </a:r>
          </a:p>
        </p:txBody>
      </p:sp>
      <p:sp>
        <p:nvSpPr>
          <p:cNvPr id="5" name="Rectangle 4">
            <a:extLst>
              <a:ext uri="{FF2B5EF4-FFF2-40B4-BE49-F238E27FC236}">
                <a16:creationId xmlns:a16="http://schemas.microsoft.com/office/drawing/2014/main" id="{D0DE8B44-3DA6-475E-B2B9-2D8BC47E462E}"/>
              </a:ext>
            </a:extLst>
          </p:cNvPr>
          <p:cNvSpPr/>
          <p:nvPr/>
        </p:nvSpPr>
        <p:spPr>
          <a:xfrm>
            <a:off x="1596058" y="2415816"/>
            <a:ext cx="9071942" cy="954107"/>
          </a:xfrm>
          <a:prstGeom prst="rect">
            <a:avLst/>
          </a:prstGeom>
        </p:spPr>
        <p:txBody>
          <a:bodyPr wrap="square">
            <a:spAutoFit/>
          </a:bodyPr>
          <a:lstStyle/>
          <a:p>
            <a:pPr marL="285750" indent="-285750" algn="just">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This is achieved by making one terminal of transistor common to input and output.</a:t>
            </a:r>
            <a:endParaRPr lang="en-IN" sz="2800" dirty="0"/>
          </a:p>
        </p:txBody>
      </p:sp>
      <p:sp>
        <p:nvSpPr>
          <p:cNvPr id="6" name="Rectangle 5">
            <a:extLst>
              <a:ext uri="{FF2B5EF4-FFF2-40B4-BE49-F238E27FC236}">
                <a16:creationId xmlns:a16="http://schemas.microsoft.com/office/drawing/2014/main" id="{15DE852B-C5D9-4743-A67C-AE3BEFC2B1D9}"/>
              </a:ext>
            </a:extLst>
          </p:cNvPr>
          <p:cNvSpPr/>
          <p:nvPr/>
        </p:nvSpPr>
        <p:spPr>
          <a:xfrm>
            <a:off x="1602272" y="3637724"/>
            <a:ext cx="8855765" cy="954107"/>
          </a:xfrm>
          <a:prstGeom prst="rect">
            <a:avLst/>
          </a:prstGeom>
        </p:spPr>
        <p:txBody>
          <a:bodyPr wrap="square">
            <a:spAutoFit/>
          </a:bodyPr>
          <a:lstStyle/>
          <a:p>
            <a:pPr marL="457200" indent="-457200" algn="just">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So, transistor has three configurations based on the common terminal.</a:t>
            </a:r>
            <a:endParaRPr lang="en-IN" sz="2800" dirty="0"/>
          </a:p>
        </p:txBody>
      </p:sp>
      <p:sp>
        <p:nvSpPr>
          <p:cNvPr id="7" name="Rectangle 6">
            <a:extLst>
              <a:ext uri="{FF2B5EF4-FFF2-40B4-BE49-F238E27FC236}">
                <a16:creationId xmlns:a16="http://schemas.microsoft.com/office/drawing/2014/main" id="{36CE4934-AAB4-47A2-B083-B92E52CF4C2E}"/>
              </a:ext>
            </a:extLst>
          </p:cNvPr>
          <p:cNvSpPr/>
          <p:nvPr/>
        </p:nvSpPr>
        <p:spPr>
          <a:xfrm>
            <a:off x="1751358" y="4696547"/>
            <a:ext cx="8617226" cy="1475404"/>
          </a:xfrm>
          <a:prstGeom prst="rect">
            <a:avLst/>
          </a:prstGeom>
        </p:spPr>
        <p:txBody>
          <a:bodyPr wrap="square">
            <a:spAutoFit/>
          </a:bodyPr>
          <a:lstStyle/>
          <a:p>
            <a:pPr marL="342900" indent="-342900" algn="just">
              <a:lnSpc>
                <a:spcPct val="107000"/>
              </a:lnSpc>
              <a:buFont typeface="+mj-lt"/>
              <a:buAutoNum type="romanLcParenR"/>
              <a:tabLst>
                <a:tab pos="90170" algn="l"/>
                <a:tab pos="180340" algn="l"/>
                <a:tab pos="4876800" algn="l"/>
              </a:tabLst>
            </a:pPr>
            <a:r>
              <a:rPr lang="en-IN" sz="2800" b="1" dirty="0">
                <a:latin typeface="Times New Roman" panose="02020603050405020304" pitchFamily="18" charset="0"/>
                <a:ea typeface="Calibri" panose="020F0502020204030204" pitchFamily="34" charset="0"/>
                <a:cs typeface="Mangal" panose="02040503050203030202" pitchFamily="18" charset="0"/>
              </a:rPr>
              <a:t>Common base configuration (CB)</a:t>
            </a:r>
            <a:endParaRPr lang="en-IN" sz="2800" b="1" dirty="0">
              <a:latin typeface="Calibri" panose="020F0502020204030204" pitchFamily="34" charset="0"/>
              <a:ea typeface="Calibri" panose="020F0502020204030204" pitchFamily="34" charset="0"/>
              <a:cs typeface="Mangal" panose="02040503050203030202" pitchFamily="18" charset="0"/>
            </a:endParaRPr>
          </a:p>
          <a:p>
            <a:pPr marL="342900" indent="-342900" algn="just">
              <a:lnSpc>
                <a:spcPct val="107000"/>
              </a:lnSpc>
              <a:buFont typeface="+mj-lt"/>
              <a:buAutoNum type="romanLcParenR"/>
              <a:tabLst>
                <a:tab pos="90170" algn="l"/>
                <a:tab pos="180340" algn="l"/>
                <a:tab pos="4876800" algn="l"/>
              </a:tabLst>
            </a:pPr>
            <a:r>
              <a:rPr lang="en-IN" sz="2800" b="1" dirty="0">
                <a:latin typeface="Times New Roman" panose="02020603050405020304" pitchFamily="18" charset="0"/>
                <a:ea typeface="Calibri" panose="020F0502020204030204" pitchFamily="34" charset="0"/>
                <a:cs typeface="Mangal" panose="02040503050203030202" pitchFamily="18" charset="0"/>
              </a:rPr>
              <a:t>Common emitter configuration (CE)</a:t>
            </a:r>
            <a:endParaRPr lang="en-IN" sz="2800" b="1" dirty="0">
              <a:latin typeface="Calibri" panose="020F0502020204030204" pitchFamily="34" charset="0"/>
              <a:ea typeface="Calibri" panose="020F0502020204030204" pitchFamily="34" charset="0"/>
              <a:cs typeface="Mangal" panose="02040503050203030202" pitchFamily="18" charset="0"/>
            </a:endParaRPr>
          </a:p>
          <a:p>
            <a:pPr marL="342900" indent="-342900" algn="just">
              <a:lnSpc>
                <a:spcPct val="107000"/>
              </a:lnSpc>
              <a:spcAft>
                <a:spcPts val="800"/>
              </a:spcAft>
              <a:buFont typeface="+mj-lt"/>
              <a:buAutoNum type="romanLcParenR"/>
              <a:tabLst>
                <a:tab pos="90170" algn="l"/>
                <a:tab pos="180340" algn="l"/>
                <a:tab pos="4876800" algn="l"/>
              </a:tabLst>
            </a:pPr>
            <a:r>
              <a:rPr lang="en-IN" sz="2800" b="1" dirty="0">
                <a:latin typeface="Times New Roman" panose="02020603050405020304" pitchFamily="18" charset="0"/>
                <a:ea typeface="Calibri" panose="020F0502020204030204" pitchFamily="34" charset="0"/>
                <a:cs typeface="Mangal" panose="02040503050203030202" pitchFamily="18" charset="0"/>
              </a:rPr>
              <a:t> Common collector configuration (CC)</a:t>
            </a:r>
            <a:endParaRPr lang="en-IN" sz="2800" b="1" dirty="0">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325452424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E2BE4-081D-4427-8B0F-EDF5AE3FDA9E}"/>
              </a:ext>
            </a:extLst>
          </p:cNvPr>
          <p:cNvSpPr txBox="1">
            <a:spLocks/>
          </p:cNvSpPr>
          <p:nvPr/>
        </p:nvSpPr>
        <p:spPr>
          <a:xfrm>
            <a:off x="2423593" y="239417"/>
            <a:ext cx="5688631" cy="461665"/>
          </a:xfrm>
          <a:prstGeom prst="rect">
            <a:avLst/>
          </a:prstGeom>
          <a:solidFill>
            <a:schemeClr val="accent1">
              <a:lumMod val="60000"/>
              <a:lumOff val="40000"/>
            </a:schemeClr>
          </a:solidFill>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lnSpc>
                <a:spcPct val="107000"/>
              </a:lnSpc>
              <a:spcAft>
                <a:spcPts val="800"/>
              </a:spcAft>
              <a:tabLst>
                <a:tab pos="90170" algn="l"/>
                <a:tab pos="180340" algn="l"/>
                <a:tab pos="4876800" algn="l"/>
              </a:tabLst>
            </a:pPr>
            <a:r>
              <a:rPr lang="en-IN" sz="2400" b="1" dirty="0"/>
              <a:t>Common base configuration (CB)</a:t>
            </a:r>
            <a:endParaRPr lang="en-IN" sz="2400" dirty="0">
              <a:latin typeface="Calibri" panose="020F0502020204030204" pitchFamily="34" charset="0"/>
              <a:ea typeface="Calibri" panose="020F0502020204030204" pitchFamily="34" charset="0"/>
              <a:cs typeface="Mangal" panose="02040503050203030202" pitchFamily="18" charset="0"/>
            </a:endParaRPr>
          </a:p>
        </p:txBody>
      </p:sp>
      <p:sp>
        <p:nvSpPr>
          <p:cNvPr id="3" name="Rectangle 2">
            <a:extLst>
              <a:ext uri="{FF2B5EF4-FFF2-40B4-BE49-F238E27FC236}">
                <a16:creationId xmlns:a16="http://schemas.microsoft.com/office/drawing/2014/main" id="{C9CA9EDF-61FB-4BBC-9A8B-255510CD2F41}"/>
              </a:ext>
            </a:extLst>
          </p:cNvPr>
          <p:cNvSpPr/>
          <p:nvPr/>
        </p:nvSpPr>
        <p:spPr>
          <a:xfrm>
            <a:off x="1746105" y="849005"/>
            <a:ext cx="5577168" cy="461665"/>
          </a:xfrm>
          <a:prstGeom prst="rect">
            <a:avLst/>
          </a:prstGeom>
        </p:spPr>
        <p:txBody>
          <a:bodyPr wrap="none">
            <a:spAutoFit/>
          </a:bodyPr>
          <a:lstStyle/>
          <a:p>
            <a:pPr marL="285750" indent="-285750">
              <a:buFont typeface="Arial" panose="020B0604020202020204" pitchFamily="34" charset="0"/>
              <a:buChar char="•"/>
            </a:pPr>
            <a:r>
              <a:rPr lang="en-IN" sz="2400" dirty="0">
                <a:latin typeface="Times New Roman" panose="02020603050405020304" pitchFamily="18" charset="0"/>
                <a:ea typeface="Calibri" panose="020F0502020204030204" pitchFamily="34" charset="0"/>
              </a:rPr>
              <a:t>Input is applied between emitter and base</a:t>
            </a:r>
            <a:endParaRPr lang="en-IN" sz="2400" dirty="0"/>
          </a:p>
        </p:txBody>
      </p:sp>
      <p:sp>
        <p:nvSpPr>
          <p:cNvPr id="4" name="Rectangle 3">
            <a:extLst>
              <a:ext uri="{FF2B5EF4-FFF2-40B4-BE49-F238E27FC236}">
                <a16:creationId xmlns:a16="http://schemas.microsoft.com/office/drawing/2014/main" id="{9232CBC6-1ACB-4DFD-BA0A-521DCF1E301F}"/>
              </a:ext>
            </a:extLst>
          </p:cNvPr>
          <p:cNvSpPr/>
          <p:nvPr/>
        </p:nvSpPr>
        <p:spPr>
          <a:xfrm>
            <a:off x="1746105" y="1554683"/>
            <a:ext cx="5791970" cy="461665"/>
          </a:xfrm>
          <a:prstGeom prst="rect">
            <a:avLst/>
          </a:prstGeom>
        </p:spPr>
        <p:txBody>
          <a:bodyPr wrap="none">
            <a:spAutoFit/>
          </a:bodyPr>
          <a:lstStyle/>
          <a:p>
            <a:pPr marL="285750" indent="-285750">
              <a:buFont typeface="Arial" panose="020B0604020202020204" pitchFamily="34" charset="0"/>
              <a:buChar char="•"/>
            </a:pPr>
            <a:r>
              <a:rPr lang="en-IN" sz="2400" dirty="0">
                <a:latin typeface="Times New Roman" panose="02020603050405020304" pitchFamily="18" charset="0"/>
                <a:ea typeface="Calibri" panose="020F0502020204030204" pitchFamily="34" charset="0"/>
              </a:rPr>
              <a:t>Output is taken out from collector and base</a:t>
            </a:r>
            <a:endParaRPr lang="en-IN" sz="2400" dirty="0"/>
          </a:p>
        </p:txBody>
      </p:sp>
      <p:sp>
        <p:nvSpPr>
          <p:cNvPr id="5" name="Rectangle 4">
            <a:extLst>
              <a:ext uri="{FF2B5EF4-FFF2-40B4-BE49-F238E27FC236}">
                <a16:creationId xmlns:a16="http://schemas.microsoft.com/office/drawing/2014/main" id="{CDEBDC60-2CCB-43B9-9EF6-115186C27062}"/>
              </a:ext>
            </a:extLst>
          </p:cNvPr>
          <p:cNvSpPr/>
          <p:nvPr/>
        </p:nvSpPr>
        <p:spPr>
          <a:xfrm>
            <a:off x="1746104" y="2260361"/>
            <a:ext cx="5949064" cy="461665"/>
          </a:xfrm>
          <a:prstGeom prst="rect">
            <a:avLst/>
          </a:prstGeom>
        </p:spPr>
        <p:txBody>
          <a:bodyPr wrap="none">
            <a:spAutoFit/>
          </a:bodyPr>
          <a:lstStyle/>
          <a:p>
            <a:pPr marL="457200" indent="-457200">
              <a:buFont typeface="Arial" panose="020B0604020202020204" pitchFamily="34" charset="0"/>
              <a:buChar char="•"/>
            </a:pPr>
            <a:r>
              <a:rPr lang="en-IN" sz="2400" dirty="0">
                <a:latin typeface="Times New Roman" panose="02020603050405020304" pitchFamily="18" charset="0"/>
                <a:ea typeface="Calibri" panose="020F0502020204030204" pitchFamily="34" charset="0"/>
              </a:rPr>
              <a:t>Base is common between input and output.</a:t>
            </a:r>
            <a:endParaRPr lang="en-IN" sz="2400" dirty="0"/>
          </a:p>
        </p:txBody>
      </p:sp>
      <p:pic>
        <p:nvPicPr>
          <p:cNvPr id="7" name="Picture 6">
            <a:extLst>
              <a:ext uri="{FF2B5EF4-FFF2-40B4-BE49-F238E27FC236}">
                <a16:creationId xmlns:a16="http://schemas.microsoft.com/office/drawing/2014/main" id="{AE71A37D-7EAC-4CCE-9494-4D6E7439C652}"/>
              </a:ext>
            </a:extLst>
          </p:cNvPr>
          <p:cNvPicPr>
            <a:picLocks noChangeAspect="1"/>
          </p:cNvPicPr>
          <p:nvPr/>
        </p:nvPicPr>
        <p:blipFill>
          <a:blip r:embed="rId2"/>
          <a:stretch>
            <a:fillRect/>
          </a:stretch>
        </p:blipFill>
        <p:spPr>
          <a:xfrm>
            <a:off x="2743201" y="2971801"/>
            <a:ext cx="4950619" cy="3286125"/>
          </a:xfrm>
          <a:prstGeom prst="rect">
            <a:avLst/>
          </a:prstGeom>
        </p:spPr>
      </p:pic>
    </p:spTree>
    <p:extLst>
      <p:ext uri="{BB962C8B-B14F-4D97-AF65-F5344CB8AC3E}">
        <p14:creationId xmlns:p14="http://schemas.microsoft.com/office/powerpoint/2010/main" val="22624244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7366E0-3B11-436A-A0B6-0CA9AC6BFCFD}"/>
              </a:ext>
            </a:extLst>
          </p:cNvPr>
          <p:cNvSpPr/>
          <p:nvPr/>
        </p:nvSpPr>
        <p:spPr>
          <a:xfrm>
            <a:off x="2495600" y="254433"/>
            <a:ext cx="3102068" cy="523220"/>
          </a:xfrm>
          <a:prstGeom prst="rect">
            <a:avLst/>
          </a:prstGeom>
        </p:spPr>
        <p:txBody>
          <a:bodyPr wrap="none">
            <a:spAutoFit/>
          </a:bodyPr>
          <a:lstStyle/>
          <a:p>
            <a:r>
              <a:rPr lang="en-IN" sz="2800" b="1" dirty="0">
                <a:latin typeface="Times New Roman" panose="02020603050405020304" pitchFamily="18" charset="0"/>
                <a:ea typeface="Calibri" panose="020F0502020204030204" pitchFamily="34" charset="0"/>
              </a:rPr>
              <a:t>DC Current gain: </a:t>
            </a:r>
            <a:endParaRPr lang="en-IN" sz="2800" b="1" dirty="0"/>
          </a:p>
        </p:txBody>
      </p:sp>
      <p:sp>
        <p:nvSpPr>
          <p:cNvPr id="4" name="Rectangle 3">
            <a:extLst>
              <a:ext uri="{FF2B5EF4-FFF2-40B4-BE49-F238E27FC236}">
                <a16:creationId xmlns:a16="http://schemas.microsoft.com/office/drawing/2014/main" id="{95EF3B30-AFF6-42BE-9D69-16AC5EDEB207}"/>
              </a:ext>
            </a:extLst>
          </p:cNvPr>
          <p:cNvSpPr/>
          <p:nvPr/>
        </p:nvSpPr>
        <p:spPr>
          <a:xfrm>
            <a:off x="1677484" y="878821"/>
            <a:ext cx="8924238" cy="523220"/>
          </a:xfrm>
          <a:prstGeom prst="rect">
            <a:avLst/>
          </a:prstGeom>
        </p:spPr>
        <p:txBody>
          <a:bodyPr wrap="none">
            <a:spAutoFit/>
          </a:bodyPr>
          <a:lstStyle/>
          <a:p>
            <a:pPr marL="285750" indent="-285750">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It is the ratio of output current (I</a:t>
            </a:r>
            <a:r>
              <a:rPr lang="en-IN" sz="2800" baseline="-25000" dirty="0">
                <a:latin typeface="Times New Roman" panose="02020603050405020304" pitchFamily="18" charset="0"/>
                <a:ea typeface="Calibri" panose="020F0502020204030204" pitchFamily="34" charset="0"/>
              </a:rPr>
              <a:t>C</a:t>
            </a:r>
            <a:r>
              <a:rPr lang="en-IN" sz="2800" dirty="0">
                <a:latin typeface="Times New Roman" panose="02020603050405020304" pitchFamily="18" charset="0"/>
                <a:ea typeface="Calibri" panose="020F0502020204030204" pitchFamily="34" charset="0"/>
              </a:rPr>
              <a:t>) to the input current (I</a:t>
            </a:r>
            <a:r>
              <a:rPr lang="en-IN" sz="2800" baseline="-25000" dirty="0">
                <a:latin typeface="Times New Roman" panose="02020603050405020304" pitchFamily="18" charset="0"/>
                <a:ea typeface="Calibri" panose="020F0502020204030204" pitchFamily="34" charset="0"/>
              </a:rPr>
              <a:t>E</a:t>
            </a:r>
            <a:r>
              <a:rPr lang="en-IN" sz="2800" dirty="0">
                <a:latin typeface="Times New Roman" panose="02020603050405020304" pitchFamily="18" charset="0"/>
                <a:ea typeface="Calibri" panose="020F0502020204030204" pitchFamily="34" charset="0"/>
              </a:rPr>
              <a:t>).</a:t>
            </a:r>
            <a:endParaRPr lang="en-IN" sz="2800"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E78C3808-C09A-4C7A-9F8A-7E63C864791A}"/>
                  </a:ext>
                </a:extLst>
              </p:cNvPr>
              <p:cNvSpPr/>
              <p:nvPr/>
            </p:nvSpPr>
            <p:spPr>
              <a:xfrm>
                <a:off x="5409685" y="1604378"/>
                <a:ext cx="1562159" cy="11603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borderBox>
                        <m:borderBoxPr>
                          <m:ctrlPr>
                            <a:rPr lang="en-IN" sz="2800" i="1">
                              <a:latin typeface="Cambria Math" panose="02040503050406030204" pitchFamily="18" charset="0"/>
                            </a:rPr>
                          </m:ctrlPr>
                        </m:borderBoxPr>
                        <m:e>
                          <m:r>
                            <m:rPr>
                              <m:sty m:val="p"/>
                            </m:rPr>
                            <a:rPr lang="en-IN" sz="2800">
                              <a:latin typeface="Cambria Math" panose="02040503050406030204" pitchFamily="18" charset="0"/>
                            </a:rPr>
                            <m:t>α</m:t>
                          </m:r>
                          <m:r>
                            <a:rPr lang="en-IN" sz="2800">
                              <a:latin typeface="Cambria Math" panose="02040503050406030204" pitchFamily="18" charset="0"/>
                            </a:rPr>
                            <m:t>=</m:t>
                          </m:r>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m:rPr>
                                      <m:sty m:val="p"/>
                                    </m:rPr>
                                    <a:rPr lang="en-IN" sz="2800">
                                      <a:latin typeface="Cambria Math" panose="02040503050406030204" pitchFamily="18" charset="0"/>
                                    </a:rPr>
                                    <m:t>I</m:t>
                                  </m:r>
                                </m:e>
                                <m:sub>
                                  <m:r>
                                    <m:rPr>
                                      <m:sty m:val="p"/>
                                    </m:rPr>
                                    <a:rPr lang="en-IN" sz="2800">
                                      <a:latin typeface="Cambria Math" panose="02040503050406030204" pitchFamily="18" charset="0"/>
                                    </a:rPr>
                                    <m:t>C</m:t>
                                  </m:r>
                                </m:sub>
                              </m:sSub>
                              <m:r>
                                <a:rPr lang="en-IN" sz="2800">
                                  <a:latin typeface="Cambria Math" panose="02040503050406030204" pitchFamily="18" charset="0"/>
                                </a:rPr>
                                <m:t> </m:t>
                              </m:r>
                            </m:num>
                            <m:den>
                              <m:sSub>
                                <m:sSubPr>
                                  <m:ctrlPr>
                                    <a:rPr lang="en-IN" sz="2800" i="1">
                                      <a:latin typeface="Cambria Math" panose="02040503050406030204" pitchFamily="18" charset="0"/>
                                    </a:rPr>
                                  </m:ctrlPr>
                                </m:sSubPr>
                                <m:e>
                                  <m:r>
                                    <m:rPr>
                                      <m:sty m:val="p"/>
                                    </m:rPr>
                                    <a:rPr lang="en-IN" sz="2800">
                                      <a:latin typeface="Cambria Math" panose="02040503050406030204" pitchFamily="18" charset="0"/>
                                    </a:rPr>
                                    <m:t>I</m:t>
                                  </m:r>
                                </m:e>
                                <m:sub>
                                  <m:r>
                                    <m:rPr>
                                      <m:sty m:val="p"/>
                                    </m:rPr>
                                    <a:rPr lang="en-IN" sz="2800">
                                      <a:latin typeface="Cambria Math" panose="02040503050406030204" pitchFamily="18" charset="0"/>
                                    </a:rPr>
                                    <m:t>E</m:t>
                                  </m:r>
                                </m:sub>
                              </m:sSub>
                            </m:den>
                          </m:f>
                          <m:r>
                            <a:rPr lang="en-IN" sz="2800">
                              <a:latin typeface="Cambria Math" panose="02040503050406030204" pitchFamily="18" charset="0"/>
                            </a:rPr>
                            <m:t> </m:t>
                          </m:r>
                        </m:e>
                      </m:borderBox>
                    </m:oMath>
                  </m:oMathPara>
                </a14:m>
                <a:endParaRPr lang="en-IN" sz="2800" dirty="0"/>
              </a:p>
            </p:txBody>
          </p:sp>
        </mc:Choice>
        <mc:Fallback xmlns="">
          <p:sp>
            <p:nvSpPr>
              <p:cNvPr id="5" name="Rectangle 4">
                <a:extLst>
                  <a:ext uri="{FF2B5EF4-FFF2-40B4-BE49-F238E27FC236}">
                    <a16:creationId xmlns:a16="http://schemas.microsoft.com/office/drawing/2014/main" id="{E78C3808-C09A-4C7A-9F8A-7E63C864791A}"/>
                  </a:ext>
                </a:extLst>
              </p:cNvPr>
              <p:cNvSpPr>
                <a:spLocks noRot="1" noChangeAspect="1" noMove="1" noResize="1" noEditPoints="1" noAdjustHandles="1" noChangeArrowheads="1" noChangeShapeType="1" noTextEdit="1"/>
              </p:cNvSpPr>
              <p:nvPr/>
            </p:nvSpPr>
            <p:spPr>
              <a:xfrm>
                <a:off x="5409685" y="1604378"/>
                <a:ext cx="1562159" cy="1160382"/>
              </a:xfrm>
              <a:prstGeom prst="rect">
                <a:avLst/>
              </a:prstGeom>
              <a:blipFill>
                <a:blip r:embed="rId2"/>
                <a:stretch>
                  <a:fillRect/>
                </a:stretch>
              </a:blipFill>
            </p:spPr>
            <p:txBody>
              <a:bodyPr/>
              <a:lstStyle/>
              <a:p>
                <a:r>
                  <a:rPr lang="en-IN">
                    <a:noFill/>
                  </a:rPr>
                  <a:t> </a:t>
                </a:r>
              </a:p>
            </p:txBody>
          </p:sp>
        </mc:Fallback>
      </mc:AlternateContent>
      <p:sp>
        <p:nvSpPr>
          <p:cNvPr id="6" name="Rectangle 5">
            <a:extLst>
              <a:ext uri="{FF2B5EF4-FFF2-40B4-BE49-F238E27FC236}">
                <a16:creationId xmlns:a16="http://schemas.microsoft.com/office/drawing/2014/main" id="{BAD760ED-3C59-4847-9175-A39FF9EE82E6}"/>
              </a:ext>
            </a:extLst>
          </p:cNvPr>
          <p:cNvSpPr/>
          <p:nvPr/>
        </p:nvSpPr>
        <p:spPr>
          <a:xfrm>
            <a:off x="1613211" y="3167390"/>
            <a:ext cx="6160661" cy="523220"/>
          </a:xfrm>
          <a:prstGeom prst="rect">
            <a:avLst/>
          </a:prstGeom>
        </p:spPr>
        <p:txBody>
          <a:bodyPr wrap="none">
            <a:spAutoFit/>
          </a:bodyPr>
          <a:lstStyle/>
          <a:p>
            <a:pPr marL="285750" indent="-285750">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Since I</a:t>
            </a:r>
            <a:r>
              <a:rPr lang="en-IN" sz="2800" baseline="-25000" dirty="0">
                <a:latin typeface="Times New Roman" panose="02020603050405020304" pitchFamily="18" charset="0"/>
                <a:ea typeface="Calibri" panose="020F0502020204030204" pitchFamily="34" charset="0"/>
              </a:rPr>
              <a:t>E</a:t>
            </a:r>
            <a:r>
              <a:rPr lang="en-IN" sz="2800" dirty="0">
                <a:latin typeface="Times New Roman" panose="02020603050405020304" pitchFamily="18" charset="0"/>
                <a:ea typeface="Calibri" panose="020F0502020204030204" pitchFamily="34" charset="0"/>
              </a:rPr>
              <a:t> &gt; I</a:t>
            </a:r>
            <a:r>
              <a:rPr lang="en-IN" sz="2800" baseline="-25000" dirty="0">
                <a:latin typeface="Times New Roman" panose="02020603050405020304" pitchFamily="18" charset="0"/>
                <a:ea typeface="Calibri" panose="020F0502020204030204" pitchFamily="34" charset="0"/>
              </a:rPr>
              <a:t>C</a:t>
            </a:r>
            <a:r>
              <a:rPr lang="en-IN" sz="2800" dirty="0">
                <a:latin typeface="Times New Roman" panose="02020603050405020304" pitchFamily="18" charset="0"/>
                <a:ea typeface="Calibri" panose="020F0502020204030204" pitchFamily="34" charset="0"/>
              </a:rPr>
              <a:t> so value of α is less than 1</a:t>
            </a:r>
            <a:endParaRPr lang="en-IN" sz="2800" dirty="0"/>
          </a:p>
        </p:txBody>
      </p:sp>
      <p:sp>
        <p:nvSpPr>
          <p:cNvPr id="7" name="Rectangle 6">
            <a:extLst>
              <a:ext uri="{FF2B5EF4-FFF2-40B4-BE49-F238E27FC236}">
                <a16:creationId xmlns:a16="http://schemas.microsoft.com/office/drawing/2014/main" id="{2AF592B7-25E1-416D-85DC-898D38FB41C0}"/>
              </a:ext>
            </a:extLst>
          </p:cNvPr>
          <p:cNvSpPr/>
          <p:nvPr/>
        </p:nvSpPr>
        <p:spPr>
          <a:xfrm>
            <a:off x="1677485" y="4093240"/>
            <a:ext cx="5216749" cy="523220"/>
          </a:xfrm>
          <a:prstGeom prst="rect">
            <a:avLst/>
          </a:prstGeom>
        </p:spPr>
        <p:txBody>
          <a:bodyPr wrap="none">
            <a:spAutoFit/>
          </a:bodyPr>
          <a:lstStyle/>
          <a:p>
            <a:pPr marL="285750" indent="-285750">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Value of α ranges from .90 to .99</a:t>
            </a:r>
            <a:endParaRPr lang="en-IN" sz="2800" dirty="0"/>
          </a:p>
        </p:txBody>
      </p:sp>
      <p:sp>
        <p:nvSpPr>
          <p:cNvPr id="8" name="Rectangle 7">
            <a:extLst>
              <a:ext uri="{FF2B5EF4-FFF2-40B4-BE49-F238E27FC236}">
                <a16:creationId xmlns:a16="http://schemas.microsoft.com/office/drawing/2014/main" id="{7EBBE2EC-BAAD-411A-83AD-11E73B2F38F8}"/>
              </a:ext>
            </a:extLst>
          </p:cNvPr>
          <p:cNvSpPr/>
          <p:nvPr/>
        </p:nvSpPr>
        <p:spPr>
          <a:xfrm>
            <a:off x="1281270" y="5019090"/>
            <a:ext cx="8418651" cy="530594"/>
          </a:xfrm>
          <a:prstGeom prst="rect">
            <a:avLst/>
          </a:prstGeom>
        </p:spPr>
        <p:txBody>
          <a:bodyPr wrap="none">
            <a:spAutoFit/>
          </a:bodyPr>
          <a:lstStyle/>
          <a:p>
            <a:pPr marL="735965" indent="-285750">
              <a:lnSpc>
                <a:spcPct val="107000"/>
              </a:lnSpc>
              <a:spcAft>
                <a:spcPts val="800"/>
              </a:spcAft>
              <a:buFont typeface="Arial" panose="020B0604020202020204" pitchFamily="34" charset="0"/>
              <a:buChar char="•"/>
              <a:tabLst>
                <a:tab pos="90170" algn="l"/>
                <a:tab pos="180340" algn="l"/>
                <a:tab pos="4876800" algn="l"/>
              </a:tabLst>
            </a:pPr>
            <a:r>
              <a:rPr lang="en-IN" sz="2800" dirty="0">
                <a:latin typeface="Times New Roman" panose="02020603050405020304" pitchFamily="18" charset="0"/>
                <a:ea typeface="Calibri" panose="020F0502020204030204" pitchFamily="34" charset="0"/>
                <a:cs typeface="Mangal" panose="02040503050203030202" pitchFamily="18" charset="0"/>
              </a:rPr>
              <a:t>So, no current gain is available in CB configuration.</a:t>
            </a:r>
            <a:endParaRPr lang="en-IN" sz="2800" dirty="0">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48902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981200" y="1066800"/>
            <a:ext cx="8229600" cy="2286000"/>
          </a:xfrm>
        </p:spPr>
        <p:txBody>
          <a:bodyPr>
            <a:noAutofit/>
          </a:bodyPr>
          <a:lstStyle/>
          <a:p>
            <a:pPr lvl="0" algn="just"/>
            <a:r>
              <a:rPr lang="en-IN" sz="2400" dirty="0">
                <a:solidFill>
                  <a:schemeClr val="tx1">
                    <a:lumMod val="95000"/>
                    <a:lumOff val="5000"/>
                  </a:schemeClr>
                </a:solidFill>
              </a:rPr>
              <a:t>By keeping constant V</a:t>
            </a:r>
            <a:r>
              <a:rPr lang="en-IN" sz="2400" baseline="-25000" dirty="0">
                <a:solidFill>
                  <a:schemeClr val="tx1">
                    <a:lumMod val="95000"/>
                    <a:lumOff val="5000"/>
                  </a:schemeClr>
                </a:solidFill>
              </a:rPr>
              <a:t>CB</a:t>
            </a:r>
            <a:r>
              <a:rPr lang="en-IN" sz="2400" dirty="0">
                <a:solidFill>
                  <a:schemeClr val="tx1">
                    <a:lumMod val="95000"/>
                    <a:lumOff val="5000"/>
                  </a:schemeClr>
                </a:solidFill>
              </a:rPr>
              <a:t>, when forward bias at emitter base junction is increased then graph between I</a:t>
            </a:r>
            <a:r>
              <a:rPr lang="en-IN" sz="2400" baseline="-25000" dirty="0">
                <a:solidFill>
                  <a:schemeClr val="tx1">
                    <a:lumMod val="95000"/>
                    <a:lumOff val="5000"/>
                  </a:schemeClr>
                </a:solidFill>
              </a:rPr>
              <a:t>B</a:t>
            </a:r>
            <a:r>
              <a:rPr lang="en-IN" sz="2400" dirty="0">
                <a:solidFill>
                  <a:schemeClr val="tx1">
                    <a:lumMod val="95000"/>
                    <a:lumOff val="5000"/>
                  </a:schemeClr>
                </a:solidFill>
              </a:rPr>
              <a:t> and V</a:t>
            </a:r>
            <a:r>
              <a:rPr lang="en-IN" sz="2400" baseline="-25000" dirty="0">
                <a:solidFill>
                  <a:schemeClr val="tx1">
                    <a:lumMod val="95000"/>
                    <a:lumOff val="5000"/>
                  </a:schemeClr>
                </a:solidFill>
              </a:rPr>
              <a:t>EB</a:t>
            </a:r>
            <a:r>
              <a:rPr lang="en-IN" sz="2400" dirty="0">
                <a:solidFill>
                  <a:schemeClr val="tx1">
                    <a:lumMod val="95000"/>
                    <a:lumOff val="5000"/>
                  </a:schemeClr>
                </a:solidFill>
              </a:rPr>
              <a:t> is similar to forward characteristics of </a:t>
            </a:r>
            <a:r>
              <a:rPr lang="en-IN" sz="2400" dirty="0" err="1">
                <a:solidFill>
                  <a:schemeClr val="tx1">
                    <a:lumMod val="95000"/>
                    <a:lumOff val="5000"/>
                  </a:schemeClr>
                </a:solidFill>
              </a:rPr>
              <a:t>pn</a:t>
            </a:r>
            <a:r>
              <a:rPr lang="en-IN" sz="2400" dirty="0">
                <a:solidFill>
                  <a:schemeClr val="tx1">
                    <a:lumMod val="95000"/>
                    <a:lumOff val="5000"/>
                  </a:schemeClr>
                </a:solidFill>
              </a:rPr>
              <a:t> junction diode. If this graph is again drawn for some higher value of V</a:t>
            </a:r>
            <a:r>
              <a:rPr lang="en-IN" sz="2400" baseline="-25000" dirty="0">
                <a:solidFill>
                  <a:schemeClr val="tx1">
                    <a:lumMod val="95000"/>
                    <a:lumOff val="5000"/>
                  </a:schemeClr>
                </a:solidFill>
              </a:rPr>
              <a:t>CB­</a:t>
            </a:r>
            <a:r>
              <a:rPr lang="en-IN" sz="2400" dirty="0">
                <a:solidFill>
                  <a:schemeClr val="tx1">
                    <a:lumMod val="95000"/>
                    <a:lumOff val="5000"/>
                  </a:schemeClr>
                </a:solidFill>
              </a:rPr>
              <a:t> a similar graph is obtained with reduced knee voltage.        </a:t>
            </a:r>
            <a:endParaRPr lang="en-US" sz="2400" dirty="0">
              <a:solidFill>
                <a:schemeClr val="tx1">
                  <a:lumMod val="95000"/>
                  <a:lumOff val="5000"/>
                </a:schemeClr>
              </a:solidFill>
            </a:endParaRPr>
          </a:p>
        </p:txBody>
      </p:sp>
      <p:sp>
        <p:nvSpPr>
          <p:cNvPr id="2" name="Title 1"/>
          <p:cNvSpPr>
            <a:spLocks noGrp="1"/>
          </p:cNvSpPr>
          <p:nvPr>
            <p:ph type="title"/>
          </p:nvPr>
        </p:nvSpPr>
        <p:spPr>
          <a:xfrm>
            <a:off x="1981200" y="228600"/>
            <a:ext cx="8229600" cy="762000"/>
          </a:xfrm>
        </p:spPr>
        <p:txBody>
          <a:bodyPr>
            <a:noAutofit/>
          </a:bodyPr>
          <a:lstStyle/>
          <a:p>
            <a:br>
              <a:rPr lang="en-IN" sz="2800" b="1" u="sng" dirty="0">
                <a:solidFill>
                  <a:schemeClr val="tx1">
                    <a:lumMod val="95000"/>
                    <a:lumOff val="5000"/>
                  </a:schemeClr>
                </a:solidFill>
              </a:rPr>
            </a:br>
            <a:r>
              <a:rPr lang="en-IN" sz="2800" b="1" u="sng" dirty="0">
                <a:solidFill>
                  <a:schemeClr val="tx1">
                    <a:lumMod val="95000"/>
                    <a:lumOff val="5000"/>
                  </a:schemeClr>
                </a:solidFill>
              </a:rPr>
              <a:t>Input V/I Characteristics of CB Configuration</a:t>
            </a:r>
            <a:br>
              <a:rPr lang="en-US" sz="2800" b="1" dirty="0">
                <a:solidFill>
                  <a:schemeClr val="tx1">
                    <a:lumMod val="95000"/>
                    <a:lumOff val="5000"/>
                  </a:schemeClr>
                </a:solidFill>
              </a:rPr>
            </a:br>
            <a:endParaRPr lang="en-US" sz="2800" b="1" dirty="0">
              <a:solidFill>
                <a:schemeClr val="tx1">
                  <a:lumMod val="95000"/>
                  <a:lumOff val="5000"/>
                </a:schemeClr>
              </a:solidFill>
            </a:endParaRPr>
          </a:p>
        </p:txBody>
      </p:sp>
      <p:pic>
        <p:nvPicPr>
          <p:cNvPr id="41987" name="Picture 3"/>
          <p:cNvPicPr>
            <a:picLocks noChangeAspect="1" noChangeArrowheads="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rcRect/>
          <a:stretch>
            <a:fillRect/>
          </a:stretch>
        </p:blipFill>
        <p:spPr bwMode="auto">
          <a:xfrm>
            <a:off x="3581400" y="3429000"/>
            <a:ext cx="5564134" cy="3048000"/>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81200" y="228600"/>
            <a:ext cx="8229600" cy="762000"/>
          </a:xfrm>
        </p:spPr>
        <p:txBody>
          <a:bodyPr>
            <a:noAutofit/>
          </a:bodyPr>
          <a:lstStyle/>
          <a:p>
            <a:pPr lvl="0">
              <a:lnSpc>
                <a:spcPct val="170000"/>
              </a:lnSpc>
            </a:pPr>
            <a:r>
              <a:rPr lang="en-IN" sz="2400" b="1" u="sng" dirty="0">
                <a:solidFill>
                  <a:schemeClr val="tx1">
                    <a:lumMod val="95000"/>
                    <a:lumOff val="5000"/>
                  </a:schemeClr>
                </a:solidFill>
              </a:rPr>
              <a:t>Output V/I Characteristics of CB Configuration</a:t>
            </a:r>
            <a:endParaRPr lang="en-US" sz="2400" dirty="0">
              <a:solidFill>
                <a:schemeClr val="tx1">
                  <a:lumMod val="95000"/>
                  <a:lumOff val="5000"/>
                </a:schemeClr>
              </a:solidFill>
            </a:endParaRPr>
          </a:p>
        </p:txBody>
      </p:sp>
      <p:sp>
        <p:nvSpPr>
          <p:cNvPr id="43010" name="Rectangle 2"/>
          <p:cNvSpPr>
            <a:spLocks noChangeArrowheads="1"/>
          </p:cNvSpPr>
          <p:nvPr/>
        </p:nvSpPr>
        <p:spPr bwMode="auto">
          <a:xfrm>
            <a:off x="152400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5058" name="Rectangle 2"/>
          <p:cNvSpPr>
            <a:spLocks noChangeArrowheads="1"/>
          </p:cNvSpPr>
          <p:nvPr/>
        </p:nvSpPr>
        <p:spPr bwMode="auto">
          <a:xfrm>
            <a:off x="152400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pic>
        <p:nvPicPr>
          <p:cNvPr id="3" name="Picture 2">
            <a:extLst>
              <a:ext uri="{FF2B5EF4-FFF2-40B4-BE49-F238E27FC236}">
                <a16:creationId xmlns:a16="http://schemas.microsoft.com/office/drawing/2014/main" id="{7707E0C3-901A-4B08-2FE8-0E7203735EC0}"/>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50000"/>
                    </a14:imgEffect>
                  </a14:imgLayer>
                </a14:imgProps>
              </a:ext>
            </a:extLst>
          </a:blip>
          <a:stretch>
            <a:fillRect/>
          </a:stretch>
        </p:blipFill>
        <p:spPr>
          <a:xfrm>
            <a:off x="2155030" y="1700808"/>
            <a:ext cx="7881940" cy="441654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524000" y="1143000"/>
            <a:ext cx="8686800" cy="5410200"/>
          </a:xfrm>
        </p:spPr>
        <p:txBody>
          <a:bodyPr>
            <a:normAutofit fontScale="85000" lnSpcReduction="10000"/>
          </a:bodyPr>
          <a:lstStyle/>
          <a:p>
            <a:pPr algn="just">
              <a:lnSpc>
                <a:spcPct val="170000"/>
              </a:lnSpc>
            </a:pPr>
            <a:r>
              <a:rPr lang="en-US" b="1" dirty="0">
                <a:solidFill>
                  <a:srgbClr val="FF0000"/>
                </a:solidFill>
              </a:rPr>
              <a:t> </a:t>
            </a:r>
            <a:r>
              <a:rPr lang="en-US" b="1" u="sng" dirty="0">
                <a:solidFill>
                  <a:schemeClr val="tx1">
                    <a:lumMod val="95000"/>
                    <a:lumOff val="5000"/>
                  </a:schemeClr>
                </a:solidFill>
                <a:latin typeface="+mj-lt"/>
                <a:ea typeface="+mj-ea"/>
                <a:cs typeface="+mj-cs"/>
              </a:rPr>
              <a:t>Active Region: </a:t>
            </a:r>
            <a:r>
              <a:rPr lang="en-IN" sz="2600" dirty="0">
                <a:solidFill>
                  <a:schemeClr val="tx1">
                    <a:lumMod val="95000"/>
                    <a:lumOff val="5000"/>
                  </a:schemeClr>
                </a:solidFill>
              </a:rPr>
              <a:t>For given </a:t>
            </a:r>
            <a:r>
              <a:rPr lang="el-GR" sz="2600" dirty="0">
                <a:solidFill>
                  <a:schemeClr val="tx1">
                    <a:lumMod val="95000"/>
                    <a:lumOff val="5000"/>
                  </a:schemeClr>
                </a:solidFill>
              </a:rPr>
              <a:t>α</a:t>
            </a:r>
            <a:r>
              <a:rPr lang="en-IN" sz="2600" dirty="0">
                <a:solidFill>
                  <a:schemeClr val="tx1">
                    <a:lumMod val="95000"/>
                    <a:lumOff val="5000"/>
                  </a:schemeClr>
                </a:solidFill>
              </a:rPr>
              <a:t>  and I</a:t>
            </a:r>
            <a:r>
              <a:rPr lang="en-IN" sz="2600" baseline="-25000" dirty="0">
                <a:solidFill>
                  <a:schemeClr val="tx1">
                    <a:lumMod val="95000"/>
                    <a:lumOff val="5000"/>
                  </a:schemeClr>
                </a:solidFill>
              </a:rPr>
              <a:t>E,</a:t>
            </a:r>
            <a:r>
              <a:rPr lang="en-IN" sz="2600" dirty="0">
                <a:solidFill>
                  <a:schemeClr val="tx1">
                    <a:lumMod val="95000"/>
                    <a:lumOff val="5000"/>
                  </a:schemeClr>
                </a:solidFill>
              </a:rPr>
              <a:t> I</a:t>
            </a:r>
            <a:r>
              <a:rPr lang="en-IN" sz="2600" baseline="-25000" dirty="0">
                <a:solidFill>
                  <a:schemeClr val="tx1">
                    <a:lumMod val="95000"/>
                    <a:lumOff val="5000"/>
                  </a:schemeClr>
                </a:solidFill>
              </a:rPr>
              <a:t>C</a:t>
            </a:r>
            <a:r>
              <a:rPr lang="en-IN" sz="2600" dirty="0">
                <a:solidFill>
                  <a:schemeClr val="tx1">
                    <a:lumMod val="95000"/>
                    <a:lumOff val="5000"/>
                  </a:schemeClr>
                </a:solidFill>
              </a:rPr>
              <a:t> is dependent only on I</a:t>
            </a:r>
            <a:r>
              <a:rPr lang="en-IN" sz="2600" baseline="-25000" dirty="0">
                <a:solidFill>
                  <a:schemeClr val="tx1">
                    <a:lumMod val="95000"/>
                    <a:lumOff val="5000"/>
                  </a:schemeClr>
                </a:solidFill>
              </a:rPr>
              <a:t>0</a:t>
            </a:r>
            <a:r>
              <a:rPr lang="en-IN" sz="2600" dirty="0">
                <a:solidFill>
                  <a:schemeClr val="tx1">
                    <a:lumMod val="95000"/>
                    <a:lumOff val="5000"/>
                  </a:schemeClr>
                </a:solidFill>
              </a:rPr>
              <a:t> which is slightly dependent on V</a:t>
            </a:r>
            <a:r>
              <a:rPr lang="en-IN" sz="2600" baseline="-25000" dirty="0">
                <a:solidFill>
                  <a:schemeClr val="tx1">
                    <a:lumMod val="95000"/>
                    <a:lumOff val="5000"/>
                  </a:schemeClr>
                </a:solidFill>
              </a:rPr>
              <a:t>CB</a:t>
            </a:r>
            <a:r>
              <a:rPr lang="en-IN" sz="2600" dirty="0">
                <a:solidFill>
                  <a:schemeClr val="tx1">
                    <a:lumMod val="95000"/>
                    <a:lumOff val="5000"/>
                  </a:schemeClr>
                </a:solidFill>
              </a:rPr>
              <a:t>. So, graph of active   region is almost independent of V</a:t>
            </a:r>
            <a:r>
              <a:rPr lang="en-IN" sz="2600" baseline="-25000" dirty="0">
                <a:solidFill>
                  <a:schemeClr val="tx1">
                    <a:lumMod val="95000"/>
                    <a:lumOff val="5000"/>
                  </a:schemeClr>
                </a:solidFill>
              </a:rPr>
              <a:t>CB</a:t>
            </a:r>
            <a:r>
              <a:rPr lang="en-IN" sz="2600" dirty="0">
                <a:solidFill>
                  <a:schemeClr val="tx1">
                    <a:lumMod val="95000"/>
                    <a:lumOff val="5000"/>
                  </a:schemeClr>
                </a:solidFill>
              </a:rPr>
              <a:t>.</a:t>
            </a:r>
          </a:p>
          <a:p>
            <a:pPr lvl="0">
              <a:lnSpc>
                <a:spcPct val="160000"/>
              </a:lnSpc>
            </a:pPr>
            <a:r>
              <a:rPr lang="en-IN" b="1" u="sng" dirty="0">
                <a:solidFill>
                  <a:schemeClr val="tx1">
                    <a:lumMod val="95000"/>
                    <a:lumOff val="5000"/>
                  </a:schemeClr>
                </a:solidFill>
                <a:latin typeface="+mj-lt"/>
                <a:ea typeface="+mj-ea"/>
                <a:cs typeface="+mj-cs"/>
              </a:rPr>
              <a:t>Saturation Region</a:t>
            </a:r>
            <a:r>
              <a:rPr lang="en-IN" sz="2600" dirty="0">
                <a:solidFill>
                  <a:schemeClr val="tx1">
                    <a:lumMod val="95000"/>
                    <a:lumOff val="5000"/>
                  </a:schemeClr>
                </a:solidFill>
              </a:rPr>
              <a:t>: When the transistor is switched from active to saturation region, a large change in collector current for very small forward bias voltage at collector to base junction is obtained in negative direction. </a:t>
            </a:r>
            <a:endParaRPr lang="en-US" sz="2600" dirty="0">
              <a:solidFill>
                <a:schemeClr val="tx1">
                  <a:lumMod val="95000"/>
                  <a:lumOff val="5000"/>
                </a:schemeClr>
              </a:solidFill>
            </a:endParaRPr>
          </a:p>
          <a:p>
            <a:pPr lvl="0">
              <a:lnSpc>
                <a:spcPct val="160000"/>
              </a:lnSpc>
            </a:pPr>
            <a:r>
              <a:rPr lang="en-IN" b="1" u="sng" dirty="0">
                <a:solidFill>
                  <a:schemeClr val="tx1">
                    <a:lumMod val="95000"/>
                    <a:lumOff val="5000"/>
                  </a:schemeClr>
                </a:solidFill>
                <a:latin typeface="+mj-lt"/>
                <a:ea typeface="+mj-ea"/>
                <a:cs typeface="+mj-cs"/>
              </a:rPr>
              <a:t>Cut-Off Region:  </a:t>
            </a:r>
            <a:r>
              <a:rPr lang="en-IN" sz="2600" dirty="0">
                <a:solidFill>
                  <a:schemeClr val="tx1">
                    <a:lumMod val="95000"/>
                    <a:lumOff val="5000"/>
                  </a:schemeClr>
                </a:solidFill>
              </a:rPr>
              <a:t>When both the junctions are reverse biased, a very small collector current is obtained which is close to horizontal axis.</a:t>
            </a:r>
            <a:endParaRPr lang="en-US" sz="2600" dirty="0">
              <a:solidFill>
                <a:schemeClr val="tx1">
                  <a:lumMod val="95000"/>
                  <a:lumOff val="5000"/>
                </a:schemeClr>
              </a:solidFill>
            </a:endParaRPr>
          </a:p>
          <a:p>
            <a:pPr algn="just">
              <a:lnSpc>
                <a:spcPct val="170000"/>
              </a:lnSpc>
            </a:pPr>
            <a:endParaRPr lang="en-US" dirty="0">
              <a:solidFill>
                <a:schemeClr val="accent1"/>
              </a:solidFill>
            </a:endParaRPr>
          </a:p>
          <a:p>
            <a:pPr lvl="0" algn="just">
              <a:lnSpc>
                <a:spcPct val="170000"/>
              </a:lnSpc>
            </a:pPr>
            <a:endParaRPr lang="en-US" dirty="0">
              <a:solidFill>
                <a:schemeClr val="accent1"/>
              </a:solidFill>
            </a:endParaRPr>
          </a:p>
        </p:txBody>
      </p:sp>
      <p:sp>
        <p:nvSpPr>
          <p:cNvPr id="2" name="Title 1"/>
          <p:cNvSpPr>
            <a:spLocks noGrp="1"/>
          </p:cNvSpPr>
          <p:nvPr>
            <p:ph type="title"/>
          </p:nvPr>
        </p:nvSpPr>
        <p:spPr>
          <a:xfrm>
            <a:off x="1600200" y="228600"/>
            <a:ext cx="8229600" cy="762000"/>
          </a:xfrm>
        </p:spPr>
        <p:txBody>
          <a:bodyPr>
            <a:noAutofit/>
          </a:bodyPr>
          <a:lstStyle/>
          <a:p>
            <a:pPr lvl="0">
              <a:lnSpc>
                <a:spcPct val="170000"/>
              </a:lnSpc>
            </a:pPr>
            <a:r>
              <a:rPr lang="en-IN" sz="2800" b="1" u="sng" dirty="0">
                <a:solidFill>
                  <a:schemeClr val="tx1">
                    <a:lumMod val="95000"/>
                    <a:lumOff val="5000"/>
                  </a:schemeClr>
                </a:solidFill>
              </a:rPr>
              <a:t> Characteristics of CB Configuration</a:t>
            </a:r>
            <a:endParaRPr lang="en-US" sz="2800" dirty="0">
              <a:solidFill>
                <a:schemeClr val="tx1">
                  <a:lumMod val="95000"/>
                  <a:lumOff val="5000"/>
                </a:schemeClr>
              </a:solidFill>
            </a:endParaRPr>
          </a:p>
        </p:txBody>
      </p:sp>
      <p:sp>
        <p:nvSpPr>
          <p:cNvPr id="43010" name="Rectangle 2"/>
          <p:cNvSpPr>
            <a:spLocks noChangeArrowheads="1"/>
          </p:cNvSpPr>
          <p:nvPr/>
        </p:nvSpPr>
        <p:spPr bwMode="auto">
          <a:xfrm>
            <a:off x="152400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
        <p:nvSpPr>
          <p:cNvPr id="45058" name="Rectangle 2"/>
          <p:cNvSpPr>
            <a:spLocks noChangeArrowheads="1"/>
          </p:cNvSpPr>
          <p:nvPr/>
        </p:nvSpPr>
        <p:spPr bwMode="auto">
          <a:xfrm>
            <a:off x="1524002" y="0"/>
            <a:ext cx="184731" cy="369332"/>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1689A-B64A-473B-800D-932B83C864EB}"/>
              </a:ext>
            </a:extLst>
          </p:cNvPr>
          <p:cNvSpPr txBox="1">
            <a:spLocks/>
          </p:cNvSpPr>
          <p:nvPr/>
        </p:nvSpPr>
        <p:spPr>
          <a:xfrm>
            <a:off x="2116037" y="175625"/>
            <a:ext cx="7436348" cy="517071"/>
          </a:xfrm>
          <a:prstGeom prst="rect">
            <a:avLst/>
          </a:prstGeom>
          <a:solidFill>
            <a:schemeClr val="accent1">
              <a:lumMod val="60000"/>
              <a:lumOff val="40000"/>
            </a:schemeClr>
          </a:solidFill>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IN" sz="3200" b="1" dirty="0"/>
              <a:t>Common Emitter Configuration (CE)</a:t>
            </a:r>
            <a:endParaRPr lang="en-IN" sz="3200" dirty="0"/>
          </a:p>
        </p:txBody>
      </p:sp>
      <p:sp>
        <p:nvSpPr>
          <p:cNvPr id="3" name="Rectangle 2">
            <a:extLst>
              <a:ext uri="{FF2B5EF4-FFF2-40B4-BE49-F238E27FC236}">
                <a16:creationId xmlns:a16="http://schemas.microsoft.com/office/drawing/2014/main" id="{A32626F9-C0F7-470E-A6E6-C019D6307040}"/>
              </a:ext>
            </a:extLst>
          </p:cNvPr>
          <p:cNvSpPr/>
          <p:nvPr/>
        </p:nvSpPr>
        <p:spPr>
          <a:xfrm>
            <a:off x="1631504" y="692696"/>
            <a:ext cx="8741465" cy="1754326"/>
          </a:xfrm>
          <a:prstGeom prst="rect">
            <a:avLst/>
          </a:prstGeom>
        </p:spPr>
        <p:txBody>
          <a:bodyPr wrap="square">
            <a:spAutoFit/>
          </a:bodyPr>
          <a:lstStyle/>
          <a:p>
            <a:pPr algn="just">
              <a:lnSpc>
                <a:spcPct val="150000"/>
              </a:lnSpc>
              <a:tabLst>
                <a:tab pos="180340" algn="l"/>
                <a:tab pos="4876800" algn="l"/>
              </a:tabLst>
            </a:pPr>
            <a:r>
              <a:rPr lang="en-IN" sz="2400" dirty="0">
                <a:latin typeface="Times New Roman" panose="02020603050405020304" pitchFamily="18" charset="0"/>
                <a:ea typeface="Calibri" panose="020F0502020204030204" pitchFamily="34" charset="0"/>
                <a:cs typeface="Mangal" panose="02040503050203030202" pitchFamily="18" charset="0"/>
              </a:rPr>
              <a:t>In this configuration input is applied between base and emitter </a:t>
            </a:r>
            <a:r>
              <a:rPr lang="en-IN" sz="2400" dirty="0">
                <a:ea typeface="Calibri" panose="020F0502020204030204" pitchFamily="34" charset="0"/>
                <a:cs typeface="Mangal" panose="02040503050203030202" pitchFamily="18" charset="0"/>
              </a:rPr>
              <a:t>while</a:t>
            </a:r>
            <a:r>
              <a:rPr lang="en-IN" sz="2400" dirty="0">
                <a:latin typeface="Times New Roman" panose="02020603050405020304" pitchFamily="18" charset="0"/>
                <a:ea typeface="Calibri" panose="020F0502020204030204" pitchFamily="34" charset="0"/>
                <a:cs typeface="Mangal" panose="02040503050203030202" pitchFamily="18" charset="0"/>
              </a:rPr>
              <a:t> output is taken out from collector and emitter. So, emitter of transistor is common to both input and output. </a:t>
            </a:r>
            <a:endParaRPr lang="en-IN" sz="2400" dirty="0">
              <a:latin typeface="Calibri" panose="020F0502020204030204" pitchFamily="34" charset="0"/>
              <a:ea typeface="Calibri" panose="020F0502020204030204" pitchFamily="34" charset="0"/>
              <a:cs typeface="Mangal" panose="02040503050203030202" pitchFamily="18" charset="0"/>
            </a:endParaRPr>
          </a:p>
        </p:txBody>
      </p:sp>
      <p:pic>
        <p:nvPicPr>
          <p:cNvPr id="4" name="Picture 3">
            <a:extLst>
              <a:ext uri="{FF2B5EF4-FFF2-40B4-BE49-F238E27FC236}">
                <a16:creationId xmlns:a16="http://schemas.microsoft.com/office/drawing/2014/main" id="{B683DC4F-0F1A-449C-844C-15E85C42A73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6168008" y="2235464"/>
            <a:ext cx="5688632" cy="4351030"/>
          </a:xfrm>
          <a:prstGeom prst="rect">
            <a:avLst/>
          </a:prstGeom>
          <a:noFill/>
          <a:ln>
            <a:noFill/>
          </a:ln>
        </p:spPr>
      </p:pic>
    </p:spTree>
    <p:extLst>
      <p:ext uri="{BB962C8B-B14F-4D97-AF65-F5344CB8AC3E}">
        <p14:creationId xmlns:p14="http://schemas.microsoft.com/office/powerpoint/2010/main" val="27270299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C7366E0-3B11-436A-A0B6-0CA9AC6BFCFD}"/>
              </a:ext>
            </a:extLst>
          </p:cNvPr>
          <p:cNvSpPr/>
          <p:nvPr/>
        </p:nvSpPr>
        <p:spPr>
          <a:xfrm>
            <a:off x="4386670" y="305904"/>
            <a:ext cx="3092450" cy="523220"/>
          </a:xfrm>
          <a:prstGeom prst="rect">
            <a:avLst/>
          </a:prstGeom>
        </p:spPr>
        <p:txBody>
          <a:bodyPr wrap="none">
            <a:spAutoFit/>
          </a:bodyPr>
          <a:lstStyle/>
          <a:p>
            <a:r>
              <a:rPr lang="en-IN" sz="2800" b="1" dirty="0">
                <a:latin typeface="Times New Roman" panose="02020603050405020304" pitchFamily="18" charset="0"/>
                <a:ea typeface="Calibri" panose="020F0502020204030204" pitchFamily="34" charset="0"/>
              </a:rPr>
              <a:t> DC Current gain: </a:t>
            </a:r>
            <a:endParaRPr lang="en-IN" sz="2800" b="1" dirty="0"/>
          </a:p>
        </p:txBody>
      </p:sp>
      <p:sp>
        <p:nvSpPr>
          <p:cNvPr id="3" name="Rectangle 2">
            <a:extLst>
              <a:ext uri="{FF2B5EF4-FFF2-40B4-BE49-F238E27FC236}">
                <a16:creationId xmlns:a16="http://schemas.microsoft.com/office/drawing/2014/main" id="{D0A6B364-6BDE-41D9-9E2B-90153D387815}"/>
              </a:ext>
            </a:extLst>
          </p:cNvPr>
          <p:cNvSpPr/>
          <p:nvPr/>
        </p:nvSpPr>
        <p:spPr>
          <a:xfrm>
            <a:off x="1681932" y="829124"/>
            <a:ext cx="9111790" cy="523220"/>
          </a:xfrm>
          <a:prstGeom prst="rect">
            <a:avLst/>
          </a:prstGeom>
        </p:spPr>
        <p:txBody>
          <a:bodyPr wrap="none">
            <a:spAutoFit/>
          </a:bodyPr>
          <a:lstStyle/>
          <a:p>
            <a:pPr marL="457200" indent="-457200">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It is the ratio of output current (I</a:t>
            </a:r>
            <a:r>
              <a:rPr lang="en-IN" sz="2800" baseline="-25000" dirty="0">
                <a:latin typeface="Times New Roman" panose="02020603050405020304" pitchFamily="18" charset="0"/>
                <a:ea typeface="Calibri" panose="020F0502020204030204" pitchFamily="34" charset="0"/>
              </a:rPr>
              <a:t>C</a:t>
            </a:r>
            <a:r>
              <a:rPr lang="en-IN" sz="2800" dirty="0">
                <a:latin typeface="Times New Roman" panose="02020603050405020304" pitchFamily="18" charset="0"/>
                <a:ea typeface="Calibri" panose="020F0502020204030204" pitchFamily="34" charset="0"/>
              </a:rPr>
              <a:t>) to the input current (I</a:t>
            </a:r>
            <a:r>
              <a:rPr lang="en-IN" sz="2800" baseline="-25000" dirty="0">
                <a:latin typeface="Times New Roman" panose="02020603050405020304" pitchFamily="18" charset="0"/>
                <a:ea typeface="Calibri" panose="020F0502020204030204" pitchFamily="34" charset="0"/>
              </a:rPr>
              <a:t>B</a:t>
            </a:r>
            <a:r>
              <a:rPr lang="en-IN" sz="2800" dirty="0">
                <a:latin typeface="Times New Roman" panose="02020603050405020304" pitchFamily="18" charset="0"/>
                <a:ea typeface="Calibri" panose="020F0502020204030204" pitchFamily="34" charset="0"/>
              </a:rPr>
              <a:t>).</a:t>
            </a:r>
            <a:endParaRPr lang="en-IN" sz="2800" dirty="0"/>
          </a:p>
        </p:txBody>
      </p:sp>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965F5E32-EC7A-4D2F-8AEA-C9F877569763}"/>
                  </a:ext>
                </a:extLst>
              </p:cNvPr>
              <p:cNvSpPr/>
              <p:nvPr/>
            </p:nvSpPr>
            <p:spPr>
              <a:xfrm>
                <a:off x="5800555" y="1443667"/>
                <a:ext cx="1409873" cy="116038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borderBox>
                        <m:borderBoxPr>
                          <m:ctrlPr>
                            <a:rPr lang="en-IN" sz="2800" i="1">
                              <a:latin typeface="Cambria Math" panose="02040503050406030204" pitchFamily="18" charset="0"/>
                            </a:rPr>
                          </m:ctrlPr>
                        </m:borderBoxPr>
                        <m:e>
                          <m:r>
                            <m:rPr>
                              <m:sty m:val="p"/>
                            </m:rPr>
                            <a:rPr lang="en-IN" sz="2800">
                              <a:latin typeface="Cambria Math" panose="02040503050406030204" pitchFamily="18" charset="0"/>
                            </a:rPr>
                            <m:t>β</m:t>
                          </m:r>
                          <m:r>
                            <a:rPr lang="en-IN" sz="2800">
                              <a:latin typeface="Cambria Math" panose="02040503050406030204" pitchFamily="18" charset="0"/>
                            </a:rPr>
                            <m:t>=</m:t>
                          </m:r>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m:rPr>
                                      <m:sty m:val="p"/>
                                    </m:rPr>
                                    <a:rPr lang="en-IN" sz="2800">
                                      <a:latin typeface="Cambria Math" panose="02040503050406030204" pitchFamily="18" charset="0"/>
                                    </a:rPr>
                                    <m:t>I</m:t>
                                  </m:r>
                                </m:e>
                                <m:sub>
                                  <m:r>
                                    <m:rPr>
                                      <m:sty m:val="p"/>
                                    </m:rPr>
                                    <a:rPr lang="en-IN" sz="2800">
                                      <a:latin typeface="Cambria Math" panose="02040503050406030204" pitchFamily="18" charset="0"/>
                                    </a:rPr>
                                    <m:t>C</m:t>
                                  </m:r>
                                </m:sub>
                              </m:sSub>
                            </m:num>
                            <m:den>
                              <m:sSub>
                                <m:sSubPr>
                                  <m:ctrlPr>
                                    <a:rPr lang="en-IN" sz="2800" i="1">
                                      <a:latin typeface="Cambria Math" panose="02040503050406030204" pitchFamily="18" charset="0"/>
                                    </a:rPr>
                                  </m:ctrlPr>
                                </m:sSubPr>
                                <m:e>
                                  <m:r>
                                    <m:rPr>
                                      <m:sty m:val="p"/>
                                    </m:rPr>
                                    <a:rPr lang="en-IN" sz="2800">
                                      <a:latin typeface="Cambria Math" panose="02040503050406030204" pitchFamily="18" charset="0"/>
                                    </a:rPr>
                                    <m:t>I</m:t>
                                  </m:r>
                                </m:e>
                                <m:sub>
                                  <m:r>
                                    <m:rPr>
                                      <m:sty m:val="p"/>
                                    </m:rPr>
                                    <a:rPr lang="en-IN" sz="2800">
                                      <a:latin typeface="Cambria Math" panose="02040503050406030204" pitchFamily="18" charset="0"/>
                                    </a:rPr>
                                    <m:t>B</m:t>
                                  </m:r>
                                </m:sub>
                              </m:sSub>
                            </m:den>
                          </m:f>
                        </m:e>
                      </m:borderBox>
                    </m:oMath>
                  </m:oMathPara>
                </a14:m>
                <a:endParaRPr lang="en-IN" sz="2800" dirty="0"/>
              </a:p>
            </p:txBody>
          </p:sp>
        </mc:Choice>
        <mc:Fallback xmlns="">
          <p:sp>
            <p:nvSpPr>
              <p:cNvPr id="9" name="Rectangle 8">
                <a:extLst>
                  <a:ext uri="{FF2B5EF4-FFF2-40B4-BE49-F238E27FC236}">
                    <a16:creationId xmlns:a16="http://schemas.microsoft.com/office/drawing/2014/main" id="{965F5E32-EC7A-4D2F-8AEA-C9F877569763}"/>
                  </a:ext>
                </a:extLst>
              </p:cNvPr>
              <p:cNvSpPr>
                <a:spLocks noRot="1" noChangeAspect="1" noMove="1" noResize="1" noEditPoints="1" noAdjustHandles="1" noChangeArrowheads="1" noChangeShapeType="1" noTextEdit="1"/>
              </p:cNvSpPr>
              <p:nvPr/>
            </p:nvSpPr>
            <p:spPr>
              <a:xfrm>
                <a:off x="5800555" y="1443667"/>
                <a:ext cx="1409873" cy="1160382"/>
              </a:xfrm>
              <a:prstGeom prst="rect">
                <a:avLst/>
              </a:prstGeom>
              <a:blipFill>
                <a:blip r:embed="rId2"/>
                <a:stretch>
                  <a:fillRect/>
                </a:stretch>
              </a:blipFill>
            </p:spPr>
            <p:txBody>
              <a:bodyPr/>
              <a:lstStyle/>
              <a:p>
                <a:r>
                  <a:rPr lang="en-IN">
                    <a:noFill/>
                  </a:rPr>
                  <a:t> </a:t>
                </a:r>
              </a:p>
            </p:txBody>
          </p:sp>
        </mc:Fallback>
      </mc:AlternateContent>
      <p:sp>
        <p:nvSpPr>
          <p:cNvPr id="10" name="Rectangle 9">
            <a:extLst>
              <a:ext uri="{FF2B5EF4-FFF2-40B4-BE49-F238E27FC236}">
                <a16:creationId xmlns:a16="http://schemas.microsoft.com/office/drawing/2014/main" id="{CA7DBB4B-6FEF-4F9C-A9A0-6C96BAD2AEF3}"/>
              </a:ext>
            </a:extLst>
          </p:cNvPr>
          <p:cNvSpPr/>
          <p:nvPr/>
        </p:nvSpPr>
        <p:spPr>
          <a:xfrm>
            <a:off x="1681932" y="2827541"/>
            <a:ext cx="8794740" cy="954107"/>
          </a:xfrm>
          <a:prstGeom prst="rect">
            <a:avLst/>
          </a:prstGeom>
        </p:spPr>
        <p:txBody>
          <a:bodyPr wrap="square">
            <a:spAutoFit/>
          </a:bodyPr>
          <a:lstStyle/>
          <a:p>
            <a:pPr marL="457200" indent="-457200" algn="just">
              <a:buFont typeface="Arial" panose="020B0604020202020204" pitchFamily="34" charset="0"/>
              <a:buChar char="•"/>
            </a:pPr>
            <a:r>
              <a:rPr lang="en-IN" sz="2800" dirty="0">
                <a:latin typeface="Times New Roman" panose="02020603050405020304" pitchFamily="18" charset="0"/>
                <a:ea typeface="Calibri" panose="020F0502020204030204" pitchFamily="34" charset="0"/>
              </a:rPr>
              <a:t>Since value of I</a:t>
            </a:r>
            <a:r>
              <a:rPr lang="en-IN" sz="2800" baseline="-25000" dirty="0">
                <a:latin typeface="Times New Roman" panose="02020603050405020304" pitchFamily="18" charset="0"/>
                <a:ea typeface="Calibri" panose="020F0502020204030204" pitchFamily="34" charset="0"/>
              </a:rPr>
              <a:t>B </a:t>
            </a:r>
            <a:r>
              <a:rPr lang="en-IN" sz="2800" dirty="0">
                <a:latin typeface="Times New Roman" panose="02020603050405020304" pitchFamily="18" charset="0"/>
                <a:ea typeface="Calibri" panose="020F0502020204030204" pitchFamily="34" charset="0"/>
              </a:rPr>
              <a:t>&lt;&lt; I</a:t>
            </a:r>
            <a:r>
              <a:rPr lang="en-IN" sz="2800" baseline="-25000" dirty="0">
                <a:latin typeface="Times New Roman" panose="02020603050405020304" pitchFamily="18" charset="0"/>
                <a:ea typeface="Calibri" panose="020F0502020204030204" pitchFamily="34" charset="0"/>
              </a:rPr>
              <a:t>C</a:t>
            </a:r>
            <a:r>
              <a:rPr lang="en-IN" sz="2800" dirty="0">
                <a:latin typeface="Times New Roman" panose="02020603050405020304" pitchFamily="18" charset="0"/>
                <a:ea typeface="Calibri" panose="020F0502020204030204" pitchFamily="34" charset="0"/>
              </a:rPr>
              <a:t>. So β &gt;&gt;1. Therefore, current gain is available in CE configuration</a:t>
            </a:r>
            <a:endParaRPr lang="en-IN" sz="2800" dirty="0"/>
          </a:p>
        </p:txBody>
      </p:sp>
      <p:sp>
        <p:nvSpPr>
          <p:cNvPr id="11" name="Rectangle 10">
            <a:extLst>
              <a:ext uri="{FF2B5EF4-FFF2-40B4-BE49-F238E27FC236}">
                <a16:creationId xmlns:a16="http://schemas.microsoft.com/office/drawing/2014/main" id="{961226F8-59FD-4D1F-BDAA-6B72BC6769C0}"/>
              </a:ext>
            </a:extLst>
          </p:cNvPr>
          <p:cNvSpPr/>
          <p:nvPr/>
        </p:nvSpPr>
        <p:spPr>
          <a:xfrm>
            <a:off x="1681932" y="4005136"/>
            <a:ext cx="5394682" cy="669542"/>
          </a:xfrm>
          <a:prstGeom prst="rect">
            <a:avLst/>
          </a:prstGeom>
        </p:spPr>
        <p:txBody>
          <a:bodyPr wrap="none">
            <a:spAutoFit/>
          </a:bodyPr>
          <a:lstStyle/>
          <a:p>
            <a:pPr marL="457200" indent="-457200" algn="just">
              <a:lnSpc>
                <a:spcPct val="150000"/>
              </a:lnSpc>
              <a:buFont typeface="Arial" panose="020B0604020202020204" pitchFamily="34" charset="0"/>
              <a:buChar char="•"/>
              <a:tabLst>
                <a:tab pos="180340" algn="l"/>
                <a:tab pos="4876800" algn="l"/>
              </a:tabLst>
            </a:pPr>
            <a:r>
              <a:rPr lang="en-IN" sz="2800" dirty="0">
                <a:latin typeface="Times New Roman" panose="02020603050405020304" pitchFamily="18" charset="0"/>
                <a:ea typeface="Calibri" panose="020F0502020204030204" pitchFamily="34" charset="0"/>
                <a:cs typeface="Mangal" panose="02040503050203030202" pitchFamily="18" charset="0"/>
              </a:rPr>
              <a:t>Value of β varies from 20 to 500.</a:t>
            </a:r>
            <a:endParaRPr lang="en-IN" sz="2800" dirty="0">
              <a:latin typeface="Calibri" panose="020F0502020204030204" pitchFamily="34" charset="0"/>
              <a:ea typeface="Calibri" panose="020F0502020204030204" pitchFamily="34" charset="0"/>
              <a:cs typeface="Mangal" panose="02040503050203030202" pitchFamily="18" charset="0"/>
            </a:endParaRPr>
          </a:p>
        </p:txBody>
      </p:sp>
    </p:spTree>
    <p:extLst>
      <p:ext uri="{BB962C8B-B14F-4D97-AF65-F5344CB8AC3E}">
        <p14:creationId xmlns:p14="http://schemas.microsoft.com/office/powerpoint/2010/main" val="20905669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txBox="1">
            <a:spLocks/>
          </p:cNvSpPr>
          <p:nvPr/>
        </p:nvSpPr>
        <p:spPr>
          <a:xfrm>
            <a:off x="2057400" y="304800"/>
            <a:ext cx="7772400" cy="914400"/>
          </a:xfrm>
          <a:prstGeom prst="rect">
            <a:avLst/>
          </a:prstGeom>
        </p:spPr>
        <p:txBody>
          <a:bodyPr>
            <a:noAutofit/>
          </a:bodyPr>
          <a:lstStyle/>
          <a:p>
            <a:pPr fontAlgn="base">
              <a:spcBef>
                <a:spcPct val="0"/>
              </a:spcBef>
              <a:spcAft>
                <a:spcPct val="0"/>
              </a:spcAft>
              <a:defRPr/>
            </a:pPr>
            <a:r>
              <a:rPr lang="en-IN" sz="3200" b="1" kern="0">
                <a:latin typeface="+mj-lt"/>
                <a:ea typeface="+mj-ea"/>
                <a:cs typeface="+mj-cs"/>
              </a:rPr>
              <a:t>Input V/I Characteristics of CE Configuration</a:t>
            </a:r>
            <a:endParaRPr lang="en-US" sz="3200" b="1" kern="0" dirty="0">
              <a:latin typeface="+mj-lt"/>
              <a:ea typeface="+mj-ea"/>
              <a:cs typeface="+mj-cs"/>
            </a:endParaRPr>
          </a:p>
        </p:txBody>
      </p:sp>
      <p:sp>
        <p:nvSpPr>
          <p:cNvPr id="3" name="Subtitle 6"/>
          <p:cNvSpPr txBox="1">
            <a:spLocks/>
          </p:cNvSpPr>
          <p:nvPr/>
        </p:nvSpPr>
        <p:spPr>
          <a:xfrm>
            <a:off x="1524000" y="1600200"/>
            <a:ext cx="8229600" cy="4724400"/>
          </a:xfrm>
          <a:prstGeom prst="rect">
            <a:avLst/>
          </a:prstGeom>
        </p:spPr>
        <p:txBody>
          <a:bodyPr>
            <a:normAutofit fontScale="92500" lnSpcReduction="20000"/>
          </a:bodyPr>
          <a:lstStyle/>
          <a:p>
            <a:pPr marL="342900" indent="-342900" algn="just" fontAlgn="base">
              <a:lnSpc>
                <a:spcPct val="170000"/>
              </a:lnSpc>
              <a:spcBef>
                <a:spcPct val="20000"/>
              </a:spcBef>
              <a:spcAft>
                <a:spcPct val="0"/>
              </a:spcAft>
              <a:buClr>
                <a:srgbClr val="800000"/>
              </a:buClr>
              <a:buSzPct val="90000"/>
              <a:buFont typeface="Arial" pitchFamily="34" charset="0"/>
              <a:buChar char="•"/>
              <a:defRPr/>
            </a:pPr>
            <a:r>
              <a:rPr lang="en-IN" sz="3000" kern="0"/>
              <a:t>It is graph between input current (I</a:t>
            </a:r>
            <a:r>
              <a:rPr lang="en-IN" sz="3000" kern="0" baseline="-25000"/>
              <a:t>B</a:t>
            </a:r>
            <a:r>
              <a:rPr lang="en-IN" sz="3000" kern="0"/>
              <a:t>) and input voltage (V</a:t>
            </a:r>
            <a:r>
              <a:rPr lang="en-IN" sz="3000" kern="0" baseline="-25000"/>
              <a:t>BE</a:t>
            </a:r>
            <a:r>
              <a:rPr lang="en-IN" sz="3000" kern="0"/>
              <a:t>) at constant output voltage (V­</a:t>
            </a:r>
            <a:r>
              <a:rPr lang="en-IN" sz="3000" kern="0" baseline="-25000"/>
              <a:t>CE</a:t>
            </a:r>
            <a:r>
              <a:rPr lang="en-IN" sz="3000" kern="0"/>
              <a:t>). This graph is drawn for active region of BJT. </a:t>
            </a:r>
          </a:p>
          <a:p>
            <a:pPr marL="342900" indent="-342900" algn="just" fontAlgn="base">
              <a:lnSpc>
                <a:spcPct val="170000"/>
              </a:lnSpc>
              <a:spcBef>
                <a:spcPct val="20000"/>
              </a:spcBef>
              <a:spcAft>
                <a:spcPct val="0"/>
              </a:spcAft>
              <a:buClr>
                <a:srgbClr val="800000"/>
              </a:buClr>
              <a:buSzPct val="90000"/>
              <a:buFont typeface="Arial" pitchFamily="34" charset="0"/>
              <a:buChar char="•"/>
              <a:defRPr/>
            </a:pPr>
            <a:r>
              <a:rPr lang="en-IN" sz="3000" kern="0"/>
              <a:t>By keeping constant V</a:t>
            </a:r>
            <a:r>
              <a:rPr lang="en-IN" sz="3000" kern="0" baseline="-25000"/>
              <a:t>CE</a:t>
            </a:r>
            <a:r>
              <a:rPr lang="en-IN" sz="3000" kern="0"/>
              <a:t>, when forward bias at emitter base junction is increased then graph between I</a:t>
            </a:r>
            <a:r>
              <a:rPr lang="en-IN" sz="3000" kern="0" baseline="-25000"/>
              <a:t>E</a:t>
            </a:r>
            <a:r>
              <a:rPr lang="en-IN" sz="3000" kern="0"/>
              <a:t> and V</a:t>
            </a:r>
            <a:r>
              <a:rPr lang="en-IN" sz="3000" kern="0" baseline="-25000"/>
              <a:t>BE</a:t>
            </a:r>
            <a:r>
              <a:rPr lang="en-IN" sz="3000" kern="0"/>
              <a:t> is similar to forward characteristics of pn junction diode.</a:t>
            </a:r>
          </a:p>
          <a:p>
            <a:pPr marL="342900" indent="-342900" algn="just" fontAlgn="base">
              <a:lnSpc>
                <a:spcPct val="170000"/>
              </a:lnSpc>
              <a:spcBef>
                <a:spcPct val="20000"/>
              </a:spcBef>
              <a:spcAft>
                <a:spcPct val="0"/>
              </a:spcAft>
              <a:buClr>
                <a:srgbClr val="800000"/>
              </a:buClr>
              <a:buSzPct val="90000"/>
              <a:buFont typeface="Wingdings" pitchFamily="2" charset="2"/>
              <a:buChar char="§"/>
              <a:defRPr/>
            </a:pPr>
            <a:endParaRPr lang="en-US" sz="3000" kern="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423592" y="260648"/>
            <a:ext cx="7772400" cy="1020762"/>
          </a:xfrm>
          <a:solidFill>
            <a:schemeClr val="accent1">
              <a:lumMod val="60000"/>
              <a:lumOff val="40000"/>
            </a:schemeClr>
          </a:solidFill>
        </p:spPr>
        <p:txBody>
          <a:bodyPr>
            <a:noAutofit/>
          </a:bodyPr>
          <a:lstStyle/>
          <a:p>
            <a:r>
              <a:rPr lang="en-IN" sz="3200" b="1" dirty="0">
                <a:solidFill>
                  <a:srgbClr val="FF0000"/>
                </a:solidFill>
              </a:rPr>
              <a:t>Input V/I Characteristics of CE Configuration</a:t>
            </a:r>
            <a:endParaRPr lang="en-US" sz="3200" dirty="0">
              <a:solidFill>
                <a:srgbClr val="FF0000"/>
              </a:solidFill>
            </a:endParaRPr>
          </a:p>
        </p:txBody>
      </p:sp>
      <p:pic>
        <p:nvPicPr>
          <p:cNvPr id="5" name="Picture 5"/>
          <p:cNvPicPr>
            <a:picLocks noGrp="1" noChangeAspect="1" noChangeArrowheads="1"/>
          </p:cNvPicPr>
          <p:nvPr>
            <p:ph idx="1"/>
          </p:nvPr>
        </p:nvPicPr>
        <p:blipFill>
          <a:blip r:embed="rId2"/>
          <a:srcRect/>
          <a:stretch>
            <a:fillRect/>
          </a:stretch>
        </p:blipFill>
        <p:spPr bwMode="auto">
          <a:xfrm>
            <a:off x="2743200" y="1905001"/>
            <a:ext cx="5804470" cy="3074987"/>
          </a:xfrm>
          <a:prstGeom prst="rect">
            <a:avLst/>
          </a:prstGeom>
          <a:noFill/>
          <a:ln w="9525">
            <a:noFill/>
            <a:miter lim="800000"/>
            <a:headEnd/>
            <a:tailEnd/>
          </a:ln>
          <a:effectLst/>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p:txBody>
          <a:bodyPr>
            <a:noAutofit/>
          </a:bodyPr>
          <a:lstStyle/>
          <a:p>
            <a:r>
              <a:rPr lang="en-IN" sz="3200" b="1" u="sng" dirty="0">
                <a:solidFill>
                  <a:srgbClr val="FF0000"/>
                </a:solidFill>
              </a:rPr>
              <a:t>Output V/I Characteristics of CE Configuration</a:t>
            </a:r>
            <a:endParaRPr lang="en-US" sz="3200" dirty="0">
              <a:solidFill>
                <a:srgbClr val="FF0000"/>
              </a:solidFill>
            </a:endParaRPr>
          </a:p>
        </p:txBody>
      </p:sp>
      <p:pic>
        <p:nvPicPr>
          <p:cNvPr id="5" name="Picture 2"/>
          <p:cNvPicPr>
            <a:picLocks noGrp="1" noChangeAspect="1" noChangeArrowheads="1"/>
          </p:cNvPicPr>
          <p:nvPr>
            <p:ph idx="1"/>
          </p:nvPr>
        </p:nvPicPr>
        <p:blipFill>
          <a:blip r:embed="rId2">
            <a:extLst>
              <a:ext uri="{BEBA8EAE-BF5A-486C-A8C5-ECC9F3942E4B}">
                <a14:imgProps xmlns:a14="http://schemas.microsoft.com/office/drawing/2010/main">
                  <a14:imgLayer r:embed="rId3">
                    <a14:imgEffect>
                      <a14:sharpenSoften amount="25000"/>
                    </a14:imgEffect>
                    <a14:imgEffect>
                      <a14:saturation sat="400000"/>
                    </a14:imgEffect>
                  </a14:imgLayer>
                </a14:imgProps>
              </a:ext>
            </a:extLst>
          </a:blip>
          <a:stretch>
            <a:fillRect/>
          </a:stretch>
        </p:blipFill>
        <p:spPr bwMode="auto">
          <a:xfrm>
            <a:off x="2495600" y="1556792"/>
            <a:ext cx="7429551" cy="4857784"/>
          </a:xfrm>
          <a:prstGeom prst="rect">
            <a:avLst/>
          </a:prstGeom>
          <a:noFill/>
          <a:ln w="9525">
            <a:noFill/>
            <a:miter lim="800000"/>
            <a:headEnd/>
            <a:tailEnd/>
          </a:ln>
          <a:effec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2495600" y="86412"/>
            <a:ext cx="7543800" cy="1020762"/>
          </a:xfrm>
          <a:solidFill>
            <a:schemeClr val="accent1">
              <a:lumMod val="60000"/>
              <a:lumOff val="40000"/>
            </a:schemeClr>
          </a:solidFill>
        </p:spPr>
        <p:txBody>
          <a:bodyPr>
            <a:noAutofit/>
          </a:bodyPr>
          <a:lstStyle/>
          <a:p>
            <a:r>
              <a:rPr lang="en-IN" sz="3200" b="1" u="sng" dirty="0">
                <a:solidFill>
                  <a:srgbClr val="FF0000"/>
                </a:solidFill>
              </a:rPr>
              <a:t>Output V/I Characteristics of CE Configuration</a:t>
            </a:r>
            <a:endParaRPr lang="en-US" sz="3200" dirty="0">
              <a:solidFill>
                <a:srgbClr val="FF0000"/>
              </a:solidFill>
            </a:endParaRPr>
          </a:p>
        </p:txBody>
      </p:sp>
      <p:sp>
        <p:nvSpPr>
          <p:cNvPr id="5" name="Subtitle 5"/>
          <p:cNvSpPr>
            <a:spLocks noGrp="1"/>
          </p:cNvSpPr>
          <p:nvPr>
            <p:ph idx="1"/>
          </p:nvPr>
        </p:nvSpPr>
        <p:spPr>
          <a:xfrm>
            <a:off x="1524000" y="1066800"/>
            <a:ext cx="8686800" cy="5791200"/>
          </a:xfrm>
        </p:spPr>
        <p:txBody>
          <a:bodyPr>
            <a:noAutofit/>
          </a:bodyPr>
          <a:lstStyle/>
          <a:p>
            <a:pPr algn="just">
              <a:lnSpc>
                <a:spcPct val="150000"/>
              </a:lnSpc>
            </a:pPr>
            <a:r>
              <a:rPr lang="en-US" sz="2000" b="1" dirty="0"/>
              <a:t> Active Region: </a:t>
            </a:r>
            <a:r>
              <a:rPr lang="en-IN" sz="2000" dirty="0"/>
              <a:t>For given </a:t>
            </a:r>
            <a:r>
              <a:rPr lang="el-GR" sz="2000" dirty="0"/>
              <a:t>β</a:t>
            </a:r>
            <a:r>
              <a:rPr lang="en-IN" sz="2000" dirty="0"/>
              <a:t> and I</a:t>
            </a:r>
            <a:r>
              <a:rPr lang="en-IN" sz="2000" b="1" baseline="-25000" dirty="0"/>
              <a:t>B, </a:t>
            </a:r>
            <a:r>
              <a:rPr lang="en-IN" sz="2000" dirty="0"/>
              <a:t>I</a:t>
            </a:r>
            <a:r>
              <a:rPr lang="en-IN" sz="2000" baseline="-25000" dirty="0"/>
              <a:t>C</a:t>
            </a:r>
            <a:r>
              <a:rPr lang="en-IN" sz="2000" dirty="0"/>
              <a:t> is dependent on (</a:t>
            </a:r>
            <a:r>
              <a:rPr lang="el-GR" sz="2000" dirty="0"/>
              <a:t>β </a:t>
            </a:r>
            <a:r>
              <a:rPr lang="en-IN" sz="2000" dirty="0"/>
              <a:t>+1)I</a:t>
            </a:r>
            <a:r>
              <a:rPr lang="en-IN" sz="2000" baseline="-25000" dirty="0"/>
              <a:t>0</a:t>
            </a:r>
            <a:r>
              <a:rPr lang="en-IN" sz="2000" dirty="0"/>
              <a:t> which is more dependent on V</a:t>
            </a:r>
            <a:r>
              <a:rPr lang="en-IN" sz="2000" baseline="-25000" dirty="0"/>
              <a:t>CE </a:t>
            </a:r>
            <a:r>
              <a:rPr lang="en-IN" sz="2000" dirty="0"/>
              <a:t>than in case of CB configuration. So, graph of active   region  has some slope showing change in I</a:t>
            </a:r>
            <a:r>
              <a:rPr lang="en-IN" sz="2000" baseline="-25000" dirty="0"/>
              <a:t>C</a:t>
            </a:r>
            <a:r>
              <a:rPr lang="en-IN" sz="2000" dirty="0"/>
              <a:t> on changing V</a:t>
            </a:r>
            <a:r>
              <a:rPr lang="en-IN" sz="2000" baseline="-25000" dirty="0"/>
              <a:t>CE.</a:t>
            </a:r>
          </a:p>
          <a:p>
            <a:pPr algn="just">
              <a:lnSpc>
                <a:spcPct val="150000"/>
              </a:lnSpc>
            </a:pPr>
            <a:endParaRPr lang="en-IN" sz="2000" baseline="-25000" dirty="0"/>
          </a:p>
          <a:p>
            <a:pPr lvl="0" algn="just">
              <a:lnSpc>
                <a:spcPct val="160000"/>
              </a:lnSpc>
            </a:pPr>
            <a:r>
              <a:rPr lang="en-IN" sz="2000" b="1" dirty="0"/>
              <a:t>Saturation region: </a:t>
            </a:r>
            <a:r>
              <a:rPr lang="en-IN" sz="2000" dirty="0"/>
              <a:t>When the transistor is switched from active to saturation region, a large change in collector current for very small change in collector voltage is obtained in negative direction. </a:t>
            </a:r>
          </a:p>
          <a:p>
            <a:pPr lvl="0" algn="just">
              <a:lnSpc>
                <a:spcPct val="160000"/>
              </a:lnSpc>
            </a:pPr>
            <a:endParaRPr lang="en-US" sz="2000" dirty="0"/>
          </a:p>
          <a:p>
            <a:pPr lvl="0" algn="just">
              <a:lnSpc>
                <a:spcPct val="160000"/>
              </a:lnSpc>
            </a:pPr>
            <a:r>
              <a:rPr lang="en-IN" sz="2000" b="1" dirty="0"/>
              <a:t>Cut-Off Region</a:t>
            </a:r>
            <a:r>
              <a:rPr lang="en-IN" sz="2000" dirty="0"/>
              <a:t>:  When both the junctions are reverse biased, a very small collector current is obtained which is close to horizontal axis.</a:t>
            </a:r>
            <a:endParaRPr lang="en-US" sz="2000" dirty="0"/>
          </a:p>
          <a:p>
            <a:pPr lvl="0" algn="just">
              <a:lnSpc>
                <a:spcPct val="150000"/>
              </a:lnSpc>
            </a:pPr>
            <a:endParaRPr lang="en-IN" sz="2000" b="1" dirty="0"/>
          </a:p>
          <a:p>
            <a:pPr algn="just">
              <a:lnSpc>
                <a:spcPct val="150000"/>
              </a:lnSpc>
            </a:pPr>
            <a:endParaRPr lang="en-US" sz="2000" dirty="0"/>
          </a:p>
          <a:p>
            <a:pPr algn="just">
              <a:lnSpc>
                <a:spcPct val="150000"/>
              </a:lnSpc>
            </a:pPr>
            <a:endParaRPr lang="en-US" sz="2000" dirty="0">
              <a:solidFill>
                <a:schemeClr val="accent1"/>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B668BB-4509-4759-8808-1B2E39240086}"/>
              </a:ext>
            </a:extLst>
          </p:cNvPr>
          <p:cNvSpPr txBox="1">
            <a:spLocks/>
          </p:cNvSpPr>
          <p:nvPr/>
        </p:nvSpPr>
        <p:spPr>
          <a:xfrm>
            <a:off x="2001558" y="117541"/>
            <a:ext cx="7772400" cy="745435"/>
          </a:xfrm>
          <a:prstGeom prst="rect">
            <a:avLst/>
          </a:prstGeom>
          <a:solidFill>
            <a:schemeClr val="accent1">
              <a:lumMod val="60000"/>
              <a:lumOff val="40000"/>
            </a:schemeClr>
          </a:solidFill>
        </p:spPr>
        <p:txBody>
          <a:bodyPr>
            <a:normAutofit fontScale="97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sz="3200" b="1" dirty="0"/>
              <a:t>Relation between α and β</a:t>
            </a:r>
            <a:endParaRPr lang="en-IN" sz="3200" dirty="0"/>
          </a:p>
          <a:p>
            <a:endParaRPr lang="en-IN" sz="3200" dirty="0"/>
          </a:p>
        </p:txBody>
      </p:sp>
      <mc:AlternateContent xmlns:mc="http://schemas.openxmlformats.org/markup-compatibility/2006" xmlns:a14="http://schemas.microsoft.com/office/drawing/2010/main">
        <mc:Choice Requires="a14">
          <p:sp>
            <p:nvSpPr>
              <p:cNvPr id="5" name="Rectangle 4">
                <a:extLst>
                  <a:ext uri="{FF2B5EF4-FFF2-40B4-BE49-F238E27FC236}">
                    <a16:creationId xmlns:a16="http://schemas.microsoft.com/office/drawing/2014/main" id="{012BA34A-6438-45AD-B1C9-DAA1FA4D0255}"/>
                  </a:ext>
                </a:extLst>
              </p:cNvPr>
              <p:cNvSpPr/>
              <p:nvPr/>
            </p:nvSpPr>
            <p:spPr>
              <a:xfrm>
                <a:off x="2379989" y="1013682"/>
                <a:ext cx="3296031" cy="9694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a:latin typeface="Cambria Math" panose="02040503050406030204" pitchFamily="18" charset="0"/>
                        </a:rPr>
                        <m:t>α</m:t>
                      </m:r>
                      <m:r>
                        <a:rPr lang="en-IN" sz="2800">
                          <a:latin typeface="Cambria Math" panose="02040503050406030204" pitchFamily="18" charset="0"/>
                        </a:rPr>
                        <m:t>=</m:t>
                      </m:r>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m:rPr>
                                  <m:sty m:val="p"/>
                                </m:rPr>
                                <a:rPr lang="en-IN" sz="2800">
                                  <a:latin typeface="Cambria Math" panose="02040503050406030204" pitchFamily="18" charset="0"/>
                                </a:rPr>
                                <m:t>I</m:t>
                              </m:r>
                            </m:e>
                            <m:sub>
                              <m:r>
                                <m:rPr>
                                  <m:sty m:val="p"/>
                                </m:rPr>
                                <a:rPr lang="en-IN" sz="2800">
                                  <a:latin typeface="Cambria Math" panose="02040503050406030204" pitchFamily="18" charset="0"/>
                                </a:rPr>
                                <m:t>C</m:t>
                              </m:r>
                            </m:sub>
                          </m:sSub>
                        </m:num>
                        <m:den>
                          <m:sSub>
                            <m:sSubPr>
                              <m:ctrlPr>
                                <a:rPr lang="en-IN" sz="2800" i="1">
                                  <a:latin typeface="Cambria Math" panose="02040503050406030204" pitchFamily="18" charset="0"/>
                                </a:rPr>
                              </m:ctrlPr>
                            </m:sSubPr>
                            <m:e>
                              <m:r>
                                <m:rPr>
                                  <m:sty m:val="p"/>
                                </m:rPr>
                                <a:rPr lang="en-IN" sz="2800">
                                  <a:latin typeface="Cambria Math" panose="02040503050406030204" pitchFamily="18" charset="0"/>
                                </a:rPr>
                                <m:t>I</m:t>
                              </m:r>
                            </m:e>
                            <m:sub>
                              <m:r>
                                <m:rPr>
                                  <m:sty m:val="p"/>
                                </m:rPr>
                                <a:rPr lang="en-IN" sz="2800">
                                  <a:latin typeface="Cambria Math" panose="02040503050406030204" pitchFamily="18" charset="0"/>
                                </a:rPr>
                                <m:t>E</m:t>
                              </m:r>
                            </m:sub>
                          </m:sSub>
                        </m:den>
                      </m:f>
                      <m:r>
                        <a:rPr lang="en-IN" sz="2800">
                          <a:latin typeface="Cambria Math" panose="02040503050406030204" pitchFamily="18" charset="0"/>
                        </a:rPr>
                        <m:t>   </m:t>
                      </m:r>
                      <m:r>
                        <a:rPr lang="en-IN" sz="2800" i="1">
                          <a:latin typeface="Cambria Math" panose="02040503050406030204" pitchFamily="18" charset="0"/>
                        </a:rPr>
                        <m:t>𝑎𝑛𝑑</m:t>
                      </m:r>
                      <m:r>
                        <a:rPr lang="en-IN" sz="2800">
                          <a:latin typeface="Cambria Math" panose="02040503050406030204" pitchFamily="18" charset="0"/>
                        </a:rPr>
                        <m:t> </m:t>
                      </m:r>
                      <m:r>
                        <m:rPr>
                          <m:sty m:val="p"/>
                        </m:rPr>
                        <a:rPr lang="en-IN" sz="2800">
                          <a:latin typeface="Cambria Math" panose="02040503050406030204" pitchFamily="18" charset="0"/>
                        </a:rPr>
                        <m:t>β</m:t>
                      </m:r>
                      <m:r>
                        <a:rPr lang="en-IN" sz="2800">
                          <a:latin typeface="Cambria Math" panose="02040503050406030204" pitchFamily="18" charset="0"/>
                        </a:rPr>
                        <m:t>=</m:t>
                      </m:r>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m:rPr>
                                  <m:sty m:val="p"/>
                                </m:rPr>
                                <a:rPr lang="en-IN" sz="2800">
                                  <a:latin typeface="Cambria Math" panose="02040503050406030204" pitchFamily="18" charset="0"/>
                                </a:rPr>
                                <m:t>I</m:t>
                              </m:r>
                            </m:e>
                            <m:sub>
                              <m:r>
                                <m:rPr>
                                  <m:sty m:val="p"/>
                                </m:rPr>
                                <a:rPr lang="en-IN" sz="2800">
                                  <a:latin typeface="Cambria Math" panose="02040503050406030204" pitchFamily="18" charset="0"/>
                                </a:rPr>
                                <m:t>C</m:t>
                              </m:r>
                            </m:sub>
                          </m:sSub>
                        </m:num>
                        <m:den>
                          <m:sSub>
                            <m:sSubPr>
                              <m:ctrlPr>
                                <a:rPr lang="en-IN" sz="2800" i="1">
                                  <a:latin typeface="Cambria Math" panose="02040503050406030204" pitchFamily="18" charset="0"/>
                                </a:rPr>
                              </m:ctrlPr>
                            </m:sSubPr>
                            <m:e>
                              <m:r>
                                <m:rPr>
                                  <m:sty m:val="p"/>
                                </m:rPr>
                                <a:rPr lang="en-IN" sz="2800">
                                  <a:latin typeface="Cambria Math" panose="02040503050406030204" pitchFamily="18" charset="0"/>
                                </a:rPr>
                                <m:t>I</m:t>
                              </m:r>
                            </m:e>
                            <m:sub>
                              <m:r>
                                <m:rPr>
                                  <m:sty m:val="p"/>
                                </m:rPr>
                                <a:rPr lang="en-IN" sz="2800">
                                  <a:latin typeface="Cambria Math" panose="02040503050406030204" pitchFamily="18" charset="0"/>
                                </a:rPr>
                                <m:t>B</m:t>
                              </m:r>
                            </m:sub>
                          </m:sSub>
                        </m:den>
                      </m:f>
                      <m:r>
                        <a:rPr lang="en-IN" sz="2800">
                          <a:latin typeface="Cambria Math" panose="02040503050406030204" pitchFamily="18" charset="0"/>
                        </a:rPr>
                        <m:t> </m:t>
                      </m:r>
                    </m:oMath>
                  </m:oMathPara>
                </a14:m>
                <a:endParaRPr lang="en-IN" sz="2800" dirty="0"/>
              </a:p>
            </p:txBody>
          </p:sp>
        </mc:Choice>
        <mc:Fallback xmlns="">
          <p:sp>
            <p:nvSpPr>
              <p:cNvPr id="5" name="Rectangle 4">
                <a:extLst>
                  <a:ext uri="{FF2B5EF4-FFF2-40B4-BE49-F238E27FC236}">
                    <a16:creationId xmlns:a16="http://schemas.microsoft.com/office/drawing/2014/main" id="{012BA34A-6438-45AD-B1C9-DAA1FA4D0255}"/>
                  </a:ext>
                </a:extLst>
              </p:cNvPr>
              <p:cNvSpPr>
                <a:spLocks noRot="1" noChangeAspect="1" noMove="1" noResize="1" noEditPoints="1" noAdjustHandles="1" noChangeArrowheads="1" noChangeShapeType="1" noTextEdit="1"/>
              </p:cNvSpPr>
              <p:nvPr/>
            </p:nvSpPr>
            <p:spPr>
              <a:xfrm>
                <a:off x="2379989" y="1013682"/>
                <a:ext cx="3296031" cy="969433"/>
              </a:xfrm>
              <a:prstGeom prst="rect">
                <a:avLst/>
              </a:prstGeom>
              <a:blipFill>
                <a:blip r:embed="rId2"/>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6" name="Rectangle 5">
                <a:extLst>
                  <a:ext uri="{FF2B5EF4-FFF2-40B4-BE49-F238E27FC236}">
                    <a16:creationId xmlns:a16="http://schemas.microsoft.com/office/drawing/2014/main" id="{950E4EB6-D327-4E1C-A643-2A3AE9CB1E97}"/>
                  </a:ext>
                </a:extLst>
              </p:cNvPr>
              <p:cNvSpPr/>
              <p:nvPr/>
            </p:nvSpPr>
            <p:spPr>
              <a:xfrm>
                <a:off x="3067404" y="2339873"/>
                <a:ext cx="208486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b>
                        <m:sSubPr>
                          <m:ctrlPr>
                            <a:rPr lang="en-IN" sz="2800" i="1">
                              <a:latin typeface="Cambria Math" panose="02040503050406030204" pitchFamily="18" charset="0"/>
                              <a:cs typeface="Times New Roman" panose="02020603050405020304" pitchFamily="18" charset="0"/>
                            </a:rPr>
                          </m:ctrlPr>
                        </m:sSubPr>
                        <m:e>
                          <m:r>
                            <a:rPr lang="en-IN" sz="2800" i="1">
                              <a:latin typeface="Cambria Math" panose="02040503050406030204" pitchFamily="18" charset="0"/>
                              <a:ea typeface="Calibri" panose="020F0502020204030204" pitchFamily="34" charset="0"/>
                              <a:cs typeface="Times New Roman" panose="02020603050405020304" pitchFamily="18" charset="0"/>
                            </a:rPr>
                            <m:t>𝐼</m:t>
                          </m:r>
                        </m:e>
                        <m:sub>
                          <m:r>
                            <a:rPr lang="en-IN" sz="2800" i="1">
                              <a:latin typeface="Cambria Math" panose="02040503050406030204" pitchFamily="18" charset="0"/>
                              <a:ea typeface="Calibri" panose="020F0502020204030204" pitchFamily="34" charset="0"/>
                              <a:cs typeface="Times New Roman" panose="02020603050405020304" pitchFamily="18" charset="0"/>
                            </a:rPr>
                            <m:t>𝐸</m:t>
                          </m:r>
                        </m:sub>
                      </m:sSub>
                      <m:r>
                        <a:rPr lang="en-IN" sz="2800" i="1">
                          <a:latin typeface="Cambria Math" panose="02040503050406030204" pitchFamily="18" charset="0"/>
                          <a:ea typeface="Calibri" panose="020F0502020204030204" pitchFamily="34" charset="0"/>
                          <a:cs typeface="Times New Roman" panose="02020603050405020304" pitchFamily="18" charset="0"/>
                        </a:rPr>
                        <m:t>=</m:t>
                      </m:r>
                      <m:sSub>
                        <m:sSubPr>
                          <m:ctrlPr>
                            <a:rPr lang="en-IN" sz="2800" i="1">
                              <a:latin typeface="Cambria Math" panose="02040503050406030204" pitchFamily="18" charset="0"/>
                              <a:cs typeface="Times New Roman" panose="02020603050405020304" pitchFamily="18" charset="0"/>
                            </a:rPr>
                          </m:ctrlPr>
                        </m:sSubPr>
                        <m:e>
                          <m:r>
                            <a:rPr lang="en-IN" sz="2800" i="1">
                              <a:latin typeface="Cambria Math" panose="02040503050406030204" pitchFamily="18" charset="0"/>
                              <a:ea typeface="Calibri" panose="020F0502020204030204" pitchFamily="34" charset="0"/>
                              <a:cs typeface="Times New Roman" panose="02020603050405020304" pitchFamily="18" charset="0"/>
                            </a:rPr>
                            <m:t>𝐼</m:t>
                          </m:r>
                        </m:e>
                        <m:sub>
                          <m:r>
                            <a:rPr lang="en-IN" sz="2800" i="1">
                              <a:latin typeface="Cambria Math" panose="02040503050406030204" pitchFamily="18" charset="0"/>
                              <a:ea typeface="Calibri" panose="020F0502020204030204" pitchFamily="34" charset="0"/>
                              <a:cs typeface="Times New Roman" panose="02020603050405020304" pitchFamily="18" charset="0"/>
                            </a:rPr>
                            <m:t>𝐵</m:t>
                          </m:r>
                        </m:sub>
                      </m:sSub>
                      <m:r>
                        <a:rPr lang="en-IN" sz="2800" i="1">
                          <a:latin typeface="Cambria Math" panose="02040503050406030204" pitchFamily="18" charset="0"/>
                          <a:ea typeface="Calibri" panose="020F0502020204030204" pitchFamily="34" charset="0"/>
                          <a:cs typeface="Times New Roman" panose="02020603050405020304" pitchFamily="18" charset="0"/>
                        </a:rPr>
                        <m:t>+</m:t>
                      </m:r>
                      <m:sSub>
                        <m:sSubPr>
                          <m:ctrlPr>
                            <a:rPr lang="en-IN" sz="2800" i="1">
                              <a:latin typeface="Cambria Math" panose="02040503050406030204" pitchFamily="18" charset="0"/>
                              <a:cs typeface="Times New Roman" panose="02020603050405020304" pitchFamily="18" charset="0"/>
                            </a:rPr>
                          </m:ctrlPr>
                        </m:sSubPr>
                        <m:e>
                          <m:r>
                            <a:rPr lang="en-IN" sz="2800" i="1">
                              <a:latin typeface="Cambria Math" panose="02040503050406030204" pitchFamily="18" charset="0"/>
                              <a:ea typeface="Calibri" panose="020F0502020204030204" pitchFamily="34" charset="0"/>
                              <a:cs typeface="Times New Roman" panose="02020603050405020304" pitchFamily="18" charset="0"/>
                            </a:rPr>
                            <m:t>𝐼</m:t>
                          </m:r>
                        </m:e>
                        <m:sub>
                          <m:r>
                            <a:rPr lang="en-IN" sz="2800" i="1">
                              <a:latin typeface="Cambria Math" panose="02040503050406030204" pitchFamily="18" charset="0"/>
                              <a:ea typeface="Calibri" panose="020F0502020204030204" pitchFamily="34" charset="0"/>
                              <a:cs typeface="Times New Roman" panose="02020603050405020304" pitchFamily="18" charset="0"/>
                            </a:rPr>
                            <m:t>𝐶</m:t>
                          </m:r>
                        </m:sub>
                      </m:sSub>
                    </m:oMath>
                  </m:oMathPara>
                </a14:m>
                <a:endParaRPr lang="en-IN" sz="2800" dirty="0"/>
              </a:p>
            </p:txBody>
          </p:sp>
        </mc:Choice>
        <mc:Fallback xmlns="">
          <p:sp>
            <p:nvSpPr>
              <p:cNvPr id="6" name="Rectangle 5">
                <a:extLst>
                  <a:ext uri="{FF2B5EF4-FFF2-40B4-BE49-F238E27FC236}">
                    <a16:creationId xmlns:a16="http://schemas.microsoft.com/office/drawing/2014/main" id="{950E4EB6-D327-4E1C-A643-2A3AE9CB1E97}"/>
                  </a:ext>
                </a:extLst>
              </p:cNvPr>
              <p:cNvSpPr>
                <a:spLocks noRot="1" noChangeAspect="1" noMove="1" noResize="1" noEditPoints="1" noAdjustHandles="1" noChangeArrowheads="1" noChangeShapeType="1" noTextEdit="1"/>
              </p:cNvSpPr>
              <p:nvPr/>
            </p:nvSpPr>
            <p:spPr>
              <a:xfrm>
                <a:off x="3067404" y="2339873"/>
                <a:ext cx="2084865" cy="523220"/>
              </a:xfrm>
              <a:prstGeom prst="rect">
                <a:avLst/>
              </a:prstGeom>
              <a:blipFill>
                <a:blip r:embed="rId3"/>
                <a:stretch>
                  <a:fillRect/>
                </a:stretch>
              </a:blipFill>
            </p:spPr>
            <p:txBody>
              <a:bodyPr/>
              <a:lstStyle/>
              <a:p>
                <a:r>
                  <a:rPr lang="en-IN">
                    <a:noFill/>
                  </a:rPr>
                  <a:t> </a:t>
                </a:r>
              </a:p>
            </p:txBody>
          </p:sp>
        </mc:Fallback>
      </mc:AlternateContent>
      <p:sp>
        <p:nvSpPr>
          <p:cNvPr id="7" name="Rectangle 6">
            <a:extLst>
              <a:ext uri="{FF2B5EF4-FFF2-40B4-BE49-F238E27FC236}">
                <a16:creationId xmlns:a16="http://schemas.microsoft.com/office/drawing/2014/main" id="{C9FE16B9-EA5D-40F7-9187-B94F4C2794BD}"/>
              </a:ext>
            </a:extLst>
          </p:cNvPr>
          <p:cNvSpPr/>
          <p:nvPr/>
        </p:nvSpPr>
        <p:spPr>
          <a:xfrm>
            <a:off x="2001558" y="3099573"/>
            <a:ext cx="3995966" cy="530594"/>
          </a:xfrm>
          <a:prstGeom prst="rect">
            <a:avLst/>
          </a:prstGeom>
        </p:spPr>
        <p:txBody>
          <a:bodyPr wrap="none">
            <a:spAutoFit/>
          </a:bodyPr>
          <a:lstStyle/>
          <a:p>
            <a:pPr marL="180340" algn="just">
              <a:lnSpc>
                <a:spcPct val="107000"/>
              </a:lnSpc>
              <a:spcAft>
                <a:spcPts val="800"/>
              </a:spcAft>
              <a:tabLst>
                <a:tab pos="180340" algn="l"/>
                <a:tab pos="4876800" algn="l"/>
              </a:tabLst>
            </a:pPr>
            <a:r>
              <a:rPr lang="en-IN" sz="2800" dirty="0">
                <a:latin typeface="Times New Roman" panose="02020603050405020304" pitchFamily="18" charset="0"/>
                <a:ea typeface="Calibri" panose="020F0502020204030204" pitchFamily="34" charset="0"/>
                <a:cs typeface="Mangal" panose="02040503050203030202" pitchFamily="18" charset="0"/>
              </a:rPr>
              <a:t>Dividing both sides by I</a:t>
            </a:r>
            <a:r>
              <a:rPr lang="en-IN" sz="2800" baseline="-25000" dirty="0">
                <a:latin typeface="Times New Roman" panose="02020603050405020304" pitchFamily="18" charset="0"/>
                <a:ea typeface="Calibri" panose="020F0502020204030204" pitchFamily="34" charset="0"/>
                <a:cs typeface="Mangal" panose="02040503050203030202" pitchFamily="18" charset="0"/>
              </a:rPr>
              <a:t>C</a:t>
            </a:r>
            <a:endParaRPr lang="en-IN" sz="2800" dirty="0">
              <a:latin typeface="Calibri" panose="020F0502020204030204" pitchFamily="34" charset="0"/>
              <a:ea typeface="Calibri" panose="020F0502020204030204" pitchFamily="34" charset="0"/>
              <a:cs typeface="Mangal" panose="02040503050203030202" pitchFamily="18" charset="0"/>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7330E0D-001B-4C58-8FC3-170ACF7E0305}"/>
                  </a:ext>
                </a:extLst>
              </p:cNvPr>
              <p:cNvSpPr/>
              <p:nvPr/>
            </p:nvSpPr>
            <p:spPr>
              <a:xfrm>
                <a:off x="3086640" y="3843978"/>
                <a:ext cx="2163413" cy="9722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𝐸</m:t>
                              </m:r>
                            </m:sub>
                          </m:sSub>
                        </m:num>
                        <m:den>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𝐶</m:t>
                              </m:r>
                            </m:sub>
                          </m:sSub>
                        </m:den>
                      </m:f>
                      <m:r>
                        <a:rPr lang="en-IN" sz="2800">
                          <a:latin typeface="Cambria Math" panose="02040503050406030204" pitchFamily="18" charset="0"/>
                        </a:rPr>
                        <m:t>=</m:t>
                      </m:r>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𝐵</m:t>
                              </m:r>
                            </m:sub>
                          </m:sSub>
                          <m:r>
                            <a:rPr lang="en-IN" sz="2800">
                              <a:latin typeface="Cambria Math" panose="02040503050406030204" pitchFamily="18" charset="0"/>
                            </a:rPr>
                            <m:t>+</m:t>
                          </m:r>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𝐶</m:t>
                              </m:r>
                            </m:sub>
                          </m:sSub>
                          <m:r>
                            <a:rPr lang="en-IN" sz="2800">
                              <a:latin typeface="Cambria Math" panose="02040503050406030204" pitchFamily="18" charset="0"/>
                            </a:rPr>
                            <m:t> </m:t>
                          </m:r>
                        </m:num>
                        <m:den>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𝐶</m:t>
                              </m:r>
                            </m:sub>
                          </m:sSub>
                        </m:den>
                      </m:f>
                    </m:oMath>
                  </m:oMathPara>
                </a14:m>
                <a:endParaRPr lang="en-IN" sz="2800" dirty="0"/>
              </a:p>
            </p:txBody>
          </p:sp>
        </mc:Choice>
        <mc:Fallback xmlns="">
          <p:sp>
            <p:nvSpPr>
              <p:cNvPr id="8" name="Rectangle 7">
                <a:extLst>
                  <a:ext uri="{FF2B5EF4-FFF2-40B4-BE49-F238E27FC236}">
                    <a16:creationId xmlns:a16="http://schemas.microsoft.com/office/drawing/2014/main" id="{47330E0D-001B-4C58-8FC3-170ACF7E0305}"/>
                  </a:ext>
                </a:extLst>
              </p:cNvPr>
              <p:cNvSpPr>
                <a:spLocks noRot="1" noChangeAspect="1" noMove="1" noResize="1" noEditPoints="1" noAdjustHandles="1" noChangeArrowheads="1" noChangeShapeType="1" noTextEdit="1"/>
              </p:cNvSpPr>
              <p:nvPr/>
            </p:nvSpPr>
            <p:spPr>
              <a:xfrm>
                <a:off x="3086640" y="3843978"/>
                <a:ext cx="2163413" cy="972254"/>
              </a:xfrm>
              <a:prstGeom prst="rect">
                <a:avLst/>
              </a:prstGeom>
              <a:blipFill>
                <a:blip r:embed="rId4"/>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452C6B51-9587-4C6F-A547-03F3F9ECD9ED}"/>
                  </a:ext>
                </a:extLst>
              </p:cNvPr>
              <p:cNvSpPr/>
              <p:nvPr/>
            </p:nvSpPr>
            <p:spPr>
              <a:xfrm>
                <a:off x="3176664" y="5358192"/>
                <a:ext cx="1983363" cy="972254"/>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𝐸</m:t>
                              </m:r>
                            </m:sub>
                          </m:sSub>
                        </m:num>
                        <m:den>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𝐶</m:t>
                              </m:r>
                            </m:sub>
                          </m:sSub>
                        </m:den>
                      </m:f>
                      <m:r>
                        <a:rPr lang="en-IN" sz="2800">
                          <a:latin typeface="Cambria Math" panose="02040503050406030204" pitchFamily="18" charset="0"/>
                        </a:rPr>
                        <m:t>=</m:t>
                      </m:r>
                      <m:f>
                        <m:fPr>
                          <m:ctrlPr>
                            <a:rPr lang="en-IN" sz="2800" i="1">
                              <a:latin typeface="Cambria Math" panose="02040503050406030204" pitchFamily="18" charset="0"/>
                            </a:rPr>
                          </m:ctrlPr>
                        </m:fPr>
                        <m:num>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𝐵</m:t>
                              </m:r>
                            </m:sub>
                          </m:sSub>
                        </m:num>
                        <m:den>
                          <m:sSub>
                            <m:sSubPr>
                              <m:ctrlPr>
                                <a:rPr lang="en-IN" sz="2800" i="1">
                                  <a:latin typeface="Cambria Math" panose="02040503050406030204" pitchFamily="18" charset="0"/>
                                </a:rPr>
                              </m:ctrlPr>
                            </m:sSubPr>
                            <m:e>
                              <m:r>
                                <a:rPr lang="en-IN" sz="2800" i="1">
                                  <a:latin typeface="Cambria Math" panose="02040503050406030204" pitchFamily="18" charset="0"/>
                                </a:rPr>
                                <m:t>𝐼</m:t>
                              </m:r>
                            </m:e>
                            <m:sub>
                              <m:r>
                                <a:rPr lang="en-IN" sz="2800" i="1">
                                  <a:latin typeface="Cambria Math" panose="02040503050406030204" pitchFamily="18" charset="0"/>
                                </a:rPr>
                                <m:t>𝐶</m:t>
                              </m:r>
                            </m:sub>
                          </m:sSub>
                        </m:den>
                      </m:f>
                      <m:r>
                        <a:rPr lang="en-IN" sz="2800">
                          <a:latin typeface="Cambria Math" panose="02040503050406030204" pitchFamily="18" charset="0"/>
                        </a:rPr>
                        <m:t>+1</m:t>
                      </m:r>
                    </m:oMath>
                  </m:oMathPara>
                </a14:m>
                <a:endParaRPr lang="en-IN" sz="2800" dirty="0"/>
              </a:p>
            </p:txBody>
          </p:sp>
        </mc:Choice>
        <mc:Fallback xmlns="">
          <p:sp>
            <p:nvSpPr>
              <p:cNvPr id="9" name="Rectangle 8">
                <a:extLst>
                  <a:ext uri="{FF2B5EF4-FFF2-40B4-BE49-F238E27FC236}">
                    <a16:creationId xmlns:a16="http://schemas.microsoft.com/office/drawing/2014/main" id="{452C6B51-9587-4C6F-A547-03F3F9ECD9ED}"/>
                  </a:ext>
                </a:extLst>
              </p:cNvPr>
              <p:cNvSpPr>
                <a:spLocks noRot="1" noChangeAspect="1" noMove="1" noResize="1" noEditPoints="1" noAdjustHandles="1" noChangeArrowheads="1" noChangeShapeType="1" noTextEdit="1"/>
              </p:cNvSpPr>
              <p:nvPr/>
            </p:nvSpPr>
            <p:spPr>
              <a:xfrm>
                <a:off x="3176664" y="5358192"/>
                <a:ext cx="1983363" cy="972254"/>
              </a:xfrm>
              <a:prstGeom prst="rect">
                <a:avLst/>
              </a:prstGeom>
              <a:blipFill>
                <a:blip r:embed="rId5"/>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D5D6A27D-DC26-44EC-9041-EA406154A6D2}"/>
                  </a:ext>
                </a:extLst>
              </p:cNvPr>
              <p:cNvSpPr/>
              <p:nvPr/>
            </p:nvSpPr>
            <p:spPr>
              <a:xfrm>
                <a:off x="7772401" y="1011213"/>
                <a:ext cx="1814279" cy="974369"/>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800" i="1">
                              <a:latin typeface="Cambria Math" panose="02040503050406030204" pitchFamily="18" charset="0"/>
                            </a:rPr>
                          </m:ctrlPr>
                        </m:fPr>
                        <m:num>
                          <m:r>
                            <a:rPr lang="en-IN" sz="2800">
                              <a:latin typeface="Cambria Math" panose="02040503050406030204" pitchFamily="18" charset="0"/>
                            </a:rPr>
                            <m:t>1</m:t>
                          </m:r>
                        </m:num>
                        <m:den>
                          <m:r>
                            <a:rPr lang="en-IN" sz="2800" i="1">
                              <a:latin typeface="Cambria Math" panose="02040503050406030204" pitchFamily="18" charset="0"/>
                            </a:rPr>
                            <m:t>𝛼</m:t>
                          </m:r>
                        </m:den>
                      </m:f>
                      <m:r>
                        <a:rPr lang="en-IN" sz="2800">
                          <a:latin typeface="Cambria Math" panose="02040503050406030204" pitchFamily="18" charset="0"/>
                        </a:rPr>
                        <m:t>=</m:t>
                      </m:r>
                      <m:f>
                        <m:fPr>
                          <m:ctrlPr>
                            <a:rPr lang="en-IN" sz="2800" i="1">
                              <a:latin typeface="Cambria Math" panose="02040503050406030204" pitchFamily="18" charset="0"/>
                            </a:rPr>
                          </m:ctrlPr>
                        </m:fPr>
                        <m:num>
                          <m:r>
                            <a:rPr lang="en-IN" sz="2800">
                              <a:latin typeface="Cambria Math" panose="02040503050406030204" pitchFamily="18" charset="0"/>
                            </a:rPr>
                            <m:t>1</m:t>
                          </m:r>
                        </m:num>
                        <m:den>
                          <m:r>
                            <a:rPr lang="en-IN" sz="2800" i="1">
                              <a:latin typeface="Cambria Math" panose="02040503050406030204" pitchFamily="18" charset="0"/>
                            </a:rPr>
                            <m:t>𝛽</m:t>
                          </m:r>
                        </m:den>
                      </m:f>
                      <m:r>
                        <a:rPr lang="en-IN" sz="2800">
                          <a:latin typeface="Cambria Math" panose="02040503050406030204" pitchFamily="18" charset="0"/>
                        </a:rPr>
                        <m:t>+1</m:t>
                      </m:r>
                    </m:oMath>
                  </m:oMathPara>
                </a14:m>
                <a:endParaRPr lang="en-IN" sz="2800" dirty="0"/>
              </a:p>
            </p:txBody>
          </p:sp>
        </mc:Choice>
        <mc:Fallback xmlns="">
          <p:sp>
            <p:nvSpPr>
              <p:cNvPr id="10" name="Rectangle 9">
                <a:extLst>
                  <a:ext uri="{FF2B5EF4-FFF2-40B4-BE49-F238E27FC236}">
                    <a16:creationId xmlns:a16="http://schemas.microsoft.com/office/drawing/2014/main" id="{D5D6A27D-DC26-44EC-9041-EA406154A6D2}"/>
                  </a:ext>
                </a:extLst>
              </p:cNvPr>
              <p:cNvSpPr>
                <a:spLocks noRot="1" noChangeAspect="1" noMove="1" noResize="1" noEditPoints="1" noAdjustHandles="1" noChangeArrowheads="1" noChangeShapeType="1" noTextEdit="1"/>
              </p:cNvSpPr>
              <p:nvPr/>
            </p:nvSpPr>
            <p:spPr>
              <a:xfrm>
                <a:off x="7772401" y="1011213"/>
                <a:ext cx="1814279" cy="974369"/>
              </a:xfrm>
              <a:prstGeom prst="rect">
                <a:avLst/>
              </a:prstGeom>
              <a:blipFill>
                <a:blip r:embed="rId6"/>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519A125-79C2-4B35-A7E0-41F3FB8963FC}"/>
                  </a:ext>
                </a:extLst>
              </p:cNvPr>
              <p:cNvSpPr/>
              <p:nvPr/>
            </p:nvSpPr>
            <p:spPr>
              <a:xfrm>
                <a:off x="7615508" y="2601483"/>
                <a:ext cx="1784143" cy="98437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f>
                        <m:fPr>
                          <m:ctrlPr>
                            <a:rPr lang="en-IN" sz="2800" i="1">
                              <a:latin typeface="Cambria Math" panose="02040503050406030204" pitchFamily="18" charset="0"/>
                            </a:rPr>
                          </m:ctrlPr>
                        </m:fPr>
                        <m:num>
                          <m:r>
                            <a:rPr lang="en-IN" sz="2800">
                              <a:latin typeface="Cambria Math" panose="02040503050406030204" pitchFamily="18" charset="0"/>
                            </a:rPr>
                            <m:t>1</m:t>
                          </m:r>
                        </m:num>
                        <m:den>
                          <m:r>
                            <a:rPr lang="en-IN" sz="2800" i="1">
                              <a:latin typeface="Cambria Math" panose="02040503050406030204" pitchFamily="18" charset="0"/>
                            </a:rPr>
                            <m:t>𝛼</m:t>
                          </m:r>
                        </m:den>
                      </m:f>
                      <m:r>
                        <a:rPr lang="en-IN" sz="2800">
                          <a:latin typeface="Cambria Math" panose="02040503050406030204" pitchFamily="18" charset="0"/>
                        </a:rPr>
                        <m:t>=</m:t>
                      </m:r>
                      <m:f>
                        <m:fPr>
                          <m:ctrlPr>
                            <a:rPr lang="en-IN" sz="2800" i="1">
                              <a:latin typeface="Cambria Math" panose="02040503050406030204" pitchFamily="18" charset="0"/>
                            </a:rPr>
                          </m:ctrlPr>
                        </m:fPr>
                        <m:num>
                          <m:r>
                            <a:rPr lang="en-IN" sz="2800">
                              <a:latin typeface="Cambria Math" panose="02040503050406030204" pitchFamily="18" charset="0"/>
                            </a:rPr>
                            <m:t>1+</m:t>
                          </m:r>
                          <m:r>
                            <m:rPr>
                              <m:sty m:val="p"/>
                            </m:rPr>
                            <a:rPr lang="en-IN" sz="2800">
                              <a:latin typeface="Cambria Math" panose="02040503050406030204" pitchFamily="18" charset="0"/>
                            </a:rPr>
                            <m:t>β</m:t>
                          </m:r>
                        </m:num>
                        <m:den>
                          <m:r>
                            <m:rPr>
                              <m:sty m:val="p"/>
                            </m:rPr>
                            <a:rPr lang="en-IN" sz="2800">
                              <a:latin typeface="Cambria Math" panose="02040503050406030204" pitchFamily="18" charset="0"/>
                            </a:rPr>
                            <m:t>β</m:t>
                          </m:r>
                        </m:den>
                      </m:f>
                    </m:oMath>
                  </m:oMathPara>
                </a14:m>
                <a:endParaRPr lang="en-IN" sz="2800" dirty="0"/>
              </a:p>
            </p:txBody>
          </p:sp>
        </mc:Choice>
        <mc:Fallback xmlns="">
          <p:sp>
            <p:nvSpPr>
              <p:cNvPr id="11" name="Rectangle 10">
                <a:extLst>
                  <a:ext uri="{FF2B5EF4-FFF2-40B4-BE49-F238E27FC236}">
                    <a16:creationId xmlns:a16="http://schemas.microsoft.com/office/drawing/2014/main" id="{7519A125-79C2-4B35-A7E0-41F3FB8963FC}"/>
                  </a:ext>
                </a:extLst>
              </p:cNvPr>
              <p:cNvSpPr>
                <a:spLocks noRot="1" noChangeAspect="1" noMove="1" noResize="1" noEditPoints="1" noAdjustHandles="1" noChangeArrowheads="1" noChangeShapeType="1" noTextEdit="1"/>
              </p:cNvSpPr>
              <p:nvPr/>
            </p:nvSpPr>
            <p:spPr>
              <a:xfrm>
                <a:off x="7615508" y="2601483"/>
                <a:ext cx="1784143" cy="984372"/>
              </a:xfrm>
              <a:prstGeom prst="rect">
                <a:avLst/>
              </a:prstGeom>
              <a:blipFill>
                <a:blip r:embed="rId7"/>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AAC7E88F-4EDB-452C-A039-E499A21B57E5}"/>
                  </a:ext>
                </a:extLst>
              </p:cNvPr>
              <p:cNvSpPr/>
              <p:nvPr/>
            </p:nvSpPr>
            <p:spPr>
              <a:xfrm>
                <a:off x="7693532" y="3936693"/>
                <a:ext cx="197201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a:latin typeface="Cambria Math" panose="02040503050406030204" pitchFamily="18" charset="0"/>
                        </a:rPr>
                        <m:t>α</m:t>
                      </m:r>
                      <m:r>
                        <a:rPr lang="en-IN" sz="2800">
                          <a:latin typeface="Cambria Math" panose="02040503050406030204" pitchFamily="18" charset="0"/>
                        </a:rPr>
                        <m:t>+</m:t>
                      </m:r>
                      <m:r>
                        <m:rPr>
                          <m:sty m:val="p"/>
                        </m:rPr>
                        <a:rPr lang="en-IN" sz="2800">
                          <a:latin typeface="Cambria Math" panose="02040503050406030204" pitchFamily="18" charset="0"/>
                        </a:rPr>
                        <m:t>αβ</m:t>
                      </m:r>
                      <m:r>
                        <a:rPr lang="en-IN" sz="2800">
                          <a:latin typeface="Cambria Math" panose="02040503050406030204" pitchFamily="18" charset="0"/>
                        </a:rPr>
                        <m:t>=</m:t>
                      </m:r>
                      <m:r>
                        <m:rPr>
                          <m:sty m:val="p"/>
                        </m:rPr>
                        <a:rPr lang="en-IN" sz="2800">
                          <a:latin typeface="Cambria Math" panose="02040503050406030204" pitchFamily="18" charset="0"/>
                        </a:rPr>
                        <m:t>β</m:t>
                      </m:r>
                    </m:oMath>
                  </m:oMathPara>
                </a14:m>
                <a:endParaRPr lang="en-IN" sz="2800" dirty="0"/>
              </a:p>
            </p:txBody>
          </p:sp>
        </mc:Choice>
        <mc:Fallback xmlns="">
          <p:sp>
            <p:nvSpPr>
              <p:cNvPr id="12" name="Rectangle 11">
                <a:extLst>
                  <a:ext uri="{FF2B5EF4-FFF2-40B4-BE49-F238E27FC236}">
                    <a16:creationId xmlns:a16="http://schemas.microsoft.com/office/drawing/2014/main" id="{AAC7E88F-4EDB-452C-A039-E499A21B57E5}"/>
                  </a:ext>
                </a:extLst>
              </p:cNvPr>
              <p:cNvSpPr>
                <a:spLocks noRot="1" noChangeAspect="1" noMove="1" noResize="1" noEditPoints="1" noAdjustHandles="1" noChangeArrowheads="1" noChangeShapeType="1" noTextEdit="1"/>
              </p:cNvSpPr>
              <p:nvPr/>
            </p:nvSpPr>
            <p:spPr>
              <a:xfrm>
                <a:off x="7693532" y="3936693"/>
                <a:ext cx="1972015" cy="523220"/>
              </a:xfrm>
              <a:prstGeom prst="rect">
                <a:avLst/>
              </a:prstGeom>
              <a:blipFill>
                <a:blip r:embed="rId8"/>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E6F718DE-D174-4BA2-8088-588868A9930B}"/>
                  </a:ext>
                </a:extLst>
              </p:cNvPr>
              <p:cNvSpPr/>
              <p:nvPr/>
            </p:nvSpPr>
            <p:spPr>
              <a:xfrm>
                <a:off x="7615508" y="4666911"/>
                <a:ext cx="2270045" cy="52322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m:rPr>
                          <m:sty m:val="p"/>
                        </m:rPr>
                        <a:rPr lang="en-IN" sz="2800">
                          <a:latin typeface="Cambria Math" panose="02040503050406030204" pitchFamily="18" charset="0"/>
                        </a:rPr>
                        <m:t>β</m:t>
                      </m:r>
                      <m:d>
                        <m:dPr>
                          <m:ctrlPr>
                            <a:rPr lang="en-IN" sz="2800" i="1">
                              <a:latin typeface="Cambria Math" panose="02040503050406030204" pitchFamily="18" charset="0"/>
                            </a:rPr>
                          </m:ctrlPr>
                        </m:dPr>
                        <m:e>
                          <m:r>
                            <a:rPr lang="en-IN" sz="2800">
                              <a:latin typeface="Cambria Math" panose="02040503050406030204" pitchFamily="18" charset="0"/>
                            </a:rPr>
                            <m:t>1−</m:t>
                          </m:r>
                          <m:r>
                            <m:rPr>
                              <m:sty m:val="p"/>
                            </m:rPr>
                            <a:rPr lang="en-IN" sz="2800">
                              <a:latin typeface="Cambria Math" panose="02040503050406030204" pitchFamily="18" charset="0"/>
                            </a:rPr>
                            <m:t>α</m:t>
                          </m:r>
                        </m:e>
                      </m:d>
                      <m:r>
                        <a:rPr lang="en-IN" sz="2800">
                          <a:latin typeface="Cambria Math" panose="02040503050406030204" pitchFamily="18" charset="0"/>
                        </a:rPr>
                        <m:t>=</m:t>
                      </m:r>
                      <m:r>
                        <m:rPr>
                          <m:sty m:val="p"/>
                        </m:rPr>
                        <a:rPr lang="en-IN" sz="2800">
                          <a:latin typeface="Cambria Math" panose="02040503050406030204" pitchFamily="18" charset="0"/>
                        </a:rPr>
                        <m:t>α</m:t>
                      </m:r>
                    </m:oMath>
                  </m:oMathPara>
                </a14:m>
                <a:endParaRPr lang="en-IN" sz="2800" dirty="0"/>
              </a:p>
            </p:txBody>
          </p:sp>
        </mc:Choice>
        <mc:Fallback xmlns="">
          <p:sp>
            <p:nvSpPr>
              <p:cNvPr id="13" name="Rectangle 12">
                <a:extLst>
                  <a:ext uri="{FF2B5EF4-FFF2-40B4-BE49-F238E27FC236}">
                    <a16:creationId xmlns:a16="http://schemas.microsoft.com/office/drawing/2014/main" id="{E6F718DE-D174-4BA2-8088-588868A9930B}"/>
                  </a:ext>
                </a:extLst>
              </p:cNvPr>
              <p:cNvSpPr>
                <a:spLocks noRot="1" noChangeAspect="1" noMove="1" noResize="1" noEditPoints="1" noAdjustHandles="1" noChangeArrowheads="1" noChangeShapeType="1" noTextEdit="1"/>
              </p:cNvSpPr>
              <p:nvPr/>
            </p:nvSpPr>
            <p:spPr>
              <a:xfrm>
                <a:off x="7615508" y="4666911"/>
                <a:ext cx="2270045" cy="523220"/>
              </a:xfrm>
              <a:prstGeom prst="rect">
                <a:avLst/>
              </a:prstGeom>
              <a:blipFill>
                <a:blip r:embed="rId9"/>
                <a:stretch>
                  <a:fillRect/>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2F1268EE-0161-4204-A510-1A6D50FB95EE}"/>
                  </a:ext>
                </a:extLst>
              </p:cNvPr>
              <p:cNvSpPr/>
              <p:nvPr/>
            </p:nvSpPr>
            <p:spPr>
              <a:xfrm>
                <a:off x="7673846" y="5397130"/>
                <a:ext cx="2011384" cy="1027333"/>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borderBox>
                        <m:borderBoxPr>
                          <m:ctrlPr>
                            <a:rPr lang="en-IN" sz="2800" b="1" i="1">
                              <a:latin typeface="Cambria Math" panose="02040503050406030204" pitchFamily="18" charset="0"/>
                            </a:rPr>
                          </m:ctrlPr>
                        </m:borderBoxPr>
                        <m:e>
                          <m:r>
                            <a:rPr lang="en-IN" sz="2800" b="1" i="1">
                              <a:latin typeface="Cambria Math" panose="02040503050406030204" pitchFamily="18" charset="0"/>
                            </a:rPr>
                            <m:t>𝜷</m:t>
                          </m:r>
                          <m:r>
                            <a:rPr lang="en-IN" sz="2800">
                              <a:latin typeface="Cambria Math" panose="02040503050406030204" pitchFamily="18" charset="0"/>
                            </a:rPr>
                            <m:t>=</m:t>
                          </m:r>
                          <m:f>
                            <m:fPr>
                              <m:ctrlPr>
                                <a:rPr lang="en-IN" sz="2800" i="1">
                                  <a:latin typeface="Cambria Math" panose="02040503050406030204" pitchFamily="18" charset="0"/>
                                </a:rPr>
                              </m:ctrlPr>
                            </m:fPr>
                            <m:num>
                              <m:r>
                                <a:rPr lang="en-IN" sz="2800" b="1" i="1">
                                  <a:latin typeface="Cambria Math" panose="02040503050406030204" pitchFamily="18" charset="0"/>
                                </a:rPr>
                                <m:t>𝜶</m:t>
                              </m:r>
                            </m:num>
                            <m:den>
                              <m:r>
                                <a:rPr lang="en-IN" sz="2800">
                                  <a:latin typeface="Cambria Math" panose="02040503050406030204" pitchFamily="18" charset="0"/>
                                </a:rPr>
                                <m:t>1−</m:t>
                              </m:r>
                              <m:r>
                                <a:rPr lang="en-IN" sz="2800" b="1" i="1">
                                  <a:latin typeface="Cambria Math" panose="02040503050406030204" pitchFamily="18" charset="0"/>
                                </a:rPr>
                                <m:t>𝜶</m:t>
                              </m:r>
                            </m:den>
                          </m:f>
                        </m:e>
                      </m:borderBox>
                    </m:oMath>
                  </m:oMathPara>
                </a14:m>
                <a:endParaRPr lang="en-IN" sz="2800" dirty="0"/>
              </a:p>
            </p:txBody>
          </p:sp>
        </mc:Choice>
        <mc:Fallback xmlns="">
          <p:sp>
            <p:nvSpPr>
              <p:cNvPr id="14" name="Rectangle 13">
                <a:extLst>
                  <a:ext uri="{FF2B5EF4-FFF2-40B4-BE49-F238E27FC236}">
                    <a16:creationId xmlns:a16="http://schemas.microsoft.com/office/drawing/2014/main" id="{2F1268EE-0161-4204-A510-1A6D50FB95EE}"/>
                  </a:ext>
                </a:extLst>
              </p:cNvPr>
              <p:cNvSpPr>
                <a:spLocks noRot="1" noChangeAspect="1" noMove="1" noResize="1" noEditPoints="1" noAdjustHandles="1" noChangeArrowheads="1" noChangeShapeType="1" noTextEdit="1"/>
              </p:cNvSpPr>
              <p:nvPr/>
            </p:nvSpPr>
            <p:spPr>
              <a:xfrm>
                <a:off x="7673846" y="5397130"/>
                <a:ext cx="2011384" cy="1027333"/>
              </a:xfrm>
              <a:prstGeom prst="rect">
                <a:avLst/>
              </a:prstGeom>
              <a:blipFill>
                <a:blip r:embed="rId10"/>
                <a:stretch>
                  <a:fillRect/>
                </a:stretch>
              </a:blipFill>
            </p:spPr>
            <p:txBody>
              <a:bodyPr/>
              <a:lstStyle/>
              <a:p>
                <a:r>
                  <a:rPr lang="en-IN">
                    <a:noFill/>
                  </a:rPr>
                  <a:t> </a:t>
                </a:r>
              </a:p>
            </p:txBody>
          </p:sp>
        </mc:Fallback>
      </mc:AlternateContent>
    </p:spTree>
    <p:extLst>
      <p:ext uri="{BB962C8B-B14F-4D97-AF65-F5344CB8AC3E}">
        <p14:creationId xmlns:p14="http://schemas.microsoft.com/office/powerpoint/2010/main" val="335006441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5E4B3-8004-972C-8D55-9A5C5FF2D95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D7E768A-5A3F-36D7-6745-9D1DDB1229E8}"/>
              </a:ext>
            </a:extLst>
          </p:cNvPr>
          <p:cNvSpPr txBox="1"/>
          <p:nvPr/>
        </p:nvSpPr>
        <p:spPr>
          <a:xfrm>
            <a:off x="2794093" y="348212"/>
            <a:ext cx="6097656" cy="40203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lnSpc>
                <a:spcPts val="2625"/>
              </a:lnSpc>
            </a:pPr>
            <a:r>
              <a:rPr lang="en-IN" b="1" i="0" dirty="0">
                <a:solidFill>
                  <a:srgbClr val="000000"/>
                </a:solidFill>
                <a:effectLst/>
                <a:latin typeface="Open Sans" panose="020B0606030504020204" pitchFamily="34" charset="0"/>
              </a:rPr>
              <a:t>Common Collector Configuration</a:t>
            </a:r>
            <a:endParaRPr lang="en-IN" b="1" i="0" dirty="0">
              <a:solidFill>
                <a:srgbClr val="34444C"/>
              </a:solidFill>
              <a:effectLst/>
              <a:latin typeface="Open Sans" panose="020B0606030504020204" pitchFamily="34" charset="0"/>
            </a:endParaRPr>
          </a:p>
        </p:txBody>
      </p:sp>
      <p:sp>
        <p:nvSpPr>
          <p:cNvPr id="6" name="TextBox 5">
            <a:extLst>
              <a:ext uri="{FF2B5EF4-FFF2-40B4-BE49-F238E27FC236}">
                <a16:creationId xmlns:a16="http://schemas.microsoft.com/office/drawing/2014/main" id="{4D2F2C61-961A-2ED8-26C3-A5811EF176AF}"/>
              </a:ext>
            </a:extLst>
          </p:cNvPr>
          <p:cNvSpPr txBox="1"/>
          <p:nvPr/>
        </p:nvSpPr>
        <p:spPr>
          <a:xfrm>
            <a:off x="570026" y="897510"/>
            <a:ext cx="11040533" cy="1754326"/>
          </a:xfrm>
          <a:prstGeom prst="rect">
            <a:avLst/>
          </a:prstGeom>
          <a:noFill/>
        </p:spPr>
        <p:txBody>
          <a:bodyPr wrap="square">
            <a:spAutoFit/>
          </a:bodyPr>
          <a:lstStyle/>
          <a:p>
            <a:pPr algn="just"/>
            <a:r>
              <a:rPr lang="en-US" dirty="0">
                <a:latin typeface="Times New Roman" panose="02020603050405020304" pitchFamily="18" charset="0"/>
                <a:cs typeface="Times New Roman" panose="02020603050405020304" pitchFamily="18" charset="0"/>
              </a:rPr>
              <a:t>In this configuration we use collector terminal as common for both input and output signals. This configuration is also known as emitter follower configuration because the emitter voltage follows the base voltage. This configuration is mostly used as a buffer. These configurations are widely used in impedance matching applications because of their high input impedance. In this configuration the input signal is applied between the base-collector region and the output is taken from the emitter-collector region. Here the input parameters are VBC and IB and the output parameters are VEC and IE.</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1D41284-1191-D24D-81B7-2E33D52997B1}"/>
              </a:ext>
            </a:extLst>
          </p:cNvPr>
          <p:cNvSpPr txBox="1"/>
          <p:nvPr/>
        </p:nvSpPr>
        <p:spPr>
          <a:xfrm>
            <a:off x="1051806" y="3317252"/>
            <a:ext cx="5934397" cy="1323439"/>
          </a:xfrm>
          <a:prstGeom prst="rect">
            <a:avLst/>
          </a:prstGeom>
          <a:noFill/>
        </p:spPr>
        <p:txBody>
          <a:bodyPr wrap="square">
            <a:spAutoFit/>
          </a:bodyPr>
          <a:lstStyle/>
          <a:p>
            <a:pPr algn="just"/>
            <a:r>
              <a:rPr lang="en-US" b="1" dirty="0"/>
              <a:t>ϒ </a:t>
            </a:r>
            <a:r>
              <a:rPr lang="el-GR" b="1" dirty="0"/>
              <a:t>= </a:t>
            </a:r>
            <a:r>
              <a:rPr lang="en-US" b="1" dirty="0">
                <a:solidFill>
                  <a:srgbClr val="000000"/>
                </a:solidFill>
                <a:latin typeface="Open Sans" panose="020B0606030504020204" pitchFamily="34" charset="0"/>
              </a:rPr>
              <a:t>I</a:t>
            </a:r>
            <a:r>
              <a:rPr lang="en-US" b="1" baseline="-25000" dirty="0">
                <a:solidFill>
                  <a:srgbClr val="000000"/>
                </a:solidFill>
                <a:latin typeface="Open Sans" panose="020B0606030504020204" pitchFamily="34" charset="0"/>
              </a:rPr>
              <a:t>E</a:t>
            </a:r>
            <a:r>
              <a:rPr lang="en-US" b="1" dirty="0">
                <a:solidFill>
                  <a:srgbClr val="000000"/>
                </a:solidFill>
                <a:latin typeface="Open Sans" panose="020B0606030504020204" pitchFamily="34" charset="0"/>
              </a:rPr>
              <a:t> / I</a:t>
            </a:r>
            <a:r>
              <a:rPr lang="en-US" b="1" baseline="-25000" dirty="0">
                <a:solidFill>
                  <a:srgbClr val="000000"/>
                </a:solidFill>
                <a:latin typeface="Open Sans" panose="020B0606030504020204" pitchFamily="34" charset="0"/>
              </a:rPr>
              <a:t>B </a:t>
            </a:r>
            <a:endParaRPr lang="en-IN" b="1" dirty="0"/>
          </a:p>
          <a:p>
            <a:pPr algn="just"/>
            <a:endParaRPr lang="en-US" dirty="0"/>
          </a:p>
          <a:p>
            <a:pPr algn="just"/>
            <a:endParaRPr lang="en-US" sz="2000" b="1" dirty="0"/>
          </a:p>
          <a:p>
            <a:pPr algn="just"/>
            <a:endParaRPr lang="en-IN" sz="2400" b="1" dirty="0"/>
          </a:p>
        </p:txBody>
      </p:sp>
      <p:sp>
        <p:nvSpPr>
          <p:cNvPr id="4" name="TextBox 3">
            <a:extLst>
              <a:ext uri="{FF2B5EF4-FFF2-40B4-BE49-F238E27FC236}">
                <a16:creationId xmlns:a16="http://schemas.microsoft.com/office/drawing/2014/main" id="{BD2EDC43-AB40-CF18-2822-2629169559AE}"/>
              </a:ext>
            </a:extLst>
          </p:cNvPr>
          <p:cNvSpPr txBox="1"/>
          <p:nvPr/>
        </p:nvSpPr>
        <p:spPr>
          <a:xfrm>
            <a:off x="735476" y="3968453"/>
            <a:ext cx="6097656" cy="1200329"/>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algn="just"/>
            <a:r>
              <a:rPr lang="en-US" b="0" i="0" u="none" strike="noStrike" dirty="0">
                <a:effectLst/>
                <a:latin typeface="Times New Roman" panose="02020603050405020304" pitchFamily="18" charset="0"/>
                <a:cs typeface="Times New Roman" panose="02020603050405020304" pitchFamily="18" charset="0"/>
              </a:rPr>
              <a:t>Sometimes common collector configuration is also referred to as emitter follower, voltage follower, common collector amplifier, CC amplifier, or CC configuration. This configuration is mostly used as a voltage buffer.</a:t>
            </a:r>
            <a:endParaRPr lang="en-IN" dirty="0">
              <a:latin typeface="Times New Roman" panose="02020603050405020304" pitchFamily="18" charset="0"/>
              <a:cs typeface="Times New Roman" panose="02020603050405020304" pitchFamily="18" charset="0"/>
            </a:endParaRPr>
          </a:p>
        </p:txBody>
      </p:sp>
      <p:pic>
        <p:nvPicPr>
          <p:cNvPr id="2050" name="Picture 2" descr="What is Common Collector Connection (or ...">
            <a:extLst>
              <a:ext uri="{FF2B5EF4-FFF2-40B4-BE49-F238E27FC236}">
                <a16:creationId xmlns:a16="http://schemas.microsoft.com/office/drawing/2014/main" id="{963378BC-AEBE-0B6B-EEEE-41C14630C78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b="12859"/>
          <a:stretch>
            <a:fillRect/>
          </a:stretch>
        </p:blipFill>
        <p:spPr bwMode="auto">
          <a:xfrm>
            <a:off x="7744345" y="2727818"/>
            <a:ext cx="3699137" cy="31245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6609498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8B969-0DC2-B965-54C4-AE9DBD1357B5}"/>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F20422EB-879F-B1C4-D928-C85AE08AEA73}"/>
              </a:ext>
            </a:extLst>
          </p:cNvPr>
          <p:cNvSpPr txBox="1"/>
          <p:nvPr/>
        </p:nvSpPr>
        <p:spPr>
          <a:xfrm>
            <a:off x="376733" y="1052736"/>
            <a:ext cx="11695931" cy="3139321"/>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Input Characteristics</a:t>
            </a:r>
          </a:p>
          <a:p>
            <a:pPr algn="just"/>
            <a:r>
              <a:rPr lang="en-US" dirty="0">
                <a:latin typeface="Times New Roman" panose="02020603050405020304" pitchFamily="18" charset="0"/>
                <a:cs typeface="Times New Roman" panose="02020603050405020304" pitchFamily="18" charset="0"/>
              </a:rPr>
              <a:t>The input characteristics of a common-collector configuration are obtained between inputs current I</a:t>
            </a:r>
            <a:r>
              <a:rPr lang="en-US" sz="1800" b="1" i="0" baseline="-25000" dirty="0">
                <a:solidFill>
                  <a:srgbClr val="000000"/>
                </a:solidFill>
                <a:effectLst/>
                <a:latin typeface="Times New Roman" panose="02020603050405020304" pitchFamily="18" charset="0"/>
                <a:cs typeface="Times New Roman" panose="02020603050405020304" pitchFamily="18" charset="0"/>
              </a:rPr>
              <a:t>B </a:t>
            </a:r>
            <a:r>
              <a:rPr lang="en-IN" sz="1800" b="1" i="0" baseline="-25000" dirty="0">
                <a:solidFill>
                  <a:srgbClr val="000000"/>
                </a:solidFill>
                <a:effectLst/>
              </a:rPr>
              <a:t> </a:t>
            </a:r>
            <a:r>
              <a:rPr lang="en-US" dirty="0">
                <a:latin typeface="Times New Roman" panose="02020603050405020304" pitchFamily="18" charset="0"/>
                <a:cs typeface="Times New Roman" panose="02020603050405020304" pitchFamily="18" charset="0"/>
              </a:rPr>
              <a:t>and the input voltage </a:t>
            </a:r>
            <a:r>
              <a:rPr lang="en-US" sz="1800" b="1" i="0" dirty="0">
                <a:solidFill>
                  <a:srgbClr val="000000"/>
                </a:solidFill>
                <a:effectLst/>
                <a:latin typeface="Times New Roman" panose="02020603050405020304" pitchFamily="18" charset="0"/>
                <a:cs typeface="Times New Roman" panose="02020603050405020304" pitchFamily="18" charset="0"/>
              </a:rPr>
              <a:t>V</a:t>
            </a:r>
            <a:r>
              <a:rPr lang="en-US" sz="1800" b="1" i="0" baseline="-25000" dirty="0">
                <a:solidFill>
                  <a:srgbClr val="000000"/>
                </a:solidFill>
                <a:effectLst/>
                <a:latin typeface="Times New Roman" panose="02020603050405020304" pitchFamily="18" charset="0"/>
                <a:cs typeface="Times New Roman" panose="02020603050405020304" pitchFamily="18" charset="0"/>
              </a:rPr>
              <a:t>BC</a:t>
            </a:r>
            <a:r>
              <a:rPr lang="en-US" dirty="0">
                <a:latin typeface="Times New Roman" panose="02020603050405020304" pitchFamily="18" charset="0"/>
                <a:cs typeface="Times New Roman" panose="02020603050405020304" pitchFamily="18" charset="0"/>
              </a:rPr>
              <a:t> at constant output voltage </a:t>
            </a:r>
            <a:r>
              <a:rPr lang="en-US" sz="1800" b="1" i="0" dirty="0">
                <a:solidFill>
                  <a:srgbClr val="000000"/>
                </a:solidFill>
                <a:effectLst/>
                <a:latin typeface="Times New Roman" panose="02020603050405020304" pitchFamily="18" charset="0"/>
                <a:cs typeface="Times New Roman" panose="02020603050405020304" pitchFamily="18" charset="0"/>
              </a:rPr>
              <a:t>V</a:t>
            </a:r>
            <a:r>
              <a:rPr lang="en-US" sz="1800" b="1" i="0" baseline="-25000" dirty="0">
                <a:solidFill>
                  <a:srgbClr val="000000"/>
                </a:solidFill>
                <a:effectLst/>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 Keep the output voltage </a:t>
            </a:r>
            <a:r>
              <a:rPr lang="en-US" sz="1800" b="1" i="0" dirty="0">
                <a:solidFill>
                  <a:srgbClr val="000000"/>
                </a:solidFill>
                <a:effectLst/>
                <a:latin typeface="Times New Roman" panose="02020603050405020304" pitchFamily="18" charset="0"/>
                <a:cs typeface="Times New Roman" panose="02020603050405020304" pitchFamily="18" charset="0"/>
              </a:rPr>
              <a:t>V</a:t>
            </a:r>
            <a:r>
              <a:rPr lang="en-US" sz="1800" b="1" i="0" baseline="-25000" dirty="0">
                <a:solidFill>
                  <a:srgbClr val="000000"/>
                </a:solidFill>
                <a:effectLst/>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constant at different levels and vary the input voltage </a:t>
            </a:r>
            <a:r>
              <a:rPr lang="en-US" sz="1800" b="1" i="0" dirty="0">
                <a:solidFill>
                  <a:srgbClr val="000000"/>
                </a:solidFill>
                <a:effectLst/>
                <a:latin typeface="Times New Roman" panose="02020603050405020304" pitchFamily="18" charset="0"/>
                <a:cs typeface="Times New Roman" panose="02020603050405020304" pitchFamily="18" charset="0"/>
              </a:rPr>
              <a:t>V</a:t>
            </a:r>
            <a:r>
              <a:rPr lang="en-US" sz="1800" b="1" i="0" baseline="-25000" dirty="0">
                <a:solidFill>
                  <a:srgbClr val="000000"/>
                </a:solidFill>
                <a:effectLst/>
                <a:latin typeface="Times New Roman" panose="02020603050405020304" pitchFamily="18" charset="0"/>
                <a:cs typeface="Times New Roman" panose="02020603050405020304" pitchFamily="18" charset="0"/>
              </a:rPr>
              <a:t>BC</a:t>
            </a:r>
            <a:r>
              <a:rPr lang="en-US" dirty="0">
                <a:latin typeface="Times New Roman" panose="02020603050405020304" pitchFamily="18" charset="0"/>
                <a:cs typeface="Times New Roman" panose="02020603050405020304" pitchFamily="18" charset="0"/>
              </a:rPr>
              <a:t> for different points and record the I</a:t>
            </a:r>
            <a:r>
              <a:rPr lang="en-US" sz="1800" b="1" i="0" baseline="-25000" dirty="0">
                <a:solidFill>
                  <a:srgbClr val="000000"/>
                </a:solidFill>
                <a:effectLst/>
                <a:latin typeface="Times New Roman" panose="02020603050405020304" pitchFamily="18" charset="0"/>
                <a:cs typeface="Times New Roman" panose="02020603050405020304" pitchFamily="18" charset="0"/>
              </a:rPr>
              <a:t>B</a:t>
            </a:r>
            <a:r>
              <a:rPr lang="en-US" dirty="0">
                <a:latin typeface="Times New Roman" panose="02020603050405020304" pitchFamily="18" charset="0"/>
                <a:cs typeface="Times New Roman" panose="02020603050405020304" pitchFamily="18" charset="0"/>
              </a:rPr>
              <a:t> values for each point.</a:t>
            </a:r>
          </a:p>
          <a:p>
            <a:pPr algn="just"/>
            <a:endParaRPr lang="en-US" dirty="0">
              <a:latin typeface="Times New Roman" panose="02020603050405020304" pitchFamily="18" charset="0"/>
              <a:cs typeface="Times New Roman" panose="02020603050405020304" pitchFamily="18" charset="0"/>
            </a:endParaRPr>
          </a:p>
          <a:p>
            <a:pPr algn="just"/>
            <a:r>
              <a:rPr lang="en-US" dirty="0">
                <a:latin typeface="Times New Roman" panose="02020603050405020304" pitchFamily="18" charset="0"/>
                <a:cs typeface="Times New Roman" panose="02020603050405020304" pitchFamily="18" charset="0"/>
              </a:rPr>
              <a:t>In a CC configuration, the input characteristics are obtained from the input base current and input common base voltage at a constant output emitter-collector voltage. To determine the input characteristics, the base-collector voltage is increased in equal steps while keeping the VCE at a fixed value. The corresponding increase in </a:t>
            </a:r>
            <a:r>
              <a:rPr lang="en-US" dirty="0" err="1">
                <a:latin typeface="Times New Roman" panose="02020603050405020304" pitchFamily="18" charset="0"/>
                <a:cs typeface="Times New Roman" panose="02020603050405020304" pitchFamily="18" charset="0"/>
              </a:rPr>
              <a:t>Ib</a:t>
            </a:r>
            <a:r>
              <a:rPr lang="en-US" dirty="0">
                <a:latin typeface="Times New Roman" panose="02020603050405020304" pitchFamily="18" charset="0"/>
                <a:cs typeface="Times New Roman" panose="02020603050405020304" pitchFamily="18" charset="0"/>
              </a:rPr>
              <a:t> is noted and plotted against the different values of VCE</a:t>
            </a:r>
          </a:p>
          <a:p>
            <a:pPr algn="just"/>
            <a:endParaRPr lang="en-US" dirty="0">
              <a:latin typeface="Times New Roman" panose="02020603050405020304" pitchFamily="18" charset="0"/>
              <a:cs typeface="Times New Roman" panose="02020603050405020304" pitchFamily="18" charset="0"/>
            </a:endParaRPr>
          </a:p>
          <a:p>
            <a:pPr algn="just"/>
            <a:endParaRPr lang="en-US" dirty="0">
              <a:latin typeface="Times New Roman" panose="02020603050405020304" pitchFamily="18" charset="0"/>
              <a:cs typeface="Times New Roman" panose="02020603050405020304" pitchFamily="18" charset="0"/>
            </a:endParaRPr>
          </a:p>
        </p:txBody>
      </p:sp>
      <p:sp>
        <p:nvSpPr>
          <p:cNvPr id="18" name="TextBox 17">
            <a:extLst>
              <a:ext uri="{FF2B5EF4-FFF2-40B4-BE49-F238E27FC236}">
                <a16:creationId xmlns:a16="http://schemas.microsoft.com/office/drawing/2014/main" id="{E353A409-CDFC-2F39-ED7E-24EA12A4075B}"/>
              </a:ext>
            </a:extLst>
          </p:cNvPr>
          <p:cNvSpPr txBox="1"/>
          <p:nvPr/>
        </p:nvSpPr>
        <p:spPr>
          <a:xfrm>
            <a:off x="1230114" y="4509120"/>
            <a:ext cx="5568539" cy="1015663"/>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sz="2000" b="1" dirty="0">
                <a:solidFill>
                  <a:srgbClr val="000000"/>
                </a:solidFill>
                <a:latin typeface="Times New Roman" panose="02020603050405020304" pitchFamily="18" charset="0"/>
                <a:cs typeface="Times New Roman" panose="02020603050405020304" pitchFamily="18" charset="0"/>
              </a:rPr>
              <a:t>I</a:t>
            </a:r>
            <a:r>
              <a:rPr lang="en-US" sz="2000" b="1" i="0" dirty="0">
                <a:solidFill>
                  <a:srgbClr val="000000"/>
                </a:solidFill>
                <a:effectLst/>
                <a:latin typeface="Times New Roman" panose="02020603050405020304" pitchFamily="18" charset="0"/>
                <a:cs typeface="Times New Roman" panose="02020603050405020304" pitchFamily="18" charset="0"/>
              </a:rPr>
              <a:t>nput parameters are V</a:t>
            </a:r>
            <a:r>
              <a:rPr lang="en-US" sz="2000" b="1" i="0" baseline="-25000" dirty="0">
                <a:solidFill>
                  <a:srgbClr val="000000"/>
                </a:solidFill>
                <a:effectLst/>
                <a:latin typeface="Times New Roman" panose="02020603050405020304" pitchFamily="18" charset="0"/>
                <a:cs typeface="Times New Roman" panose="02020603050405020304" pitchFamily="18" charset="0"/>
              </a:rPr>
              <a:t>BC</a:t>
            </a:r>
            <a:r>
              <a:rPr lang="en-US" sz="2000" b="1" i="0" dirty="0">
                <a:solidFill>
                  <a:srgbClr val="000000"/>
                </a:solidFill>
                <a:effectLst/>
                <a:latin typeface="Times New Roman" panose="02020603050405020304" pitchFamily="18" charset="0"/>
                <a:cs typeface="Times New Roman" panose="02020603050405020304" pitchFamily="18" charset="0"/>
              </a:rPr>
              <a:t> and I</a:t>
            </a:r>
            <a:r>
              <a:rPr lang="en-US" sz="2000" b="1" baseline="-25000" dirty="0">
                <a:solidFill>
                  <a:srgbClr val="000000"/>
                </a:solidFill>
                <a:latin typeface="Times New Roman" panose="02020603050405020304" pitchFamily="18" charset="0"/>
                <a:cs typeface="Times New Roman" panose="02020603050405020304" pitchFamily="18" charset="0"/>
              </a:rPr>
              <a:t>B</a:t>
            </a:r>
            <a:r>
              <a:rPr lang="en-US" sz="2000" b="1" i="0" dirty="0">
                <a:solidFill>
                  <a:srgbClr val="000000"/>
                </a:solidFill>
                <a:effectLst/>
                <a:latin typeface="Times New Roman" panose="02020603050405020304" pitchFamily="18" charset="0"/>
                <a:cs typeface="Times New Roman" panose="02020603050405020304" pitchFamily="18" charset="0"/>
              </a:rPr>
              <a:t> and the output parameters are V</a:t>
            </a:r>
            <a:r>
              <a:rPr lang="en-US" sz="2000" b="1" i="0" baseline="-25000" dirty="0">
                <a:solidFill>
                  <a:srgbClr val="000000"/>
                </a:solidFill>
                <a:effectLst/>
                <a:latin typeface="Times New Roman" panose="02020603050405020304" pitchFamily="18" charset="0"/>
                <a:cs typeface="Times New Roman" panose="02020603050405020304" pitchFamily="18" charset="0"/>
              </a:rPr>
              <a:t>CE</a:t>
            </a:r>
            <a:r>
              <a:rPr lang="en-US" sz="2000" b="1" i="0" dirty="0">
                <a:solidFill>
                  <a:srgbClr val="000000"/>
                </a:solidFill>
                <a:effectLst/>
                <a:latin typeface="Times New Roman" panose="02020603050405020304" pitchFamily="18" charset="0"/>
                <a:cs typeface="Times New Roman" panose="02020603050405020304" pitchFamily="18" charset="0"/>
              </a:rPr>
              <a:t> and I</a:t>
            </a:r>
            <a:r>
              <a:rPr lang="en-US" sz="2000" b="1" baseline="-25000" dirty="0">
                <a:solidFill>
                  <a:srgbClr val="000000"/>
                </a:solidFill>
                <a:latin typeface="Times New Roman" panose="02020603050405020304" pitchFamily="18" charset="0"/>
                <a:cs typeface="Times New Roman" panose="02020603050405020304" pitchFamily="18" charset="0"/>
              </a:rPr>
              <a:t>E</a:t>
            </a:r>
            <a:r>
              <a:rPr lang="en-US" sz="2000" b="1" i="0" dirty="0">
                <a:solidFill>
                  <a:srgbClr val="000000"/>
                </a:solidFill>
                <a:effectLst/>
                <a:latin typeface="Times New Roman" panose="02020603050405020304" pitchFamily="18" charset="0"/>
                <a:cs typeface="Times New Roman" panose="02020603050405020304" pitchFamily="18" charset="0"/>
              </a:rPr>
              <a:t>. Normally used for impedance matching or buffer</a:t>
            </a:r>
          </a:p>
        </p:txBody>
      </p:sp>
      <p:pic>
        <p:nvPicPr>
          <p:cNvPr id="4" name="Picture 3">
            <a:extLst>
              <a:ext uri="{FF2B5EF4-FFF2-40B4-BE49-F238E27FC236}">
                <a16:creationId xmlns:a16="http://schemas.microsoft.com/office/drawing/2014/main" id="{92F879F2-038E-EEDB-4C67-784332C1B6A1}"/>
              </a:ext>
            </a:extLst>
          </p:cNvPr>
          <p:cNvPicPr>
            <a:picLocks noChangeAspect="1"/>
          </p:cNvPicPr>
          <p:nvPr/>
        </p:nvPicPr>
        <p:blipFill>
          <a:blip r:embed="rId2"/>
          <a:stretch>
            <a:fillRect/>
          </a:stretch>
        </p:blipFill>
        <p:spPr>
          <a:xfrm>
            <a:off x="7176120" y="3510105"/>
            <a:ext cx="4282871" cy="3013691"/>
          </a:xfrm>
          <a:prstGeom prst="rect">
            <a:avLst/>
          </a:prstGeom>
        </p:spPr>
      </p:pic>
    </p:spTree>
    <p:extLst>
      <p:ext uri="{BB962C8B-B14F-4D97-AF65-F5344CB8AC3E}">
        <p14:creationId xmlns:p14="http://schemas.microsoft.com/office/powerpoint/2010/main" val="104740296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39B99E-CDE7-5EAE-A5B0-1890B497856E}"/>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D6C5A3FD-68CC-A304-D0DC-64F0D6CE6E40}"/>
              </a:ext>
            </a:extLst>
          </p:cNvPr>
          <p:cNvSpPr txBox="1"/>
          <p:nvPr/>
        </p:nvSpPr>
        <p:spPr>
          <a:xfrm>
            <a:off x="264690" y="980728"/>
            <a:ext cx="11591949" cy="1800200"/>
          </a:xfrm>
          <a:prstGeom prst="rect">
            <a:avLst/>
          </a:prstGeom>
          <a:noFill/>
        </p:spPr>
        <p:txBody>
          <a:bodyPr wrap="square">
            <a:spAutoFit/>
          </a:bodyPr>
          <a:lstStyle/>
          <a:p>
            <a:pPr algn="just"/>
            <a:r>
              <a:rPr lang="en-US" b="1" dirty="0">
                <a:latin typeface="Times New Roman" panose="02020603050405020304" pitchFamily="18" charset="0"/>
                <a:cs typeface="Times New Roman" panose="02020603050405020304" pitchFamily="18" charset="0"/>
              </a:rPr>
              <a:t>Output Characteristics</a:t>
            </a:r>
          </a:p>
          <a:p>
            <a:pPr algn="just"/>
            <a:r>
              <a:rPr lang="en-US" dirty="0">
                <a:latin typeface="Times New Roman" panose="02020603050405020304" pitchFamily="18" charset="0"/>
                <a:cs typeface="Times New Roman" panose="02020603050405020304" pitchFamily="18" charset="0"/>
              </a:rPr>
              <a:t>The operation of the common collector circuit is same as that of common emitter circuit. The output characteristics of a common collector circuit are obtained between the output voltage </a:t>
            </a:r>
            <a:r>
              <a:rPr lang="en-US" sz="1800" b="1" i="0" dirty="0">
                <a:solidFill>
                  <a:srgbClr val="000000"/>
                </a:solidFill>
                <a:effectLst/>
                <a:latin typeface="Times New Roman" panose="02020603050405020304" pitchFamily="18" charset="0"/>
                <a:cs typeface="Times New Roman" panose="02020603050405020304" pitchFamily="18" charset="0"/>
              </a:rPr>
              <a:t>V</a:t>
            </a:r>
            <a:r>
              <a:rPr lang="en-US" sz="1800" b="1" i="0" baseline="-25000" dirty="0">
                <a:solidFill>
                  <a:srgbClr val="000000"/>
                </a:solidFill>
                <a:effectLst/>
                <a:latin typeface="Times New Roman" panose="02020603050405020304" pitchFamily="18" charset="0"/>
                <a:cs typeface="Times New Roman" panose="02020603050405020304" pitchFamily="18" charset="0"/>
              </a:rPr>
              <a:t>CE</a:t>
            </a:r>
            <a:r>
              <a:rPr lang="en-US" dirty="0">
                <a:latin typeface="Times New Roman" panose="02020603050405020304" pitchFamily="18" charset="0"/>
                <a:cs typeface="Times New Roman" panose="02020603050405020304" pitchFamily="18" charset="0"/>
              </a:rPr>
              <a:t> and output current I</a:t>
            </a:r>
            <a:r>
              <a:rPr lang="en-US" sz="1800" b="1" i="0" baseline="-25000" dirty="0">
                <a:solidFill>
                  <a:srgbClr val="000000"/>
                </a:solidFill>
                <a:effectLst/>
                <a:latin typeface="Times New Roman" panose="02020603050405020304" pitchFamily="18" charset="0"/>
                <a:cs typeface="Times New Roman" panose="02020603050405020304" pitchFamily="18" charset="0"/>
              </a:rPr>
              <a:t>E</a:t>
            </a:r>
            <a:r>
              <a:rPr lang="en-US" dirty="0">
                <a:latin typeface="Times New Roman" panose="02020603050405020304" pitchFamily="18" charset="0"/>
                <a:cs typeface="Times New Roman" panose="02020603050405020304" pitchFamily="18" charset="0"/>
              </a:rPr>
              <a:t> at constant input current IB. In the operation of common collector circuit if the base current is zero then the emitter current also becomes zero. As a result, no current flows through the transistor</a:t>
            </a:r>
          </a:p>
          <a:p>
            <a:pPr algn="just"/>
            <a:endParaRPr lang="en-IN"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DBE6ABDB-9AE7-085D-E9EB-751929D53CF6}"/>
              </a:ext>
            </a:extLst>
          </p:cNvPr>
          <p:cNvPicPr>
            <a:picLocks noChangeAspect="1"/>
          </p:cNvPicPr>
          <p:nvPr/>
        </p:nvPicPr>
        <p:blipFill>
          <a:blip r:embed="rId2"/>
          <a:srcRect l="9007" t="307" r="5929" b="2993"/>
          <a:stretch>
            <a:fillRect/>
          </a:stretch>
        </p:blipFill>
        <p:spPr>
          <a:xfrm>
            <a:off x="5159896" y="2204864"/>
            <a:ext cx="5400600" cy="4153888"/>
          </a:xfrm>
          <a:prstGeom prst="rect">
            <a:avLst/>
          </a:prstGeom>
        </p:spPr>
      </p:pic>
    </p:spTree>
    <p:extLst>
      <p:ext uri="{BB962C8B-B14F-4D97-AF65-F5344CB8AC3E}">
        <p14:creationId xmlns:p14="http://schemas.microsoft.com/office/powerpoint/2010/main" val="150463385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1ACA1-761D-4F4D-9BAA-6068FE96C566}"/>
              </a:ext>
            </a:extLst>
          </p:cNvPr>
          <p:cNvSpPr txBox="1">
            <a:spLocks/>
          </p:cNvSpPr>
          <p:nvPr/>
        </p:nvSpPr>
        <p:spPr>
          <a:xfrm>
            <a:off x="2495600" y="116632"/>
            <a:ext cx="7772399" cy="669303"/>
          </a:xfrm>
          <a:prstGeom prst="rect">
            <a:avLst/>
          </a:prstGeom>
          <a:solidFill>
            <a:schemeClr val="accent1">
              <a:lumMod val="60000"/>
              <a:lumOff val="40000"/>
            </a:schemeClr>
          </a:solidFill>
        </p:spPr>
        <p:txBody>
          <a:bodyP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IN" b="1" dirty="0"/>
              <a:t>Comparison of Transistor Configuration or Connections</a:t>
            </a:r>
            <a:endParaRPr lang="en-IN" dirty="0"/>
          </a:p>
        </p:txBody>
      </p:sp>
      <p:pic>
        <p:nvPicPr>
          <p:cNvPr id="3" name="Picture 2">
            <a:extLst>
              <a:ext uri="{FF2B5EF4-FFF2-40B4-BE49-F238E27FC236}">
                <a16:creationId xmlns:a16="http://schemas.microsoft.com/office/drawing/2014/main" id="{FDCCCBDA-6FFB-4EEC-9E72-30C15F149CED}"/>
              </a:ext>
            </a:extLst>
          </p:cNvPr>
          <p:cNvPicPr>
            <a:picLocks noChangeAspect="1"/>
          </p:cNvPicPr>
          <p:nvPr/>
        </p:nvPicPr>
        <p:blipFill>
          <a:blip r:embed="rId2"/>
          <a:stretch>
            <a:fillRect/>
          </a:stretch>
        </p:blipFill>
        <p:spPr>
          <a:xfrm>
            <a:off x="1648513" y="914400"/>
            <a:ext cx="8894977" cy="4876801"/>
          </a:xfrm>
          <a:prstGeom prst="rect">
            <a:avLst/>
          </a:prstGeom>
        </p:spPr>
      </p:pic>
    </p:spTree>
    <p:extLst>
      <p:ext uri="{BB962C8B-B14F-4D97-AF65-F5344CB8AC3E}">
        <p14:creationId xmlns:p14="http://schemas.microsoft.com/office/powerpoint/2010/main" val="702506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4076398-6B15-6B82-DF44-ADBFDCD0C152}"/>
              </a:ext>
            </a:extLst>
          </p:cNvPr>
          <p:cNvSpPr txBox="1"/>
          <p:nvPr/>
        </p:nvSpPr>
        <p:spPr>
          <a:xfrm>
            <a:off x="819744" y="980728"/>
            <a:ext cx="10913164" cy="2246769"/>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a:r>
              <a:rPr lang="en-US" sz="2000" b="1" dirty="0"/>
              <a:t>Common emitter (CE): Has both voltage and current gain, and is commonly used for amplification.</a:t>
            </a:r>
          </a:p>
          <a:p>
            <a:pPr algn="just"/>
            <a:endParaRPr lang="en-US" sz="2000" b="1" dirty="0"/>
          </a:p>
          <a:p>
            <a:pPr algn="just"/>
            <a:r>
              <a:rPr lang="en-US" sz="2000" b="1" dirty="0"/>
              <a:t>Common base (CB): Has voltage gain but no current gain, and is suitable for impedance matching and RF amplifier circuits.</a:t>
            </a:r>
          </a:p>
          <a:p>
            <a:pPr algn="just"/>
            <a:endParaRPr lang="en-US" sz="2000" b="1" dirty="0"/>
          </a:p>
          <a:p>
            <a:pPr algn="just"/>
            <a:r>
              <a:rPr lang="en-US" sz="2000" b="1" dirty="0"/>
              <a:t>Common collector (CC): Has current gain but no voltage gain, and is commonly used for impedance buffering and voltage amplification.</a:t>
            </a:r>
            <a:endParaRPr lang="en-IN" sz="2000" b="1" dirty="0"/>
          </a:p>
        </p:txBody>
      </p:sp>
      <p:sp>
        <p:nvSpPr>
          <p:cNvPr id="3" name="TextBox 2">
            <a:extLst>
              <a:ext uri="{FF2B5EF4-FFF2-40B4-BE49-F238E27FC236}">
                <a16:creationId xmlns:a16="http://schemas.microsoft.com/office/drawing/2014/main" id="{4B1CB0E4-3421-D697-7331-33E1D2B0B5AC}"/>
              </a:ext>
            </a:extLst>
          </p:cNvPr>
          <p:cNvSpPr txBox="1"/>
          <p:nvPr/>
        </p:nvSpPr>
        <p:spPr>
          <a:xfrm>
            <a:off x="844827" y="3557240"/>
            <a:ext cx="10913164" cy="2734082"/>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pPr algn="just" fontAlgn="ctr">
              <a:spcAft>
                <a:spcPts val="1500"/>
              </a:spcAft>
            </a:pPr>
            <a:r>
              <a:rPr lang="en-US" sz="2000" b="1" i="0" dirty="0">
                <a:effectLst/>
                <a:latin typeface="Google Sans"/>
              </a:rPr>
              <a:t>WHY IS BJT CALLED CURRENT CONTROLLED DEVICE?</a:t>
            </a:r>
          </a:p>
          <a:p>
            <a:pPr algn="just" fontAlgn="ctr">
              <a:spcAft>
                <a:spcPts val="1500"/>
              </a:spcAft>
            </a:pPr>
            <a:r>
              <a:rPr lang="en-US" sz="2000" i="0" dirty="0">
                <a:effectLst/>
                <a:latin typeface="Google Sans"/>
              </a:rPr>
              <a:t>A bipolar junction transistor (BJT) is called a current-controlled device because the output current of a BJT is dependent on the input current. The base current controls the collector current, and the output characteristics of a BJT are dependent on the base current. </a:t>
            </a:r>
          </a:p>
          <a:p>
            <a:pPr algn="just" fontAlgn="ctr">
              <a:spcBef>
                <a:spcPts val="750"/>
              </a:spcBef>
              <a:spcAft>
                <a:spcPts val="1500"/>
              </a:spcAft>
            </a:pPr>
            <a:r>
              <a:rPr lang="en-US" sz="2000" i="0" dirty="0">
                <a:effectLst/>
                <a:latin typeface="Google Sans"/>
              </a:rPr>
              <a:t>A device is considered current-controlled if it turns on and off based on the current flowing through it. A BJT is a bipolar device, meaning that it conducts current through both majority and minority electrons and holes</a:t>
            </a:r>
            <a:r>
              <a:rPr lang="en-US" sz="2000" dirty="0">
                <a:latin typeface="Google Sans"/>
              </a:rPr>
              <a:t>.</a:t>
            </a:r>
          </a:p>
        </p:txBody>
      </p:sp>
    </p:spTree>
    <p:extLst>
      <p:ext uri="{BB962C8B-B14F-4D97-AF65-F5344CB8AC3E}">
        <p14:creationId xmlns:p14="http://schemas.microsoft.com/office/powerpoint/2010/main" val="10007037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992D7EF-7C40-33BA-689E-2F04460FAEAD}"/>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6A6E2B4A-1D4A-16F5-06C3-C918A61FB9C8}"/>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C719E366-9040-678E-5329-2C85184F01DD}"/>
              </a:ext>
            </a:extLst>
          </p:cNvPr>
          <p:cNvSpPr>
            <a:spLocks noGrp="1"/>
          </p:cNvSpPr>
          <p:nvPr>
            <p:ph type="sldNum" sz="quarter" idx="12"/>
          </p:nvPr>
        </p:nvSpPr>
        <p:spPr/>
        <p:txBody>
          <a:bodyPr/>
          <a:lstStyle/>
          <a:p>
            <a:fld id="{BC2E8B6D-A843-4976-BA70-A811246CC566}" type="slidenum">
              <a:rPr lang="en-IN" smtClean="0"/>
              <a:pPr/>
              <a:t>35</a:t>
            </a:fld>
            <a:endParaRPr lang="en-IN"/>
          </a:p>
        </p:txBody>
      </p:sp>
      <p:sp>
        <p:nvSpPr>
          <p:cNvPr id="5" name="Rectangle 4">
            <a:extLst>
              <a:ext uri="{FF2B5EF4-FFF2-40B4-BE49-F238E27FC236}">
                <a16:creationId xmlns:a16="http://schemas.microsoft.com/office/drawing/2014/main" id="{5EC567B1-390A-CF41-3FF5-2FA82A667036}"/>
              </a:ext>
            </a:extLst>
          </p:cNvPr>
          <p:cNvSpPr/>
          <p:nvPr/>
        </p:nvSpPr>
        <p:spPr>
          <a:xfrm>
            <a:off x="365894" y="836712"/>
            <a:ext cx="11460211" cy="8186737"/>
          </a:xfrm>
          <a:prstGeom prst="rect">
            <a:avLst/>
          </a:prstGeom>
        </p:spPr>
        <p:txBody>
          <a:bodyPr lIns="0" tIns="0" rIns="0" bIns="0"/>
          <a:lstStyle/>
          <a:p>
            <a:pPr eaLnBrk="1" hangingPunct="1">
              <a:lnSpc>
                <a:spcPts val="2900"/>
              </a:lnSpc>
            </a:pPr>
            <a:r>
              <a:rPr lang="en-US" dirty="0">
                <a:latin typeface="Times New Roman" pitchFamily="18" charset="0"/>
              </a:rPr>
              <a:t>The major application for a BJT is a switching application. When used as an electronic switch, a BJT is normally operated alternately in cutoff and saturation. </a:t>
            </a:r>
          </a:p>
        </p:txBody>
      </p:sp>
      <p:sp>
        <p:nvSpPr>
          <p:cNvPr id="7" name="TextBox 6">
            <a:extLst>
              <a:ext uri="{FF2B5EF4-FFF2-40B4-BE49-F238E27FC236}">
                <a16:creationId xmlns:a16="http://schemas.microsoft.com/office/drawing/2014/main" id="{203FAE33-5967-2011-0795-05D11BE4D660}"/>
              </a:ext>
            </a:extLst>
          </p:cNvPr>
          <p:cNvSpPr txBox="1"/>
          <p:nvPr/>
        </p:nvSpPr>
        <p:spPr>
          <a:xfrm>
            <a:off x="2783632" y="231031"/>
            <a:ext cx="6094428" cy="461665"/>
          </a:xfrm>
          <a:prstGeom prst="rect">
            <a:avLst/>
          </a:prstGeom>
          <a:noFill/>
        </p:spPr>
        <p:txBody>
          <a:bodyPr wrap="square">
            <a:spAutoFit/>
          </a:bodyPr>
          <a:lstStyle/>
          <a:p>
            <a:pPr algn="ctr" eaLnBrk="1" hangingPunct="1">
              <a:spcAft>
                <a:spcPts val="1475"/>
              </a:spcAft>
            </a:pPr>
            <a:r>
              <a:rPr lang="en-US" sz="2400" b="1" u="sng" dirty="0">
                <a:latin typeface="Times New Roman" pitchFamily="18" charset="0"/>
              </a:rPr>
              <a:t>The BJT as a Switch</a:t>
            </a:r>
          </a:p>
        </p:txBody>
      </p:sp>
      <p:sp>
        <p:nvSpPr>
          <p:cNvPr id="10" name="TextBox 9">
            <a:extLst>
              <a:ext uri="{FF2B5EF4-FFF2-40B4-BE49-F238E27FC236}">
                <a16:creationId xmlns:a16="http://schemas.microsoft.com/office/drawing/2014/main" id="{F977B559-6B9B-272D-7236-68D8783E4491}"/>
              </a:ext>
            </a:extLst>
          </p:cNvPr>
          <p:cNvSpPr txBox="1"/>
          <p:nvPr/>
        </p:nvSpPr>
        <p:spPr>
          <a:xfrm>
            <a:off x="287524" y="1601969"/>
            <a:ext cx="11294876" cy="797270"/>
          </a:xfrm>
          <a:prstGeom prst="rect">
            <a:avLst/>
          </a:prstGeom>
          <a:noFill/>
        </p:spPr>
        <p:txBody>
          <a:bodyPr wrap="square">
            <a:spAutoFit/>
          </a:bodyPr>
          <a:lstStyle/>
          <a:p>
            <a:pPr eaLnBrk="1" hangingPunct="1">
              <a:lnSpc>
                <a:spcPts val="2900"/>
              </a:lnSpc>
            </a:pPr>
            <a:r>
              <a:rPr lang="en-US" dirty="0">
                <a:latin typeface="Times New Roman" pitchFamily="18" charset="0"/>
              </a:rPr>
              <a:t>Many digital circuits use the BJT as a switch, where 0 V means logic 0 (cutoff = open CCT. ) and +5 V means logic 1 (saturation = short CCT.).</a:t>
            </a:r>
          </a:p>
        </p:txBody>
      </p:sp>
      <p:pic>
        <p:nvPicPr>
          <p:cNvPr id="11" name="Picture 1">
            <a:extLst>
              <a:ext uri="{FF2B5EF4-FFF2-40B4-BE49-F238E27FC236}">
                <a16:creationId xmlns:a16="http://schemas.microsoft.com/office/drawing/2014/main" id="{AD475239-8A88-214C-96F5-4640F97543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631504" y="2735224"/>
            <a:ext cx="9096770" cy="36724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5111082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417B4B8-1DAF-AFDA-37A6-C9720C0EA0BD}"/>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36ADFF76-7F3F-CB8D-FE56-2C2AB8DA07B6}"/>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3978C4FA-D3BE-B463-5FD1-C57C07F2D48A}"/>
              </a:ext>
            </a:extLst>
          </p:cNvPr>
          <p:cNvSpPr>
            <a:spLocks noGrp="1"/>
          </p:cNvSpPr>
          <p:nvPr>
            <p:ph type="sldNum" sz="quarter" idx="12"/>
          </p:nvPr>
        </p:nvSpPr>
        <p:spPr/>
        <p:txBody>
          <a:bodyPr/>
          <a:lstStyle/>
          <a:p>
            <a:fld id="{BC2E8B6D-A843-4976-BA70-A811246CC566}" type="slidenum">
              <a:rPr lang="en-IN" smtClean="0"/>
              <a:pPr/>
              <a:t>36</a:t>
            </a:fld>
            <a:endParaRPr lang="en-IN"/>
          </a:p>
        </p:txBody>
      </p:sp>
      <p:pic>
        <p:nvPicPr>
          <p:cNvPr id="6" name="Picture 5">
            <a:extLst>
              <a:ext uri="{FF2B5EF4-FFF2-40B4-BE49-F238E27FC236}">
                <a16:creationId xmlns:a16="http://schemas.microsoft.com/office/drawing/2014/main" id="{188D3930-1624-96BF-CBF8-3D467C41D5DA}"/>
              </a:ext>
            </a:extLst>
          </p:cNvPr>
          <p:cNvPicPr>
            <a:picLocks noChangeAspect="1"/>
          </p:cNvPicPr>
          <p:nvPr/>
        </p:nvPicPr>
        <p:blipFill>
          <a:blip r:embed="rId2"/>
          <a:stretch>
            <a:fillRect/>
          </a:stretch>
        </p:blipFill>
        <p:spPr>
          <a:xfrm>
            <a:off x="2286000" y="1524000"/>
            <a:ext cx="7620000" cy="3810000"/>
          </a:xfrm>
          <a:prstGeom prst="rect">
            <a:avLst/>
          </a:prstGeom>
        </p:spPr>
      </p:pic>
    </p:spTree>
    <p:extLst>
      <p:ext uri="{BB962C8B-B14F-4D97-AF65-F5344CB8AC3E}">
        <p14:creationId xmlns:p14="http://schemas.microsoft.com/office/powerpoint/2010/main" val="28554803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3E769BB-50BB-947A-3997-3C6509A74A12}"/>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C4F94AC2-2372-ADC9-B522-830C5892FFA1}"/>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AE5F68D1-A7C2-9086-2461-622E0DA24741}"/>
              </a:ext>
            </a:extLst>
          </p:cNvPr>
          <p:cNvSpPr>
            <a:spLocks noGrp="1"/>
          </p:cNvSpPr>
          <p:nvPr>
            <p:ph type="sldNum" sz="quarter" idx="12"/>
          </p:nvPr>
        </p:nvSpPr>
        <p:spPr/>
        <p:txBody>
          <a:bodyPr/>
          <a:lstStyle/>
          <a:p>
            <a:fld id="{BC2E8B6D-A843-4976-BA70-A811246CC566}" type="slidenum">
              <a:rPr lang="en-IN" smtClean="0"/>
              <a:pPr/>
              <a:t>37</a:t>
            </a:fld>
            <a:endParaRPr lang="en-IN"/>
          </a:p>
        </p:txBody>
      </p:sp>
      <p:sp>
        <p:nvSpPr>
          <p:cNvPr id="6" name="TextBox 5">
            <a:extLst>
              <a:ext uri="{FF2B5EF4-FFF2-40B4-BE49-F238E27FC236}">
                <a16:creationId xmlns:a16="http://schemas.microsoft.com/office/drawing/2014/main" id="{C6766428-6804-5F64-D322-74C7557E7E98}"/>
              </a:ext>
            </a:extLst>
          </p:cNvPr>
          <p:cNvSpPr txBox="1"/>
          <p:nvPr/>
        </p:nvSpPr>
        <p:spPr>
          <a:xfrm>
            <a:off x="688504" y="1484784"/>
            <a:ext cx="10814992" cy="4683333"/>
          </a:xfrm>
          <a:prstGeom prst="rect">
            <a:avLst/>
          </a:prstGeom>
          <a:noFill/>
        </p:spPr>
        <p:txBody>
          <a:bodyPr wrap="square">
            <a:spAutoFit/>
          </a:bodyPr>
          <a:lstStyle/>
          <a:p>
            <a:pPr algn="l" fontAlgn="ctr">
              <a:spcAft>
                <a:spcPts val="1500"/>
              </a:spcAft>
              <a:buNone/>
            </a:pPr>
            <a:r>
              <a:rPr lang="en-US" sz="2000" b="0" i="0" dirty="0">
                <a:effectLst/>
                <a:latin typeface="Times New Roman" panose="02020603050405020304" pitchFamily="18" charset="0"/>
                <a:cs typeface="Times New Roman" panose="02020603050405020304" pitchFamily="18" charset="0"/>
              </a:rPr>
              <a:t>A BJT acts as a switch by operating in cutoff (off) and saturation (on) regions, controlled by its base current. In the cutoff region, no base current is applied, halting collector current flow, which is like an open switch. In the saturation region, sufficient base current is applied to allow maximum collector current flow, acting like a closed switch. </a:t>
            </a:r>
          </a:p>
          <a:p>
            <a:pPr algn="l">
              <a:lnSpc>
                <a:spcPts val="1950"/>
              </a:lnSpc>
              <a:spcBef>
                <a:spcPts val="1500"/>
              </a:spcBef>
              <a:spcAft>
                <a:spcPts val="750"/>
              </a:spcAft>
              <a:buNone/>
            </a:pPr>
            <a:r>
              <a:rPr lang="en-US" sz="2000" b="0" i="0" dirty="0">
                <a:effectLst/>
                <a:latin typeface="Times New Roman" panose="02020603050405020304" pitchFamily="18" charset="0"/>
                <a:cs typeface="Times New Roman" panose="02020603050405020304" pitchFamily="18" charset="0"/>
              </a:rPr>
              <a:t>BJT Switch Operation Modes</a:t>
            </a:r>
          </a:p>
          <a:p>
            <a:pPr algn="l">
              <a:lnSpc>
                <a:spcPts val="1650"/>
              </a:lnSpc>
              <a:spcBef>
                <a:spcPts val="750"/>
              </a:spcBef>
              <a:spcAft>
                <a:spcPts val="600"/>
              </a:spcAft>
              <a:buFont typeface="+mj-lt"/>
              <a:buAutoNum type="arabicPeriod"/>
            </a:pPr>
            <a:r>
              <a:rPr lang="en-US" sz="2000" b="1" i="0" dirty="0">
                <a:effectLst/>
                <a:latin typeface="Times New Roman" panose="02020603050405020304" pitchFamily="18" charset="0"/>
                <a:cs typeface="Times New Roman" panose="02020603050405020304" pitchFamily="18" charset="0"/>
              </a:rPr>
              <a:t> Cutoff Region (Off)</a:t>
            </a:r>
            <a:r>
              <a:rPr lang="en-US" sz="2000" dirty="0">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No or very little base current (I_B = 0) is applied to the base. The </a:t>
            </a:r>
            <a:r>
              <a:rPr lang="en-US" sz="2000" dirty="0">
                <a:latin typeface="Times New Roman" panose="02020603050405020304" pitchFamily="18" charset="0"/>
                <a:cs typeface="Times New Roman" panose="02020603050405020304" pitchFamily="18" charset="0"/>
              </a:rPr>
              <a:t>emitter-base junction</a:t>
            </a:r>
            <a:r>
              <a:rPr lang="en-US" sz="2000" b="0" i="0" dirty="0">
                <a:effectLst/>
                <a:latin typeface="Times New Roman" panose="02020603050405020304" pitchFamily="18" charset="0"/>
                <a:cs typeface="Times New Roman" panose="02020603050405020304" pitchFamily="18" charset="0"/>
              </a:rPr>
              <a:t> is non-conducting, preventing current flow between collector and emitter. </a:t>
            </a:r>
          </a:p>
          <a:p>
            <a:pPr algn="l" fontAlgn="ctr">
              <a:lnSpc>
                <a:spcPts val="1650"/>
              </a:lnSpc>
              <a:spcBef>
                <a:spcPts val="750"/>
              </a:spcBef>
              <a:spcAft>
                <a:spcPts val="1500"/>
              </a:spcAft>
            </a:pPr>
            <a:r>
              <a:rPr lang="en-US" sz="2000" b="0" i="0" dirty="0">
                <a:effectLst/>
                <a:latin typeface="Times New Roman" panose="02020603050405020304" pitchFamily="18" charset="0"/>
                <a:cs typeface="Times New Roman" panose="02020603050405020304" pitchFamily="18" charset="0"/>
              </a:rPr>
              <a:t>The transistor is like an open circuit switch, blocking the flow of current through the load in the collector-emitter path. </a:t>
            </a:r>
          </a:p>
          <a:p>
            <a:pPr algn="l">
              <a:lnSpc>
                <a:spcPts val="1650"/>
              </a:lnSpc>
              <a:spcBef>
                <a:spcPts val="750"/>
              </a:spcBef>
              <a:spcAft>
                <a:spcPts val="1500"/>
              </a:spcAft>
            </a:pPr>
            <a:r>
              <a:rPr lang="en-US" sz="2000" b="1" dirty="0">
                <a:latin typeface="Times New Roman" panose="02020603050405020304" pitchFamily="18" charset="0"/>
                <a:cs typeface="Times New Roman" panose="02020603050405020304" pitchFamily="18" charset="0"/>
              </a:rPr>
              <a:t>2.</a:t>
            </a:r>
            <a:r>
              <a:rPr lang="en-US" sz="2000" b="1" i="0" dirty="0">
                <a:effectLst/>
                <a:latin typeface="Times New Roman" panose="02020603050405020304" pitchFamily="18" charset="0"/>
                <a:cs typeface="Times New Roman" panose="02020603050405020304" pitchFamily="18" charset="0"/>
              </a:rPr>
              <a:t> Saturation Region (On)</a:t>
            </a:r>
            <a:r>
              <a:rPr lang="en-US" sz="2000" dirty="0">
                <a:latin typeface="Times New Roman" panose="02020603050405020304" pitchFamily="18" charset="0"/>
                <a:cs typeface="Times New Roman" panose="02020603050405020304" pitchFamily="18" charset="0"/>
              </a:rPr>
              <a:t>: </a:t>
            </a:r>
            <a:r>
              <a:rPr lang="en-US" sz="2000" b="0" i="0" dirty="0">
                <a:effectLst/>
                <a:latin typeface="Times New Roman" panose="02020603050405020304" pitchFamily="18" charset="0"/>
                <a:cs typeface="Times New Roman" panose="02020603050405020304" pitchFamily="18" charset="0"/>
              </a:rPr>
              <a:t>A sufficient amount of base current (I_B) is applied, exceeding a certain threshold. The </a:t>
            </a:r>
            <a:r>
              <a:rPr lang="en-US" sz="2000" dirty="0">
                <a:latin typeface="Times New Roman" panose="02020603050405020304" pitchFamily="18" charset="0"/>
                <a:cs typeface="Times New Roman" panose="02020603050405020304" pitchFamily="18" charset="0"/>
              </a:rPr>
              <a:t>emitter-base junction </a:t>
            </a:r>
            <a:r>
              <a:rPr lang="en-US" sz="2000" b="0" i="0" dirty="0">
                <a:effectLst/>
                <a:latin typeface="Times New Roman" panose="02020603050405020304" pitchFamily="18" charset="0"/>
                <a:cs typeface="Times New Roman" panose="02020603050405020304" pitchFamily="18" charset="0"/>
              </a:rPr>
              <a:t>becomes forward-biased, and a large collector current (I_C) flows. The collector-emitter voltage (V_CE) drops to a very low value, close to zero. </a:t>
            </a:r>
          </a:p>
          <a:p>
            <a:pPr algn="l">
              <a:lnSpc>
                <a:spcPts val="1650"/>
              </a:lnSpc>
              <a:spcBef>
                <a:spcPts val="750"/>
              </a:spcBef>
              <a:spcAft>
                <a:spcPts val="1500"/>
              </a:spcAft>
            </a:pPr>
            <a:r>
              <a:rPr lang="en-US" sz="2000" b="0" i="0" dirty="0">
                <a:effectLst/>
                <a:latin typeface="Times New Roman" panose="02020603050405020304" pitchFamily="18" charset="0"/>
                <a:cs typeface="Times New Roman" panose="02020603050405020304" pitchFamily="18" charset="0"/>
              </a:rPr>
              <a:t>The transistor acts as a closed switch, allowing maximum current to flow through the load.</a:t>
            </a:r>
          </a:p>
        </p:txBody>
      </p:sp>
    </p:spTree>
    <p:extLst>
      <p:ext uri="{BB962C8B-B14F-4D97-AF65-F5344CB8AC3E}">
        <p14:creationId xmlns:p14="http://schemas.microsoft.com/office/powerpoint/2010/main" val="15535537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FA4E9D9-A199-8ADF-127A-7DBDC7023B19}"/>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59D2BA6F-300B-AF21-D6DA-5AF243A4E237}"/>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661C6AF3-110F-D18A-ABD7-96A873C78E82}"/>
              </a:ext>
            </a:extLst>
          </p:cNvPr>
          <p:cNvSpPr>
            <a:spLocks noGrp="1"/>
          </p:cNvSpPr>
          <p:nvPr>
            <p:ph type="sldNum" sz="quarter" idx="12"/>
          </p:nvPr>
        </p:nvSpPr>
        <p:spPr/>
        <p:txBody>
          <a:bodyPr/>
          <a:lstStyle/>
          <a:p>
            <a:fld id="{BC2E8B6D-A843-4976-BA70-A811246CC566}" type="slidenum">
              <a:rPr lang="en-IN" smtClean="0"/>
              <a:pPr/>
              <a:t>38</a:t>
            </a:fld>
            <a:endParaRPr lang="en-IN"/>
          </a:p>
        </p:txBody>
      </p:sp>
      <p:pic>
        <p:nvPicPr>
          <p:cNvPr id="8" name="Picture 7">
            <a:extLst>
              <a:ext uri="{FF2B5EF4-FFF2-40B4-BE49-F238E27FC236}">
                <a16:creationId xmlns:a16="http://schemas.microsoft.com/office/drawing/2014/main" id="{BE59655E-C155-E407-D2FF-DAD8E502B2ED}"/>
              </a:ext>
            </a:extLst>
          </p:cNvPr>
          <p:cNvPicPr/>
          <p:nvPr/>
        </p:nvPicPr>
        <p:blipFill>
          <a:blip r:embed="rId2">
            <a:lum bright="-20000" contrast="40000"/>
            <a:extLst>
              <a:ext uri="{28A0092B-C50C-407E-A947-70E740481C1C}">
                <a14:useLocalDpi xmlns:a14="http://schemas.microsoft.com/office/drawing/2010/main" val="0"/>
              </a:ext>
            </a:extLst>
          </a:blip>
          <a:srcRect/>
          <a:stretch>
            <a:fillRect/>
          </a:stretch>
        </p:blipFill>
        <p:spPr bwMode="auto">
          <a:xfrm>
            <a:off x="2032000" y="476672"/>
            <a:ext cx="8096448" cy="5832648"/>
          </a:xfrm>
          <a:prstGeom prst="rect">
            <a:avLst/>
          </a:prstGeom>
          <a:noFill/>
          <a:ln>
            <a:noFill/>
          </a:ln>
        </p:spPr>
      </p:pic>
    </p:spTree>
    <p:extLst>
      <p:ext uri="{BB962C8B-B14F-4D97-AF65-F5344CB8AC3E}">
        <p14:creationId xmlns:p14="http://schemas.microsoft.com/office/powerpoint/2010/main" val="18463346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44BC9AB-5E69-9B1C-B912-439E90D8BEDB}"/>
              </a:ext>
            </a:extLst>
          </p:cNvPr>
          <p:cNvSpPr>
            <a:spLocks noGrp="1"/>
          </p:cNvSpPr>
          <p:nvPr>
            <p:ph type="dt" sz="half" idx="10"/>
          </p:nvPr>
        </p:nvSpPr>
        <p:spPr/>
        <p:txBody>
          <a:bodyPr/>
          <a:lstStyle/>
          <a:p>
            <a:fld id="{E51764B9-257A-40B2-8A9F-65019AD936B9}" type="datetime1">
              <a:rPr lang="en-US" smtClean="0"/>
              <a:t>9/9/2025</a:t>
            </a:fld>
            <a:endParaRPr lang="en-IN" dirty="0"/>
          </a:p>
        </p:txBody>
      </p:sp>
      <p:sp>
        <p:nvSpPr>
          <p:cNvPr id="5" name="Footer Placeholder 4">
            <a:extLst>
              <a:ext uri="{FF2B5EF4-FFF2-40B4-BE49-F238E27FC236}">
                <a16:creationId xmlns:a16="http://schemas.microsoft.com/office/drawing/2014/main" id="{4EDFD023-F4ED-1817-733E-5933E2C88787}"/>
              </a:ext>
            </a:extLst>
          </p:cNvPr>
          <p:cNvSpPr>
            <a:spLocks noGrp="1"/>
          </p:cNvSpPr>
          <p:nvPr>
            <p:ph type="ftr" sz="quarter" idx="11"/>
          </p:nvPr>
        </p:nvSpPr>
        <p:spPr/>
        <p:txBody>
          <a:bodyPr/>
          <a:lstStyle/>
          <a:p>
            <a:r>
              <a:rPr lang="en-IN" dirty="0"/>
              <a:t>CMOS</a:t>
            </a:r>
          </a:p>
        </p:txBody>
      </p:sp>
      <p:sp>
        <p:nvSpPr>
          <p:cNvPr id="6" name="Slide Number Placeholder 5">
            <a:extLst>
              <a:ext uri="{FF2B5EF4-FFF2-40B4-BE49-F238E27FC236}">
                <a16:creationId xmlns:a16="http://schemas.microsoft.com/office/drawing/2014/main" id="{EE586C76-655F-CF2B-777E-1CB9CE69CBDC}"/>
              </a:ext>
            </a:extLst>
          </p:cNvPr>
          <p:cNvSpPr>
            <a:spLocks noGrp="1"/>
          </p:cNvSpPr>
          <p:nvPr>
            <p:ph type="sldNum" sz="quarter" idx="12"/>
          </p:nvPr>
        </p:nvSpPr>
        <p:spPr/>
        <p:txBody>
          <a:bodyPr/>
          <a:lstStyle/>
          <a:p>
            <a:fld id="{BC2E8B6D-A843-4976-BA70-A811246CC566}" type="slidenum">
              <a:rPr lang="en-IN" smtClean="0"/>
              <a:pPr/>
              <a:t>39</a:t>
            </a:fld>
            <a:endParaRPr lang="en-IN"/>
          </a:p>
        </p:txBody>
      </p:sp>
      <p:sp>
        <p:nvSpPr>
          <p:cNvPr id="8" name="Title 1">
            <a:extLst>
              <a:ext uri="{FF2B5EF4-FFF2-40B4-BE49-F238E27FC236}">
                <a16:creationId xmlns:a16="http://schemas.microsoft.com/office/drawing/2014/main" id="{ED195EA1-1B18-063D-A13B-2764A5E4245B}"/>
              </a:ext>
            </a:extLst>
          </p:cNvPr>
          <p:cNvSpPr txBox="1">
            <a:spLocks/>
          </p:cNvSpPr>
          <p:nvPr/>
        </p:nvSpPr>
        <p:spPr>
          <a:xfrm>
            <a:off x="2675620" y="260648"/>
            <a:ext cx="6120680" cy="648072"/>
          </a:xfrm>
          <a:prstGeom prst="rect">
            <a:avLst/>
          </a:prstGeom>
          <a:solidFill>
            <a:schemeClr val="bg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rgbClr val="FF0000"/>
                </a:solidFill>
              </a:rPr>
              <a:t>Field Effect Transistor</a:t>
            </a:r>
            <a:endParaRPr lang="en-US" sz="3200" b="1" dirty="0">
              <a:solidFill>
                <a:srgbClr val="FF0000"/>
              </a:solidFill>
              <a:effectLst>
                <a:outerShdw blurRad="38100" dist="38100" dir="2700000" algn="tl">
                  <a:srgbClr val="000000">
                    <a:alpha val="43137"/>
                  </a:srgbClr>
                </a:outerShdw>
              </a:effectLst>
            </a:endParaRPr>
          </a:p>
        </p:txBody>
      </p:sp>
      <p:sp>
        <p:nvSpPr>
          <p:cNvPr id="10" name="TextBox 9">
            <a:extLst>
              <a:ext uri="{FF2B5EF4-FFF2-40B4-BE49-F238E27FC236}">
                <a16:creationId xmlns:a16="http://schemas.microsoft.com/office/drawing/2014/main" id="{2DF7ECFF-997A-7C28-8F48-7345ED8762DF}"/>
              </a:ext>
            </a:extLst>
          </p:cNvPr>
          <p:cNvSpPr txBox="1"/>
          <p:nvPr/>
        </p:nvSpPr>
        <p:spPr>
          <a:xfrm>
            <a:off x="640035" y="1196752"/>
            <a:ext cx="10945216" cy="5028556"/>
          </a:xfrm>
          <a:prstGeom prst="rect">
            <a:avLst/>
          </a:prstGeom>
          <a:noFill/>
        </p:spPr>
        <p:txBody>
          <a:bodyPr wrap="square">
            <a:spAutoFit/>
          </a:bodyPr>
          <a:lstStyle/>
          <a:p>
            <a:pPr lvl="1" algn="just">
              <a:lnSpc>
                <a:spcPct val="150000"/>
              </a:lnSpc>
            </a:pPr>
            <a:r>
              <a:rPr lang="en-US" b="1" dirty="0">
                <a:effectLst/>
                <a:ea typeface="Calibri" panose="020F0502020204030204" pitchFamily="34" charset="0"/>
              </a:rPr>
              <a:t>Introduction to Field Effect Transistors: </a:t>
            </a:r>
            <a:endParaRPr lang="en-IN" b="1" dirty="0">
              <a:ea typeface="Calibri" panose="020F0502020204030204" pitchFamily="34" charset="0"/>
            </a:endParaRPr>
          </a:p>
          <a:p>
            <a:pPr lvl="1" algn="just">
              <a:lnSpc>
                <a:spcPct val="150000"/>
              </a:lnSpc>
            </a:pPr>
            <a:r>
              <a:rPr lang="en-US" dirty="0">
                <a:effectLst/>
                <a:ea typeface="Calibri" panose="020F0502020204030204" pitchFamily="34" charset="0"/>
              </a:rPr>
              <a:t>Field-Effect Transistor (FET) is a semiconductor device that consists of a channel made of a semiconductor material, with two electrodes connected at either end, namely the drain and the source. The flow of current between the source and the drain terminals is controlled by a third electrode, known as the gate, which is placed in close proximity to the channel.</a:t>
            </a:r>
            <a:endParaRPr lang="en-IN" dirty="0">
              <a:effectLst/>
              <a:ea typeface="Calibri" panose="020F0502020204030204" pitchFamily="34" charset="0"/>
            </a:endParaRPr>
          </a:p>
          <a:p>
            <a:pPr marL="850900" indent="-229235" algn="just">
              <a:lnSpc>
                <a:spcPct val="150000"/>
              </a:lnSpc>
              <a:buNone/>
            </a:pPr>
            <a:r>
              <a:rPr lang="en-US" dirty="0">
                <a:effectLst/>
                <a:ea typeface="Calibri" panose="020F0502020204030204" pitchFamily="34" charset="0"/>
              </a:rPr>
              <a:t> </a:t>
            </a:r>
            <a:endParaRPr lang="en-IN" dirty="0">
              <a:effectLst/>
              <a:ea typeface="Calibri" panose="020F0502020204030204" pitchFamily="34" charset="0"/>
            </a:endParaRPr>
          </a:p>
          <a:p>
            <a:pPr marL="342900" lvl="0" indent="-342900" algn="just">
              <a:lnSpc>
                <a:spcPct val="150000"/>
              </a:lnSpc>
              <a:buFont typeface="Symbol" panose="05050102010706020507" pitchFamily="18" charset="2"/>
              <a:buChar char=""/>
            </a:pPr>
            <a:r>
              <a:rPr lang="en-US" dirty="0">
                <a:solidFill>
                  <a:srgbClr val="333333"/>
                </a:solidFill>
                <a:effectLst/>
                <a:ea typeface="Calibri" panose="020F0502020204030204" pitchFamily="34" charset="0"/>
              </a:rPr>
              <a:t>FETs have three terminals:</a:t>
            </a:r>
            <a:endParaRPr lang="en-IN" dirty="0">
              <a:effectLst/>
              <a:ea typeface="Calibri" panose="020F0502020204030204" pitchFamily="34" charset="0"/>
            </a:endParaRPr>
          </a:p>
          <a:p>
            <a:pPr marL="342900" lvl="0" indent="-342900" algn="just">
              <a:lnSpc>
                <a:spcPct val="150000"/>
              </a:lnSpc>
              <a:buFont typeface="Courier New" panose="02070309020205020404" pitchFamily="49" charset="0"/>
              <a:buChar char="o"/>
            </a:pPr>
            <a:r>
              <a:rPr lang="en-US" dirty="0">
                <a:solidFill>
                  <a:srgbClr val="333333"/>
                </a:solidFill>
                <a:effectLst/>
                <a:ea typeface="Calibri" panose="020F0502020204030204" pitchFamily="34" charset="0"/>
              </a:rPr>
              <a:t>The first terminal is the source (S), through which current enters the device, denoted by IS.</a:t>
            </a:r>
            <a:endParaRPr lang="en-IN" dirty="0">
              <a:effectLst/>
              <a:ea typeface="Calibri" panose="020F0502020204030204" pitchFamily="34" charset="0"/>
            </a:endParaRPr>
          </a:p>
          <a:p>
            <a:pPr marL="742950" lvl="1" indent="-285750" algn="just">
              <a:lnSpc>
                <a:spcPct val="150000"/>
              </a:lnSpc>
              <a:buFont typeface="Courier New" panose="02070309020205020404" pitchFamily="49" charset="0"/>
              <a:buChar char="o"/>
            </a:pPr>
            <a:r>
              <a:rPr lang="en-US" dirty="0">
                <a:solidFill>
                  <a:srgbClr val="333333"/>
                </a:solidFill>
                <a:effectLst/>
                <a:ea typeface="Calibri" panose="020F0502020204030204" pitchFamily="34" charset="0"/>
              </a:rPr>
              <a:t>The second terminal is the drain (D), through which current leaves the device, denoted by ID. The voltage between drain and source is VDS.</a:t>
            </a:r>
            <a:endParaRPr lang="en-IN" dirty="0">
              <a:effectLst/>
              <a:ea typeface="Calibri" panose="020F0502020204030204" pitchFamily="34" charset="0"/>
            </a:endParaRPr>
          </a:p>
          <a:p>
            <a:pPr marL="742950" lvl="1" indent="-285750" algn="just">
              <a:lnSpc>
                <a:spcPct val="150000"/>
              </a:lnSpc>
              <a:buFont typeface="Courier New" panose="02070309020205020404" pitchFamily="49" charset="0"/>
              <a:buChar char="o"/>
            </a:pPr>
            <a:r>
              <a:rPr lang="en-US" dirty="0">
                <a:solidFill>
                  <a:srgbClr val="333333"/>
                </a:solidFill>
                <a:effectLst/>
                <a:ea typeface="Calibri" panose="020F0502020204030204" pitchFamily="34" charset="0"/>
              </a:rPr>
              <a:t>The third terminal is the gate (G), which modulates the channel conductivity. By applying a voltage at the gate, ID can be controlled</a:t>
            </a:r>
            <a:endParaRPr lang="en-IN" dirty="0">
              <a:effectLst/>
              <a:ea typeface="Calibri" panose="020F0502020204030204" pitchFamily="34" charset="0"/>
            </a:endParaRPr>
          </a:p>
        </p:txBody>
      </p:sp>
    </p:spTree>
    <p:extLst>
      <p:ext uri="{BB962C8B-B14F-4D97-AF65-F5344CB8AC3E}">
        <p14:creationId xmlns:p14="http://schemas.microsoft.com/office/powerpoint/2010/main" val="78575477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1F75C647-80DA-40D2-A726-49C44F084489}"/>
              </a:ext>
            </a:extLst>
          </p:cNvPr>
          <p:cNvSpPr txBox="1">
            <a:spLocks/>
          </p:cNvSpPr>
          <p:nvPr/>
        </p:nvSpPr>
        <p:spPr>
          <a:xfrm>
            <a:off x="2675620" y="260648"/>
            <a:ext cx="6120680" cy="648072"/>
          </a:xfrm>
          <a:prstGeom prst="rect">
            <a:avLst/>
          </a:prstGeom>
          <a:solidFill>
            <a:schemeClr val="bg1"/>
          </a:solidFill>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3200" b="1" dirty="0">
                <a:solidFill>
                  <a:srgbClr val="FF0000"/>
                </a:solidFill>
              </a:rPr>
              <a:t>Classification of Transistor</a:t>
            </a:r>
            <a:endParaRPr lang="en-US" sz="3200" b="1" dirty="0">
              <a:solidFill>
                <a:srgbClr val="FF0000"/>
              </a:solidFill>
              <a:effectLst>
                <a:outerShdw blurRad="38100" dist="38100" dir="2700000" algn="tl">
                  <a:srgbClr val="000000">
                    <a:alpha val="43137"/>
                  </a:srgbClr>
                </a:outerShdw>
              </a:effectLst>
            </a:endParaRPr>
          </a:p>
        </p:txBody>
      </p:sp>
      <p:pic>
        <p:nvPicPr>
          <p:cNvPr id="3" name="Picture 2">
            <a:extLst>
              <a:ext uri="{FF2B5EF4-FFF2-40B4-BE49-F238E27FC236}">
                <a16:creationId xmlns:a16="http://schemas.microsoft.com/office/drawing/2014/main" id="{9D6FF1E4-AACA-9B4C-BA89-002AB49000F0}"/>
              </a:ext>
            </a:extLst>
          </p:cNvPr>
          <p:cNvPicPr>
            <a:picLocks noChangeAspect="1"/>
          </p:cNvPicPr>
          <p:nvPr/>
        </p:nvPicPr>
        <p:blipFill>
          <a:blip r:embed="rId2"/>
          <a:stretch>
            <a:fillRect/>
          </a:stretch>
        </p:blipFill>
        <p:spPr>
          <a:xfrm>
            <a:off x="2063552" y="1443577"/>
            <a:ext cx="7344816" cy="4712570"/>
          </a:xfrm>
          <a:prstGeom prst="rect">
            <a:avLst/>
          </a:prstGeom>
        </p:spPr>
      </p:pic>
    </p:spTree>
    <p:extLst>
      <p:ext uri="{BB962C8B-B14F-4D97-AF65-F5344CB8AC3E}">
        <p14:creationId xmlns:p14="http://schemas.microsoft.com/office/powerpoint/2010/main" val="15625096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Table 5">
            <a:extLst>
              <a:ext uri="{FF2B5EF4-FFF2-40B4-BE49-F238E27FC236}">
                <a16:creationId xmlns:a16="http://schemas.microsoft.com/office/drawing/2014/main" id="{4BDCC8EE-7AC4-113D-63A7-B8F8067FF089}"/>
              </a:ext>
            </a:extLst>
          </p:cNvPr>
          <p:cNvGraphicFramePr>
            <a:graphicFrameLocks noGrp="1"/>
          </p:cNvGraphicFramePr>
          <p:nvPr/>
        </p:nvGraphicFramePr>
        <p:xfrm>
          <a:off x="1487488" y="1320950"/>
          <a:ext cx="10009112" cy="5112563"/>
        </p:xfrm>
        <a:graphic>
          <a:graphicData uri="http://schemas.openxmlformats.org/drawingml/2006/table">
            <a:tbl>
              <a:tblPr firstRow="1" bandRow="1">
                <a:tableStyleId>{3B4B98B0-60AC-42C2-AFA5-B58CD77FA1E5}</a:tableStyleId>
              </a:tblPr>
              <a:tblGrid>
                <a:gridCol w="1538725">
                  <a:extLst>
                    <a:ext uri="{9D8B030D-6E8A-4147-A177-3AD203B41FA5}">
                      <a16:colId xmlns:a16="http://schemas.microsoft.com/office/drawing/2014/main" val="1724649953"/>
                    </a:ext>
                  </a:extLst>
                </a:gridCol>
                <a:gridCol w="4444436">
                  <a:extLst>
                    <a:ext uri="{9D8B030D-6E8A-4147-A177-3AD203B41FA5}">
                      <a16:colId xmlns:a16="http://schemas.microsoft.com/office/drawing/2014/main" val="4121661725"/>
                    </a:ext>
                  </a:extLst>
                </a:gridCol>
                <a:gridCol w="4025951">
                  <a:extLst>
                    <a:ext uri="{9D8B030D-6E8A-4147-A177-3AD203B41FA5}">
                      <a16:colId xmlns:a16="http://schemas.microsoft.com/office/drawing/2014/main" val="1697499536"/>
                    </a:ext>
                  </a:extLst>
                </a:gridCol>
              </a:tblGrid>
              <a:tr h="300739">
                <a:tc>
                  <a:txBody>
                    <a:bodyPr/>
                    <a:lstStyle/>
                    <a:p>
                      <a:pPr algn="ctr">
                        <a:buNone/>
                      </a:pPr>
                      <a:r>
                        <a:rPr lang="en-IN" sz="1600" kern="1200">
                          <a:effectLst/>
                        </a:rPr>
                        <a:t>Feature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FET (Field Effect Transistor)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BJT (Bipolar Junction Transistor)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803568857"/>
                  </a:ext>
                </a:extLst>
              </a:tr>
              <a:tr h="300739">
                <a:tc>
                  <a:txBody>
                    <a:bodyPr/>
                    <a:lstStyle/>
                    <a:p>
                      <a:pPr algn="ctr">
                        <a:buNone/>
                      </a:pPr>
                      <a:r>
                        <a:rPr lang="en-IN" sz="1600" kern="1200">
                          <a:effectLst/>
                        </a:rPr>
                        <a:t>Type of Device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Voltage-controlled device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Current-controlled device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24100608"/>
                  </a:ext>
                </a:extLst>
              </a:tr>
              <a:tr h="601478">
                <a:tc>
                  <a:txBody>
                    <a:bodyPr/>
                    <a:lstStyle/>
                    <a:p>
                      <a:pPr algn="ctr">
                        <a:buNone/>
                      </a:pPr>
                      <a:r>
                        <a:rPr lang="en-IN" sz="1600" kern="1200">
                          <a:effectLst/>
                        </a:rPr>
                        <a:t>Operation Principle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a:effectLst/>
                        </a:rPr>
                        <a:t>Uses an electric field to control current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a:effectLst/>
                        </a:rPr>
                        <a:t>Uses input current to control the output current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86170364"/>
                  </a:ext>
                </a:extLst>
              </a:tr>
              <a:tr h="601478">
                <a:tc>
                  <a:txBody>
                    <a:bodyPr/>
                    <a:lstStyle/>
                    <a:p>
                      <a:pPr algn="ctr">
                        <a:buNone/>
                      </a:pPr>
                      <a:r>
                        <a:rPr lang="en-IN" sz="1600" kern="1200">
                          <a:effectLst/>
                        </a:rPr>
                        <a:t>Input Impedance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a:effectLst/>
                        </a:rPr>
                        <a:t>High (due to gate insulation)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Low</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676383221"/>
                  </a:ext>
                </a:extLst>
              </a:tr>
              <a:tr h="601478">
                <a:tc>
                  <a:txBody>
                    <a:bodyPr/>
                    <a:lstStyle/>
                    <a:p>
                      <a:pPr algn="ctr">
                        <a:buNone/>
                      </a:pPr>
                      <a:r>
                        <a:rPr lang="en-IN" sz="1600" kern="1200">
                          <a:effectLst/>
                        </a:rPr>
                        <a:t>Output Impedance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Low</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High</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122913263"/>
                  </a:ext>
                </a:extLst>
              </a:tr>
              <a:tr h="300739">
                <a:tc>
                  <a:txBody>
                    <a:bodyPr/>
                    <a:lstStyle/>
                    <a:p>
                      <a:pPr algn="ctr">
                        <a:buNone/>
                      </a:pPr>
                      <a:r>
                        <a:rPr lang="en-IN" sz="1600" kern="1200">
                          <a:effectLst/>
                        </a:rPr>
                        <a:t>Current Flow</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Majority carriers (unipolar)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a:effectLst/>
                        </a:rPr>
                        <a:t>Both majority and minority carriers (bipolar)</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45908529"/>
                  </a:ext>
                </a:extLst>
              </a:tr>
              <a:tr h="300739">
                <a:tc>
                  <a:txBody>
                    <a:bodyPr/>
                    <a:lstStyle/>
                    <a:p>
                      <a:pPr algn="ctr">
                        <a:buNone/>
                      </a:pPr>
                      <a:r>
                        <a:rPr lang="en-IN" sz="1600" kern="1200">
                          <a:effectLst/>
                        </a:rPr>
                        <a:t>Speed</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dirty="0">
                          <a:effectLst/>
                        </a:rPr>
                        <a:t>Generally faster due to high input impedance</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Slower compared to FETs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2084788245"/>
                  </a:ext>
                </a:extLst>
              </a:tr>
              <a:tr h="601478">
                <a:tc>
                  <a:txBody>
                    <a:bodyPr/>
                    <a:lstStyle/>
                    <a:p>
                      <a:pPr algn="ctr">
                        <a:buNone/>
                      </a:pPr>
                      <a:r>
                        <a:rPr lang="en-IN" sz="1600" kern="1200">
                          <a:effectLst/>
                        </a:rPr>
                        <a:t>Power Consumption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a:effectLst/>
                        </a:rPr>
                        <a:t>Low (requires less input current)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IN" sz="1600" kern="1200">
                          <a:effectLst/>
                        </a:rPr>
                        <a:t>High (requires significant base current)</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04607963"/>
                  </a:ext>
                </a:extLst>
              </a:tr>
              <a:tr h="601478">
                <a:tc>
                  <a:txBody>
                    <a:bodyPr/>
                    <a:lstStyle/>
                    <a:p>
                      <a:pPr algn="ctr">
                        <a:buNone/>
                      </a:pPr>
                      <a:r>
                        <a:rPr lang="en-IN" sz="1600" kern="1200">
                          <a:effectLst/>
                        </a:rPr>
                        <a:t>Thermal Stability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a:effectLst/>
                        </a:rPr>
                        <a:t>High (less prone to thermal runaway)</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a:effectLst/>
                        </a:rPr>
                        <a:t>Low (prone to thermal runaway without proper compensation)</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356155385"/>
                  </a:ext>
                </a:extLst>
              </a:tr>
              <a:tr h="300739">
                <a:tc>
                  <a:txBody>
                    <a:bodyPr/>
                    <a:lstStyle/>
                    <a:p>
                      <a:pPr algn="ctr">
                        <a:buNone/>
                      </a:pPr>
                      <a:r>
                        <a:rPr lang="en-IN" sz="1600" kern="1200">
                          <a:effectLst/>
                        </a:rPr>
                        <a:t>Noise Level</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a:effectLst/>
                        </a:rPr>
                        <a:t>Low (better for high-frequency applications)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a:effectLst/>
                        </a:rPr>
                        <a:t>Higher (more noise compared to FETs)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58474125"/>
                  </a:ext>
                </a:extLst>
              </a:tr>
              <a:tr h="601478">
                <a:tc>
                  <a:txBody>
                    <a:bodyPr/>
                    <a:lstStyle/>
                    <a:p>
                      <a:pPr algn="ctr">
                        <a:buNone/>
                      </a:pPr>
                      <a:r>
                        <a:rPr lang="en-IN" sz="1600" kern="1200">
                          <a:effectLst/>
                        </a:rPr>
                        <a:t>Applications</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dirty="0">
                          <a:effectLst/>
                        </a:rPr>
                        <a:t>Used in analog switches, amplifiers, and digital circuits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algn="ctr">
                        <a:buNone/>
                      </a:pPr>
                      <a:r>
                        <a:rPr lang="en-US" sz="1600" kern="1200" dirty="0">
                          <a:effectLst/>
                        </a:rPr>
                        <a:t>Used in power amplifiers, oscillators, and analog circuits</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extLst>
                  <a:ext uri="{0D108BD9-81ED-4DB2-BD59-A6C34878D82A}">
                    <a16:rowId xmlns:a16="http://schemas.microsoft.com/office/drawing/2014/main" val="1419254417"/>
                  </a:ext>
                </a:extLst>
              </a:tr>
            </a:tbl>
          </a:graphicData>
        </a:graphic>
      </p:graphicFrame>
      <p:sp>
        <p:nvSpPr>
          <p:cNvPr id="8" name="TextBox 7">
            <a:extLst>
              <a:ext uri="{FF2B5EF4-FFF2-40B4-BE49-F238E27FC236}">
                <a16:creationId xmlns:a16="http://schemas.microsoft.com/office/drawing/2014/main" id="{D2387599-CD18-9A8A-075B-72B33FBB047D}"/>
              </a:ext>
            </a:extLst>
          </p:cNvPr>
          <p:cNvSpPr txBox="1"/>
          <p:nvPr/>
        </p:nvSpPr>
        <p:spPr>
          <a:xfrm>
            <a:off x="2783632" y="424487"/>
            <a:ext cx="6096000" cy="461665"/>
          </a:xfrm>
          <a:prstGeom prst="rect">
            <a:avLst/>
          </a:prstGeom>
          <a:noFill/>
        </p:spPr>
        <p:txBody>
          <a:bodyPr wrap="square">
            <a:spAutoFit/>
          </a:bodyPr>
          <a:lstStyle/>
          <a:p>
            <a:pPr algn="ctr"/>
            <a:r>
              <a:rPr lang="en-US" sz="2400" b="1" dirty="0">
                <a:solidFill>
                  <a:srgbClr val="FF0000"/>
                </a:solidFill>
                <a:effectLst/>
                <a:latin typeface="Times New Roman" panose="02020603050405020304" pitchFamily="18" charset="0"/>
                <a:ea typeface="Calibri" panose="020F0502020204030204" pitchFamily="34" charset="0"/>
              </a:rPr>
              <a:t>Difference between BJT and FET</a:t>
            </a:r>
            <a:endParaRPr lang="en-IN" sz="2400" dirty="0">
              <a:solidFill>
                <a:srgbClr val="FF0000"/>
              </a:solidFill>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F71DFF8-6C8E-302B-98B2-AFD06C547784}"/>
              </a:ext>
            </a:extLst>
          </p:cNvPr>
          <p:cNvSpPr>
            <a:spLocks noGrp="1"/>
          </p:cNvSpPr>
          <p:nvPr>
            <p:ph idx="1"/>
          </p:nvPr>
        </p:nvSpPr>
        <p:spPr>
          <a:xfrm>
            <a:off x="983432" y="1628800"/>
            <a:ext cx="10972800" cy="4525963"/>
          </a:xfrm>
        </p:spPr>
        <p:txBody>
          <a:bodyPr>
            <a:normAutofit fontScale="77500" lnSpcReduction="20000"/>
          </a:bodyPr>
          <a:lstStyle/>
          <a:p>
            <a:pPr marL="0" indent="0" algn="just">
              <a:buNone/>
            </a:pPr>
            <a:r>
              <a:rPr lang="en-IN" sz="2600" b="1" dirty="0"/>
              <a:t>BJT has two principle disadvantage</a:t>
            </a:r>
            <a:endParaRPr lang="en-IN" sz="2600" dirty="0"/>
          </a:p>
          <a:p>
            <a:pPr algn="just"/>
            <a:r>
              <a:rPr lang="en-IN" sz="2600" dirty="0"/>
              <a:t>It has low input impedance due to Forward biased emitter junction.</a:t>
            </a:r>
          </a:p>
          <a:p>
            <a:pPr algn="just"/>
            <a:r>
              <a:rPr lang="en-IN" sz="2600" dirty="0"/>
              <a:t>It has considerable noise level.</a:t>
            </a:r>
          </a:p>
          <a:p>
            <a:pPr algn="just"/>
            <a:endParaRPr lang="en-IN" sz="2600" dirty="0"/>
          </a:p>
          <a:p>
            <a:pPr marL="0" indent="0" algn="just">
              <a:buNone/>
            </a:pPr>
            <a:r>
              <a:rPr lang="en-IN" sz="2600" b="1" dirty="0"/>
              <a:t>The above problem are overcome by:</a:t>
            </a:r>
            <a:endParaRPr lang="en-IN" sz="2600" dirty="0"/>
          </a:p>
          <a:p>
            <a:pPr algn="just"/>
            <a:r>
              <a:rPr lang="en-IN" sz="2600" dirty="0"/>
              <a:t>FET has large input impedance by virtue of its construction and biasing.</a:t>
            </a:r>
          </a:p>
          <a:p>
            <a:pPr algn="just"/>
            <a:r>
              <a:rPr lang="en-IN" sz="2600" dirty="0"/>
              <a:t>FET is generally much less noisy than BJT</a:t>
            </a:r>
          </a:p>
          <a:p>
            <a:pPr algn="just"/>
            <a:endParaRPr lang="en-IN" sz="2600" dirty="0"/>
          </a:p>
          <a:p>
            <a:pPr lvl="1"/>
            <a:r>
              <a:rPr lang="en-US" sz="2600" b="1" dirty="0"/>
              <a:t>Advantages of FET over BJT</a:t>
            </a:r>
            <a:endParaRPr lang="en-IN" sz="2600" dirty="0"/>
          </a:p>
          <a:p>
            <a:pPr lvl="0"/>
            <a:r>
              <a:rPr lang="en-US" sz="2600" dirty="0"/>
              <a:t>High input impedance (Linear AC amplifier system)</a:t>
            </a:r>
            <a:endParaRPr lang="en-IN" sz="2600" dirty="0"/>
          </a:p>
          <a:p>
            <a:pPr lvl="0"/>
            <a:r>
              <a:rPr lang="en-US" sz="2600" dirty="0"/>
              <a:t>Temperature stable than BJT</a:t>
            </a:r>
            <a:endParaRPr lang="en-IN" sz="2600" dirty="0"/>
          </a:p>
          <a:p>
            <a:pPr lvl="0"/>
            <a:r>
              <a:rPr lang="en-US" sz="2600" dirty="0"/>
              <a:t>Smaller than BJT</a:t>
            </a:r>
            <a:endParaRPr lang="en-IN" sz="2600" dirty="0"/>
          </a:p>
          <a:p>
            <a:pPr lvl="0"/>
            <a:r>
              <a:rPr lang="en-US" sz="2600" dirty="0"/>
              <a:t>Can be fabricated with fewer processing</a:t>
            </a:r>
            <a:endParaRPr lang="en-IN" sz="2600" dirty="0"/>
          </a:p>
          <a:p>
            <a:pPr lvl="0"/>
            <a:r>
              <a:rPr lang="en-US" sz="2600" dirty="0"/>
              <a:t>Usually use as logic switch</a:t>
            </a:r>
            <a:endParaRPr lang="en-IN" sz="2600" dirty="0"/>
          </a:p>
          <a:p>
            <a:pPr algn="just"/>
            <a:endParaRPr lang="en-IN" sz="2000" dirty="0"/>
          </a:p>
        </p:txBody>
      </p:sp>
      <p:sp>
        <p:nvSpPr>
          <p:cNvPr id="5" name="TextBox 4">
            <a:extLst>
              <a:ext uri="{FF2B5EF4-FFF2-40B4-BE49-F238E27FC236}">
                <a16:creationId xmlns:a16="http://schemas.microsoft.com/office/drawing/2014/main" id="{154EDDF9-5CE9-39E8-0342-C603C61836CD}"/>
              </a:ext>
            </a:extLst>
          </p:cNvPr>
          <p:cNvSpPr txBox="1"/>
          <p:nvPr/>
        </p:nvSpPr>
        <p:spPr>
          <a:xfrm>
            <a:off x="3359696" y="518571"/>
            <a:ext cx="6096000" cy="461665"/>
          </a:xfrm>
          <a:prstGeom prst="rect">
            <a:avLst/>
          </a:prstGeom>
          <a:noFill/>
        </p:spPr>
        <p:txBody>
          <a:bodyPr wrap="square">
            <a:spAutoFit/>
          </a:bodyPr>
          <a:lstStyle/>
          <a:p>
            <a:pPr lvl="1" algn="ctr"/>
            <a:r>
              <a:rPr lang="en-US" sz="2400" b="1" dirty="0">
                <a:solidFill>
                  <a:srgbClr val="FF0000"/>
                </a:solidFill>
              </a:rPr>
              <a:t>Advantages of FET over BJT</a:t>
            </a:r>
            <a:endParaRPr lang="en-IN" sz="2400" dirty="0">
              <a:solidFill>
                <a:srgbClr val="FF0000"/>
              </a:solidFill>
            </a:endParaRPr>
          </a:p>
        </p:txBody>
      </p:sp>
    </p:spTree>
    <p:extLst>
      <p:ext uri="{BB962C8B-B14F-4D97-AF65-F5344CB8AC3E}">
        <p14:creationId xmlns:p14="http://schemas.microsoft.com/office/powerpoint/2010/main" val="2447076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4D0B6F9-3D2B-6A79-86D8-A73486EE8F91}"/>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EF03EEEC-AB07-FDA7-0872-523B8014C875}"/>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D1B35F7B-05FF-FFFE-E7B8-397A9865B99A}"/>
              </a:ext>
            </a:extLst>
          </p:cNvPr>
          <p:cNvSpPr>
            <a:spLocks noGrp="1"/>
          </p:cNvSpPr>
          <p:nvPr>
            <p:ph type="sldNum" sz="quarter" idx="12"/>
          </p:nvPr>
        </p:nvSpPr>
        <p:spPr/>
        <p:txBody>
          <a:bodyPr/>
          <a:lstStyle/>
          <a:p>
            <a:fld id="{BC2E8B6D-A843-4976-BA70-A811246CC566}" type="slidenum">
              <a:rPr lang="en-IN" smtClean="0"/>
              <a:pPr/>
              <a:t>43</a:t>
            </a:fld>
            <a:endParaRPr lang="en-IN"/>
          </a:p>
        </p:txBody>
      </p:sp>
      <p:sp>
        <p:nvSpPr>
          <p:cNvPr id="6" name="TextBox 5">
            <a:extLst>
              <a:ext uri="{FF2B5EF4-FFF2-40B4-BE49-F238E27FC236}">
                <a16:creationId xmlns:a16="http://schemas.microsoft.com/office/drawing/2014/main" id="{6B27D612-471A-315C-A690-B129D65A953C}"/>
              </a:ext>
            </a:extLst>
          </p:cNvPr>
          <p:cNvSpPr txBox="1"/>
          <p:nvPr/>
        </p:nvSpPr>
        <p:spPr>
          <a:xfrm>
            <a:off x="839416" y="1211793"/>
            <a:ext cx="10297144" cy="4613058"/>
          </a:xfrm>
          <a:prstGeom prst="rect">
            <a:avLst/>
          </a:prstGeom>
          <a:noFill/>
        </p:spPr>
        <p:txBody>
          <a:bodyPr wrap="square">
            <a:spAutoFit/>
          </a:bodyPr>
          <a:lstStyle/>
          <a:p>
            <a:pPr marL="850900" indent="-229235" algn="just">
              <a:lnSpc>
                <a:spcPct val="150000"/>
              </a:lnSpc>
              <a:buNone/>
            </a:pPr>
            <a:r>
              <a:rPr lang="en-US" kern="1200" dirty="0">
                <a:solidFill>
                  <a:srgbClr val="3D3D3D"/>
                </a:solidFill>
                <a:effectLst/>
                <a:ea typeface="+mn-ea"/>
              </a:rPr>
              <a:t>A JFET consists of a thin bar of semiconductor material, which can be silicon or gallium arsenide. Regardless of whether it is an N-channel or P-channel JFET, the construction principles are similar:</a:t>
            </a:r>
            <a:endParaRPr lang="en-IN" sz="2400" dirty="0">
              <a:effectLst/>
              <a:ea typeface="Calibri" panose="020F0502020204030204" pitchFamily="34" charset="0"/>
            </a:endParaRPr>
          </a:p>
          <a:p>
            <a:pPr marL="342900" lvl="0" indent="-342900" algn="just" fontAlgn="base">
              <a:lnSpc>
                <a:spcPct val="150000"/>
              </a:lnSpc>
              <a:buFont typeface="Arial" panose="020B0604020202020204" pitchFamily="34" charset="0"/>
              <a:buChar char="•"/>
              <a:tabLst>
                <a:tab pos="977900" algn="l"/>
              </a:tabLst>
            </a:pPr>
            <a:r>
              <a:rPr lang="en-US" b="1" kern="1200" dirty="0">
                <a:solidFill>
                  <a:srgbClr val="3D3D3D"/>
                </a:solidFill>
                <a:effectLst/>
                <a:ea typeface="+mn-ea"/>
                <a:cs typeface="Times New Roman" panose="02020603050405020304" pitchFamily="18" charset="0"/>
              </a:rPr>
              <a:t>Semiconductor Bar:</a:t>
            </a:r>
            <a:r>
              <a:rPr lang="en-US" kern="1200" dirty="0">
                <a:solidFill>
                  <a:srgbClr val="3D3D3D"/>
                </a:solidFill>
                <a:effectLst/>
                <a:ea typeface="+mn-ea"/>
                <a:cs typeface="Times New Roman" panose="02020603050405020304" pitchFamily="18" charset="0"/>
              </a:rPr>
              <a:t> A bar of semiconductor material (N-type for N-channel and P-type for P-channel) forms the core structure.</a:t>
            </a:r>
            <a:endParaRPr lang="en-IN" sz="2400" dirty="0">
              <a:effectLst/>
              <a:ea typeface="Calibri" panose="020F0502020204030204" pitchFamily="34" charset="0"/>
              <a:cs typeface="Times New Roman" panose="02020603050405020304" pitchFamily="18" charset="0"/>
            </a:endParaRPr>
          </a:p>
          <a:p>
            <a:pPr marL="342900" lvl="0" indent="-342900" algn="just" fontAlgn="base">
              <a:lnSpc>
                <a:spcPct val="150000"/>
              </a:lnSpc>
              <a:buFont typeface="Arial" panose="020B0604020202020204" pitchFamily="34" charset="0"/>
              <a:buChar char="•"/>
              <a:tabLst>
                <a:tab pos="977900" algn="l"/>
              </a:tabLst>
            </a:pPr>
            <a:r>
              <a:rPr lang="en-US" b="1" kern="1200" dirty="0">
                <a:solidFill>
                  <a:srgbClr val="3D3D3D"/>
                </a:solidFill>
                <a:effectLst/>
                <a:ea typeface="+mn-ea"/>
                <a:cs typeface="Times New Roman" panose="02020603050405020304" pitchFamily="18" charset="0"/>
              </a:rPr>
              <a:t>P-N Junctions:</a:t>
            </a:r>
            <a:r>
              <a:rPr lang="en-US" kern="1200" dirty="0">
                <a:solidFill>
                  <a:srgbClr val="3D3D3D"/>
                </a:solidFill>
                <a:effectLst/>
                <a:ea typeface="+mn-ea"/>
                <a:cs typeface="Times New Roman" panose="02020603050405020304" pitchFamily="18" charset="0"/>
              </a:rPr>
              <a:t> Two small regions of the opposite type (P-type for N-channel and N-type for P-channel) are diffused into the bar to create PN junctions.</a:t>
            </a:r>
            <a:endParaRPr lang="en-IN" sz="2400" dirty="0">
              <a:effectLst/>
              <a:ea typeface="Calibri" panose="020F0502020204030204" pitchFamily="34" charset="0"/>
              <a:cs typeface="Times New Roman" panose="02020603050405020304" pitchFamily="18" charset="0"/>
            </a:endParaRPr>
          </a:p>
          <a:p>
            <a:pPr marL="342900" lvl="0" indent="-342900" algn="just" fontAlgn="base">
              <a:lnSpc>
                <a:spcPct val="150000"/>
              </a:lnSpc>
              <a:buFont typeface="Arial" panose="020B0604020202020204" pitchFamily="34" charset="0"/>
              <a:buChar char="•"/>
              <a:tabLst>
                <a:tab pos="977900" algn="l"/>
              </a:tabLst>
            </a:pPr>
            <a:r>
              <a:rPr lang="en-US" b="1" kern="1200" dirty="0">
                <a:solidFill>
                  <a:srgbClr val="3D3D3D"/>
                </a:solidFill>
                <a:effectLst/>
                <a:ea typeface="+mn-ea"/>
                <a:cs typeface="Times New Roman" panose="02020603050405020304" pitchFamily="18" charset="0"/>
              </a:rPr>
              <a:t>Gate Terminal:</a:t>
            </a:r>
            <a:r>
              <a:rPr lang="en-US" kern="1200" dirty="0">
                <a:solidFill>
                  <a:srgbClr val="3D3D3D"/>
                </a:solidFill>
                <a:effectLst/>
                <a:ea typeface="+mn-ea"/>
                <a:cs typeface="Times New Roman" panose="02020603050405020304" pitchFamily="18" charset="0"/>
              </a:rPr>
              <a:t> The two diffused regions are internally connected to form the gate terminal, creating a single control point for the device.</a:t>
            </a:r>
            <a:endParaRPr lang="en-IN" sz="2400" dirty="0">
              <a:effectLst/>
              <a:ea typeface="Calibri" panose="020F0502020204030204" pitchFamily="34" charset="0"/>
              <a:cs typeface="Times New Roman" panose="02020603050405020304" pitchFamily="18" charset="0"/>
            </a:endParaRPr>
          </a:p>
          <a:p>
            <a:pPr marL="342900" lvl="0" indent="-342900" algn="just" fontAlgn="base">
              <a:lnSpc>
                <a:spcPct val="150000"/>
              </a:lnSpc>
              <a:buFont typeface="Arial" panose="020B0604020202020204" pitchFamily="34" charset="0"/>
              <a:buChar char="•"/>
              <a:tabLst>
                <a:tab pos="977900" algn="l"/>
              </a:tabLst>
            </a:pPr>
            <a:r>
              <a:rPr lang="en-US" b="1" kern="1200" dirty="0">
                <a:solidFill>
                  <a:srgbClr val="3D3D3D"/>
                </a:solidFill>
                <a:effectLst/>
                <a:ea typeface="+mn-ea"/>
                <a:cs typeface="Times New Roman" panose="02020603050405020304" pitchFamily="18" charset="0"/>
              </a:rPr>
              <a:t>Ohmic Contacts:</a:t>
            </a:r>
            <a:r>
              <a:rPr lang="en-US" kern="1200" dirty="0">
                <a:solidFill>
                  <a:srgbClr val="3D3D3D"/>
                </a:solidFill>
                <a:effectLst/>
                <a:ea typeface="+mn-ea"/>
                <a:cs typeface="Times New Roman" panose="02020603050405020304" pitchFamily="18" charset="0"/>
              </a:rPr>
              <a:t> The ends of the semiconductor bar form ohmic contacts with the source and drain terminals, ensuring efficient current flow.</a:t>
            </a:r>
            <a:endParaRPr lang="en-IN" sz="2400" dirty="0">
              <a:effectLst/>
              <a:ea typeface="Calibri" panose="020F0502020204030204" pitchFamily="34" charset="0"/>
              <a:cs typeface="Times New Roman" panose="02020603050405020304" pitchFamily="18" charset="0"/>
            </a:endParaRPr>
          </a:p>
        </p:txBody>
      </p:sp>
      <p:sp>
        <p:nvSpPr>
          <p:cNvPr id="8" name="TextBox 7">
            <a:extLst>
              <a:ext uri="{FF2B5EF4-FFF2-40B4-BE49-F238E27FC236}">
                <a16:creationId xmlns:a16="http://schemas.microsoft.com/office/drawing/2014/main" id="{963699FD-066E-6AFE-4E58-FBD0FAE21DA5}"/>
              </a:ext>
            </a:extLst>
          </p:cNvPr>
          <p:cNvSpPr txBox="1"/>
          <p:nvPr/>
        </p:nvSpPr>
        <p:spPr>
          <a:xfrm>
            <a:off x="2591780" y="548680"/>
            <a:ext cx="7224464" cy="579967"/>
          </a:xfrm>
          <a:prstGeom prst="rect">
            <a:avLst/>
          </a:prstGeom>
          <a:noFill/>
        </p:spPr>
        <p:txBody>
          <a:bodyPr wrap="square">
            <a:spAutoFit/>
          </a:bodyPr>
          <a:lstStyle/>
          <a:p>
            <a:pPr lvl="1" algn="just">
              <a:lnSpc>
                <a:spcPct val="150000"/>
              </a:lnSpc>
            </a:pPr>
            <a:r>
              <a:rPr lang="en-US" sz="2400" b="1" dirty="0">
                <a:solidFill>
                  <a:srgbClr val="FF0000"/>
                </a:solidFill>
                <a:effectLst/>
                <a:ea typeface="Calibri" panose="020F0502020204030204" pitchFamily="34" charset="0"/>
              </a:rPr>
              <a:t>Field Effect Transistor Construction &amp; Types </a:t>
            </a:r>
            <a:endParaRPr lang="en-IN" sz="2400" dirty="0">
              <a:solidFill>
                <a:srgbClr val="FF0000"/>
              </a:solidFill>
              <a:effectLst/>
              <a:ea typeface="Calibri" panose="020F0502020204030204" pitchFamily="34" charset="0"/>
            </a:endParaRPr>
          </a:p>
        </p:txBody>
      </p:sp>
    </p:spTree>
    <p:extLst>
      <p:ext uri="{BB962C8B-B14F-4D97-AF65-F5344CB8AC3E}">
        <p14:creationId xmlns:p14="http://schemas.microsoft.com/office/powerpoint/2010/main" val="193458309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20000" contrast="-40000"/>
                    </a14:imgEffect>
                  </a14:imgLayer>
                </a14:imgProps>
              </a:ext>
            </a:extLst>
          </a:blip>
          <a:srcRect l="9697" t="20054" r="-1"/>
          <a:stretch>
            <a:fillRect/>
          </a:stretch>
        </p:blipFill>
        <p:spPr>
          <a:xfrm>
            <a:off x="1451484" y="980728"/>
            <a:ext cx="9289032" cy="5768568"/>
          </a:xfrm>
          <a:prstGeom prst="rect">
            <a:avLst/>
          </a:prstGeom>
        </p:spPr>
      </p:pic>
      <p:sp>
        <p:nvSpPr>
          <p:cNvPr id="3" name="Title 1">
            <a:extLst>
              <a:ext uri="{FF2B5EF4-FFF2-40B4-BE49-F238E27FC236}">
                <a16:creationId xmlns:a16="http://schemas.microsoft.com/office/drawing/2014/main" id="{2469FE6F-75B1-4C2F-E96D-FC805928AA20}"/>
              </a:ext>
            </a:extLst>
          </p:cNvPr>
          <p:cNvSpPr txBox="1">
            <a:spLocks/>
          </p:cNvSpPr>
          <p:nvPr/>
        </p:nvSpPr>
        <p:spPr>
          <a:xfrm>
            <a:off x="2423592" y="194437"/>
            <a:ext cx="7772400" cy="626165"/>
          </a:xfrm>
          <a:prstGeom prst="rect">
            <a:avLst/>
          </a:prstGeom>
          <a:noFill/>
          <a:ln>
            <a:noFill/>
          </a:ln>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rgbClr val="FF0000"/>
                </a:solidFill>
                <a:latin typeface="Times New Roman" panose="02020603050405020304" pitchFamily="18" charset="0"/>
                <a:cs typeface="Times New Roman" panose="02020603050405020304" pitchFamily="18" charset="0"/>
              </a:rPr>
              <a:t>JFET( Junction Field Effect Transistor)</a:t>
            </a:r>
          </a:p>
        </p:txBody>
      </p:sp>
    </p:spTree>
    <p:extLst>
      <p:ext uri="{BB962C8B-B14F-4D97-AF65-F5344CB8AC3E}">
        <p14:creationId xmlns:p14="http://schemas.microsoft.com/office/powerpoint/2010/main" val="69946645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rcRect l="4091" t="655" r="19589" b="1673"/>
          <a:stretch>
            <a:fillRect/>
          </a:stretch>
        </p:blipFill>
        <p:spPr>
          <a:xfrm>
            <a:off x="6960096" y="908720"/>
            <a:ext cx="4769544" cy="4032448"/>
          </a:xfrm>
          <a:prstGeom prst="rect">
            <a:avLst/>
          </a:prstGeom>
        </p:spPr>
      </p:pic>
      <p:pic>
        <p:nvPicPr>
          <p:cNvPr id="1026" name="Picture 2" descr="C:\Users\Miet Faculty\Desktop\Field-Effect-Transistor-FET.jpg"/>
          <p:cNvPicPr>
            <a:picLocks noChangeAspect="1" noChangeArrowheads="1"/>
          </p:cNvPicPr>
          <p:nvPr/>
        </p:nvPicPr>
        <p:blipFill>
          <a:blip r:embed="rId3"/>
          <a:srcRect/>
          <a:stretch>
            <a:fillRect/>
          </a:stretch>
        </p:blipFill>
        <p:spPr bwMode="auto">
          <a:xfrm>
            <a:off x="6096000" y="1844824"/>
            <a:ext cx="6043613" cy="4367213"/>
          </a:xfrm>
          <a:prstGeom prst="rect">
            <a:avLst/>
          </a:prstGeom>
          <a:noFill/>
        </p:spPr>
      </p:pic>
      <p:pic>
        <p:nvPicPr>
          <p:cNvPr id="4" name="Picture 3">
            <a:extLst>
              <a:ext uri="{FF2B5EF4-FFF2-40B4-BE49-F238E27FC236}">
                <a16:creationId xmlns:a16="http://schemas.microsoft.com/office/drawing/2014/main" id="{0620E491-E61F-5438-F085-770A289AB48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25000"/>
                    </a14:imgEffect>
                  </a14:imgLayer>
                </a14:imgProps>
              </a:ext>
            </a:extLst>
          </a:blip>
          <a:srcRect l="36406" t="43327" r="-1105" b="4854"/>
          <a:stretch>
            <a:fillRect/>
          </a:stretch>
        </p:blipFill>
        <p:spPr>
          <a:xfrm>
            <a:off x="466577" y="1772816"/>
            <a:ext cx="5272480" cy="4176464"/>
          </a:xfrm>
          <a:prstGeom prst="rect">
            <a:avLst/>
          </a:prstGeom>
        </p:spPr>
      </p:pic>
      <p:sp>
        <p:nvSpPr>
          <p:cNvPr id="5" name="Title 1"/>
          <p:cNvSpPr txBox="1">
            <a:spLocks/>
          </p:cNvSpPr>
          <p:nvPr/>
        </p:nvSpPr>
        <p:spPr>
          <a:xfrm>
            <a:off x="2567608" y="221455"/>
            <a:ext cx="7128792" cy="543249"/>
          </a:xfrm>
          <a:prstGeom prst="rect">
            <a:avLst/>
          </a:prstGeom>
          <a:solidFill>
            <a:schemeClr val="bg1"/>
          </a:solidFill>
        </p:spPr>
        <p:txBody>
          <a:bodyP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sz="2800" b="1" dirty="0">
                <a:solidFill>
                  <a:srgbClr val="FF0000"/>
                </a:solidFill>
                <a:latin typeface="+mn-lt"/>
              </a:rPr>
              <a:t>Construction of FET</a:t>
            </a:r>
          </a:p>
        </p:txBody>
      </p:sp>
    </p:spTree>
    <p:extLst>
      <p:ext uri="{BB962C8B-B14F-4D97-AF65-F5344CB8AC3E}">
        <p14:creationId xmlns:p14="http://schemas.microsoft.com/office/powerpoint/2010/main" val="14724013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3A5177-0116-42E6-9CC4-2E8C83A56867}"/>
              </a:ext>
            </a:extLst>
          </p:cNvPr>
          <p:cNvSpPr txBox="1">
            <a:spLocks/>
          </p:cNvSpPr>
          <p:nvPr/>
        </p:nvSpPr>
        <p:spPr>
          <a:xfrm>
            <a:off x="2423592" y="498579"/>
            <a:ext cx="7772400" cy="626165"/>
          </a:xfrm>
          <a:prstGeom prst="rect">
            <a:avLst/>
          </a:prstGeom>
          <a:noFill/>
          <a:ln>
            <a:noFill/>
          </a:ln>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2400" b="1" dirty="0">
                <a:solidFill>
                  <a:srgbClr val="FF0000"/>
                </a:solidFill>
                <a:latin typeface="Times New Roman" panose="02020603050405020304" pitchFamily="18" charset="0"/>
                <a:cs typeface="Times New Roman" panose="02020603050405020304" pitchFamily="18" charset="0"/>
              </a:rPr>
              <a:t>N- Channel JFET( Junction Field Effect Transistor)</a:t>
            </a:r>
            <a:endParaRPr lang="en-US" sz="2400" dirty="0">
              <a:solidFill>
                <a:srgbClr val="FF0000"/>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64B751DE-240F-42FB-8108-2A5D5B802030}"/>
              </a:ext>
            </a:extLst>
          </p:cNvPr>
          <p:cNvSpPr/>
          <p:nvPr/>
        </p:nvSpPr>
        <p:spPr>
          <a:xfrm>
            <a:off x="839416" y="1484784"/>
            <a:ext cx="6156684" cy="4708981"/>
          </a:xfrm>
          <a:prstGeom prst="rect">
            <a:avLst/>
          </a:prstGeom>
        </p:spPr>
        <p:txBody>
          <a:bodyPr wrap="square">
            <a:spAutoFit/>
          </a:bodyPr>
          <a:lstStyle/>
          <a:p>
            <a:pPr lvl="0" algn="just"/>
            <a:r>
              <a:rPr lang="en-US" sz="2000" dirty="0"/>
              <a:t>Major structure is n-type material (channel) between embedded p-type material to form 2 p-n junctions.</a:t>
            </a:r>
            <a:r>
              <a:rPr lang="en-IN" sz="2000" dirty="0"/>
              <a:t> </a:t>
            </a:r>
            <a:r>
              <a:rPr lang="en-US" sz="2000" dirty="0"/>
              <a:t>In the normal operation of an n-channel device, the Drain (D) is positive with respect to the Source (S). Current flows into the Drain (D), through the channel, and out of the Source (S).</a:t>
            </a:r>
            <a:r>
              <a:rPr lang="en-IN" sz="2000" dirty="0"/>
              <a:t> </a:t>
            </a:r>
            <a:r>
              <a:rPr lang="en-US" sz="2000" dirty="0"/>
              <a:t>Electrons injected to Source (S) through p-type channel and flowed to Drain (D). I</a:t>
            </a:r>
            <a:r>
              <a:rPr lang="en-US" sz="2000" baseline="-25000" dirty="0"/>
              <a:t>D</a:t>
            </a:r>
            <a:r>
              <a:rPr lang="en-US" sz="2000" dirty="0"/>
              <a:t> increases for positive V</a:t>
            </a:r>
            <a:r>
              <a:rPr lang="en-US" sz="2000" baseline="-25000" dirty="0"/>
              <a:t>GS.</a:t>
            </a:r>
            <a:endParaRPr lang="en-IN" sz="2000" dirty="0"/>
          </a:p>
          <a:p>
            <a:pPr marL="285750" indent="-285750" algn="just">
              <a:buFont typeface="Arial" panose="020B0604020202020204" pitchFamily="34" charset="0"/>
              <a:buChar char="•"/>
            </a:pPr>
            <a:endParaRPr lang="en-US" sz="2000" dirty="0">
              <a:ea typeface="Calibri" panose="020F0502020204030204" pitchFamily="34" charset="0"/>
            </a:endParaRPr>
          </a:p>
          <a:p>
            <a:pPr marL="285750" indent="-285750" algn="just">
              <a:buFont typeface="Arial" panose="020B0604020202020204" pitchFamily="34" charset="0"/>
              <a:buChar char="•"/>
            </a:pPr>
            <a:r>
              <a:rPr lang="en-US" sz="2000" dirty="0">
                <a:ea typeface="Calibri" panose="020F0502020204030204" pitchFamily="34" charset="0"/>
              </a:rPr>
              <a:t>On both side of base two heavily doped p regions are formed.</a:t>
            </a:r>
          </a:p>
          <a:p>
            <a:pPr marL="285750" indent="-285750" algn="just">
              <a:buFont typeface="Arial" panose="020B0604020202020204" pitchFamily="34" charset="0"/>
              <a:buChar char="•"/>
            </a:pPr>
            <a:r>
              <a:rPr lang="en-US" sz="2000" dirty="0">
                <a:ea typeface="Calibri" panose="020F0502020204030204" pitchFamily="34" charset="0"/>
                <a:cs typeface="Mangal" panose="02040503050203030202" pitchFamily="18" charset="0"/>
              </a:rPr>
              <a:t>So, two p-n junction is formed which are internally connected by a gate terminal. Other two terminal are drain and source.</a:t>
            </a:r>
            <a:endParaRPr lang="en-IN" sz="2000" dirty="0">
              <a:ea typeface="Calibri" panose="020F0502020204030204" pitchFamily="34" charset="0"/>
              <a:cs typeface="Mangal" panose="02040503050203030202" pitchFamily="18" charset="0"/>
            </a:endParaRPr>
          </a:p>
          <a:p>
            <a:pPr marL="285750" indent="-285750" algn="just">
              <a:buFont typeface="Arial" panose="020B0604020202020204" pitchFamily="34" charset="0"/>
              <a:buChar char="•"/>
            </a:pPr>
            <a:endParaRPr lang="en-IN" sz="2000" dirty="0"/>
          </a:p>
        </p:txBody>
      </p:sp>
      <p:pic>
        <p:nvPicPr>
          <p:cNvPr id="11" name="Picture 10">
            <a:extLst>
              <a:ext uri="{FF2B5EF4-FFF2-40B4-BE49-F238E27FC236}">
                <a16:creationId xmlns:a16="http://schemas.microsoft.com/office/drawing/2014/main" id="{05392D78-17AF-4B99-A0FB-327C91BB3D7C}"/>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7752184" y="1844824"/>
            <a:ext cx="3200400" cy="4108746"/>
          </a:xfrm>
          <a:prstGeom prst="rect">
            <a:avLst/>
          </a:prstGeom>
          <a:noFill/>
          <a:ln>
            <a:noFill/>
          </a:ln>
        </p:spPr>
      </p:pic>
    </p:spTree>
    <p:extLst>
      <p:ext uri="{BB962C8B-B14F-4D97-AF65-F5344CB8AC3E}">
        <p14:creationId xmlns:p14="http://schemas.microsoft.com/office/powerpoint/2010/main" val="32816719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20000" contrast="-40000"/>
                    </a14:imgEffect>
                  </a14:imgLayer>
                </a14:imgProps>
              </a:ext>
            </a:extLst>
          </a:blip>
          <a:srcRect l="825" t="16026" b="1554"/>
          <a:stretch>
            <a:fillRect/>
          </a:stretch>
        </p:blipFill>
        <p:spPr>
          <a:xfrm>
            <a:off x="1559496" y="1124744"/>
            <a:ext cx="8657902" cy="5184576"/>
          </a:xfrm>
          <a:prstGeom prst="rect">
            <a:avLst/>
          </a:prstGeom>
        </p:spPr>
      </p:pic>
    </p:spTree>
    <p:extLst>
      <p:ext uri="{BB962C8B-B14F-4D97-AF65-F5344CB8AC3E}">
        <p14:creationId xmlns:p14="http://schemas.microsoft.com/office/powerpoint/2010/main" val="51905343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Layer>
                </a14:imgProps>
              </a:ext>
            </a:extLst>
          </a:blip>
          <a:srcRect l="699" t="24187"/>
          <a:stretch>
            <a:fillRect/>
          </a:stretch>
        </p:blipFill>
        <p:spPr>
          <a:xfrm>
            <a:off x="982364" y="1844824"/>
            <a:ext cx="10227272" cy="3836856"/>
          </a:xfrm>
          <a:prstGeom prst="rect">
            <a:avLst/>
          </a:prstGeom>
        </p:spPr>
      </p:pic>
    </p:spTree>
    <p:extLst>
      <p:ext uri="{BB962C8B-B14F-4D97-AF65-F5344CB8AC3E}">
        <p14:creationId xmlns:p14="http://schemas.microsoft.com/office/powerpoint/2010/main" val="41872224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986212" y="69378"/>
            <a:ext cx="4219575" cy="695325"/>
          </a:xfrm>
          <a:prstGeom prst="rect">
            <a:avLst/>
          </a:prstGeom>
        </p:spPr>
      </p:pic>
      <p:pic>
        <p:nvPicPr>
          <p:cNvPr id="3" name="Picture 2"/>
          <p:cNvPicPr>
            <a:picLocks noChangeAspect="1"/>
          </p:cNvPicPr>
          <p:nvPr/>
        </p:nvPicPr>
        <p:blipFill>
          <a:blip r:embed="rId3"/>
          <a:srcRect r="13754" b="53278"/>
          <a:stretch>
            <a:fillRect/>
          </a:stretch>
        </p:blipFill>
        <p:spPr>
          <a:xfrm>
            <a:off x="2063552" y="836712"/>
            <a:ext cx="7488832" cy="2520280"/>
          </a:xfrm>
          <a:prstGeom prst="rect">
            <a:avLst/>
          </a:prstGeom>
        </p:spPr>
      </p:pic>
      <p:pic>
        <p:nvPicPr>
          <p:cNvPr id="4" name="Picture 3">
            <a:extLst>
              <a:ext uri="{FF2B5EF4-FFF2-40B4-BE49-F238E27FC236}">
                <a16:creationId xmlns:a16="http://schemas.microsoft.com/office/drawing/2014/main" id="{9C90DA28-67C9-0067-20CA-4A0EA261CA93}"/>
              </a:ext>
            </a:extLst>
          </p:cNvPr>
          <p:cNvPicPr>
            <a:picLocks noChangeAspect="1"/>
          </p:cNvPicPr>
          <p:nvPr/>
        </p:nvPicPr>
        <p:blipFill>
          <a:blip r:embed="rId4">
            <a:extLst>
              <a:ext uri="{BEBA8EAE-BF5A-486C-A8C5-ECC9F3942E4B}">
                <a14:imgProps xmlns:a14="http://schemas.microsoft.com/office/drawing/2010/main">
                  <a14:imgLayer r:embed="rId5">
                    <a14:imgEffect>
                      <a14:sharpenSoften amount="50000"/>
                    </a14:imgEffect>
                  </a14:imgLayer>
                </a14:imgProps>
              </a:ext>
            </a:extLst>
          </a:blip>
          <a:srcRect l="34734" t="44666" r="8874" b="823"/>
          <a:stretch>
            <a:fillRect/>
          </a:stretch>
        </p:blipFill>
        <p:spPr>
          <a:xfrm>
            <a:off x="4583832" y="3260230"/>
            <a:ext cx="5875851" cy="3528392"/>
          </a:xfrm>
          <a:prstGeom prst="rect">
            <a:avLst/>
          </a:prstGeom>
        </p:spPr>
      </p:pic>
    </p:spTree>
    <p:extLst>
      <p:ext uri="{BB962C8B-B14F-4D97-AF65-F5344CB8AC3E}">
        <p14:creationId xmlns:p14="http://schemas.microsoft.com/office/powerpoint/2010/main" val="383880579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3504086" y="387927"/>
            <a:ext cx="4210050" cy="762000"/>
          </a:xfrm>
          <a:prstGeom prst="rect">
            <a:avLst/>
          </a:prstGeom>
        </p:spPr>
      </p:pic>
      <p:pic>
        <p:nvPicPr>
          <p:cNvPr id="3" name="Picture 2"/>
          <p:cNvPicPr>
            <a:picLocks noChangeAspect="1"/>
          </p:cNvPicPr>
          <p:nvPr/>
        </p:nvPicPr>
        <p:blipFill>
          <a:blip r:embed="rId3">
            <a:extLst>
              <a:ext uri="{BEBA8EAE-BF5A-486C-A8C5-ECC9F3942E4B}">
                <a14:imgProps xmlns:a14="http://schemas.microsoft.com/office/drawing/2010/main">
                  <a14:imgLayer r:embed="rId4">
                    <a14:imgEffect>
                      <a14:sharpenSoften amount="25000"/>
                    </a14:imgEffect>
                    <a14:imgEffect>
                      <a14:saturation sat="200000"/>
                    </a14:imgEffect>
                  </a14:imgLayer>
                </a14:imgProps>
              </a:ext>
            </a:extLst>
          </a:blip>
          <a:srcRect l="13053" t="17353" r="9937" b="10609"/>
          <a:stretch>
            <a:fillRect/>
          </a:stretch>
        </p:blipFill>
        <p:spPr>
          <a:xfrm>
            <a:off x="1991544" y="1484784"/>
            <a:ext cx="8496944" cy="4531703"/>
          </a:xfrm>
          <a:prstGeom prst="rect">
            <a:avLst/>
          </a:prstGeom>
        </p:spPr>
      </p:pic>
    </p:spTree>
    <p:extLst>
      <p:ext uri="{BB962C8B-B14F-4D97-AF65-F5344CB8AC3E}">
        <p14:creationId xmlns:p14="http://schemas.microsoft.com/office/powerpoint/2010/main" val="139516946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29A452-4934-3985-D962-196F3F5587C3}"/>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3496D2AB-CDF2-6C69-5F8B-5D65D783E155}"/>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D73352BF-9A96-7998-C118-D196FCA48E40}"/>
              </a:ext>
            </a:extLst>
          </p:cNvPr>
          <p:cNvSpPr>
            <a:spLocks noGrp="1"/>
          </p:cNvSpPr>
          <p:nvPr>
            <p:ph type="sldNum" sz="quarter" idx="12"/>
          </p:nvPr>
        </p:nvSpPr>
        <p:spPr/>
        <p:txBody>
          <a:bodyPr/>
          <a:lstStyle/>
          <a:p>
            <a:fld id="{BC2E8B6D-A843-4976-BA70-A811246CC566}" type="slidenum">
              <a:rPr lang="en-IN" smtClean="0"/>
              <a:pPr/>
              <a:t>51</a:t>
            </a:fld>
            <a:endParaRPr lang="en-IN"/>
          </a:p>
        </p:txBody>
      </p:sp>
      <p:pic>
        <p:nvPicPr>
          <p:cNvPr id="5" name="Picture 4">
            <a:extLst>
              <a:ext uri="{FF2B5EF4-FFF2-40B4-BE49-F238E27FC236}">
                <a16:creationId xmlns:a16="http://schemas.microsoft.com/office/drawing/2014/main" id="{DD1D1D1C-95F2-505C-B799-6A681D9B8ADF}"/>
              </a:ext>
            </a:extLst>
          </p:cNvPr>
          <p:cNvPicPr>
            <a:picLocks noChangeAspect="1"/>
          </p:cNvPicPr>
          <p:nvPr/>
        </p:nvPicPr>
        <p:blipFill>
          <a:blip r:embed="rId2"/>
          <a:srcRect l="4518" t="2024" r="3307"/>
          <a:stretch>
            <a:fillRect/>
          </a:stretch>
        </p:blipFill>
        <p:spPr>
          <a:xfrm>
            <a:off x="2423592" y="548680"/>
            <a:ext cx="7344816" cy="5447632"/>
          </a:xfrm>
          <a:prstGeom prst="rect">
            <a:avLst/>
          </a:prstGeom>
        </p:spPr>
      </p:pic>
    </p:spTree>
    <p:extLst>
      <p:ext uri="{BB962C8B-B14F-4D97-AF65-F5344CB8AC3E}">
        <p14:creationId xmlns:p14="http://schemas.microsoft.com/office/powerpoint/2010/main" val="253121771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3226" t="-2417" r="-3226" b="2417"/>
          <a:stretch>
            <a:fillRect/>
          </a:stretch>
        </p:blipFill>
        <p:spPr>
          <a:xfrm>
            <a:off x="2495600" y="188640"/>
            <a:ext cx="8929192" cy="5957603"/>
          </a:xfrm>
          <a:prstGeom prst="rect">
            <a:avLst/>
          </a:prstGeom>
        </p:spPr>
      </p:pic>
    </p:spTree>
    <p:extLst>
      <p:ext uri="{BB962C8B-B14F-4D97-AF65-F5344CB8AC3E}">
        <p14:creationId xmlns:p14="http://schemas.microsoft.com/office/powerpoint/2010/main" val="9133344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4770" t="-235"/>
          <a:stretch>
            <a:fillRect/>
          </a:stretch>
        </p:blipFill>
        <p:spPr>
          <a:xfrm>
            <a:off x="2351584" y="124351"/>
            <a:ext cx="8625608" cy="6609298"/>
          </a:xfrm>
          <a:prstGeom prst="rect">
            <a:avLst/>
          </a:prstGeom>
        </p:spPr>
      </p:pic>
    </p:spTree>
    <p:extLst>
      <p:ext uri="{BB962C8B-B14F-4D97-AF65-F5344CB8AC3E}">
        <p14:creationId xmlns:p14="http://schemas.microsoft.com/office/powerpoint/2010/main" val="16604329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432832" y="548680"/>
            <a:ext cx="9326336" cy="6161034"/>
          </a:xfrm>
          <a:prstGeom prst="rect">
            <a:avLst/>
          </a:prstGeom>
        </p:spPr>
      </p:pic>
    </p:spTree>
    <p:extLst>
      <p:ext uri="{BB962C8B-B14F-4D97-AF65-F5344CB8AC3E}">
        <p14:creationId xmlns:p14="http://schemas.microsoft.com/office/powerpoint/2010/main" val="23719955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rcRect l="3244" t="-66"/>
          <a:stretch>
            <a:fillRect/>
          </a:stretch>
        </p:blipFill>
        <p:spPr>
          <a:xfrm>
            <a:off x="1991544" y="562566"/>
            <a:ext cx="9184943" cy="5818762"/>
          </a:xfrm>
          <a:prstGeom prst="rect">
            <a:avLst/>
          </a:prstGeom>
        </p:spPr>
      </p:pic>
    </p:spTree>
    <p:extLst>
      <p:ext uri="{BB962C8B-B14F-4D97-AF65-F5344CB8AC3E}">
        <p14:creationId xmlns:p14="http://schemas.microsoft.com/office/powerpoint/2010/main" val="124248007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279576" y="332656"/>
            <a:ext cx="9492652" cy="6395050"/>
          </a:xfrm>
          <a:prstGeom prst="rect">
            <a:avLst/>
          </a:prstGeom>
        </p:spPr>
      </p:pic>
    </p:spTree>
    <p:extLst>
      <p:ext uri="{BB962C8B-B14F-4D97-AF65-F5344CB8AC3E}">
        <p14:creationId xmlns:p14="http://schemas.microsoft.com/office/powerpoint/2010/main" val="219616604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FBEB4A-1E05-D71A-20DF-46DE432C45B6}"/>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D1F524AB-832C-E8EB-D7BA-154B235DEB3B}"/>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A885AAA2-2E5C-1FDE-F586-0A087833CD00}"/>
              </a:ext>
            </a:extLst>
          </p:cNvPr>
          <p:cNvSpPr>
            <a:spLocks noGrp="1"/>
          </p:cNvSpPr>
          <p:nvPr>
            <p:ph type="sldNum" sz="quarter" idx="12"/>
          </p:nvPr>
        </p:nvSpPr>
        <p:spPr/>
        <p:txBody>
          <a:bodyPr/>
          <a:lstStyle/>
          <a:p>
            <a:fld id="{BC2E8B6D-A843-4976-BA70-A811246CC566}" type="slidenum">
              <a:rPr lang="en-IN" smtClean="0"/>
              <a:pPr/>
              <a:t>57</a:t>
            </a:fld>
            <a:endParaRPr lang="en-IN"/>
          </a:p>
        </p:txBody>
      </p:sp>
      <p:pic>
        <p:nvPicPr>
          <p:cNvPr id="9" name="Picture 8">
            <a:extLst>
              <a:ext uri="{FF2B5EF4-FFF2-40B4-BE49-F238E27FC236}">
                <a16:creationId xmlns:a16="http://schemas.microsoft.com/office/drawing/2014/main" id="{F1C827A5-8FAB-E7E2-64B2-DC092344E2AD}"/>
              </a:ext>
            </a:extLst>
          </p:cNvPr>
          <p:cNvPicPr>
            <a:picLocks noChangeAspect="1"/>
          </p:cNvPicPr>
          <p:nvPr/>
        </p:nvPicPr>
        <p:blipFill>
          <a:blip r:embed="rId2">
            <a:duotone>
              <a:schemeClr val="accent1">
                <a:shade val="45000"/>
                <a:satMod val="135000"/>
              </a:schemeClr>
              <a:prstClr val="white"/>
            </a:duotone>
          </a:blip>
          <a:stretch>
            <a:fillRect/>
          </a:stretch>
        </p:blipFill>
        <p:spPr>
          <a:xfrm>
            <a:off x="2399784" y="1742839"/>
            <a:ext cx="7392432" cy="3372321"/>
          </a:xfrm>
          <a:prstGeom prst="rect">
            <a:avLst/>
          </a:prstGeom>
        </p:spPr>
      </p:pic>
    </p:spTree>
    <p:extLst>
      <p:ext uri="{BB962C8B-B14F-4D97-AF65-F5344CB8AC3E}">
        <p14:creationId xmlns:p14="http://schemas.microsoft.com/office/powerpoint/2010/main" val="216959542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C6ACF0F-CCCF-74F9-FF1F-F5988AEFC07D}"/>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E1C3425F-E377-9E67-6E04-4403E205BFBD}"/>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01184ECB-F07C-24A9-057F-CDE1E77B9AC8}"/>
              </a:ext>
            </a:extLst>
          </p:cNvPr>
          <p:cNvSpPr>
            <a:spLocks noGrp="1"/>
          </p:cNvSpPr>
          <p:nvPr>
            <p:ph type="sldNum" sz="quarter" idx="12"/>
          </p:nvPr>
        </p:nvSpPr>
        <p:spPr/>
        <p:txBody>
          <a:bodyPr/>
          <a:lstStyle/>
          <a:p>
            <a:fld id="{BC2E8B6D-A843-4976-BA70-A811246CC566}" type="slidenum">
              <a:rPr lang="en-IN" smtClean="0"/>
              <a:pPr/>
              <a:t>58</a:t>
            </a:fld>
            <a:endParaRPr lang="en-IN"/>
          </a:p>
        </p:txBody>
      </p:sp>
      <p:pic>
        <p:nvPicPr>
          <p:cNvPr id="6" name="Picture 5">
            <a:extLst>
              <a:ext uri="{FF2B5EF4-FFF2-40B4-BE49-F238E27FC236}">
                <a16:creationId xmlns:a16="http://schemas.microsoft.com/office/drawing/2014/main" id="{60E758C0-EC38-B508-3D94-40A80750CE96}"/>
              </a:ext>
            </a:extLst>
          </p:cNvPr>
          <p:cNvPicPr>
            <a:picLocks noChangeAspect="1"/>
          </p:cNvPicPr>
          <p:nvPr/>
        </p:nvPicPr>
        <p:blipFill>
          <a:blip r:embed="rId2">
            <a:duotone>
              <a:schemeClr val="accent1">
                <a:shade val="45000"/>
                <a:satMod val="135000"/>
              </a:schemeClr>
              <a:prstClr val="white"/>
            </a:duotone>
          </a:blip>
          <a:stretch>
            <a:fillRect/>
          </a:stretch>
        </p:blipFill>
        <p:spPr>
          <a:xfrm>
            <a:off x="2204494" y="1061707"/>
            <a:ext cx="7783011" cy="4734586"/>
          </a:xfrm>
          <a:prstGeom prst="rect">
            <a:avLst/>
          </a:prstGeom>
        </p:spPr>
      </p:pic>
    </p:spTree>
    <p:extLst>
      <p:ext uri="{BB962C8B-B14F-4D97-AF65-F5344CB8AC3E}">
        <p14:creationId xmlns:p14="http://schemas.microsoft.com/office/powerpoint/2010/main" val="340859821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11C5C029-78C0-B895-E4E0-9CAE5940A732}"/>
              </a:ext>
            </a:extLst>
          </p:cNvPr>
          <p:cNvSpPr>
            <a:spLocks noGrp="1" noChangeArrowheads="1"/>
          </p:cNvSpPr>
          <p:nvPr>
            <p:ph type="title"/>
          </p:nvPr>
        </p:nvSpPr>
        <p:spPr/>
        <p:txBody>
          <a:bodyPr/>
          <a:lstStyle/>
          <a:p>
            <a:r>
              <a:rPr lang="en-US" altLang="en-US"/>
              <a:t>MOSFET </a:t>
            </a:r>
            <a:r>
              <a:rPr lang="en-US" altLang="en-US">
                <a:solidFill>
                  <a:schemeClr val="tx1"/>
                </a:solidFill>
              </a:rPr>
              <a:t>(Types)</a:t>
            </a:r>
          </a:p>
        </p:txBody>
      </p:sp>
      <p:sp>
        <p:nvSpPr>
          <p:cNvPr id="25603" name="Rectangle 3">
            <a:extLst>
              <a:ext uri="{FF2B5EF4-FFF2-40B4-BE49-F238E27FC236}">
                <a16:creationId xmlns:a16="http://schemas.microsoft.com/office/drawing/2014/main" id="{8C8215F2-514F-346B-FF4D-D26D3BF93DE9}"/>
              </a:ext>
            </a:extLst>
          </p:cNvPr>
          <p:cNvSpPr>
            <a:spLocks noGrp="1" noChangeArrowheads="1"/>
          </p:cNvSpPr>
          <p:nvPr>
            <p:ph type="body" idx="1"/>
          </p:nvPr>
        </p:nvSpPr>
        <p:spPr>
          <a:xfrm>
            <a:off x="526867" y="1336985"/>
            <a:ext cx="11544291" cy="4972335"/>
          </a:xfrm>
        </p:spPr>
        <p:txBody>
          <a:bodyPr>
            <a:normAutofit/>
          </a:bodyPr>
          <a:lstStyle/>
          <a:p>
            <a:r>
              <a:rPr lang="en-IN" sz="2400" dirty="0"/>
              <a:t>MOSFET: Metal-Oxide-Semiconductor Field Effect Transistor</a:t>
            </a:r>
          </a:p>
          <a:p>
            <a:r>
              <a:rPr lang="en-IN" sz="2400" dirty="0"/>
              <a:t>Voltage-controlled device</a:t>
            </a:r>
          </a:p>
          <a:p>
            <a:r>
              <a:rPr lang="en-IN" sz="2400" dirty="0"/>
              <a:t>Two main types: Enhancement (E-type) and Depletion (D-type)</a:t>
            </a:r>
          </a:p>
          <a:p>
            <a:r>
              <a:rPr lang="en-US" altLang="en-US" sz="2400" dirty="0"/>
              <a:t>Four types:</a:t>
            </a:r>
          </a:p>
          <a:p>
            <a:pPr lvl="1"/>
            <a:r>
              <a:rPr lang="en-US" altLang="en-US" sz="2400" dirty="0"/>
              <a:t>n-channel enhancement mode</a:t>
            </a:r>
          </a:p>
          <a:p>
            <a:pPr lvl="3"/>
            <a:r>
              <a:rPr lang="en-US" altLang="en-US" sz="1800" dirty="0"/>
              <a:t>Most common since it is cheapest to manufacture</a:t>
            </a:r>
          </a:p>
          <a:p>
            <a:pPr lvl="1"/>
            <a:r>
              <a:rPr lang="en-US" altLang="en-US" sz="2400" dirty="0"/>
              <a:t>p-channel enhancement mode</a:t>
            </a:r>
          </a:p>
          <a:p>
            <a:pPr lvl="1"/>
            <a:r>
              <a:rPr lang="en-US" altLang="en-US" sz="2400" dirty="0"/>
              <a:t>n-channel depletion mode </a:t>
            </a:r>
          </a:p>
          <a:p>
            <a:pPr lvl="1"/>
            <a:r>
              <a:rPr lang="en-US" altLang="en-US" sz="2400" dirty="0"/>
              <a:t>p-channel depletion mode</a:t>
            </a:r>
            <a:endParaRPr lang="en-US" altLang="en-US"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CB7905D0-245F-0A64-5969-348B24AE71D7}"/>
              </a:ext>
            </a:extLst>
          </p:cNvPr>
          <p:cNvSpPr>
            <a:spLocks noGrp="1" noChangeArrowheads="1"/>
          </p:cNvSpPr>
          <p:nvPr>
            <p:ph type="ctrTitle"/>
          </p:nvPr>
        </p:nvSpPr>
        <p:spPr>
          <a:xfrm>
            <a:off x="2590800" y="-457200"/>
            <a:ext cx="7772400" cy="1470025"/>
          </a:xfrm>
        </p:spPr>
        <p:txBody>
          <a:bodyPr/>
          <a:lstStyle/>
          <a:p>
            <a:r>
              <a:rPr lang="en-US" altLang="en-US" dirty="0">
                <a:solidFill>
                  <a:srgbClr val="6600FF"/>
                </a:solidFill>
              </a:rPr>
              <a:t>MOSFETCONSTRUCTION</a:t>
            </a:r>
          </a:p>
        </p:txBody>
      </p:sp>
      <p:sp>
        <p:nvSpPr>
          <p:cNvPr id="2054" name="Text Box 6">
            <a:extLst>
              <a:ext uri="{FF2B5EF4-FFF2-40B4-BE49-F238E27FC236}">
                <a16:creationId xmlns:a16="http://schemas.microsoft.com/office/drawing/2014/main" id="{141E1CD7-FFE4-DCF2-E6F3-63B6C87A5EDC}"/>
              </a:ext>
            </a:extLst>
          </p:cNvPr>
          <p:cNvSpPr txBox="1">
            <a:spLocks noChangeArrowheads="1"/>
          </p:cNvSpPr>
          <p:nvPr/>
        </p:nvSpPr>
        <p:spPr bwMode="auto">
          <a:xfrm>
            <a:off x="1981200" y="5410200"/>
            <a:ext cx="1752600"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1"/>
              <a:t>Symbols of MOSFET</a:t>
            </a:r>
          </a:p>
        </p:txBody>
      </p:sp>
      <p:pic>
        <p:nvPicPr>
          <p:cNvPr id="2055" name="Picture 7">
            <a:extLst>
              <a:ext uri="{FF2B5EF4-FFF2-40B4-BE49-F238E27FC236}">
                <a16:creationId xmlns:a16="http://schemas.microsoft.com/office/drawing/2014/main" id="{4FBCD4F5-7C87-30E7-AFEC-9ED0EE4A0E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2139" y="806450"/>
            <a:ext cx="76200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Subtitle 2">
            <a:extLst>
              <a:ext uri="{FF2B5EF4-FFF2-40B4-BE49-F238E27FC236}">
                <a16:creationId xmlns:a16="http://schemas.microsoft.com/office/drawing/2014/main" id="{27927A05-F45E-1C3D-2A79-326FD203882B}"/>
              </a:ext>
            </a:extLst>
          </p:cNvPr>
          <p:cNvSpPr>
            <a:spLocks noGrp="1"/>
          </p:cNvSpPr>
          <p:nvPr>
            <p:ph type="subTitle" idx="1"/>
          </p:nvPr>
        </p:nvSpPr>
        <p:spPr>
          <a:xfrm>
            <a:off x="1828800" y="3886200"/>
            <a:ext cx="8534400" cy="2819400"/>
          </a:xfrm>
        </p:spPr>
        <p:txBody>
          <a:bodyPr/>
          <a:lstStyle/>
          <a:p>
            <a:r>
              <a:rPr lang="en-IN" b="1" dirty="0"/>
              <a:t>MOSFET</a:t>
            </a:r>
          </a:p>
        </p:txBody>
      </p:sp>
      <p:grpSp>
        <p:nvGrpSpPr>
          <p:cNvPr id="25604" name="Group 4">
            <a:extLst>
              <a:ext uri="{FF2B5EF4-FFF2-40B4-BE49-F238E27FC236}">
                <a16:creationId xmlns:a16="http://schemas.microsoft.com/office/drawing/2014/main" id="{5351B45A-4C8D-C59B-A736-E86EBF908B0A}"/>
              </a:ext>
            </a:extLst>
          </p:cNvPr>
          <p:cNvGrpSpPr>
            <a:grpSpLocks/>
          </p:cNvGrpSpPr>
          <p:nvPr/>
        </p:nvGrpSpPr>
        <p:grpSpPr bwMode="auto">
          <a:xfrm>
            <a:off x="3647728" y="4652962"/>
            <a:ext cx="5511800" cy="1514475"/>
            <a:chOff x="1296" y="2928"/>
            <a:chExt cx="3663" cy="1200"/>
          </a:xfrm>
        </p:grpSpPr>
        <p:sp>
          <p:nvSpPr>
            <p:cNvPr id="25605" name="Line 5">
              <a:extLst>
                <a:ext uri="{FF2B5EF4-FFF2-40B4-BE49-F238E27FC236}">
                  <a16:creationId xmlns:a16="http://schemas.microsoft.com/office/drawing/2014/main" id="{829B4E1A-0F2C-A875-67C0-62623FB980FD}"/>
                </a:ext>
              </a:extLst>
            </p:cNvPr>
            <p:cNvSpPr>
              <a:spLocks noChangeShapeType="1"/>
            </p:cNvSpPr>
            <p:nvPr/>
          </p:nvSpPr>
          <p:spPr bwMode="auto">
            <a:xfrm>
              <a:off x="1296" y="3312"/>
              <a:ext cx="288" cy="1"/>
            </a:xfrm>
            <a:prstGeom prst="line">
              <a:avLst/>
            </a:prstGeom>
            <a:noFill/>
            <a:ln w="127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6" name="Line 6">
              <a:extLst>
                <a:ext uri="{FF2B5EF4-FFF2-40B4-BE49-F238E27FC236}">
                  <a16:creationId xmlns:a16="http://schemas.microsoft.com/office/drawing/2014/main" id="{71FF031B-9305-9EA6-059B-B4F10A82F7C9}"/>
                </a:ext>
              </a:extLst>
            </p:cNvPr>
            <p:cNvSpPr>
              <a:spLocks noChangeShapeType="1"/>
            </p:cNvSpPr>
            <p:nvPr/>
          </p:nvSpPr>
          <p:spPr bwMode="auto">
            <a:xfrm>
              <a:off x="1584" y="3168"/>
              <a:ext cx="1"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7" name="Line 7">
              <a:extLst>
                <a:ext uri="{FF2B5EF4-FFF2-40B4-BE49-F238E27FC236}">
                  <a16:creationId xmlns:a16="http://schemas.microsoft.com/office/drawing/2014/main" id="{E0E21ACC-D184-B004-3DBE-B15EB68D1591}"/>
                </a:ext>
              </a:extLst>
            </p:cNvPr>
            <p:cNvSpPr>
              <a:spLocks noChangeShapeType="1"/>
            </p:cNvSpPr>
            <p:nvPr/>
          </p:nvSpPr>
          <p:spPr bwMode="auto">
            <a:xfrm>
              <a:off x="1632" y="3120"/>
              <a:ext cx="1" cy="38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8" name="Line 8">
              <a:extLst>
                <a:ext uri="{FF2B5EF4-FFF2-40B4-BE49-F238E27FC236}">
                  <a16:creationId xmlns:a16="http://schemas.microsoft.com/office/drawing/2014/main" id="{A0A340F6-8462-1B0E-A636-2BC97805E942}"/>
                </a:ext>
              </a:extLst>
            </p:cNvPr>
            <p:cNvSpPr>
              <a:spLocks noChangeShapeType="1"/>
            </p:cNvSpPr>
            <p:nvPr/>
          </p:nvSpPr>
          <p:spPr bwMode="auto">
            <a:xfrm>
              <a:off x="1632" y="3168"/>
              <a:ext cx="19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09" name="Line 9">
              <a:extLst>
                <a:ext uri="{FF2B5EF4-FFF2-40B4-BE49-F238E27FC236}">
                  <a16:creationId xmlns:a16="http://schemas.microsoft.com/office/drawing/2014/main" id="{8BD18D8A-6A26-2395-FD8B-FE14602B0FDE}"/>
                </a:ext>
              </a:extLst>
            </p:cNvPr>
            <p:cNvSpPr>
              <a:spLocks noChangeShapeType="1"/>
            </p:cNvSpPr>
            <p:nvPr/>
          </p:nvSpPr>
          <p:spPr bwMode="auto">
            <a:xfrm flipV="1">
              <a:off x="1824" y="2928"/>
              <a:ext cx="1" cy="240"/>
            </a:xfrm>
            <a:prstGeom prst="line">
              <a:avLst/>
            </a:prstGeom>
            <a:noFill/>
            <a:ln w="127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0" name="Line 10">
              <a:extLst>
                <a:ext uri="{FF2B5EF4-FFF2-40B4-BE49-F238E27FC236}">
                  <a16:creationId xmlns:a16="http://schemas.microsoft.com/office/drawing/2014/main" id="{1D102669-B62D-7678-467A-AA9133626790}"/>
                </a:ext>
              </a:extLst>
            </p:cNvPr>
            <p:cNvSpPr>
              <a:spLocks noChangeShapeType="1"/>
            </p:cNvSpPr>
            <p:nvPr/>
          </p:nvSpPr>
          <p:spPr bwMode="auto">
            <a:xfrm>
              <a:off x="1632" y="3456"/>
              <a:ext cx="192" cy="1"/>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1" name="Line 11">
              <a:extLst>
                <a:ext uri="{FF2B5EF4-FFF2-40B4-BE49-F238E27FC236}">
                  <a16:creationId xmlns:a16="http://schemas.microsoft.com/office/drawing/2014/main" id="{768DFE08-A94F-EB70-2EB9-EA4F4005DE96}"/>
                </a:ext>
              </a:extLst>
            </p:cNvPr>
            <p:cNvSpPr>
              <a:spLocks noChangeShapeType="1"/>
            </p:cNvSpPr>
            <p:nvPr/>
          </p:nvSpPr>
          <p:spPr bwMode="auto">
            <a:xfrm>
              <a:off x="1824" y="3456"/>
              <a:ext cx="1" cy="240"/>
            </a:xfrm>
            <a:prstGeom prst="line">
              <a:avLst/>
            </a:prstGeom>
            <a:noFill/>
            <a:ln w="127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2" name="Line 12">
              <a:extLst>
                <a:ext uri="{FF2B5EF4-FFF2-40B4-BE49-F238E27FC236}">
                  <a16:creationId xmlns:a16="http://schemas.microsoft.com/office/drawing/2014/main" id="{C1605FFD-BBC5-F942-4DAA-33F7D5E76294}"/>
                </a:ext>
              </a:extLst>
            </p:cNvPr>
            <p:cNvSpPr>
              <a:spLocks noChangeShapeType="1"/>
            </p:cNvSpPr>
            <p:nvPr/>
          </p:nvSpPr>
          <p:spPr bwMode="auto">
            <a:xfrm>
              <a:off x="2208" y="3312"/>
              <a:ext cx="288" cy="1"/>
            </a:xfrm>
            <a:prstGeom prst="line">
              <a:avLst/>
            </a:prstGeom>
            <a:noFill/>
            <a:ln w="127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3" name="Line 13">
              <a:extLst>
                <a:ext uri="{FF2B5EF4-FFF2-40B4-BE49-F238E27FC236}">
                  <a16:creationId xmlns:a16="http://schemas.microsoft.com/office/drawing/2014/main" id="{82EC8405-AF10-C6AD-67C8-4AE801C001D8}"/>
                </a:ext>
              </a:extLst>
            </p:cNvPr>
            <p:cNvSpPr>
              <a:spLocks noChangeShapeType="1"/>
            </p:cNvSpPr>
            <p:nvPr/>
          </p:nvSpPr>
          <p:spPr bwMode="auto">
            <a:xfrm>
              <a:off x="2496" y="3168"/>
              <a:ext cx="1"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4" name="Line 14">
              <a:extLst>
                <a:ext uri="{FF2B5EF4-FFF2-40B4-BE49-F238E27FC236}">
                  <a16:creationId xmlns:a16="http://schemas.microsoft.com/office/drawing/2014/main" id="{448C6897-F7A1-5DBB-3366-C8391390A9DE}"/>
                </a:ext>
              </a:extLst>
            </p:cNvPr>
            <p:cNvSpPr>
              <a:spLocks noChangeShapeType="1"/>
            </p:cNvSpPr>
            <p:nvPr/>
          </p:nvSpPr>
          <p:spPr bwMode="auto">
            <a:xfrm>
              <a:off x="2544" y="3120"/>
              <a:ext cx="1" cy="384"/>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5" name="Line 15">
              <a:extLst>
                <a:ext uri="{FF2B5EF4-FFF2-40B4-BE49-F238E27FC236}">
                  <a16:creationId xmlns:a16="http://schemas.microsoft.com/office/drawing/2014/main" id="{D13E2753-59FB-DEAD-A54B-F2B3DCD8D2EA}"/>
                </a:ext>
              </a:extLst>
            </p:cNvPr>
            <p:cNvSpPr>
              <a:spLocks noChangeShapeType="1"/>
            </p:cNvSpPr>
            <p:nvPr/>
          </p:nvSpPr>
          <p:spPr bwMode="auto">
            <a:xfrm>
              <a:off x="2544" y="3168"/>
              <a:ext cx="19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6" name="Line 16">
              <a:extLst>
                <a:ext uri="{FF2B5EF4-FFF2-40B4-BE49-F238E27FC236}">
                  <a16:creationId xmlns:a16="http://schemas.microsoft.com/office/drawing/2014/main" id="{29F36F02-BDBF-419E-E423-E8FA2EA5C3FC}"/>
                </a:ext>
              </a:extLst>
            </p:cNvPr>
            <p:cNvSpPr>
              <a:spLocks noChangeShapeType="1"/>
            </p:cNvSpPr>
            <p:nvPr/>
          </p:nvSpPr>
          <p:spPr bwMode="auto">
            <a:xfrm flipV="1">
              <a:off x="2736" y="2928"/>
              <a:ext cx="1" cy="240"/>
            </a:xfrm>
            <a:prstGeom prst="line">
              <a:avLst/>
            </a:prstGeom>
            <a:noFill/>
            <a:ln w="127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7" name="Line 17">
              <a:extLst>
                <a:ext uri="{FF2B5EF4-FFF2-40B4-BE49-F238E27FC236}">
                  <a16:creationId xmlns:a16="http://schemas.microsoft.com/office/drawing/2014/main" id="{6797F21C-6304-4EE1-8393-B829AECCCD4E}"/>
                </a:ext>
              </a:extLst>
            </p:cNvPr>
            <p:cNvSpPr>
              <a:spLocks noChangeShapeType="1"/>
            </p:cNvSpPr>
            <p:nvPr/>
          </p:nvSpPr>
          <p:spPr bwMode="auto">
            <a:xfrm>
              <a:off x="2544" y="3456"/>
              <a:ext cx="192" cy="1"/>
            </a:xfrm>
            <a:prstGeom prst="line">
              <a:avLst/>
            </a:prstGeom>
            <a:noFill/>
            <a:ln w="12700">
              <a:solidFill>
                <a:schemeClr val="tx1"/>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8" name="Line 18">
              <a:extLst>
                <a:ext uri="{FF2B5EF4-FFF2-40B4-BE49-F238E27FC236}">
                  <a16:creationId xmlns:a16="http://schemas.microsoft.com/office/drawing/2014/main" id="{D308134B-61E2-A50F-A3C1-7DA05E66F22E}"/>
                </a:ext>
              </a:extLst>
            </p:cNvPr>
            <p:cNvSpPr>
              <a:spLocks noChangeShapeType="1"/>
            </p:cNvSpPr>
            <p:nvPr/>
          </p:nvSpPr>
          <p:spPr bwMode="auto">
            <a:xfrm>
              <a:off x="2736" y="3456"/>
              <a:ext cx="1" cy="240"/>
            </a:xfrm>
            <a:prstGeom prst="line">
              <a:avLst/>
            </a:prstGeom>
            <a:noFill/>
            <a:ln w="127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19" name="Line 19">
              <a:extLst>
                <a:ext uri="{FF2B5EF4-FFF2-40B4-BE49-F238E27FC236}">
                  <a16:creationId xmlns:a16="http://schemas.microsoft.com/office/drawing/2014/main" id="{F68FAB66-41F9-4969-8CD5-53C422966672}"/>
                </a:ext>
              </a:extLst>
            </p:cNvPr>
            <p:cNvSpPr>
              <a:spLocks noChangeShapeType="1"/>
            </p:cNvSpPr>
            <p:nvPr/>
          </p:nvSpPr>
          <p:spPr bwMode="auto">
            <a:xfrm>
              <a:off x="3216" y="3312"/>
              <a:ext cx="288" cy="1"/>
            </a:xfrm>
            <a:prstGeom prst="line">
              <a:avLst/>
            </a:prstGeom>
            <a:noFill/>
            <a:ln w="127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0" name="Line 20">
              <a:extLst>
                <a:ext uri="{FF2B5EF4-FFF2-40B4-BE49-F238E27FC236}">
                  <a16:creationId xmlns:a16="http://schemas.microsoft.com/office/drawing/2014/main" id="{9D71E052-8C6B-69B6-6E7B-0942D5488EDA}"/>
                </a:ext>
              </a:extLst>
            </p:cNvPr>
            <p:cNvSpPr>
              <a:spLocks noChangeShapeType="1"/>
            </p:cNvSpPr>
            <p:nvPr/>
          </p:nvSpPr>
          <p:spPr bwMode="auto">
            <a:xfrm>
              <a:off x="3504" y="3168"/>
              <a:ext cx="1"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1" name="Line 21">
              <a:extLst>
                <a:ext uri="{FF2B5EF4-FFF2-40B4-BE49-F238E27FC236}">
                  <a16:creationId xmlns:a16="http://schemas.microsoft.com/office/drawing/2014/main" id="{085A2583-4BC7-AD96-019D-DC90739FF633}"/>
                </a:ext>
              </a:extLst>
            </p:cNvPr>
            <p:cNvSpPr>
              <a:spLocks noChangeShapeType="1"/>
            </p:cNvSpPr>
            <p:nvPr/>
          </p:nvSpPr>
          <p:spPr bwMode="auto">
            <a:xfrm>
              <a:off x="3552" y="3120"/>
              <a:ext cx="1" cy="9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2" name="Line 22">
              <a:extLst>
                <a:ext uri="{FF2B5EF4-FFF2-40B4-BE49-F238E27FC236}">
                  <a16:creationId xmlns:a16="http://schemas.microsoft.com/office/drawing/2014/main" id="{B0AFD66E-62E5-16E9-4D2D-260F03956E8A}"/>
                </a:ext>
              </a:extLst>
            </p:cNvPr>
            <p:cNvSpPr>
              <a:spLocks noChangeShapeType="1"/>
            </p:cNvSpPr>
            <p:nvPr/>
          </p:nvSpPr>
          <p:spPr bwMode="auto">
            <a:xfrm>
              <a:off x="3552" y="3168"/>
              <a:ext cx="19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3" name="Line 23">
              <a:extLst>
                <a:ext uri="{FF2B5EF4-FFF2-40B4-BE49-F238E27FC236}">
                  <a16:creationId xmlns:a16="http://schemas.microsoft.com/office/drawing/2014/main" id="{F9400D16-8ED4-C750-989E-A98DB42EEF9E}"/>
                </a:ext>
              </a:extLst>
            </p:cNvPr>
            <p:cNvSpPr>
              <a:spLocks noChangeShapeType="1"/>
            </p:cNvSpPr>
            <p:nvPr/>
          </p:nvSpPr>
          <p:spPr bwMode="auto">
            <a:xfrm flipV="1">
              <a:off x="3744" y="2928"/>
              <a:ext cx="1" cy="240"/>
            </a:xfrm>
            <a:prstGeom prst="line">
              <a:avLst/>
            </a:prstGeom>
            <a:noFill/>
            <a:ln w="127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4" name="Line 24">
              <a:extLst>
                <a:ext uri="{FF2B5EF4-FFF2-40B4-BE49-F238E27FC236}">
                  <a16:creationId xmlns:a16="http://schemas.microsoft.com/office/drawing/2014/main" id="{2A76DD2F-086B-8919-B83B-FEDB21F7E105}"/>
                </a:ext>
              </a:extLst>
            </p:cNvPr>
            <p:cNvSpPr>
              <a:spLocks noChangeShapeType="1"/>
            </p:cNvSpPr>
            <p:nvPr/>
          </p:nvSpPr>
          <p:spPr bwMode="auto">
            <a:xfrm>
              <a:off x="3552" y="3456"/>
              <a:ext cx="192" cy="1"/>
            </a:xfrm>
            <a:prstGeom prst="line">
              <a:avLst/>
            </a:prstGeom>
            <a:noFill/>
            <a:ln w="12700">
              <a:solidFill>
                <a:schemeClr val="tx1"/>
              </a:solidFill>
              <a:round/>
              <a:headEnd/>
              <a:tailEnd type="triangl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5" name="Line 25">
              <a:extLst>
                <a:ext uri="{FF2B5EF4-FFF2-40B4-BE49-F238E27FC236}">
                  <a16:creationId xmlns:a16="http://schemas.microsoft.com/office/drawing/2014/main" id="{B7ECE40D-2E45-95A8-1042-061483577252}"/>
                </a:ext>
              </a:extLst>
            </p:cNvPr>
            <p:cNvSpPr>
              <a:spLocks noChangeShapeType="1"/>
            </p:cNvSpPr>
            <p:nvPr/>
          </p:nvSpPr>
          <p:spPr bwMode="auto">
            <a:xfrm>
              <a:off x="3744" y="3456"/>
              <a:ext cx="1" cy="240"/>
            </a:xfrm>
            <a:prstGeom prst="line">
              <a:avLst/>
            </a:prstGeom>
            <a:noFill/>
            <a:ln w="127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6" name="Line 26">
              <a:extLst>
                <a:ext uri="{FF2B5EF4-FFF2-40B4-BE49-F238E27FC236}">
                  <a16:creationId xmlns:a16="http://schemas.microsoft.com/office/drawing/2014/main" id="{60C679D1-27BD-EA74-5CD2-5F18C8C17D43}"/>
                </a:ext>
              </a:extLst>
            </p:cNvPr>
            <p:cNvSpPr>
              <a:spLocks noChangeShapeType="1"/>
            </p:cNvSpPr>
            <p:nvPr/>
          </p:nvSpPr>
          <p:spPr bwMode="auto">
            <a:xfrm>
              <a:off x="3552" y="3312"/>
              <a:ext cx="240"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7" name="Line 27">
              <a:extLst>
                <a:ext uri="{FF2B5EF4-FFF2-40B4-BE49-F238E27FC236}">
                  <a16:creationId xmlns:a16="http://schemas.microsoft.com/office/drawing/2014/main" id="{C0694643-0058-9751-741D-0391EE9EB991}"/>
                </a:ext>
              </a:extLst>
            </p:cNvPr>
            <p:cNvSpPr>
              <a:spLocks noChangeShapeType="1"/>
            </p:cNvSpPr>
            <p:nvPr/>
          </p:nvSpPr>
          <p:spPr bwMode="auto">
            <a:xfrm>
              <a:off x="4176" y="3312"/>
              <a:ext cx="288" cy="1"/>
            </a:xfrm>
            <a:prstGeom prst="line">
              <a:avLst/>
            </a:prstGeom>
            <a:noFill/>
            <a:ln w="12700">
              <a:solidFill>
                <a:schemeClr val="tx1"/>
              </a:solidFill>
              <a:round/>
              <a:headEnd type="oval" w="med" len="me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8" name="Line 28">
              <a:extLst>
                <a:ext uri="{FF2B5EF4-FFF2-40B4-BE49-F238E27FC236}">
                  <a16:creationId xmlns:a16="http://schemas.microsoft.com/office/drawing/2014/main" id="{856CD9E6-8C80-2C99-BFE9-CD1CBC361EC4}"/>
                </a:ext>
              </a:extLst>
            </p:cNvPr>
            <p:cNvSpPr>
              <a:spLocks noChangeShapeType="1"/>
            </p:cNvSpPr>
            <p:nvPr/>
          </p:nvSpPr>
          <p:spPr bwMode="auto">
            <a:xfrm>
              <a:off x="4464" y="3168"/>
              <a:ext cx="1" cy="28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29" name="Line 29">
              <a:extLst>
                <a:ext uri="{FF2B5EF4-FFF2-40B4-BE49-F238E27FC236}">
                  <a16:creationId xmlns:a16="http://schemas.microsoft.com/office/drawing/2014/main" id="{22575929-395D-E016-E476-256818D37426}"/>
                </a:ext>
              </a:extLst>
            </p:cNvPr>
            <p:cNvSpPr>
              <a:spLocks noChangeShapeType="1"/>
            </p:cNvSpPr>
            <p:nvPr/>
          </p:nvSpPr>
          <p:spPr bwMode="auto">
            <a:xfrm>
              <a:off x="4512" y="3168"/>
              <a:ext cx="192"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30" name="Line 30">
              <a:extLst>
                <a:ext uri="{FF2B5EF4-FFF2-40B4-BE49-F238E27FC236}">
                  <a16:creationId xmlns:a16="http://schemas.microsoft.com/office/drawing/2014/main" id="{2F94C14C-8963-767E-AFCC-BDDB29FF322A}"/>
                </a:ext>
              </a:extLst>
            </p:cNvPr>
            <p:cNvSpPr>
              <a:spLocks noChangeShapeType="1"/>
            </p:cNvSpPr>
            <p:nvPr/>
          </p:nvSpPr>
          <p:spPr bwMode="auto">
            <a:xfrm flipV="1">
              <a:off x="4704" y="2928"/>
              <a:ext cx="1" cy="240"/>
            </a:xfrm>
            <a:prstGeom prst="line">
              <a:avLst/>
            </a:prstGeom>
            <a:noFill/>
            <a:ln w="127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dirty="0"/>
            </a:p>
          </p:txBody>
        </p:sp>
        <p:sp>
          <p:nvSpPr>
            <p:cNvPr id="25631" name="Line 31">
              <a:extLst>
                <a:ext uri="{FF2B5EF4-FFF2-40B4-BE49-F238E27FC236}">
                  <a16:creationId xmlns:a16="http://schemas.microsoft.com/office/drawing/2014/main" id="{0897A21B-5D0E-F77B-A30A-D28503F5FA37}"/>
                </a:ext>
              </a:extLst>
            </p:cNvPr>
            <p:cNvSpPr>
              <a:spLocks noChangeShapeType="1"/>
            </p:cNvSpPr>
            <p:nvPr/>
          </p:nvSpPr>
          <p:spPr bwMode="auto">
            <a:xfrm>
              <a:off x="4512" y="3456"/>
              <a:ext cx="192" cy="1"/>
            </a:xfrm>
            <a:prstGeom prst="line">
              <a:avLst/>
            </a:prstGeom>
            <a:noFill/>
            <a:ln w="12700">
              <a:solidFill>
                <a:schemeClr val="tx1"/>
              </a:solidFill>
              <a:round/>
              <a:headEnd type="triangle" w="med" len="lg"/>
              <a:tailEnd type="none"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32" name="Line 32">
              <a:extLst>
                <a:ext uri="{FF2B5EF4-FFF2-40B4-BE49-F238E27FC236}">
                  <a16:creationId xmlns:a16="http://schemas.microsoft.com/office/drawing/2014/main" id="{DC4A5FA8-62D9-0B37-1FE2-FBE4498A2255}"/>
                </a:ext>
              </a:extLst>
            </p:cNvPr>
            <p:cNvSpPr>
              <a:spLocks noChangeShapeType="1"/>
            </p:cNvSpPr>
            <p:nvPr/>
          </p:nvSpPr>
          <p:spPr bwMode="auto">
            <a:xfrm>
              <a:off x="4704" y="3456"/>
              <a:ext cx="1" cy="240"/>
            </a:xfrm>
            <a:prstGeom prst="line">
              <a:avLst/>
            </a:prstGeom>
            <a:noFill/>
            <a:ln w="12700">
              <a:solidFill>
                <a:schemeClr val="tx1"/>
              </a:solidFill>
              <a:round/>
              <a:headEnd/>
              <a:tailEnd type="oval"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33" name="Line 33">
              <a:extLst>
                <a:ext uri="{FF2B5EF4-FFF2-40B4-BE49-F238E27FC236}">
                  <a16:creationId xmlns:a16="http://schemas.microsoft.com/office/drawing/2014/main" id="{92D3546E-975E-968A-4D49-998000DC640B}"/>
                </a:ext>
              </a:extLst>
            </p:cNvPr>
            <p:cNvSpPr>
              <a:spLocks noChangeShapeType="1"/>
            </p:cNvSpPr>
            <p:nvPr/>
          </p:nvSpPr>
          <p:spPr bwMode="auto">
            <a:xfrm>
              <a:off x="4512" y="3312"/>
              <a:ext cx="240" cy="1"/>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34" name="Text Box 34">
              <a:extLst>
                <a:ext uri="{FF2B5EF4-FFF2-40B4-BE49-F238E27FC236}">
                  <a16:creationId xmlns:a16="http://schemas.microsoft.com/office/drawing/2014/main" id="{0ED2A2BC-B2D0-C6BE-23CF-69FB74E41C6C}"/>
                </a:ext>
              </a:extLst>
            </p:cNvPr>
            <p:cNvSpPr txBox="1">
              <a:spLocks noChangeArrowheads="1"/>
            </p:cNvSpPr>
            <p:nvPr/>
          </p:nvSpPr>
          <p:spPr bwMode="auto">
            <a:xfrm>
              <a:off x="1656" y="3814"/>
              <a:ext cx="923" cy="2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1600">
                  <a:latin typeface="Times New Roman" panose="02020603050405020304" pitchFamily="18" charset="0"/>
                </a:rPr>
                <a:t>Depletion type</a:t>
              </a:r>
            </a:p>
          </p:txBody>
        </p:sp>
        <p:sp>
          <p:nvSpPr>
            <p:cNvPr id="25635" name="Text Box 35">
              <a:extLst>
                <a:ext uri="{FF2B5EF4-FFF2-40B4-BE49-F238E27FC236}">
                  <a16:creationId xmlns:a16="http://schemas.microsoft.com/office/drawing/2014/main" id="{85C21B7D-A175-9C19-29D0-61543C88EA69}"/>
                </a:ext>
              </a:extLst>
            </p:cNvPr>
            <p:cNvSpPr txBox="1">
              <a:spLocks noChangeArrowheads="1"/>
            </p:cNvSpPr>
            <p:nvPr/>
          </p:nvSpPr>
          <p:spPr bwMode="auto">
            <a:xfrm>
              <a:off x="1375" y="3669"/>
              <a:ext cx="656"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1600">
                  <a:latin typeface="Times New Roman" panose="02020603050405020304" pitchFamily="18" charset="0"/>
                </a:rPr>
                <a:t>n-channel</a:t>
              </a:r>
              <a:endParaRPr lang="en-US" altLang="en-US" sz="2400">
                <a:latin typeface="Times New Roman" panose="02020603050405020304" pitchFamily="18" charset="0"/>
              </a:endParaRPr>
            </a:p>
          </p:txBody>
        </p:sp>
        <p:sp>
          <p:nvSpPr>
            <p:cNvPr id="25636" name="Text Box 36">
              <a:extLst>
                <a:ext uri="{FF2B5EF4-FFF2-40B4-BE49-F238E27FC236}">
                  <a16:creationId xmlns:a16="http://schemas.microsoft.com/office/drawing/2014/main" id="{83A9B0F1-9F7B-4EEC-5F0D-1B58E9FD9489}"/>
                </a:ext>
              </a:extLst>
            </p:cNvPr>
            <p:cNvSpPr txBox="1">
              <a:spLocks noChangeArrowheads="1"/>
            </p:cNvSpPr>
            <p:nvPr/>
          </p:nvSpPr>
          <p:spPr bwMode="auto">
            <a:xfrm>
              <a:off x="2287" y="3669"/>
              <a:ext cx="656"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1600">
                  <a:latin typeface="Times New Roman" panose="02020603050405020304" pitchFamily="18" charset="0"/>
                </a:rPr>
                <a:t>p-channel</a:t>
              </a:r>
              <a:endParaRPr lang="en-US" altLang="en-US" sz="2400">
                <a:latin typeface="Times New Roman" panose="02020603050405020304" pitchFamily="18" charset="0"/>
              </a:endParaRPr>
            </a:p>
          </p:txBody>
        </p:sp>
        <p:sp>
          <p:nvSpPr>
            <p:cNvPr id="25637" name="Text Box 37">
              <a:extLst>
                <a:ext uri="{FF2B5EF4-FFF2-40B4-BE49-F238E27FC236}">
                  <a16:creationId xmlns:a16="http://schemas.microsoft.com/office/drawing/2014/main" id="{4939CEAB-2E54-6A47-9168-7D004962DAF5}"/>
                </a:ext>
              </a:extLst>
            </p:cNvPr>
            <p:cNvSpPr txBox="1">
              <a:spLocks noChangeArrowheads="1"/>
            </p:cNvSpPr>
            <p:nvPr/>
          </p:nvSpPr>
          <p:spPr bwMode="auto">
            <a:xfrm>
              <a:off x="3571" y="3861"/>
              <a:ext cx="1125"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1600">
                  <a:latin typeface="Times New Roman" panose="02020603050405020304" pitchFamily="18" charset="0"/>
                </a:rPr>
                <a:t>Enhancement type</a:t>
              </a:r>
            </a:p>
          </p:txBody>
        </p:sp>
        <p:sp>
          <p:nvSpPr>
            <p:cNvPr id="25638" name="Text Box 38">
              <a:extLst>
                <a:ext uri="{FF2B5EF4-FFF2-40B4-BE49-F238E27FC236}">
                  <a16:creationId xmlns:a16="http://schemas.microsoft.com/office/drawing/2014/main" id="{1A5A159D-BBAC-E2AB-EE01-D6AFD2B61148}"/>
                </a:ext>
              </a:extLst>
            </p:cNvPr>
            <p:cNvSpPr txBox="1">
              <a:spLocks noChangeArrowheads="1"/>
            </p:cNvSpPr>
            <p:nvPr/>
          </p:nvSpPr>
          <p:spPr bwMode="auto">
            <a:xfrm>
              <a:off x="3391" y="3716"/>
              <a:ext cx="656"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1600">
                  <a:latin typeface="Times New Roman" panose="02020603050405020304" pitchFamily="18" charset="0"/>
                </a:rPr>
                <a:t>n-channel</a:t>
              </a:r>
              <a:endParaRPr lang="en-US" altLang="en-US" sz="2400">
                <a:latin typeface="Times New Roman" panose="02020603050405020304" pitchFamily="18" charset="0"/>
              </a:endParaRPr>
            </a:p>
          </p:txBody>
        </p:sp>
        <p:sp>
          <p:nvSpPr>
            <p:cNvPr id="25639" name="Text Box 39">
              <a:extLst>
                <a:ext uri="{FF2B5EF4-FFF2-40B4-BE49-F238E27FC236}">
                  <a16:creationId xmlns:a16="http://schemas.microsoft.com/office/drawing/2014/main" id="{26779A23-481B-5FB6-FA00-0EED53512723}"/>
                </a:ext>
              </a:extLst>
            </p:cNvPr>
            <p:cNvSpPr txBox="1">
              <a:spLocks noChangeArrowheads="1"/>
            </p:cNvSpPr>
            <p:nvPr/>
          </p:nvSpPr>
          <p:spPr bwMode="auto">
            <a:xfrm>
              <a:off x="4303" y="3716"/>
              <a:ext cx="656" cy="2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50000"/>
                </a:spcBef>
              </a:pPr>
              <a:r>
                <a:rPr lang="en-US" altLang="en-US" sz="1600">
                  <a:latin typeface="Times New Roman" panose="02020603050405020304" pitchFamily="18" charset="0"/>
                </a:rPr>
                <a:t>p-channel</a:t>
              </a:r>
              <a:endParaRPr lang="en-US" altLang="en-US" sz="2400">
                <a:latin typeface="Times New Roman" panose="02020603050405020304" pitchFamily="18" charset="0"/>
              </a:endParaRPr>
            </a:p>
          </p:txBody>
        </p:sp>
        <p:sp>
          <p:nvSpPr>
            <p:cNvPr id="25640" name="Line 40">
              <a:extLst>
                <a:ext uri="{FF2B5EF4-FFF2-40B4-BE49-F238E27FC236}">
                  <a16:creationId xmlns:a16="http://schemas.microsoft.com/office/drawing/2014/main" id="{0061647E-C6A0-2BE8-B60C-4D96EF613238}"/>
                </a:ext>
              </a:extLst>
            </p:cNvPr>
            <p:cNvSpPr>
              <a:spLocks noChangeShapeType="1"/>
            </p:cNvSpPr>
            <p:nvPr/>
          </p:nvSpPr>
          <p:spPr bwMode="auto">
            <a:xfrm>
              <a:off x="3552" y="3264"/>
              <a:ext cx="1" cy="9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41" name="Line 41">
              <a:extLst>
                <a:ext uri="{FF2B5EF4-FFF2-40B4-BE49-F238E27FC236}">
                  <a16:creationId xmlns:a16="http://schemas.microsoft.com/office/drawing/2014/main" id="{0FD84052-6D2A-0844-0872-F79DBD5FE785}"/>
                </a:ext>
              </a:extLst>
            </p:cNvPr>
            <p:cNvSpPr>
              <a:spLocks noChangeShapeType="1"/>
            </p:cNvSpPr>
            <p:nvPr/>
          </p:nvSpPr>
          <p:spPr bwMode="auto">
            <a:xfrm>
              <a:off x="3552" y="3408"/>
              <a:ext cx="1" cy="9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42" name="Line 42">
              <a:extLst>
                <a:ext uri="{FF2B5EF4-FFF2-40B4-BE49-F238E27FC236}">
                  <a16:creationId xmlns:a16="http://schemas.microsoft.com/office/drawing/2014/main" id="{B1A0AE13-ABEA-7DF7-EADA-3CA1C1EE25F8}"/>
                </a:ext>
              </a:extLst>
            </p:cNvPr>
            <p:cNvSpPr>
              <a:spLocks noChangeShapeType="1"/>
            </p:cNvSpPr>
            <p:nvPr/>
          </p:nvSpPr>
          <p:spPr bwMode="auto">
            <a:xfrm>
              <a:off x="4512" y="3120"/>
              <a:ext cx="1" cy="9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43" name="Line 43">
              <a:extLst>
                <a:ext uri="{FF2B5EF4-FFF2-40B4-BE49-F238E27FC236}">
                  <a16:creationId xmlns:a16="http://schemas.microsoft.com/office/drawing/2014/main" id="{D15BAFD4-2BDA-1D42-3EB7-15EEE5694EA5}"/>
                </a:ext>
              </a:extLst>
            </p:cNvPr>
            <p:cNvSpPr>
              <a:spLocks noChangeShapeType="1"/>
            </p:cNvSpPr>
            <p:nvPr/>
          </p:nvSpPr>
          <p:spPr bwMode="auto">
            <a:xfrm>
              <a:off x="4512" y="3264"/>
              <a:ext cx="1" cy="9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sp>
          <p:nvSpPr>
            <p:cNvPr id="25644" name="Line 44">
              <a:extLst>
                <a:ext uri="{FF2B5EF4-FFF2-40B4-BE49-F238E27FC236}">
                  <a16:creationId xmlns:a16="http://schemas.microsoft.com/office/drawing/2014/main" id="{832F484C-0493-768D-28D0-BDDD64527AFD}"/>
                </a:ext>
              </a:extLst>
            </p:cNvPr>
            <p:cNvSpPr>
              <a:spLocks noChangeShapeType="1"/>
            </p:cNvSpPr>
            <p:nvPr/>
          </p:nvSpPr>
          <p:spPr bwMode="auto">
            <a:xfrm>
              <a:off x="4512" y="3408"/>
              <a:ext cx="1" cy="96"/>
            </a:xfrm>
            <a:prstGeom prst="line">
              <a:avLst/>
            </a:prstGeom>
            <a:noFill/>
            <a:ln w="254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gr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Modes of Operation (E-MOSFET &amp; D-MOSFET)</a:t>
            </a:r>
          </a:p>
        </p:txBody>
      </p:sp>
      <p:sp>
        <p:nvSpPr>
          <p:cNvPr id="3" name="Content Placeholder 2"/>
          <p:cNvSpPr>
            <a:spLocks noGrp="1"/>
          </p:cNvSpPr>
          <p:nvPr>
            <p:ph idx="1"/>
          </p:nvPr>
        </p:nvSpPr>
        <p:spPr/>
        <p:txBody>
          <a:bodyPr>
            <a:normAutofit fontScale="62500" lnSpcReduction="20000"/>
          </a:bodyPr>
          <a:lstStyle/>
          <a:p>
            <a:r>
              <a:t>1. Cut-off Region:</a:t>
            </a:r>
          </a:p>
          <a:p>
            <a:r>
              <a:t>   • E-MOSFET: VGS &lt; Vth → ID ≈ 0 (OFF state)</a:t>
            </a:r>
          </a:p>
          <a:p>
            <a:r>
              <a:t>   • D-MOSFET: Large negative VGS → ID ≈ 0</a:t>
            </a:r>
          </a:p>
          <a:p>
            <a:endParaRPr/>
          </a:p>
          <a:p>
            <a:r>
              <a:t>2. Ohmic/Linear Region:</a:t>
            </a:r>
          </a:p>
          <a:p>
            <a:r>
              <a:t>   • MOSFET behaves like a variable resistor</a:t>
            </a:r>
          </a:p>
          <a:p>
            <a:r>
              <a:t>   • Small VDS, ID ∝ VDS</a:t>
            </a:r>
          </a:p>
          <a:p>
            <a:endParaRPr/>
          </a:p>
          <a:p>
            <a:r>
              <a:t>3. Saturation/Active Region:</a:t>
            </a:r>
          </a:p>
          <a:p>
            <a:r>
              <a:t>   • E-MOSFET: VGS &gt; Vth, ID controlled by VGS</a:t>
            </a:r>
          </a:p>
          <a:p>
            <a:r>
              <a:t>   • D-MOSFET: ID decreases with negative VGS</a:t>
            </a:r>
          </a:p>
          <a:p>
            <a:endParaRPr/>
          </a:p>
          <a:p>
            <a:r>
              <a:t>4. Breakdown Region:</a:t>
            </a:r>
          </a:p>
          <a:p>
            <a:r>
              <a:t>   • High VDS causes large ID (device damage possible)</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CAC063E-3DFB-81B6-51D2-934FCDACB2B6}"/>
              </a:ext>
            </a:extLst>
          </p:cNvPr>
          <p:cNvSpPr>
            <a:spLocks noGrp="1"/>
          </p:cNvSpPr>
          <p:nvPr>
            <p:ph type="dt" sz="half" idx="10"/>
          </p:nvPr>
        </p:nvSpPr>
        <p:spPr/>
        <p:txBody>
          <a:bodyPr/>
          <a:lstStyle/>
          <a:p>
            <a:fld id="{E51764B9-257A-40B2-8A9F-65019AD936B9}" type="datetime1">
              <a:rPr lang="en-US" smtClean="0"/>
              <a:t>9/9/2025</a:t>
            </a:fld>
            <a:endParaRPr lang="en-IN"/>
          </a:p>
        </p:txBody>
      </p:sp>
      <p:sp>
        <p:nvSpPr>
          <p:cNvPr id="5" name="Footer Placeholder 4">
            <a:extLst>
              <a:ext uri="{FF2B5EF4-FFF2-40B4-BE49-F238E27FC236}">
                <a16:creationId xmlns:a16="http://schemas.microsoft.com/office/drawing/2014/main" id="{99F23244-1039-FF4C-DC30-2206EB7101C4}"/>
              </a:ext>
            </a:extLst>
          </p:cNvPr>
          <p:cNvSpPr>
            <a:spLocks noGrp="1"/>
          </p:cNvSpPr>
          <p:nvPr>
            <p:ph type="ftr" sz="quarter" idx="11"/>
          </p:nvPr>
        </p:nvSpPr>
        <p:spPr/>
        <p:txBody>
          <a:bodyPr/>
          <a:lstStyle/>
          <a:p>
            <a:r>
              <a:rPr lang="en-IN"/>
              <a:t>CMOS</a:t>
            </a:r>
          </a:p>
        </p:txBody>
      </p:sp>
      <p:sp>
        <p:nvSpPr>
          <p:cNvPr id="6" name="Slide Number Placeholder 5">
            <a:extLst>
              <a:ext uri="{FF2B5EF4-FFF2-40B4-BE49-F238E27FC236}">
                <a16:creationId xmlns:a16="http://schemas.microsoft.com/office/drawing/2014/main" id="{7E156A8D-3418-F168-97BF-4C13C39996AB}"/>
              </a:ext>
            </a:extLst>
          </p:cNvPr>
          <p:cNvSpPr>
            <a:spLocks noGrp="1"/>
          </p:cNvSpPr>
          <p:nvPr>
            <p:ph type="sldNum" sz="quarter" idx="12"/>
          </p:nvPr>
        </p:nvSpPr>
        <p:spPr/>
        <p:txBody>
          <a:bodyPr/>
          <a:lstStyle/>
          <a:p>
            <a:fld id="{BC2E8B6D-A843-4976-BA70-A811246CC566}" type="slidenum">
              <a:rPr lang="en-IN" smtClean="0"/>
              <a:pPr/>
              <a:t>62</a:t>
            </a:fld>
            <a:endParaRPr lang="en-IN"/>
          </a:p>
        </p:txBody>
      </p:sp>
      <p:sp>
        <p:nvSpPr>
          <p:cNvPr id="8" name="TextBox 7">
            <a:extLst>
              <a:ext uri="{FF2B5EF4-FFF2-40B4-BE49-F238E27FC236}">
                <a16:creationId xmlns:a16="http://schemas.microsoft.com/office/drawing/2014/main" id="{8A79100E-D394-1F65-18FA-06222A6A239C}"/>
              </a:ext>
            </a:extLst>
          </p:cNvPr>
          <p:cNvSpPr txBox="1"/>
          <p:nvPr/>
        </p:nvSpPr>
        <p:spPr>
          <a:xfrm>
            <a:off x="3047215" y="892200"/>
            <a:ext cx="6094428" cy="4524315"/>
          </a:xfrm>
          <a:prstGeom prst="rect">
            <a:avLst/>
          </a:prstGeom>
          <a:noFill/>
        </p:spPr>
        <p:txBody>
          <a:bodyPr wrap="square">
            <a:spAutoFit/>
          </a:bodyPr>
          <a:lstStyle/>
          <a:p>
            <a:pPr>
              <a:buNone/>
            </a:pPr>
            <a:r>
              <a:rPr lang="en-IN" b="1" dirty="0"/>
              <a:t>Structure &amp; Symbol</a:t>
            </a:r>
          </a:p>
          <a:p>
            <a:pPr>
              <a:buFont typeface="Arial" panose="020B0604020202020204" pitchFamily="34" charset="0"/>
              <a:buChar char="•"/>
            </a:pPr>
            <a:r>
              <a:rPr lang="en-IN" dirty="0"/>
              <a:t>No physical conducting channel exists at zero gate voltage.</a:t>
            </a:r>
          </a:p>
          <a:p>
            <a:pPr>
              <a:buFont typeface="Arial" panose="020B0604020202020204" pitchFamily="34" charset="0"/>
              <a:buChar char="•"/>
            </a:pPr>
            <a:r>
              <a:rPr lang="en-IN" dirty="0"/>
              <a:t>A </a:t>
            </a:r>
            <a:r>
              <a:rPr lang="en-IN" b="1" dirty="0"/>
              <a:t>positive VGS</a:t>
            </a:r>
            <a:r>
              <a:rPr lang="en-IN" dirty="0"/>
              <a:t> (Gate-to-Source Voltage) attracts electrons → forms a conductive channel.</a:t>
            </a:r>
          </a:p>
          <a:p>
            <a:pPr>
              <a:buFont typeface="Arial" panose="020B0604020202020204" pitchFamily="34" charset="0"/>
              <a:buChar char="•"/>
            </a:pPr>
            <a:r>
              <a:rPr lang="en-IN" dirty="0"/>
              <a:t>Symbol: Broken line between Drain &amp; Source (channel induced).</a:t>
            </a:r>
          </a:p>
          <a:p>
            <a:pPr>
              <a:buNone/>
            </a:pPr>
            <a:r>
              <a:rPr lang="en-IN" b="1" dirty="0"/>
              <a:t>Operation</a:t>
            </a:r>
          </a:p>
          <a:p>
            <a:pPr>
              <a:buFont typeface="+mj-lt"/>
              <a:buAutoNum type="arabicPeriod"/>
            </a:pPr>
            <a:r>
              <a:rPr lang="en-IN" b="1" dirty="0"/>
              <a:t>Cut-off Region (OFF State)</a:t>
            </a:r>
            <a:endParaRPr lang="en-IN" dirty="0"/>
          </a:p>
          <a:p>
            <a:pPr marL="742950" lvl="1" indent="-285750">
              <a:buFont typeface="+mj-lt"/>
              <a:buAutoNum type="arabicPeriod"/>
            </a:pPr>
            <a:r>
              <a:rPr lang="en-IN" dirty="0"/>
              <a:t>VGS &lt; Vth (Threshold Voltage) → ID ≈ 0</a:t>
            </a:r>
          </a:p>
          <a:p>
            <a:pPr>
              <a:buFont typeface="+mj-lt"/>
              <a:buAutoNum type="arabicPeriod"/>
            </a:pPr>
            <a:r>
              <a:rPr lang="en-IN" b="1" dirty="0"/>
              <a:t>Linear/Ohmic Region</a:t>
            </a:r>
            <a:endParaRPr lang="en-IN" dirty="0"/>
          </a:p>
          <a:p>
            <a:pPr marL="742950" lvl="1" indent="-285750">
              <a:buFont typeface="+mj-lt"/>
              <a:buAutoNum type="arabicPeriod"/>
            </a:pPr>
            <a:r>
              <a:rPr lang="en-IN" dirty="0"/>
              <a:t>VGS &gt; Vth, small VDS → MOSFET acts as variable resistor</a:t>
            </a:r>
          </a:p>
          <a:p>
            <a:pPr>
              <a:buFont typeface="+mj-lt"/>
              <a:buAutoNum type="arabicPeriod"/>
            </a:pPr>
            <a:r>
              <a:rPr lang="en-IN" b="1" dirty="0"/>
              <a:t>Saturation/Active Region</a:t>
            </a:r>
            <a:endParaRPr lang="en-IN" dirty="0"/>
          </a:p>
          <a:p>
            <a:pPr marL="742950" lvl="1" indent="-285750">
              <a:buFont typeface="+mj-lt"/>
              <a:buAutoNum type="arabicPeriod"/>
            </a:pPr>
            <a:r>
              <a:rPr lang="en-IN" dirty="0"/>
              <a:t>VGS &gt; Vth, large VDS → ID controlled by VGS</a:t>
            </a:r>
          </a:p>
          <a:p>
            <a:pPr marL="742950" lvl="1" indent="-285750">
              <a:buFont typeface="+mj-lt"/>
              <a:buAutoNum type="arabicPeriod"/>
            </a:pPr>
            <a:r>
              <a:rPr lang="en-IN" dirty="0"/>
              <a:t>Current equation:</a:t>
            </a:r>
          </a:p>
          <a:p>
            <a:pPr marL="742950" lvl="1" indent="-285750">
              <a:buFont typeface="+mj-lt"/>
              <a:buAutoNum type="arabicPeriod"/>
            </a:pPr>
            <a:endParaRPr lang="en-IN" dirty="0"/>
          </a:p>
        </p:txBody>
      </p:sp>
      <p:pic>
        <p:nvPicPr>
          <p:cNvPr id="10" name="Picture 9">
            <a:extLst>
              <a:ext uri="{FF2B5EF4-FFF2-40B4-BE49-F238E27FC236}">
                <a16:creationId xmlns:a16="http://schemas.microsoft.com/office/drawing/2014/main" id="{4A92CD30-3DCD-DBF7-BD0B-744ACC323559}"/>
              </a:ext>
            </a:extLst>
          </p:cNvPr>
          <p:cNvPicPr>
            <a:picLocks noChangeAspect="1"/>
          </p:cNvPicPr>
          <p:nvPr/>
        </p:nvPicPr>
        <p:blipFill>
          <a:blip r:embed="rId2">
            <a:duotone>
              <a:schemeClr val="accent1">
                <a:shade val="45000"/>
                <a:satMod val="135000"/>
              </a:schemeClr>
              <a:prstClr val="white"/>
            </a:duotone>
          </a:blip>
          <a:stretch>
            <a:fillRect/>
          </a:stretch>
        </p:blipFill>
        <p:spPr>
          <a:xfrm>
            <a:off x="4367808" y="5445224"/>
            <a:ext cx="2924583" cy="695422"/>
          </a:xfrm>
          <a:prstGeom prst="rect">
            <a:avLst/>
          </a:prstGeom>
        </p:spPr>
      </p:pic>
      <p:sp>
        <p:nvSpPr>
          <p:cNvPr id="12" name="TextBox 11">
            <a:extLst>
              <a:ext uri="{FF2B5EF4-FFF2-40B4-BE49-F238E27FC236}">
                <a16:creationId xmlns:a16="http://schemas.microsoft.com/office/drawing/2014/main" id="{5ABE37A3-0FA7-74DA-636A-C5EAB5CF0473}"/>
              </a:ext>
            </a:extLst>
          </p:cNvPr>
          <p:cNvSpPr txBox="1"/>
          <p:nvPr/>
        </p:nvSpPr>
        <p:spPr>
          <a:xfrm>
            <a:off x="3454400" y="415016"/>
            <a:ext cx="7394128" cy="461665"/>
          </a:xfrm>
          <a:prstGeom prst="rect">
            <a:avLst/>
          </a:prstGeom>
          <a:noFill/>
        </p:spPr>
        <p:txBody>
          <a:bodyPr wrap="square">
            <a:spAutoFit/>
          </a:bodyPr>
          <a:lstStyle/>
          <a:p>
            <a:pPr>
              <a:buNone/>
            </a:pPr>
            <a:r>
              <a:rPr lang="en-IN" sz="2400" b="1" dirty="0"/>
              <a:t>N-Channel Enhancement MOSFET (E-MOSFET)</a:t>
            </a:r>
          </a:p>
        </p:txBody>
      </p:sp>
    </p:spTree>
    <p:extLst>
      <p:ext uri="{BB962C8B-B14F-4D97-AF65-F5344CB8AC3E}">
        <p14:creationId xmlns:p14="http://schemas.microsoft.com/office/powerpoint/2010/main" val="403404238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78CA313-D2F6-1A99-182D-5ED503EA6807}"/>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1F4F695A-D1F3-5105-0076-BE39E00232AC}"/>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02934EF6-6FA6-A227-1615-EBA6FCF5A594}"/>
              </a:ext>
            </a:extLst>
          </p:cNvPr>
          <p:cNvSpPr>
            <a:spLocks noGrp="1"/>
          </p:cNvSpPr>
          <p:nvPr>
            <p:ph type="sldNum" sz="quarter" idx="12"/>
          </p:nvPr>
        </p:nvSpPr>
        <p:spPr/>
        <p:txBody>
          <a:bodyPr/>
          <a:lstStyle/>
          <a:p>
            <a:fld id="{BC2E8B6D-A843-4976-BA70-A811246CC566}" type="slidenum">
              <a:rPr lang="en-IN" smtClean="0"/>
              <a:pPr/>
              <a:t>63</a:t>
            </a:fld>
            <a:endParaRPr lang="en-IN"/>
          </a:p>
        </p:txBody>
      </p:sp>
      <p:sp>
        <p:nvSpPr>
          <p:cNvPr id="6" name="TextBox 5">
            <a:extLst>
              <a:ext uri="{FF2B5EF4-FFF2-40B4-BE49-F238E27FC236}">
                <a16:creationId xmlns:a16="http://schemas.microsoft.com/office/drawing/2014/main" id="{4565D4F6-BEEA-2D50-3A13-BA1849171499}"/>
              </a:ext>
            </a:extLst>
          </p:cNvPr>
          <p:cNvSpPr txBox="1"/>
          <p:nvPr/>
        </p:nvSpPr>
        <p:spPr>
          <a:xfrm>
            <a:off x="2783632" y="1412776"/>
            <a:ext cx="6937217" cy="4801314"/>
          </a:xfrm>
          <a:prstGeom prst="rect">
            <a:avLst/>
          </a:prstGeom>
          <a:noFill/>
        </p:spPr>
        <p:txBody>
          <a:bodyPr wrap="square">
            <a:spAutoFit/>
          </a:bodyPr>
          <a:lstStyle/>
          <a:p>
            <a:pPr>
              <a:buNone/>
            </a:pPr>
            <a:endParaRPr lang="en-IN" b="1" dirty="0"/>
          </a:p>
          <a:p>
            <a:pPr>
              <a:buNone/>
            </a:pPr>
            <a:r>
              <a:rPr lang="en-IN" b="1" dirty="0"/>
              <a:t>Structure &amp; Symbol</a:t>
            </a:r>
          </a:p>
          <a:p>
            <a:pPr>
              <a:buFont typeface="Arial" panose="020B0604020202020204" pitchFamily="34" charset="0"/>
              <a:buChar char="•"/>
            </a:pPr>
            <a:r>
              <a:rPr lang="en-IN" dirty="0"/>
              <a:t>Has a physical channel at VGS = 0 → </a:t>
            </a:r>
            <a:r>
              <a:rPr lang="en-IN" b="1" dirty="0"/>
              <a:t>normally ON</a:t>
            </a:r>
            <a:r>
              <a:rPr lang="en-IN" dirty="0"/>
              <a:t>.</a:t>
            </a:r>
          </a:p>
          <a:p>
            <a:pPr>
              <a:buFont typeface="Arial" panose="020B0604020202020204" pitchFamily="34" charset="0"/>
              <a:buChar char="•"/>
            </a:pPr>
            <a:r>
              <a:rPr lang="en-IN" dirty="0"/>
              <a:t>Applying </a:t>
            </a:r>
            <a:r>
              <a:rPr lang="en-IN" b="1" dirty="0"/>
              <a:t>negative VGS</a:t>
            </a:r>
            <a:r>
              <a:rPr lang="en-IN" dirty="0"/>
              <a:t> depletes the channel → reduces ID.</a:t>
            </a:r>
          </a:p>
          <a:p>
            <a:pPr>
              <a:buFont typeface="Arial" panose="020B0604020202020204" pitchFamily="34" charset="0"/>
              <a:buChar char="•"/>
            </a:pPr>
            <a:r>
              <a:rPr lang="en-IN" dirty="0"/>
              <a:t>Symbol: Solid line channel between Drain &amp; Source.</a:t>
            </a:r>
          </a:p>
          <a:p>
            <a:pPr>
              <a:buNone/>
            </a:pPr>
            <a:r>
              <a:rPr lang="en-IN" b="1" dirty="0"/>
              <a:t>Operation</a:t>
            </a:r>
          </a:p>
          <a:p>
            <a:pPr>
              <a:buFont typeface="+mj-lt"/>
              <a:buAutoNum type="arabicPeriod"/>
            </a:pPr>
            <a:r>
              <a:rPr lang="en-IN" b="1" dirty="0"/>
              <a:t>At VGS = 0</a:t>
            </a:r>
            <a:endParaRPr lang="en-IN" dirty="0"/>
          </a:p>
          <a:p>
            <a:pPr marL="742950" lvl="1" indent="-285750">
              <a:buFont typeface="+mj-lt"/>
              <a:buAutoNum type="arabicPeriod"/>
            </a:pPr>
            <a:r>
              <a:rPr lang="en-IN" dirty="0"/>
              <a:t>ID flows (device ON).</a:t>
            </a:r>
          </a:p>
          <a:p>
            <a:pPr>
              <a:buFont typeface="+mj-lt"/>
              <a:buAutoNum type="arabicPeriod"/>
            </a:pPr>
            <a:r>
              <a:rPr lang="en-IN" b="1" dirty="0"/>
              <a:t>Negative VGS</a:t>
            </a:r>
            <a:endParaRPr lang="en-IN" dirty="0"/>
          </a:p>
          <a:p>
            <a:pPr marL="742950" lvl="1" indent="-285750">
              <a:buFont typeface="+mj-lt"/>
              <a:buAutoNum type="arabicPeriod"/>
            </a:pPr>
            <a:r>
              <a:rPr lang="en-IN" dirty="0"/>
              <a:t>Depletes channel → ID decreases until cutoff.</a:t>
            </a:r>
          </a:p>
          <a:p>
            <a:pPr>
              <a:buFont typeface="+mj-lt"/>
              <a:buAutoNum type="arabicPeriod"/>
            </a:pPr>
            <a:r>
              <a:rPr lang="en-IN" b="1" dirty="0"/>
              <a:t>Positive VGS</a:t>
            </a:r>
            <a:endParaRPr lang="en-IN" dirty="0"/>
          </a:p>
          <a:p>
            <a:pPr marL="742950" lvl="1" indent="-285750">
              <a:buFont typeface="+mj-lt"/>
              <a:buAutoNum type="arabicPeriod"/>
            </a:pPr>
            <a:r>
              <a:rPr lang="en-IN" dirty="0"/>
              <a:t>Enhances channel → ID increases further.</a:t>
            </a:r>
          </a:p>
          <a:p>
            <a:pPr>
              <a:buNone/>
            </a:pPr>
            <a:r>
              <a:rPr lang="en-IN" b="1" dirty="0"/>
              <a:t>Characteristics</a:t>
            </a:r>
          </a:p>
          <a:p>
            <a:pPr>
              <a:buFont typeface="Arial" panose="020B0604020202020204" pitchFamily="34" charset="0"/>
              <a:buChar char="•"/>
            </a:pPr>
            <a:r>
              <a:rPr lang="en-IN" dirty="0"/>
              <a:t>Transfer Curve (ID vs VGS): ID is maximum at VGS = 0, decreases for negative VGS, increases for positive VGS.</a:t>
            </a:r>
          </a:p>
          <a:p>
            <a:pPr>
              <a:buFont typeface="Arial" panose="020B0604020202020204" pitchFamily="34" charset="0"/>
              <a:buChar char="•"/>
            </a:pPr>
            <a:r>
              <a:rPr lang="en-IN" dirty="0"/>
              <a:t>Output Curve (ID vs VDS): Similar to E-MOSFET, but conduction exists even at VGS = 0.</a:t>
            </a:r>
          </a:p>
        </p:txBody>
      </p:sp>
      <p:sp>
        <p:nvSpPr>
          <p:cNvPr id="8" name="TextBox 7">
            <a:extLst>
              <a:ext uri="{FF2B5EF4-FFF2-40B4-BE49-F238E27FC236}">
                <a16:creationId xmlns:a16="http://schemas.microsoft.com/office/drawing/2014/main" id="{2A99339A-43AE-14C2-6F73-5E31FB440B86}"/>
              </a:ext>
            </a:extLst>
          </p:cNvPr>
          <p:cNvSpPr txBox="1"/>
          <p:nvPr/>
        </p:nvSpPr>
        <p:spPr>
          <a:xfrm>
            <a:off x="3205026" y="769052"/>
            <a:ext cx="6094428" cy="461665"/>
          </a:xfrm>
          <a:prstGeom prst="rect">
            <a:avLst/>
          </a:prstGeom>
          <a:noFill/>
        </p:spPr>
        <p:txBody>
          <a:bodyPr wrap="square">
            <a:spAutoFit/>
          </a:bodyPr>
          <a:lstStyle/>
          <a:p>
            <a:r>
              <a:rPr lang="en-IN" sz="2400" b="1" dirty="0"/>
              <a:t>N-Channel Depletion MOSFET (D-MOSFET</a:t>
            </a:r>
            <a:endParaRPr lang="en-IN" sz="2400" dirty="0"/>
          </a:p>
        </p:txBody>
      </p:sp>
    </p:spTree>
    <p:extLst>
      <p:ext uri="{BB962C8B-B14F-4D97-AF65-F5344CB8AC3E}">
        <p14:creationId xmlns:p14="http://schemas.microsoft.com/office/powerpoint/2010/main" val="295801476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2511EED-23DA-EF65-EE85-A3D8F0A879BB}"/>
              </a:ext>
            </a:extLst>
          </p:cNvPr>
          <p:cNvSpPr>
            <a:spLocks noGrp="1"/>
          </p:cNvSpPr>
          <p:nvPr>
            <p:ph type="dt" sz="half" idx="10"/>
          </p:nvPr>
        </p:nvSpPr>
        <p:spPr/>
        <p:txBody>
          <a:bodyPr/>
          <a:lstStyle/>
          <a:p>
            <a:fld id="{E51764B9-257A-40B2-8A9F-65019AD936B9}" type="datetime1">
              <a:rPr lang="en-US" smtClean="0"/>
              <a:t>9/9/2025</a:t>
            </a:fld>
            <a:endParaRPr lang="en-IN"/>
          </a:p>
        </p:txBody>
      </p:sp>
      <p:sp>
        <p:nvSpPr>
          <p:cNvPr id="5" name="Footer Placeholder 4">
            <a:extLst>
              <a:ext uri="{FF2B5EF4-FFF2-40B4-BE49-F238E27FC236}">
                <a16:creationId xmlns:a16="http://schemas.microsoft.com/office/drawing/2014/main" id="{D64D7D72-8345-4855-206B-478852A95A06}"/>
              </a:ext>
            </a:extLst>
          </p:cNvPr>
          <p:cNvSpPr>
            <a:spLocks noGrp="1"/>
          </p:cNvSpPr>
          <p:nvPr>
            <p:ph type="ftr" sz="quarter" idx="11"/>
          </p:nvPr>
        </p:nvSpPr>
        <p:spPr/>
        <p:txBody>
          <a:bodyPr/>
          <a:lstStyle/>
          <a:p>
            <a:r>
              <a:rPr lang="en-IN"/>
              <a:t>CMOS</a:t>
            </a:r>
          </a:p>
        </p:txBody>
      </p:sp>
      <p:sp>
        <p:nvSpPr>
          <p:cNvPr id="6" name="Slide Number Placeholder 5">
            <a:extLst>
              <a:ext uri="{FF2B5EF4-FFF2-40B4-BE49-F238E27FC236}">
                <a16:creationId xmlns:a16="http://schemas.microsoft.com/office/drawing/2014/main" id="{CEAF3695-B9E7-D5D5-8658-E486E5A14CCD}"/>
              </a:ext>
            </a:extLst>
          </p:cNvPr>
          <p:cNvSpPr>
            <a:spLocks noGrp="1"/>
          </p:cNvSpPr>
          <p:nvPr>
            <p:ph type="sldNum" sz="quarter" idx="12"/>
          </p:nvPr>
        </p:nvSpPr>
        <p:spPr/>
        <p:txBody>
          <a:bodyPr/>
          <a:lstStyle/>
          <a:p>
            <a:fld id="{BC2E8B6D-A843-4976-BA70-A811246CC566}" type="slidenum">
              <a:rPr lang="en-IN" smtClean="0"/>
              <a:pPr/>
              <a:t>64</a:t>
            </a:fld>
            <a:endParaRPr lang="en-IN"/>
          </a:p>
        </p:txBody>
      </p:sp>
      <p:graphicFrame>
        <p:nvGraphicFramePr>
          <p:cNvPr id="7" name="Table 6">
            <a:extLst>
              <a:ext uri="{FF2B5EF4-FFF2-40B4-BE49-F238E27FC236}">
                <a16:creationId xmlns:a16="http://schemas.microsoft.com/office/drawing/2014/main" id="{848AD540-2351-9EEE-53BA-20610489EE9F}"/>
              </a:ext>
            </a:extLst>
          </p:cNvPr>
          <p:cNvGraphicFramePr>
            <a:graphicFrameLocks noGrp="1"/>
          </p:cNvGraphicFramePr>
          <p:nvPr/>
        </p:nvGraphicFramePr>
        <p:xfrm>
          <a:off x="609600" y="2765901"/>
          <a:ext cx="10972800" cy="2194560"/>
        </p:xfrm>
        <a:graphic>
          <a:graphicData uri="http://schemas.openxmlformats.org/drawingml/2006/table">
            <a:tbl>
              <a:tblPr/>
              <a:tblGrid>
                <a:gridCol w="3657600">
                  <a:extLst>
                    <a:ext uri="{9D8B030D-6E8A-4147-A177-3AD203B41FA5}">
                      <a16:colId xmlns:a16="http://schemas.microsoft.com/office/drawing/2014/main" val="3324455249"/>
                    </a:ext>
                  </a:extLst>
                </a:gridCol>
                <a:gridCol w="3657600">
                  <a:extLst>
                    <a:ext uri="{9D8B030D-6E8A-4147-A177-3AD203B41FA5}">
                      <a16:colId xmlns:a16="http://schemas.microsoft.com/office/drawing/2014/main" val="1926651102"/>
                    </a:ext>
                  </a:extLst>
                </a:gridCol>
                <a:gridCol w="3657600">
                  <a:extLst>
                    <a:ext uri="{9D8B030D-6E8A-4147-A177-3AD203B41FA5}">
                      <a16:colId xmlns:a16="http://schemas.microsoft.com/office/drawing/2014/main" val="2697177729"/>
                    </a:ext>
                  </a:extLst>
                </a:gridCol>
              </a:tblGrid>
              <a:tr h="0">
                <a:tc>
                  <a:txBody>
                    <a:bodyPr/>
                    <a:lstStyle/>
                    <a:p>
                      <a:pPr>
                        <a:buNone/>
                      </a:pPr>
                      <a:r>
                        <a:rPr lang="en-IN"/>
                        <a:t>Feature</a:t>
                      </a:r>
                    </a:p>
                  </a:txBody>
                  <a:tcPr anchor="ctr">
                    <a:lnL>
                      <a:noFill/>
                    </a:lnL>
                    <a:lnR>
                      <a:noFill/>
                    </a:lnR>
                    <a:lnT>
                      <a:noFill/>
                    </a:lnT>
                    <a:lnB>
                      <a:noFill/>
                    </a:lnB>
                    <a:noFill/>
                  </a:tcPr>
                </a:tc>
                <a:tc>
                  <a:txBody>
                    <a:bodyPr/>
                    <a:lstStyle/>
                    <a:p>
                      <a:pPr>
                        <a:buNone/>
                      </a:pPr>
                      <a:r>
                        <a:rPr lang="en-IN"/>
                        <a:t>Enhancement MOSFET (E)</a:t>
                      </a:r>
                    </a:p>
                  </a:txBody>
                  <a:tcPr anchor="ctr">
                    <a:lnL>
                      <a:noFill/>
                    </a:lnL>
                    <a:lnR>
                      <a:noFill/>
                    </a:lnR>
                    <a:lnT>
                      <a:noFill/>
                    </a:lnT>
                    <a:lnB>
                      <a:noFill/>
                    </a:lnB>
                    <a:noFill/>
                  </a:tcPr>
                </a:tc>
                <a:tc>
                  <a:txBody>
                    <a:bodyPr/>
                    <a:lstStyle/>
                    <a:p>
                      <a:pPr>
                        <a:buNone/>
                      </a:pPr>
                      <a:r>
                        <a:rPr lang="en-IN"/>
                        <a:t>Depletion MOSFET (D)</a:t>
                      </a:r>
                    </a:p>
                  </a:txBody>
                  <a:tcPr anchor="ctr">
                    <a:lnL>
                      <a:noFill/>
                    </a:lnL>
                    <a:lnR>
                      <a:noFill/>
                    </a:lnR>
                    <a:lnT>
                      <a:noFill/>
                    </a:lnT>
                    <a:lnB>
                      <a:noFill/>
                    </a:lnB>
                    <a:noFill/>
                  </a:tcPr>
                </a:tc>
                <a:extLst>
                  <a:ext uri="{0D108BD9-81ED-4DB2-BD59-A6C34878D82A}">
                    <a16:rowId xmlns:a16="http://schemas.microsoft.com/office/drawing/2014/main" val="2220433007"/>
                  </a:ext>
                </a:extLst>
              </a:tr>
              <a:tr h="0">
                <a:tc>
                  <a:txBody>
                    <a:bodyPr/>
                    <a:lstStyle/>
                    <a:p>
                      <a:pPr>
                        <a:buNone/>
                      </a:pPr>
                      <a:r>
                        <a:rPr lang="en-IN"/>
                        <a:t>Channel at VGS = 0</a:t>
                      </a:r>
                    </a:p>
                  </a:txBody>
                  <a:tcPr anchor="ctr">
                    <a:lnL>
                      <a:noFill/>
                    </a:lnL>
                    <a:lnR>
                      <a:noFill/>
                    </a:lnR>
                    <a:lnT>
                      <a:noFill/>
                    </a:lnT>
                    <a:lnB>
                      <a:noFill/>
                    </a:lnB>
                    <a:noFill/>
                  </a:tcPr>
                </a:tc>
                <a:tc>
                  <a:txBody>
                    <a:bodyPr/>
                    <a:lstStyle/>
                    <a:p>
                      <a:pPr>
                        <a:buNone/>
                      </a:pPr>
                      <a:r>
                        <a:rPr lang="en-IN"/>
                        <a:t>Absent (OFF)</a:t>
                      </a:r>
                    </a:p>
                  </a:txBody>
                  <a:tcPr anchor="ctr">
                    <a:lnL>
                      <a:noFill/>
                    </a:lnL>
                    <a:lnR>
                      <a:noFill/>
                    </a:lnR>
                    <a:lnT>
                      <a:noFill/>
                    </a:lnT>
                    <a:lnB>
                      <a:noFill/>
                    </a:lnB>
                    <a:noFill/>
                  </a:tcPr>
                </a:tc>
                <a:tc>
                  <a:txBody>
                    <a:bodyPr/>
                    <a:lstStyle/>
                    <a:p>
                      <a:pPr>
                        <a:buNone/>
                      </a:pPr>
                      <a:r>
                        <a:rPr lang="en-IN"/>
                        <a:t>Present (ON)</a:t>
                      </a:r>
                    </a:p>
                  </a:txBody>
                  <a:tcPr anchor="ctr">
                    <a:lnL>
                      <a:noFill/>
                    </a:lnL>
                    <a:lnR>
                      <a:noFill/>
                    </a:lnR>
                    <a:lnT>
                      <a:noFill/>
                    </a:lnT>
                    <a:lnB>
                      <a:noFill/>
                    </a:lnB>
                    <a:noFill/>
                  </a:tcPr>
                </a:tc>
                <a:extLst>
                  <a:ext uri="{0D108BD9-81ED-4DB2-BD59-A6C34878D82A}">
                    <a16:rowId xmlns:a16="http://schemas.microsoft.com/office/drawing/2014/main" val="1695311357"/>
                  </a:ext>
                </a:extLst>
              </a:tr>
              <a:tr h="0">
                <a:tc>
                  <a:txBody>
                    <a:bodyPr/>
                    <a:lstStyle/>
                    <a:p>
                      <a:pPr>
                        <a:buNone/>
                      </a:pPr>
                      <a:r>
                        <a:rPr lang="en-IN"/>
                        <a:t>Start Condition</a:t>
                      </a:r>
                    </a:p>
                  </a:txBody>
                  <a:tcPr anchor="ctr">
                    <a:lnL>
                      <a:noFill/>
                    </a:lnL>
                    <a:lnR>
                      <a:noFill/>
                    </a:lnR>
                    <a:lnT>
                      <a:noFill/>
                    </a:lnT>
                    <a:lnB>
                      <a:noFill/>
                    </a:lnB>
                    <a:noFill/>
                  </a:tcPr>
                </a:tc>
                <a:tc>
                  <a:txBody>
                    <a:bodyPr/>
                    <a:lstStyle/>
                    <a:p>
                      <a:pPr>
                        <a:buNone/>
                      </a:pPr>
                      <a:r>
                        <a:rPr lang="en-IN"/>
                        <a:t>Normally OFF</a:t>
                      </a:r>
                    </a:p>
                  </a:txBody>
                  <a:tcPr anchor="ctr">
                    <a:lnL>
                      <a:noFill/>
                    </a:lnL>
                    <a:lnR>
                      <a:noFill/>
                    </a:lnR>
                    <a:lnT>
                      <a:noFill/>
                    </a:lnT>
                    <a:lnB>
                      <a:noFill/>
                    </a:lnB>
                    <a:noFill/>
                  </a:tcPr>
                </a:tc>
                <a:tc>
                  <a:txBody>
                    <a:bodyPr/>
                    <a:lstStyle/>
                    <a:p>
                      <a:pPr>
                        <a:buNone/>
                      </a:pPr>
                      <a:r>
                        <a:rPr lang="en-IN"/>
                        <a:t>Normally ON</a:t>
                      </a:r>
                    </a:p>
                  </a:txBody>
                  <a:tcPr anchor="ctr">
                    <a:lnL>
                      <a:noFill/>
                    </a:lnL>
                    <a:lnR>
                      <a:noFill/>
                    </a:lnR>
                    <a:lnT>
                      <a:noFill/>
                    </a:lnT>
                    <a:lnB>
                      <a:noFill/>
                    </a:lnB>
                    <a:noFill/>
                  </a:tcPr>
                </a:tc>
                <a:extLst>
                  <a:ext uri="{0D108BD9-81ED-4DB2-BD59-A6C34878D82A}">
                    <a16:rowId xmlns:a16="http://schemas.microsoft.com/office/drawing/2014/main" val="2141161893"/>
                  </a:ext>
                </a:extLst>
              </a:tr>
              <a:tr h="0">
                <a:tc>
                  <a:txBody>
                    <a:bodyPr/>
                    <a:lstStyle/>
                    <a:p>
                      <a:pPr>
                        <a:buNone/>
                      </a:pPr>
                      <a:r>
                        <a:rPr lang="en-IN"/>
                        <a:t>Conduction Condition</a:t>
                      </a:r>
                    </a:p>
                  </a:txBody>
                  <a:tcPr anchor="ctr">
                    <a:lnL>
                      <a:noFill/>
                    </a:lnL>
                    <a:lnR>
                      <a:noFill/>
                    </a:lnR>
                    <a:lnT>
                      <a:noFill/>
                    </a:lnT>
                    <a:lnB>
                      <a:noFill/>
                    </a:lnB>
                    <a:noFill/>
                  </a:tcPr>
                </a:tc>
                <a:tc>
                  <a:txBody>
                    <a:bodyPr/>
                    <a:lstStyle/>
                    <a:p>
                      <a:pPr>
                        <a:buNone/>
                      </a:pPr>
                      <a:r>
                        <a:rPr lang="en-IN"/>
                        <a:t>VGS &gt; Vth</a:t>
                      </a:r>
                    </a:p>
                  </a:txBody>
                  <a:tcPr anchor="ctr">
                    <a:lnL>
                      <a:noFill/>
                    </a:lnL>
                    <a:lnR>
                      <a:noFill/>
                    </a:lnR>
                    <a:lnT>
                      <a:noFill/>
                    </a:lnT>
                    <a:lnB>
                      <a:noFill/>
                    </a:lnB>
                    <a:noFill/>
                  </a:tcPr>
                </a:tc>
                <a:tc>
                  <a:txBody>
                    <a:bodyPr/>
                    <a:lstStyle/>
                    <a:p>
                      <a:pPr>
                        <a:buNone/>
                      </a:pPr>
                      <a:r>
                        <a:rPr lang="en-IN"/>
                        <a:t>VGS can be ±</a:t>
                      </a:r>
                    </a:p>
                  </a:txBody>
                  <a:tcPr anchor="ctr">
                    <a:lnL>
                      <a:noFill/>
                    </a:lnL>
                    <a:lnR>
                      <a:noFill/>
                    </a:lnR>
                    <a:lnT>
                      <a:noFill/>
                    </a:lnT>
                    <a:lnB>
                      <a:noFill/>
                    </a:lnB>
                    <a:noFill/>
                  </a:tcPr>
                </a:tc>
                <a:extLst>
                  <a:ext uri="{0D108BD9-81ED-4DB2-BD59-A6C34878D82A}">
                    <a16:rowId xmlns:a16="http://schemas.microsoft.com/office/drawing/2014/main" val="3237154899"/>
                  </a:ext>
                </a:extLst>
              </a:tr>
              <a:tr h="0">
                <a:tc>
                  <a:txBody>
                    <a:bodyPr/>
                    <a:lstStyle/>
                    <a:p>
                      <a:pPr>
                        <a:buNone/>
                      </a:pPr>
                      <a:r>
                        <a:rPr lang="en-IN"/>
                        <a:t>Symbol</a:t>
                      </a:r>
                    </a:p>
                  </a:txBody>
                  <a:tcPr anchor="ctr">
                    <a:lnL>
                      <a:noFill/>
                    </a:lnL>
                    <a:lnR>
                      <a:noFill/>
                    </a:lnR>
                    <a:lnT>
                      <a:noFill/>
                    </a:lnT>
                    <a:lnB>
                      <a:noFill/>
                    </a:lnB>
                    <a:noFill/>
                  </a:tcPr>
                </a:tc>
                <a:tc>
                  <a:txBody>
                    <a:bodyPr/>
                    <a:lstStyle/>
                    <a:p>
                      <a:pPr>
                        <a:buNone/>
                      </a:pPr>
                      <a:r>
                        <a:rPr lang="en-IN"/>
                        <a:t>Broken line channel</a:t>
                      </a:r>
                    </a:p>
                  </a:txBody>
                  <a:tcPr anchor="ctr">
                    <a:lnL>
                      <a:noFill/>
                    </a:lnL>
                    <a:lnR>
                      <a:noFill/>
                    </a:lnR>
                    <a:lnT>
                      <a:noFill/>
                    </a:lnT>
                    <a:lnB>
                      <a:noFill/>
                    </a:lnB>
                    <a:noFill/>
                  </a:tcPr>
                </a:tc>
                <a:tc>
                  <a:txBody>
                    <a:bodyPr/>
                    <a:lstStyle/>
                    <a:p>
                      <a:pPr>
                        <a:buNone/>
                      </a:pPr>
                      <a:r>
                        <a:rPr lang="en-IN"/>
                        <a:t>Solid line channel</a:t>
                      </a:r>
                    </a:p>
                  </a:txBody>
                  <a:tcPr anchor="ctr">
                    <a:lnL>
                      <a:noFill/>
                    </a:lnL>
                    <a:lnR>
                      <a:noFill/>
                    </a:lnR>
                    <a:lnT>
                      <a:noFill/>
                    </a:lnT>
                    <a:lnB>
                      <a:noFill/>
                    </a:lnB>
                    <a:noFill/>
                  </a:tcPr>
                </a:tc>
                <a:extLst>
                  <a:ext uri="{0D108BD9-81ED-4DB2-BD59-A6C34878D82A}">
                    <a16:rowId xmlns:a16="http://schemas.microsoft.com/office/drawing/2014/main" val="1573762114"/>
                  </a:ext>
                </a:extLst>
              </a:tr>
              <a:tr h="0">
                <a:tc>
                  <a:txBody>
                    <a:bodyPr/>
                    <a:lstStyle/>
                    <a:p>
                      <a:pPr>
                        <a:buNone/>
                      </a:pPr>
                      <a:r>
                        <a:rPr lang="en-IN"/>
                        <a:t>Main Use</a:t>
                      </a:r>
                    </a:p>
                  </a:txBody>
                  <a:tcPr anchor="ctr">
                    <a:lnL>
                      <a:noFill/>
                    </a:lnL>
                    <a:lnR>
                      <a:noFill/>
                    </a:lnR>
                    <a:lnT>
                      <a:noFill/>
                    </a:lnT>
                    <a:lnB>
                      <a:noFill/>
                    </a:lnB>
                    <a:noFill/>
                  </a:tcPr>
                </a:tc>
                <a:tc>
                  <a:txBody>
                    <a:bodyPr/>
                    <a:lstStyle/>
                    <a:p>
                      <a:pPr>
                        <a:buNone/>
                      </a:pPr>
                      <a:r>
                        <a:rPr lang="en-IN"/>
                        <a:t>Switching, logic</a:t>
                      </a:r>
                    </a:p>
                  </a:txBody>
                  <a:tcPr anchor="ctr">
                    <a:lnL>
                      <a:noFill/>
                    </a:lnL>
                    <a:lnR>
                      <a:noFill/>
                    </a:lnR>
                    <a:lnT>
                      <a:noFill/>
                    </a:lnT>
                    <a:lnB>
                      <a:noFill/>
                    </a:lnB>
                    <a:noFill/>
                  </a:tcPr>
                </a:tc>
                <a:tc>
                  <a:txBody>
                    <a:bodyPr/>
                    <a:lstStyle/>
                    <a:p>
                      <a:pPr>
                        <a:buNone/>
                      </a:pPr>
                      <a:r>
                        <a:rPr lang="en-IN" dirty="0"/>
                        <a:t>Amplifiers, </a:t>
                      </a:r>
                      <a:r>
                        <a:rPr lang="en-IN" dirty="0" err="1"/>
                        <a:t>analog</a:t>
                      </a:r>
                      <a:endParaRPr lang="en-IN" dirty="0"/>
                    </a:p>
                  </a:txBody>
                  <a:tcPr anchor="ctr">
                    <a:lnL>
                      <a:noFill/>
                    </a:lnL>
                    <a:lnR>
                      <a:noFill/>
                    </a:lnR>
                    <a:lnT>
                      <a:noFill/>
                    </a:lnT>
                    <a:lnB>
                      <a:noFill/>
                    </a:lnB>
                    <a:noFill/>
                  </a:tcPr>
                </a:tc>
                <a:extLst>
                  <a:ext uri="{0D108BD9-81ED-4DB2-BD59-A6C34878D82A}">
                    <a16:rowId xmlns:a16="http://schemas.microsoft.com/office/drawing/2014/main" val="2467277674"/>
                  </a:ext>
                </a:extLst>
              </a:tr>
            </a:tbl>
          </a:graphicData>
        </a:graphic>
      </p:graphicFrame>
    </p:spTree>
    <p:extLst>
      <p:ext uri="{BB962C8B-B14F-4D97-AF65-F5344CB8AC3E}">
        <p14:creationId xmlns:p14="http://schemas.microsoft.com/office/powerpoint/2010/main" val="269324518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a:extLst>
              <a:ext uri="{FF2B5EF4-FFF2-40B4-BE49-F238E27FC236}">
                <a16:creationId xmlns:a16="http://schemas.microsoft.com/office/drawing/2014/main" id="{8963FD3D-3747-494C-23B1-9D7AC0138AA7}"/>
              </a:ext>
            </a:extLst>
          </p:cNvPr>
          <p:cNvSpPr>
            <a:spLocks noGrp="1" noChangeArrowheads="1"/>
          </p:cNvSpPr>
          <p:nvPr>
            <p:ph type="title"/>
          </p:nvPr>
        </p:nvSpPr>
        <p:spPr/>
        <p:txBody>
          <a:bodyPr/>
          <a:lstStyle/>
          <a:p>
            <a:r>
              <a:rPr lang="en-US" altLang="en-US" sz="3400">
                <a:solidFill>
                  <a:srgbClr val="6600FF"/>
                </a:solidFill>
              </a:rPr>
              <a:t>n-Channel MOSFET</a:t>
            </a:r>
            <a:br>
              <a:rPr lang="en-US" altLang="en-US" sz="3400"/>
            </a:br>
            <a:endParaRPr lang="en-US" altLang="en-US" sz="3400"/>
          </a:p>
        </p:txBody>
      </p:sp>
      <p:pic>
        <p:nvPicPr>
          <p:cNvPr id="5123" name="Picture 3">
            <a:extLst>
              <a:ext uri="{FF2B5EF4-FFF2-40B4-BE49-F238E27FC236}">
                <a16:creationId xmlns:a16="http://schemas.microsoft.com/office/drawing/2014/main" id="{0BC867E7-B8C3-30CA-2768-DBFB9BE59F37}"/>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60F2CB9C-34FA-7B46-0D60-14B55C2F2AE7}"/>
              </a:ext>
            </a:extLst>
          </p:cNvPr>
          <p:cNvSpPr>
            <a:spLocks noGrp="1" noChangeArrowheads="1"/>
          </p:cNvSpPr>
          <p:nvPr>
            <p:ph type="title"/>
          </p:nvPr>
        </p:nvSpPr>
        <p:spPr/>
        <p:txBody>
          <a:bodyPr/>
          <a:lstStyle/>
          <a:p>
            <a:r>
              <a:rPr lang="en-US" altLang="en-US" sz="3400" b="1">
                <a:solidFill>
                  <a:srgbClr val="6600FF"/>
                </a:solidFill>
              </a:rPr>
              <a:t>NMOS Structure</a:t>
            </a:r>
            <a:br>
              <a:rPr lang="en-US" altLang="en-US" sz="3400"/>
            </a:br>
            <a:endParaRPr lang="en-US" altLang="en-US" sz="3400"/>
          </a:p>
        </p:txBody>
      </p:sp>
      <p:sp>
        <p:nvSpPr>
          <p:cNvPr id="11267" name="Rectangle 3">
            <a:extLst>
              <a:ext uri="{FF2B5EF4-FFF2-40B4-BE49-F238E27FC236}">
                <a16:creationId xmlns:a16="http://schemas.microsoft.com/office/drawing/2014/main" id="{2991E77F-85FA-664B-5032-B32526CCAED3}"/>
              </a:ext>
            </a:extLst>
          </p:cNvPr>
          <p:cNvSpPr>
            <a:spLocks noGrp="1" noChangeArrowheads="1"/>
          </p:cNvSpPr>
          <p:nvPr>
            <p:ph type="body" idx="1"/>
          </p:nvPr>
        </p:nvSpPr>
        <p:spPr>
          <a:xfrm>
            <a:off x="1981200" y="3811589"/>
            <a:ext cx="8229600" cy="1754187"/>
          </a:xfrm>
        </p:spPr>
        <p:txBody>
          <a:bodyPr/>
          <a:lstStyle/>
          <a:p>
            <a:pPr>
              <a:lnSpc>
                <a:spcPct val="80000"/>
              </a:lnSpc>
            </a:pPr>
            <a:r>
              <a:rPr lang="en-US" altLang="en-US" sz="1800"/>
              <a:t>MOS (Metal-Oxide-Semiconductor) Nowadays gate is made of poly-silicon</a:t>
            </a:r>
          </a:p>
          <a:p>
            <a:pPr>
              <a:lnSpc>
                <a:spcPct val="80000"/>
              </a:lnSpc>
              <a:buFont typeface="Wingdings" panose="05000000000000000000" pitchFamily="2" charset="2"/>
              <a:buNone/>
            </a:pPr>
            <a:r>
              <a:rPr lang="en-US" altLang="en-US" sz="1800"/>
              <a:t>􀂉 Channel length L and width W</a:t>
            </a:r>
          </a:p>
          <a:p>
            <a:pPr>
              <a:lnSpc>
                <a:spcPct val="80000"/>
              </a:lnSpc>
              <a:buFont typeface="Wingdings" panose="05000000000000000000" pitchFamily="2" charset="2"/>
              <a:buNone/>
            </a:pPr>
            <a:r>
              <a:rPr lang="en-US" altLang="en-US" sz="1800"/>
              <a:t>􀁺 In most digital design, L is set at the minimum feature size</a:t>
            </a:r>
          </a:p>
          <a:p>
            <a:pPr>
              <a:lnSpc>
                <a:spcPct val="80000"/>
              </a:lnSpc>
              <a:buFont typeface="Wingdings" panose="05000000000000000000" pitchFamily="2" charset="2"/>
              <a:buNone/>
            </a:pPr>
            <a:r>
              <a:rPr lang="en-US" altLang="en-US" sz="1800"/>
              <a:t>􀁺 W is selectable by the designer</a:t>
            </a:r>
          </a:p>
          <a:p>
            <a:pPr>
              <a:lnSpc>
                <a:spcPct val="80000"/>
              </a:lnSpc>
              <a:buFont typeface="Wingdings" panose="05000000000000000000" pitchFamily="2" charset="2"/>
              <a:buNone/>
            </a:pPr>
            <a:r>
              <a:rPr lang="en-US" altLang="en-US" sz="1800"/>
              <a:t>􀂉 Bulk is connected to the Gnd in NMOS to prevent forward-biased PN junction</a:t>
            </a:r>
          </a:p>
          <a:p>
            <a:pPr>
              <a:lnSpc>
                <a:spcPct val="80000"/>
              </a:lnSpc>
            </a:pPr>
            <a:endParaRPr lang="en-US" altLang="en-US" sz="1800"/>
          </a:p>
        </p:txBody>
      </p:sp>
      <p:pic>
        <p:nvPicPr>
          <p:cNvPr id="11268" name="Picture 4">
            <a:extLst>
              <a:ext uri="{FF2B5EF4-FFF2-40B4-BE49-F238E27FC236}">
                <a16:creationId xmlns:a16="http://schemas.microsoft.com/office/drawing/2014/main" id="{BB9639EB-37DF-98FD-FF54-E3C47DC691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43200" y="1066800"/>
            <a:ext cx="6762750"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269" name="Rectangle 5">
            <a:extLst>
              <a:ext uri="{FF2B5EF4-FFF2-40B4-BE49-F238E27FC236}">
                <a16:creationId xmlns:a16="http://schemas.microsoft.com/office/drawing/2014/main" id="{855924BD-473D-CA82-44AF-BA9080DEA202}"/>
              </a:ext>
            </a:extLst>
          </p:cNvPr>
          <p:cNvSpPr>
            <a:spLocks noChangeArrowheads="1"/>
          </p:cNvSpPr>
          <p:nvPr/>
        </p:nvSpPr>
        <p:spPr bwMode="auto">
          <a:xfrm>
            <a:off x="1981201" y="5638800"/>
            <a:ext cx="947695"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On state</a:t>
            </a:r>
          </a:p>
        </p:txBody>
      </p:sp>
      <p:sp>
        <p:nvSpPr>
          <p:cNvPr id="11270" name="Rectangle 6">
            <a:extLst>
              <a:ext uri="{FF2B5EF4-FFF2-40B4-BE49-F238E27FC236}">
                <a16:creationId xmlns:a16="http://schemas.microsoft.com/office/drawing/2014/main" id="{5345C65C-C0CC-A176-5624-BC2C45DD840B}"/>
              </a:ext>
            </a:extLst>
          </p:cNvPr>
          <p:cNvSpPr>
            <a:spLocks noChangeArrowheads="1"/>
          </p:cNvSpPr>
          <p:nvPr/>
        </p:nvSpPr>
        <p:spPr bwMode="auto">
          <a:xfrm>
            <a:off x="6858000" y="5562600"/>
            <a:ext cx="982000"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a:t>Off state</a:t>
            </a:r>
          </a:p>
        </p:txBody>
      </p:sp>
      <p:pic>
        <p:nvPicPr>
          <p:cNvPr id="11271" name="Picture 7">
            <a:extLst>
              <a:ext uri="{FF2B5EF4-FFF2-40B4-BE49-F238E27FC236}">
                <a16:creationId xmlns:a16="http://schemas.microsoft.com/office/drawing/2014/main" id="{6BB4ED5D-E284-2BBB-AB7D-2D0FAAC9748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00401" y="5486401"/>
            <a:ext cx="1438275"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272" name="Picture 8">
            <a:extLst>
              <a:ext uri="{FF2B5EF4-FFF2-40B4-BE49-F238E27FC236}">
                <a16:creationId xmlns:a16="http://schemas.microsoft.com/office/drawing/2014/main" id="{1ECC844E-DBD9-F835-C788-0814332B40C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29601" y="5334000"/>
            <a:ext cx="1457325" cy="99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a:extLst>
              <a:ext uri="{FF2B5EF4-FFF2-40B4-BE49-F238E27FC236}">
                <a16:creationId xmlns:a16="http://schemas.microsoft.com/office/drawing/2014/main" id="{48B8C074-62EB-76C9-52C5-3CEB4F6BE97C}"/>
              </a:ext>
            </a:extLst>
          </p:cNvPr>
          <p:cNvSpPr>
            <a:spLocks noGrp="1" noChangeArrowheads="1"/>
          </p:cNvSpPr>
          <p:nvPr>
            <p:ph type="title"/>
          </p:nvPr>
        </p:nvSpPr>
        <p:spPr>
          <a:xfrm>
            <a:off x="1981200" y="609600"/>
            <a:ext cx="8229600" cy="1143000"/>
          </a:xfrm>
        </p:spPr>
        <p:txBody>
          <a:bodyPr/>
          <a:lstStyle/>
          <a:p>
            <a:r>
              <a:rPr lang="en-US" altLang="en-US" sz="3400">
                <a:solidFill>
                  <a:srgbClr val="6600FF"/>
                </a:solidFill>
              </a:rPr>
              <a:t>n-MOSFET Characteristics</a:t>
            </a:r>
            <a:br>
              <a:rPr lang="en-US" altLang="en-US" sz="3400">
                <a:solidFill>
                  <a:srgbClr val="6600FF"/>
                </a:solidFill>
              </a:rPr>
            </a:br>
            <a:endParaRPr lang="en-US" altLang="en-US" sz="3400">
              <a:solidFill>
                <a:srgbClr val="6600FF"/>
              </a:solidFill>
            </a:endParaRPr>
          </a:p>
        </p:txBody>
      </p:sp>
      <p:sp>
        <p:nvSpPr>
          <p:cNvPr id="6148" name="Rectangle 4">
            <a:extLst>
              <a:ext uri="{FF2B5EF4-FFF2-40B4-BE49-F238E27FC236}">
                <a16:creationId xmlns:a16="http://schemas.microsoft.com/office/drawing/2014/main" id="{B28866B3-FA7B-DE6A-23CF-CF689CA04F78}"/>
              </a:ext>
            </a:extLst>
          </p:cNvPr>
          <p:cNvSpPr>
            <a:spLocks noChangeArrowheads="1"/>
          </p:cNvSpPr>
          <p:nvPr/>
        </p:nvSpPr>
        <p:spPr bwMode="auto">
          <a:xfrm>
            <a:off x="8112224" y="2034605"/>
            <a:ext cx="3505200" cy="915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Plots V-I characteristics</a:t>
            </a:r>
          </a:p>
          <a:p>
            <a:r>
              <a:rPr lang="en-US" altLang="en-US" dirty="0"/>
              <a:t>of the device for various</a:t>
            </a:r>
          </a:p>
          <a:p>
            <a:r>
              <a:rPr lang="en-US" altLang="en-US" dirty="0"/>
              <a:t>Gate voltages (VGS)</a:t>
            </a:r>
          </a:p>
        </p:txBody>
      </p:sp>
      <p:sp>
        <p:nvSpPr>
          <p:cNvPr id="6149" name="Rectangle 5">
            <a:extLst>
              <a:ext uri="{FF2B5EF4-FFF2-40B4-BE49-F238E27FC236}">
                <a16:creationId xmlns:a16="http://schemas.microsoft.com/office/drawing/2014/main" id="{A1051ECF-31DD-7013-3016-F3E16C124B74}"/>
              </a:ext>
            </a:extLst>
          </p:cNvPr>
          <p:cNvSpPr>
            <a:spLocks noChangeArrowheads="1"/>
          </p:cNvSpPr>
          <p:nvPr/>
        </p:nvSpPr>
        <p:spPr bwMode="auto">
          <a:xfrm>
            <a:off x="7752184" y="4508500"/>
            <a:ext cx="4572000" cy="1739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dirty="0"/>
              <a:t>At a constant value of VDS , we can</a:t>
            </a:r>
          </a:p>
          <a:p>
            <a:r>
              <a:rPr lang="en-US" altLang="en-US" dirty="0"/>
              <a:t>also see that IDS is a function of the</a:t>
            </a:r>
          </a:p>
          <a:p>
            <a:r>
              <a:rPr lang="en-US" altLang="en-US" dirty="0"/>
              <a:t>Gate voltage, VGS</a:t>
            </a:r>
          </a:p>
          <a:p>
            <a:r>
              <a:rPr lang="en-US" altLang="en-US" dirty="0"/>
              <a:t>The transistor begins to conduct</a:t>
            </a:r>
          </a:p>
          <a:p>
            <a:r>
              <a:rPr lang="en-US" altLang="en-US" dirty="0"/>
              <a:t>when the Gate voltage, VGS , reaches</a:t>
            </a:r>
          </a:p>
          <a:p>
            <a:r>
              <a:rPr lang="en-US" altLang="en-US" dirty="0"/>
              <a:t>the Threshold voltage: VT</a:t>
            </a:r>
          </a:p>
        </p:txBody>
      </p:sp>
      <p:pic>
        <p:nvPicPr>
          <p:cNvPr id="2050" name="Picture 2" descr="MOSFET - Working, Types, Operation, Advantages &amp; Applications">
            <a:extLst>
              <a:ext uri="{FF2B5EF4-FFF2-40B4-BE49-F238E27FC236}">
                <a16:creationId xmlns:a16="http://schemas.microsoft.com/office/drawing/2014/main" id="{52E6CB46-2047-B413-DE3B-2D0591CE5FC9}"/>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91344" y="2034605"/>
            <a:ext cx="6915150" cy="393382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a:extLst>
              <a:ext uri="{FF2B5EF4-FFF2-40B4-BE49-F238E27FC236}">
                <a16:creationId xmlns:a16="http://schemas.microsoft.com/office/drawing/2014/main" id="{1CC9B315-F488-6936-2ECC-863FD08BFA81}"/>
              </a:ext>
            </a:extLst>
          </p:cNvPr>
          <p:cNvSpPr>
            <a:spLocks noGrp="1" noChangeArrowheads="1"/>
          </p:cNvSpPr>
          <p:nvPr>
            <p:ph type="title"/>
          </p:nvPr>
        </p:nvSpPr>
        <p:spPr/>
        <p:txBody>
          <a:bodyPr/>
          <a:lstStyle/>
          <a:p>
            <a:r>
              <a:rPr lang="en-US" altLang="en-US" sz="3400" b="1">
                <a:solidFill>
                  <a:srgbClr val="6600FF"/>
                </a:solidFill>
              </a:rPr>
              <a:t>PMOS Structure</a:t>
            </a:r>
            <a:br>
              <a:rPr lang="en-US" altLang="en-US" sz="3400"/>
            </a:br>
            <a:endParaRPr lang="en-US" altLang="en-US" sz="3400"/>
          </a:p>
        </p:txBody>
      </p:sp>
      <p:sp>
        <p:nvSpPr>
          <p:cNvPr id="10243" name="Rectangle 3">
            <a:extLst>
              <a:ext uri="{FF2B5EF4-FFF2-40B4-BE49-F238E27FC236}">
                <a16:creationId xmlns:a16="http://schemas.microsoft.com/office/drawing/2014/main" id="{2BC41ABA-2790-50FD-441F-362BF464469F}"/>
              </a:ext>
            </a:extLst>
          </p:cNvPr>
          <p:cNvSpPr>
            <a:spLocks noGrp="1" noChangeArrowheads="1"/>
          </p:cNvSpPr>
          <p:nvPr>
            <p:ph type="body" idx="1"/>
          </p:nvPr>
        </p:nvSpPr>
        <p:spPr>
          <a:xfrm>
            <a:off x="1981200" y="3811588"/>
            <a:ext cx="8229600" cy="1555750"/>
          </a:xfrm>
        </p:spPr>
        <p:txBody>
          <a:bodyPr/>
          <a:lstStyle/>
          <a:p>
            <a:pPr>
              <a:lnSpc>
                <a:spcPct val="80000"/>
              </a:lnSpc>
            </a:pPr>
            <a:endParaRPr lang="en-US" altLang="en-US" sz="1000"/>
          </a:p>
          <a:p>
            <a:pPr>
              <a:lnSpc>
                <a:spcPct val="80000"/>
              </a:lnSpc>
            </a:pPr>
            <a:endParaRPr lang="en-US" altLang="en-US" sz="1000"/>
          </a:p>
          <a:p>
            <a:pPr>
              <a:lnSpc>
                <a:spcPct val="80000"/>
              </a:lnSpc>
            </a:pPr>
            <a:endParaRPr lang="en-US" altLang="en-US" sz="1000"/>
          </a:p>
          <a:p>
            <a:pPr>
              <a:lnSpc>
                <a:spcPct val="80000"/>
              </a:lnSpc>
            </a:pPr>
            <a:endParaRPr lang="en-US" altLang="en-US" sz="1000"/>
          </a:p>
          <a:p>
            <a:pPr>
              <a:lnSpc>
                <a:spcPct val="80000"/>
              </a:lnSpc>
            </a:pPr>
            <a:endParaRPr lang="en-US" altLang="en-US" sz="1000"/>
          </a:p>
          <a:p>
            <a:pPr>
              <a:lnSpc>
                <a:spcPct val="80000"/>
              </a:lnSpc>
            </a:pPr>
            <a:r>
              <a:rPr lang="en-US" altLang="en-US" sz="2000"/>
              <a:t>PMOS transistor has a negative threshold voltage (Vtp) -0.3v~-1.2v</a:t>
            </a:r>
          </a:p>
          <a:p>
            <a:pPr>
              <a:lnSpc>
                <a:spcPct val="80000"/>
              </a:lnSpc>
            </a:pPr>
            <a:r>
              <a:rPr lang="en-US" altLang="en-US" sz="2000"/>
              <a:t>A pMOS turns on when Vgs&lt;Vtp</a:t>
            </a:r>
          </a:p>
          <a:p>
            <a:pPr>
              <a:lnSpc>
                <a:spcPct val="80000"/>
              </a:lnSpc>
            </a:pPr>
            <a:endParaRPr lang="en-US" altLang="en-US" sz="2000"/>
          </a:p>
        </p:txBody>
      </p:sp>
      <p:pic>
        <p:nvPicPr>
          <p:cNvPr id="10244" name="Picture 4">
            <a:extLst>
              <a:ext uri="{FF2B5EF4-FFF2-40B4-BE49-F238E27FC236}">
                <a16:creationId xmlns:a16="http://schemas.microsoft.com/office/drawing/2014/main" id="{9A1BB4AE-4ACC-221F-107B-D330626BF2A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7000" y="1219200"/>
            <a:ext cx="5905500" cy="2628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6" name="Picture 6">
            <a:extLst>
              <a:ext uri="{FF2B5EF4-FFF2-40B4-BE49-F238E27FC236}">
                <a16:creationId xmlns:a16="http://schemas.microsoft.com/office/drawing/2014/main" id="{408DD076-D30D-48D2-659B-24E4D6B5106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5200" y="5334000"/>
            <a:ext cx="1676400"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47" name="Picture 7">
            <a:extLst>
              <a:ext uri="{FF2B5EF4-FFF2-40B4-BE49-F238E27FC236}">
                <a16:creationId xmlns:a16="http://schemas.microsoft.com/office/drawing/2014/main" id="{18BF1E34-0420-368D-1B37-19F5A63649E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1" y="5410201"/>
            <a:ext cx="1381125" cy="1019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Rectangle 4">
            <a:extLst>
              <a:ext uri="{FF2B5EF4-FFF2-40B4-BE49-F238E27FC236}">
                <a16:creationId xmlns:a16="http://schemas.microsoft.com/office/drawing/2014/main" id="{396E3603-39B4-54CF-8262-D51093086A13}"/>
              </a:ext>
            </a:extLst>
          </p:cNvPr>
          <p:cNvSpPr>
            <a:spLocks noChangeArrowheads="1"/>
          </p:cNvSpPr>
          <p:nvPr/>
        </p:nvSpPr>
        <p:spPr bwMode="auto">
          <a:xfrm>
            <a:off x="551384" y="980728"/>
            <a:ext cx="10729192"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en-US" altLang="en-US" sz="2400" dirty="0"/>
              <a:t>The terminal characteristics of the device are given by drain-to-source current Ids against drain-to-source voltage </a:t>
            </a:r>
            <a:r>
              <a:rPr lang="en-US" altLang="en-US" sz="2400" dirty="0" err="1"/>
              <a:t>Vds</a:t>
            </a:r>
            <a:r>
              <a:rPr lang="en-US" altLang="en-US" sz="2400" dirty="0"/>
              <a:t> for different values of </a:t>
            </a:r>
            <a:r>
              <a:rPr lang="en-US" altLang="en-US" sz="2400" i="1" dirty="0"/>
              <a:t>gate-to-source </a:t>
            </a:r>
            <a:r>
              <a:rPr lang="en-US" altLang="en-US" sz="2400" dirty="0"/>
              <a:t>voltage </a:t>
            </a:r>
            <a:r>
              <a:rPr lang="en-US" altLang="en-US" sz="2400" dirty="0" err="1"/>
              <a:t>Vgs</a:t>
            </a:r>
            <a:r>
              <a:rPr lang="en-US" altLang="en-US" sz="2400" dirty="0"/>
              <a:t>. All voltages are referenced with respect to the source voltage, which is assumed to be at ground potential.</a:t>
            </a:r>
          </a:p>
        </p:txBody>
      </p:sp>
      <p:sp>
        <p:nvSpPr>
          <p:cNvPr id="9223" name="Text Box 7">
            <a:extLst>
              <a:ext uri="{FF2B5EF4-FFF2-40B4-BE49-F238E27FC236}">
                <a16:creationId xmlns:a16="http://schemas.microsoft.com/office/drawing/2014/main" id="{3366532D-046F-09D4-E441-2776E18217FB}"/>
              </a:ext>
            </a:extLst>
          </p:cNvPr>
          <p:cNvSpPr txBox="1">
            <a:spLocks noChangeArrowheads="1"/>
          </p:cNvSpPr>
          <p:nvPr/>
        </p:nvSpPr>
        <p:spPr bwMode="auto">
          <a:xfrm>
            <a:off x="2743200" y="5715001"/>
            <a:ext cx="57150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endParaRPr lang="en-US" altLang="en-US"/>
          </a:p>
        </p:txBody>
      </p:sp>
      <p:sp>
        <p:nvSpPr>
          <p:cNvPr id="9224" name="Rectangle 8">
            <a:extLst>
              <a:ext uri="{FF2B5EF4-FFF2-40B4-BE49-F238E27FC236}">
                <a16:creationId xmlns:a16="http://schemas.microsoft.com/office/drawing/2014/main" id="{491E2B61-BFC5-1EF2-3BB0-8F5CFFF35045}"/>
              </a:ext>
            </a:extLst>
          </p:cNvPr>
          <p:cNvSpPr>
            <a:spLocks noChangeArrowheads="1"/>
          </p:cNvSpPr>
          <p:nvPr/>
        </p:nvSpPr>
        <p:spPr bwMode="auto">
          <a:xfrm>
            <a:off x="2590800" y="533401"/>
            <a:ext cx="6553200" cy="8309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en-US" sz="2400" b="1">
                <a:solidFill>
                  <a:srgbClr val="6600FF"/>
                </a:solidFill>
              </a:rPr>
              <a:t>P-MOSFET Characteristics</a:t>
            </a:r>
            <a:br>
              <a:rPr lang="en-US" altLang="en-US" sz="2400" b="1">
                <a:solidFill>
                  <a:srgbClr val="6600FF"/>
                </a:solidFill>
              </a:rPr>
            </a:br>
            <a:endParaRPr lang="en-US" altLang="en-US" sz="2400" b="1">
              <a:solidFill>
                <a:srgbClr val="6600FF"/>
              </a:solidFill>
            </a:endParaRPr>
          </a:p>
        </p:txBody>
      </p:sp>
      <p:pic>
        <p:nvPicPr>
          <p:cNvPr id="3074" name="Picture 2" descr="MOSFET - Working, Types, Operation, Advantages &amp; Applications">
            <a:extLst>
              <a:ext uri="{FF2B5EF4-FFF2-40B4-BE49-F238E27FC236}">
                <a16:creationId xmlns:a16="http://schemas.microsoft.com/office/drawing/2014/main" id="{1523E383-6386-6EE5-A61D-2C5687855BA0}"/>
              </a:ext>
            </a:extLst>
          </p:cNvPr>
          <p:cNvPicPr>
            <a:picLocks noChangeAspect="1" noChangeArrowheads="1"/>
          </p:cNvPicPr>
          <p:nvPr/>
        </p:nvPicPr>
        <p:blipFill>
          <a:blip r:embed="rId2">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927648" y="2231163"/>
            <a:ext cx="7162800" cy="41529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Freeform 43">
            <a:extLst>
              <a:ext uri="{FF2B5EF4-FFF2-40B4-BE49-F238E27FC236}">
                <a16:creationId xmlns:a16="http://schemas.microsoft.com/office/drawing/2014/main" id="{35767981-E3BF-61EA-1618-5B517B919A79}"/>
              </a:ext>
            </a:extLst>
          </p:cNvPr>
          <p:cNvSpPr/>
          <p:nvPr/>
        </p:nvSpPr>
        <p:spPr>
          <a:xfrm>
            <a:off x="2743200" y="990600"/>
            <a:ext cx="2209800" cy="762000"/>
          </a:xfrm>
          <a:custGeom>
            <a:avLst/>
            <a:gdLst>
              <a:gd name="connsiteX0" fmla="*/ 38100 w 2114550"/>
              <a:gd name="connsiteY0" fmla="*/ 0 h 438150"/>
              <a:gd name="connsiteX1" fmla="*/ 2076450 w 2114550"/>
              <a:gd name="connsiteY1" fmla="*/ 19050 h 438150"/>
              <a:gd name="connsiteX2" fmla="*/ 2114550 w 2114550"/>
              <a:gd name="connsiteY2" fmla="*/ 438150 h 438150"/>
              <a:gd name="connsiteX3" fmla="*/ 1943100 w 2114550"/>
              <a:gd name="connsiteY3" fmla="*/ 190500 h 438150"/>
              <a:gd name="connsiteX4" fmla="*/ 1581150 w 2114550"/>
              <a:gd name="connsiteY4" fmla="*/ 171450 h 438150"/>
              <a:gd name="connsiteX5" fmla="*/ 1123950 w 2114550"/>
              <a:gd name="connsiteY5" fmla="*/ 171450 h 438150"/>
              <a:gd name="connsiteX6" fmla="*/ 628650 w 2114550"/>
              <a:gd name="connsiteY6" fmla="*/ 171450 h 438150"/>
              <a:gd name="connsiteX7" fmla="*/ 323850 w 2114550"/>
              <a:gd name="connsiteY7" fmla="*/ 171450 h 438150"/>
              <a:gd name="connsiteX8" fmla="*/ 95250 w 2114550"/>
              <a:gd name="connsiteY8" fmla="*/ 228600 h 438150"/>
              <a:gd name="connsiteX9" fmla="*/ 0 w 2114550"/>
              <a:gd name="connsiteY9" fmla="*/ 400050 h 438150"/>
              <a:gd name="connsiteX10" fmla="*/ 38100 w 2114550"/>
              <a:gd name="connsiteY10" fmla="*/ 0 h 438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114550" h="438150">
                <a:moveTo>
                  <a:pt x="38100" y="0"/>
                </a:moveTo>
                <a:lnTo>
                  <a:pt x="2076450" y="19050"/>
                </a:lnTo>
                <a:lnTo>
                  <a:pt x="2114550" y="438150"/>
                </a:lnTo>
                <a:lnTo>
                  <a:pt x="1943100" y="190500"/>
                </a:lnTo>
                <a:lnTo>
                  <a:pt x="1581150" y="171450"/>
                </a:lnTo>
                <a:lnTo>
                  <a:pt x="1123950" y="171450"/>
                </a:lnTo>
                <a:lnTo>
                  <a:pt x="628650" y="171450"/>
                </a:lnTo>
                <a:lnTo>
                  <a:pt x="323850" y="171450"/>
                </a:lnTo>
                <a:lnTo>
                  <a:pt x="95250" y="228600"/>
                </a:lnTo>
                <a:lnTo>
                  <a:pt x="0" y="400050"/>
                </a:lnTo>
                <a:lnTo>
                  <a:pt x="38100" y="0"/>
                </a:lnTo>
                <a:close/>
              </a:path>
            </a:pathLst>
          </a:cu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315" name="Rectangle 3">
            <a:extLst>
              <a:ext uri="{FF2B5EF4-FFF2-40B4-BE49-F238E27FC236}">
                <a16:creationId xmlns:a16="http://schemas.microsoft.com/office/drawing/2014/main" id="{E0EBF2BA-D4CC-F251-EE01-8B9776560E31}"/>
              </a:ext>
            </a:extLst>
          </p:cNvPr>
          <p:cNvSpPr>
            <a:spLocks noGrp="1" noChangeArrowheads="1"/>
          </p:cNvSpPr>
          <p:nvPr>
            <p:ph type="title"/>
          </p:nvPr>
        </p:nvSpPr>
        <p:spPr>
          <a:xfrm>
            <a:off x="2209800" y="-76200"/>
            <a:ext cx="7772400" cy="685800"/>
          </a:xfrm>
          <a:noFill/>
        </p:spPr>
        <p:txBody>
          <a:bodyPr/>
          <a:lstStyle/>
          <a:p>
            <a:pPr algn="ctr" eaLnBrk="1" hangingPunct="1"/>
            <a:r>
              <a:rPr lang="en-US" altLang="en-US" sz="2800" dirty="0">
                <a:solidFill>
                  <a:schemeClr val="accent2"/>
                </a:solidFill>
                <a:latin typeface="Comic Sans MS" panose="030F0702030302020204" pitchFamily="66" charset="0"/>
              </a:rPr>
              <a:t> Pinch off?</a:t>
            </a:r>
          </a:p>
        </p:txBody>
      </p:sp>
      <p:grpSp>
        <p:nvGrpSpPr>
          <p:cNvPr id="2" name="Group 23">
            <a:extLst>
              <a:ext uri="{FF2B5EF4-FFF2-40B4-BE49-F238E27FC236}">
                <a16:creationId xmlns:a16="http://schemas.microsoft.com/office/drawing/2014/main" id="{565B9F08-BBFD-7301-EB10-490D59783C4C}"/>
              </a:ext>
            </a:extLst>
          </p:cNvPr>
          <p:cNvGrpSpPr>
            <a:grpSpLocks/>
          </p:cNvGrpSpPr>
          <p:nvPr/>
        </p:nvGrpSpPr>
        <p:grpSpPr bwMode="auto">
          <a:xfrm>
            <a:off x="2216150" y="762000"/>
            <a:ext cx="3270250" cy="863600"/>
            <a:chOff x="692727" y="1524000"/>
            <a:chExt cx="3034146" cy="863600"/>
          </a:xfrm>
        </p:grpSpPr>
        <p:sp>
          <p:nvSpPr>
            <p:cNvPr id="19" name="Freeform 18">
              <a:extLst>
                <a:ext uri="{FF2B5EF4-FFF2-40B4-BE49-F238E27FC236}">
                  <a16:creationId xmlns:a16="http://schemas.microsoft.com/office/drawing/2014/main" id="{CD0D0F6F-3EE6-E3B3-6D4F-D1CECD7EBAD7}"/>
                </a:ext>
              </a:extLst>
            </p:cNvPr>
            <p:cNvSpPr/>
            <p:nvPr/>
          </p:nvSpPr>
          <p:spPr>
            <a:xfrm>
              <a:off x="692727" y="1525588"/>
              <a:ext cx="1524438" cy="862012"/>
            </a:xfrm>
            <a:custGeom>
              <a:avLst/>
              <a:gdLst>
                <a:gd name="connsiteX0" fmla="*/ 0 w 1524000"/>
                <a:gd name="connsiteY0" fmla="*/ 856672 h 861290"/>
                <a:gd name="connsiteX1" fmla="*/ 457200 w 1524000"/>
                <a:gd name="connsiteY1" fmla="*/ 828963 h 861290"/>
                <a:gd name="connsiteX2" fmla="*/ 512618 w 1524000"/>
                <a:gd name="connsiteY2" fmla="*/ 828963 h 861290"/>
                <a:gd name="connsiteX3" fmla="*/ 540328 w 1524000"/>
                <a:gd name="connsiteY3" fmla="*/ 634999 h 861290"/>
                <a:gd name="connsiteX4" fmla="*/ 595746 w 1524000"/>
                <a:gd name="connsiteY4" fmla="*/ 399472 h 861290"/>
                <a:gd name="connsiteX5" fmla="*/ 692728 w 1524000"/>
                <a:gd name="connsiteY5" fmla="*/ 205508 h 861290"/>
                <a:gd name="connsiteX6" fmla="*/ 845128 w 1524000"/>
                <a:gd name="connsiteY6" fmla="*/ 80817 h 861290"/>
                <a:gd name="connsiteX7" fmla="*/ 1177637 w 1524000"/>
                <a:gd name="connsiteY7" fmla="*/ 11545 h 861290"/>
                <a:gd name="connsiteX8" fmla="*/ 1524000 w 1524000"/>
                <a:gd name="connsiteY8" fmla="*/ 11545 h 86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0" h="861290">
                  <a:moveTo>
                    <a:pt x="0" y="856672"/>
                  </a:moveTo>
                  <a:lnTo>
                    <a:pt x="457200" y="828963"/>
                  </a:lnTo>
                  <a:cubicBezTo>
                    <a:pt x="542636" y="824345"/>
                    <a:pt x="498763" y="861290"/>
                    <a:pt x="512618" y="828963"/>
                  </a:cubicBezTo>
                  <a:cubicBezTo>
                    <a:pt x="526473" y="796636"/>
                    <a:pt x="526473" y="706581"/>
                    <a:pt x="540328" y="634999"/>
                  </a:cubicBezTo>
                  <a:cubicBezTo>
                    <a:pt x="554183" y="563417"/>
                    <a:pt x="570346" y="471054"/>
                    <a:pt x="595746" y="399472"/>
                  </a:cubicBezTo>
                  <a:cubicBezTo>
                    <a:pt x="621146" y="327890"/>
                    <a:pt x="651164" y="258617"/>
                    <a:pt x="692728" y="205508"/>
                  </a:cubicBezTo>
                  <a:cubicBezTo>
                    <a:pt x="734292" y="152399"/>
                    <a:pt x="764310" y="113144"/>
                    <a:pt x="845128" y="80817"/>
                  </a:cubicBezTo>
                  <a:cubicBezTo>
                    <a:pt x="925946" y="48490"/>
                    <a:pt x="1064492" y="23090"/>
                    <a:pt x="1177637" y="11545"/>
                  </a:cubicBezTo>
                  <a:cubicBezTo>
                    <a:pt x="1290782" y="0"/>
                    <a:pt x="1407391" y="5772"/>
                    <a:pt x="1524000" y="11545"/>
                  </a:cubicBezTo>
                </a:path>
              </a:pathLst>
            </a:custGeom>
            <a:ln w="444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23" name="Freeform 22">
              <a:extLst>
                <a:ext uri="{FF2B5EF4-FFF2-40B4-BE49-F238E27FC236}">
                  <a16:creationId xmlns:a16="http://schemas.microsoft.com/office/drawing/2014/main" id="{6FB86CF3-7E35-8CD3-0348-A53D43FCB738}"/>
                </a:ext>
              </a:extLst>
            </p:cNvPr>
            <p:cNvSpPr/>
            <p:nvPr/>
          </p:nvSpPr>
          <p:spPr>
            <a:xfrm flipH="1">
              <a:off x="2209800" y="1524000"/>
              <a:ext cx="1517073" cy="862013"/>
            </a:xfrm>
            <a:custGeom>
              <a:avLst/>
              <a:gdLst>
                <a:gd name="connsiteX0" fmla="*/ 0 w 1524000"/>
                <a:gd name="connsiteY0" fmla="*/ 856672 h 861290"/>
                <a:gd name="connsiteX1" fmla="*/ 457200 w 1524000"/>
                <a:gd name="connsiteY1" fmla="*/ 828963 h 861290"/>
                <a:gd name="connsiteX2" fmla="*/ 512618 w 1524000"/>
                <a:gd name="connsiteY2" fmla="*/ 828963 h 861290"/>
                <a:gd name="connsiteX3" fmla="*/ 540328 w 1524000"/>
                <a:gd name="connsiteY3" fmla="*/ 634999 h 861290"/>
                <a:gd name="connsiteX4" fmla="*/ 595746 w 1524000"/>
                <a:gd name="connsiteY4" fmla="*/ 399472 h 861290"/>
                <a:gd name="connsiteX5" fmla="*/ 692728 w 1524000"/>
                <a:gd name="connsiteY5" fmla="*/ 205508 h 861290"/>
                <a:gd name="connsiteX6" fmla="*/ 845128 w 1524000"/>
                <a:gd name="connsiteY6" fmla="*/ 80817 h 861290"/>
                <a:gd name="connsiteX7" fmla="*/ 1177637 w 1524000"/>
                <a:gd name="connsiteY7" fmla="*/ 11545 h 861290"/>
                <a:gd name="connsiteX8" fmla="*/ 1524000 w 1524000"/>
                <a:gd name="connsiteY8" fmla="*/ 11545 h 86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0" h="861290">
                  <a:moveTo>
                    <a:pt x="0" y="856672"/>
                  </a:moveTo>
                  <a:lnTo>
                    <a:pt x="457200" y="828963"/>
                  </a:lnTo>
                  <a:cubicBezTo>
                    <a:pt x="542636" y="824345"/>
                    <a:pt x="498763" y="861290"/>
                    <a:pt x="512618" y="828963"/>
                  </a:cubicBezTo>
                  <a:cubicBezTo>
                    <a:pt x="526473" y="796636"/>
                    <a:pt x="526473" y="706581"/>
                    <a:pt x="540328" y="634999"/>
                  </a:cubicBezTo>
                  <a:cubicBezTo>
                    <a:pt x="554183" y="563417"/>
                    <a:pt x="570346" y="471054"/>
                    <a:pt x="595746" y="399472"/>
                  </a:cubicBezTo>
                  <a:cubicBezTo>
                    <a:pt x="621146" y="327890"/>
                    <a:pt x="651164" y="258617"/>
                    <a:pt x="692728" y="205508"/>
                  </a:cubicBezTo>
                  <a:cubicBezTo>
                    <a:pt x="734292" y="152399"/>
                    <a:pt x="764310" y="113144"/>
                    <a:pt x="845128" y="80817"/>
                  </a:cubicBezTo>
                  <a:cubicBezTo>
                    <a:pt x="925946" y="48490"/>
                    <a:pt x="1064492" y="23090"/>
                    <a:pt x="1177637" y="11545"/>
                  </a:cubicBezTo>
                  <a:cubicBezTo>
                    <a:pt x="1290782" y="0"/>
                    <a:pt x="1407391" y="5772"/>
                    <a:pt x="1524000" y="11545"/>
                  </a:cubicBezTo>
                </a:path>
              </a:pathLst>
            </a:custGeom>
            <a:ln w="444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sp>
        <p:nvSpPr>
          <p:cNvPr id="25" name="Rectangle 24">
            <a:extLst>
              <a:ext uri="{FF2B5EF4-FFF2-40B4-BE49-F238E27FC236}">
                <a16:creationId xmlns:a16="http://schemas.microsoft.com/office/drawing/2014/main" id="{7531D6DA-CC36-7EF0-3128-A69CFDF4B32C}"/>
              </a:ext>
            </a:extLst>
          </p:cNvPr>
          <p:cNvSpPr/>
          <p:nvPr/>
        </p:nvSpPr>
        <p:spPr>
          <a:xfrm>
            <a:off x="2209800" y="2743200"/>
            <a:ext cx="3276600" cy="1143000"/>
          </a:xfrm>
          <a:prstGeom prst="rect">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13318" name="TextBox 26">
            <a:extLst>
              <a:ext uri="{FF2B5EF4-FFF2-40B4-BE49-F238E27FC236}">
                <a16:creationId xmlns:a16="http://schemas.microsoft.com/office/drawing/2014/main" id="{C36E20F6-312B-E796-F838-172233B143CA}"/>
              </a:ext>
            </a:extLst>
          </p:cNvPr>
          <p:cNvSpPr txBox="1">
            <a:spLocks noChangeArrowheads="1"/>
          </p:cNvSpPr>
          <p:nvPr/>
        </p:nvSpPr>
        <p:spPr bwMode="auto">
          <a:xfrm>
            <a:off x="2859088" y="2724150"/>
            <a:ext cx="341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0</a:t>
            </a:r>
            <a:endParaRPr lang="en-US" altLang="en-US" baseline="-25000">
              <a:latin typeface="Comic Sans MS" panose="030F0702030302020204" pitchFamily="66" charset="0"/>
            </a:endParaRPr>
          </a:p>
        </p:txBody>
      </p:sp>
      <p:sp>
        <p:nvSpPr>
          <p:cNvPr id="28" name="Rectangle 27">
            <a:extLst>
              <a:ext uri="{FF2B5EF4-FFF2-40B4-BE49-F238E27FC236}">
                <a16:creationId xmlns:a16="http://schemas.microsoft.com/office/drawing/2014/main" id="{8246A9C7-A380-4136-2E4D-507C431AD627}"/>
              </a:ext>
            </a:extLst>
          </p:cNvPr>
          <p:cNvSpPr/>
          <p:nvPr/>
        </p:nvSpPr>
        <p:spPr>
          <a:xfrm>
            <a:off x="2819400" y="2590800"/>
            <a:ext cx="1981200" cy="152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3" name="Group 34">
            <a:extLst>
              <a:ext uri="{FF2B5EF4-FFF2-40B4-BE49-F238E27FC236}">
                <a16:creationId xmlns:a16="http://schemas.microsoft.com/office/drawing/2014/main" id="{6DC9C5B1-AA2A-51AD-4ED9-6B1A626CC14C}"/>
              </a:ext>
            </a:extLst>
          </p:cNvPr>
          <p:cNvGrpSpPr>
            <a:grpSpLocks/>
          </p:cNvGrpSpPr>
          <p:nvPr/>
        </p:nvGrpSpPr>
        <p:grpSpPr bwMode="auto">
          <a:xfrm>
            <a:off x="2808289" y="2133600"/>
            <a:ext cx="1952625" cy="400050"/>
            <a:chOff x="1284202" y="2895600"/>
            <a:chExt cx="1953158" cy="400110"/>
          </a:xfrm>
        </p:grpSpPr>
        <p:sp>
          <p:nvSpPr>
            <p:cNvPr id="13361" name="TextBox 25">
              <a:extLst>
                <a:ext uri="{FF2B5EF4-FFF2-40B4-BE49-F238E27FC236}">
                  <a16:creationId xmlns:a16="http://schemas.microsoft.com/office/drawing/2014/main" id="{166F8CEF-FF0B-5796-48F7-A52A576220F7}"/>
                </a:ext>
              </a:extLst>
            </p:cNvPr>
            <p:cNvSpPr txBox="1">
              <a:spLocks noChangeArrowheads="1"/>
            </p:cNvSpPr>
            <p:nvPr/>
          </p:nvSpPr>
          <p:spPr bwMode="auto">
            <a:xfrm>
              <a:off x="1284202" y="2895600"/>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0</a:t>
              </a:r>
              <a:endParaRPr lang="en-US" altLang="en-US" baseline="-25000">
                <a:latin typeface="Comic Sans MS" panose="030F0702030302020204" pitchFamily="66" charset="0"/>
              </a:endParaRPr>
            </a:p>
          </p:txBody>
        </p:sp>
        <p:sp>
          <p:nvSpPr>
            <p:cNvPr id="13362" name="TextBox 28">
              <a:extLst>
                <a:ext uri="{FF2B5EF4-FFF2-40B4-BE49-F238E27FC236}">
                  <a16:creationId xmlns:a16="http://schemas.microsoft.com/office/drawing/2014/main" id="{14A6761D-576D-CBF1-314D-6838F8995DF0}"/>
                </a:ext>
              </a:extLst>
            </p:cNvPr>
            <p:cNvSpPr txBox="1">
              <a:spLocks noChangeArrowheads="1"/>
            </p:cNvSpPr>
            <p:nvPr/>
          </p:nvSpPr>
          <p:spPr bwMode="auto">
            <a:xfrm>
              <a:off x="2895600" y="2895600"/>
              <a:ext cx="34176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0</a:t>
              </a:r>
              <a:endParaRPr lang="en-US" altLang="en-US" baseline="-25000">
                <a:latin typeface="Comic Sans MS" panose="030F0702030302020204" pitchFamily="66" charset="0"/>
              </a:endParaRPr>
            </a:p>
          </p:txBody>
        </p:sp>
      </p:grpSp>
      <p:sp>
        <p:nvSpPr>
          <p:cNvPr id="13321" name="TextBox 29">
            <a:extLst>
              <a:ext uri="{FF2B5EF4-FFF2-40B4-BE49-F238E27FC236}">
                <a16:creationId xmlns:a16="http://schemas.microsoft.com/office/drawing/2014/main" id="{6A4A2389-516E-849C-CEEF-03E1FF467052}"/>
              </a:ext>
            </a:extLst>
          </p:cNvPr>
          <p:cNvSpPr txBox="1">
            <a:spLocks noChangeArrowheads="1"/>
          </p:cNvSpPr>
          <p:nvPr/>
        </p:nvSpPr>
        <p:spPr bwMode="auto">
          <a:xfrm>
            <a:off x="4495801" y="2743200"/>
            <a:ext cx="341313"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0</a:t>
            </a:r>
            <a:endParaRPr lang="en-US" altLang="en-US" baseline="-25000">
              <a:latin typeface="Comic Sans MS" panose="030F0702030302020204" pitchFamily="66" charset="0"/>
            </a:endParaRPr>
          </a:p>
        </p:txBody>
      </p:sp>
      <p:sp>
        <p:nvSpPr>
          <p:cNvPr id="32" name="Rectangle 31">
            <a:extLst>
              <a:ext uri="{FF2B5EF4-FFF2-40B4-BE49-F238E27FC236}">
                <a16:creationId xmlns:a16="http://schemas.microsoft.com/office/drawing/2014/main" id="{B93AB73C-4C4E-371A-4CF0-FE9A32EB0B00}"/>
              </a:ext>
            </a:extLst>
          </p:cNvPr>
          <p:cNvSpPr/>
          <p:nvPr/>
        </p:nvSpPr>
        <p:spPr>
          <a:xfrm>
            <a:off x="2209800" y="2743200"/>
            <a:ext cx="609600" cy="304800"/>
          </a:xfrm>
          <a:prstGeom prst="rect">
            <a:avLst/>
          </a:prstGeom>
          <a:solidFill>
            <a:srgbClr val="FFC000"/>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3" name="Rectangle 32">
            <a:extLst>
              <a:ext uri="{FF2B5EF4-FFF2-40B4-BE49-F238E27FC236}">
                <a16:creationId xmlns:a16="http://schemas.microsoft.com/office/drawing/2014/main" id="{C1A32389-D46B-8454-3A56-2AFAA5E0FD22}"/>
              </a:ext>
            </a:extLst>
          </p:cNvPr>
          <p:cNvSpPr/>
          <p:nvPr/>
        </p:nvSpPr>
        <p:spPr>
          <a:xfrm>
            <a:off x="4800600" y="2743200"/>
            <a:ext cx="685800" cy="304800"/>
          </a:xfrm>
          <a:prstGeom prst="rect">
            <a:avLst/>
          </a:prstGeom>
          <a:solidFill>
            <a:srgbClr val="FFC000"/>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34" name="Rectangle 33">
            <a:extLst>
              <a:ext uri="{FF2B5EF4-FFF2-40B4-BE49-F238E27FC236}">
                <a16:creationId xmlns:a16="http://schemas.microsoft.com/office/drawing/2014/main" id="{59C41CE4-0636-EBD1-F16A-A33ED992BD3A}"/>
              </a:ext>
            </a:extLst>
          </p:cNvPr>
          <p:cNvSpPr/>
          <p:nvPr/>
        </p:nvSpPr>
        <p:spPr>
          <a:xfrm>
            <a:off x="2819400" y="2514600"/>
            <a:ext cx="1981200" cy="76200"/>
          </a:xfrm>
          <a:prstGeom prst="rect">
            <a:avLst/>
          </a:prstGeom>
          <a:solidFill>
            <a:srgbClr val="FFC000"/>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4" name="Group 35">
            <a:extLst>
              <a:ext uri="{FF2B5EF4-FFF2-40B4-BE49-F238E27FC236}">
                <a16:creationId xmlns:a16="http://schemas.microsoft.com/office/drawing/2014/main" id="{A7D9D825-B65C-9CEC-3D4B-55A0B1999C39}"/>
              </a:ext>
            </a:extLst>
          </p:cNvPr>
          <p:cNvGrpSpPr>
            <a:grpSpLocks/>
          </p:cNvGrpSpPr>
          <p:nvPr/>
        </p:nvGrpSpPr>
        <p:grpSpPr bwMode="auto">
          <a:xfrm>
            <a:off x="2209800" y="1295400"/>
            <a:ext cx="3270250" cy="330200"/>
            <a:chOff x="692727" y="1524000"/>
            <a:chExt cx="3034146" cy="863600"/>
          </a:xfrm>
        </p:grpSpPr>
        <p:sp>
          <p:nvSpPr>
            <p:cNvPr id="37" name="Freeform 36">
              <a:extLst>
                <a:ext uri="{FF2B5EF4-FFF2-40B4-BE49-F238E27FC236}">
                  <a16:creationId xmlns:a16="http://schemas.microsoft.com/office/drawing/2014/main" id="{A9C8C1BF-349C-829B-3ADB-EBF3C2C57933}"/>
                </a:ext>
              </a:extLst>
            </p:cNvPr>
            <p:cNvSpPr/>
            <p:nvPr/>
          </p:nvSpPr>
          <p:spPr>
            <a:xfrm>
              <a:off x="692727" y="1528153"/>
              <a:ext cx="1524438" cy="859447"/>
            </a:xfrm>
            <a:custGeom>
              <a:avLst/>
              <a:gdLst>
                <a:gd name="connsiteX0" fmla="*/ 0 w 1524000"/>
                <a:gd name="connsiteY0" fmla="*/ 856672 h 861290"/>
                <a:gd name="connsiteX1" fmla="*/ 457200 w 1524000"/>
                <a:gd name="connsiteY1" fmla="*/ 828963 h 861290"/>
                <a:gd name="connsiteX2" fmla="*/ 512618 w 1524000"/>
                <a:gd name="connsiteY2" fmla="*/ 828963 h 861290"/>
                <a:gd name="connsiteX3" fmla="*/ 540328 w 1524000"/>
                <a:gd name="connsiteY3" fmla="*/ 634999 h 861290"/>
                <a:gd name="connsiteX4" fmla="*/ 595746 w 1524000"/>
                <a:gd name="connsiteY4" fmla="*/ 399472 h 861290"/>
                <a:gd name="connsiteX5" fmla="*/ 692728 w 1524000"/>
                <a:gd name="connsiteY5" fmla="*/ 205508 h 861290"/>
                <a:gd name="connsiteX6" fmla="*/ 845128 w 1524000"/>
                <a:gd name="connsiteY6" fmla="*/ 80817 h 861290"/>
                <a:gd name="connsiteX7" fmla="*/ 1177637 w 1524000"/>
                <a:gd name="connsiteY7" fmla="*/ 11545 h 861290"/>
                <a:gd name="connsiteX8" fmla="*/ 1524000 w 1524000"/>
                <a:gd name="connsiteY8" fmla="*/ 11545 h 86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0" h="861290">
                  <a:moveTo>
                    <a:pt x="0" y="856672"/>
                  </a:moveTo>
                  <a:lnTo>
                    <a:pt x="457200" y="828963"/>
                  </a:lnTo>
                  <a:cubicBezTo>
                    <a:pt x="542636" y="824345"/>
                    <a:pt x="498763" y="861290"/>
                    <a:pt x="512618" y="828963"/>
                  </a:cubicBezTo>
                  <a:cubicBezTo>
                    <a:pt x="526473" y="796636"/>
                    <a:pt x="526473" y="706581"/>
                    <a:pt x="540328" y="634999"/>
                  </a:cubicBezTo>
                  <a:cubicBezTo>
                    <a:pt x="554183" y="563417"/>
                    <a:pt x="570346" y="471054"/>
                    <a:pt x="595746" y="399472"/>
                  </a:cubicBezTo>
                  <a:cubicBezTo>
                    <a:pt x="621146" y="327890"/>
                    <a:pt x="651164" y="258617"/>
                    <a:pt x="692728" y="205508"/>
                  </a:cubicBezTo>
                  <a:cubicBezTo>
                    <a:pt x="734292" y="152399"/>
                    <a:pt x="764310" y="113144"/>
                    <a:pt x="845128" y="80817"/>
                  </a:cubicBezTo>
                  <a:cubicBezTo>
                    <a:pt x="925946" y="48490"/>
                    <a:pt x="1064492" y="23090"/>
                    <a:pt x="1177637" y="11545"/>
                  </a:cubicBezTo>
                  <a:cubicBezTo>
                    <a:pt x="1290782" y="0"/>
                    <a:pt x="1407391" y="5772"/>
                    <a:pt x="1524000" y="11545"/>
                  </a:cubicBezTo>
                </a:path>
              </a:pathLst>
            </a:custGeom>
            <a:ln w="444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38" name="Freeform 37">
              <a:extLst>
                <a:ext uri="{FF2B5EF4-FFF2-40B4-BE49-F238E27FC236}">
                  <a16:creationId xmlns:a16="http://schemas.microsoft.com/office/drawing/2014/main" id="{2D302995-CBFA-B102-612E-05191D26F38A}"/>
                </a:ext>
              </a:extLst>
            </p:cNvPr>
            <p:cNvSpPr/>
            <p:nvPr/>
          </p:nvSpPr>
          <p:spPr>
            <a:xfrm flipH="1">
              <a:off x="2209800" y="1524000"/>
              <a:ext cx="1517073" cy="859449"/>
            </a:xfrm>
            <a:custGeom>
              <a:avLst/>
              <a:gdLst>
                <a:gd name="connsiteX0" fmla="*/ 0 w 1524000"/>
                <a:gd name="connsiteY0" fmla="*/ 856672 h 861290"/>
                <a:gd name="connsiteX1" fmla="*/ 457200 w 1524000"/>
                <a:gd name="connsiteY1" fmla="*/ 828963 h 861290"/>
                <a:gd name="connsiteX2" fmla="*/ 512618 w 1524000"/>
                <a:gd name="connsiteY2" fmla="*/ 828963 h 861290"/>
                <a:gd name="connsiteX3" fmla="*/ 540328 w 1524000"/>
                <a:gd name="connsiteY3" fmla="*/ 634999 h 861290"/>
                <a:gd name="connsiteX4" fmla="*/ 595746 w 1524000"/>
                <a:gd name="connsiteY4" fmla="*/ 399472 h 861290"/>
                <a:gd name="connsiteX5" fmla="*/ 692728 w 1524000"/>
                <a:gd name="connsiteY5" fmla="*/ 205508 h 861290"/>
                <a:gd name="connsiteX6" fmla="*/ 845128 w 1524000"/>
                <a:gd name="connsiteY6" fmla="*/ 80817 h 861290"/>
                <a:gd name="connsiteX7" fmla="*/ 1177637 w 1524000"/>
                <a:gd name="connsiteY7" fmla="*/ 11545 h 861290"/>
                <a:gd name="connsiteX8" fmla="*/ 1524000 w 1524000"/>
                <a:gd name="connsiteY8" fmla="*/ 11545 h 8612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24000" h="861290">
                  <a:moveTo>
                    <a:pt x="0" y="856672"/>
                  </a:moveTo>
                  <a:lnTo>
                    <a:pt x="457200" y="828963"/>
                  </a:lnTo>
                  <a:cubicBezTo>
                    <a:pt x="542636" y="824345"/>
                    <a:pt x="498763" y="861290"/>
                    <a:pt x="512618" y="828963"/>
                  </a:cubicBezTo>
                  <a:cubicBezTo>
                    <a:pt x="526473" y="796636"/>
                    <a:pt x="526473" y="706581"/>
                    <a:pt x="540328" y="634999"/>
                  </a:cubicBezTo>
                  <a:cubicBezTo>
                    <a:pt x="554183" y="563417"/>
                    <a:pt x="570346" y="471054"/>
                    <a:pt x="595746" y="399472"/>
                  </a:cubicBezTo>
                  <a:cubicBezTo>
                    <a:pt x="621146" y="327890"/>
                    <a:pt x="651164" y="258617"/>
                    <a:pt x="692728" y="205508"/>
                  </a:cubicBezTo>
                  <a:cubicBezTo>
                    <a:pt x="734292" y="152399"/>
                    <a:pt x="764310" y="113144"/>
                    <a:pt x="845128" y="80817"/>
                  </a:cubicBezTo>
                  <a:cubicBezTo>
                    <a:pt x="925946" y="48490"/>
                    <a:pt x="1064492" y="23090"/>
                    <a:pt x="1177637" y="11545"/>
                  </a:cubicBezTo>
                  <a:cubicBezTo>
                    <a:pt x="1290782" y="0"/>
                    <a:pt x="1407391" y="5772"/>
                    <a:pt x="1524000" y="11545"/>
                  </a:cubicBezTo>
                </a:path>
              </a:pathLst>
            </a:custGeom>
            <a:ln w="44450">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grpSp>
        <p:nvGrpSpPr>
          <p:cNvPr id="5" name="Group 38">
            <a:extLst>
              <a:ext uri="{FF2B5EF4-FFF2-40B4-BE49-F238E27FC236}">
                <a16:creationId xmlns:a16="http://schemas.microsoft.com/office/drawing/2014/main" id="{A6F26270-1277-5E77-96CD-8FDF47678C63}"/>
              </a:ext>
            </a:extLst>
          </p:cNvPr>
          <p:cNvGrpSpPr>
            <a:grpSpLocks/>
          </p:cNvGrpSpPr>
          <p:nvPr/>
        </p:nvGrpSpPr>
        <p:grpSpPr bwMode="auto">
          <a:xfrm>
            <a:off x="2720976" y="2057400"/>
            <a:ext cx="2079625" cy="400050"/>
            <a:chOff x="1284202" y="2895600"/>
            <a:chExt cx="2079796" cy="400110"/>
          </a:xfrm>
        </p:grpSpPr>
        <p:sp>
          <p:nvSpPr>
            <p:cNvPr id="13357" name="TextBox 39">
              <a:extLst>
                <a:ext uri="{FF2B5EF4-FFF2-40B4-BE49-F238E27FC236}">
                  <a16:creationId xmlns:a16="http://schemas.microsoft.com/office/drawing/2014/main" id="{2E88DB4C-D68B-3CF5-E627-C647E24C587B}"/>
                </a:ext>
              </a:extLst>
            </p:cNvPr>
            <p:cNvSpPr txBox="1">
              <a:spLocks noChangeArrowheads="1"/>
            </p:cNvSpPr>
            <p:nvPr/>
          </p:nvSpPr>
          <p:spPr bwMode="auto">
            <a:xfrm>
              <a:off x="1284202" y="2895600"/>
              <a:ext cx="4683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V</a:t>
              </a:r>
              <a:r>
                <a:rPr lang="en-US" altLang="en-US" baseline="-25000">
                  <a:latin typeface="Comic Sans MS" panose="030F0702030302020204" pitchFamily="66" charset="0"/>
                </a:rPr>
                <a:t>G</a:t>
              </a:r>
            </a:p>
          </p:txBody>
        </p:sp>
        <p:sp>
          <p:nvSpPr>
            <p:cNvPr id="13358" name="TextBox 40">
              <a:extLst>
                <a:ext uri="{FF2B5EF4-FFF2-40B4-BE49-F238E27FC236}">
                  <a16:creationId xmlns:a16="http://schemas.microsoft.com/office/drawing/2014/main" id="{E1173209-16BD-045A-ADB9-1BB861886140}"/>
                </a:ext>
              </a:extLst>
            </p:cNvPr>
            <p:cNvSpPr txBox="1">
              <a:spLocks noChangeArrowheads="1"/>
            </p:cNvSpPr>
            <p:nvPr/>
          </p:nvSpPr>
          <p:spPr bwMode="auto">
            <a:xfrm>
              <a:off x="2895600" y="2895600"/>
              <a:ext cx="4683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V</a:t>
              </a:r>
              <a:r>
                <a:rPr lang="en-US" altLang="en-US" baseline="-25000">
                  <a:latin typeface="Comic Sans MS" panose="030F0702030302020204" pitchFamily="66" charset="0"/>
                </a:rPr>
                <a:t>G</a:t>
              </a:r>
            </a:p>
          </p:txBody>
        </p:sp>
      </p:grpSp>
      <p:sp>
        <p:nvSpPr>
          <p:cNvPr id="42" name="Rectangle 41">
            <a:extLst>
              <a:ext uri="{FF2B5EF4-FFF2-40B4-BE49-F238E27FC236}">
                <a16:creationId xmlns:a16="http://schemas.microsoft.com/office/drawing/2014/main" id="{68CF7EB4-6FEA-77B4-6772-B095A72E1A3F}"/>
              </a:ext>
            </a:extLst>
          </p:cNvPr>
          <p:cNvSpPr/>
          <p:nvPr/>
        </p:nvSpPr>
        <p:spPr>
          <a:xfrm>
            <a:off x="2209800" y="990600"/>
            <a:ext cx="609600" cy="609600"/>
          </a:xfrm>
          <a:prstGeom prst="rect">
            <a:avLst/>
          </a:prstGeom>
          <a:solidFill>
            <a:srgbClr val="FF0000">
              <a:alpha val="42000"/>
            </a:srgbClr>
          </a:solidFill>
          <a:ln w="444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3" name="Rectangle 42">
            <a:extLst>
              <a:ext uri="{FF2B5EF4-FFF2-40B4-BE49-F238E27FC236}">
                <a16:creationId xmlns:a16="http://schemas.microsoft.com/office/drawing/2014/main" id="{610D0866-8AA2-5B10-CAF6-45793C0ADB32}"/>
              </a:ext>
            </a:extLst>
          </p:cNvPr>
          <p:cNvSpPr/>
          <p:nvPr/>
        </p:nvSpPr>
        <p:spPr>
          <a:xfrm>
            <a:off x="4876800" y="990600"/>
            <a:ext cx="609600" cy="609600"/>
          </a:xfrm>
          <a:prstGeom prst="rect">
            <a:avLst/>
          </a:prstGeom>
          <a:solidFill>
            <a:srgbClr val="FF0000">
              <a:alpha val="42000"/>
            </a:srgbClr>
          </a:solidFill>
          <a:ln w="444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45" name="Rectangle 3">
            <a:extLst>
              <a:ext uri="{FF2B5EF4-FFF2-40B4-BE49-F238E27FC236}">
                <a16:creationId xmlns:a16="http://schemas.microsoft.com/office/drawing/2014/main" id="{5DD553AF-0048-916B-A9C3-EED80FAA4BCD}"/>
              </a:ext>
            </a:extLst>
          </p:cNvPr>
          <p:cNvSpPr txBox="1">
            <a:spLocks noChangeArrowheads="1"/>
          </p:cNvSpPr>
          <p:nvPr/>
        </p:nvSpPr>
        <p:spPr bwMode="auto">
          <a:xfrm>
            <a:off x="2133600" y="4191000"/>
            <a:ext cx="8001000" cy="685800"/>
          </a:xfrm>
          <a:prstGeom prst="rect">
            <a:avLst/>
          </a:prstGeom>
          <a:noFill/>
          <a:ln w="9525">
            <a:noFill/>
            <a:miter lim="800000"/>
            <a:headEnd/>
            <a:tailEnd/>
          </a:ln>
        </p:spPr>
        <p:txBody>
          <a:bodyPr anchor="ctr"/>
          <a:lstStyle/>
          <a:p>
            <a:pPr>
              <a:defRPr/>
            </a:pPr>
            <a:r>
              <a:rPr lang="en-US" kern="0" dirty="0">
                <a:latin typeface="Comic Sans MS" pitchFamily="66" charset="0"/>
                <a:ea typeface="+mj-ea"/>
                <a:cs typeface="+mj-cs"/>
              </a:rPr>
              <a:t>Now add in the drain voltage to drive a current. Initially you get an increasing current with increasing drain bias </a:t>
            </a:r>
          </a:p>
        </p:txBody>
      </p:sp>
      <p:sp>
        <p:nvSpPr>
          <p:cNvPr id="49" name="Rectangle 48">
            <a:extLst>
              <a:ext uri="{FF2B5EF4-FFF2-40B4-BE49-F238E27FC236}">
                <a16:creationId xmlns:a16="http://schemas.microsoft.com/office/drawing/2014/main" id="{E712C57F-6F23-9FB1-9E83-4B9CD8ECE5DC}"/>
              </a:ext>
            </a:extLst>
          </p:cNvPr>
          <p:cNvSpPr/>
          <p:nvPr/>
        </p:nvSpPr>
        <p:spPr>
          <a:xfrm>
            <a:off x="6934200" y="2743200"/>
            <a:ext cx="3276600" cy="1143000"/>
          </a:xfrm>
          <a:prstGeom prst="rect">
            <a:avLst/>
          </a:prstGeom>
          <a:solidFill>
            <a:schemeClr val="accent1">
              <a:alpha val="26000"/>
            </a:schemeClr>
          </a:solid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0" name="TextBox 49">
            <a:extLst>
              <a:ext uri="{FF2B5EF4-FFF2-40B4-BE49-F238E27FC236}">
                <a16:creationId xmlns:a16="http://schemas.microsoft.com/office/drawing/2014/main" id="{8D59523F-38B9-992E-AF26-953584B12FA7}"/>
              </a:ext>
            </a:extLst>
          </p:cNvPr>
          <p:cNvSpPr txBox="1">
            <a:spLocks noChangeArrowheads="1"/>
          </p:cNvSpPr>
          <p:nvPr/>
        </p:nvSpPr>
        <p:spPr bwMode="auto">
          <a:xfrm>
            <a:off x="7583488" y="2724150"/>
            <a:ext cx="341312"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0</a:t>
            </a:r>
            <a:endParaRPr lang="en-US" altLang="en-US" baseline="-25000">
              <a:latin typeface="Comic Sans MS" panose="030F0702030302020204" pitchFamily="66" charset="0"/>
            </a:endParaRPr>
          </a:p>
        </p:txBody>
      </p:sp>
      <p:sp>
        <p:nvSpPr>
          <p:cNvPr id="51" name="Rectangle 50">
            <a:extLst>
              <a:ext uri="{FF2B5EF4-FFF2-40B4-BE49-F238E27FC236}">
                <a16:creationId xmlns:a16="http://schemas.microsoft.com/office/drawing/2014/main" id="{8CEA8916-D9B7-66FF-5CC4-3446B6A28401}"/>
              </a:ext>
            </a:extLst>
          </p:cNvPr>
          <p:cNvSpPr/>
          <p:nvPr/>
        </p:nvSpPr>
        <p:spPr>
          <a:xfrm>
            <a:off x="7543800" y="2590800"/>
            <a:ext cx="1981200" cy="152400"/>
          </a:xfrm>
          <a:prstGeom prst="rect">
            <a:avLst/>
          </a:prstGeom>
          <a:solidFill>
            <a:schemeClr val="bg1">
              <a:lumMod val="8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5" name="TextBox 54">
            <a:extLst>
              <a:ext uri="{FF2B5EF4-FFF2-40B4-BE49-F238E27FC236}">
                <a16:creationId xmlns:a16="http://schemas.microsoft.com/office/drawing/2014/main" id="{6C5B461E-0EE7-217F-FA33-1B64AF78F65D}"/>
              </a:ext>
            </a:extLst>
          </p:cNvPr>
          <p:cNvSpPr txBox="1">
            <a:spLocks noChangeArrowheads="1"/>
          </p:cNvSpPr>
          <p:nvPr/>
        </p:nvSpPr>
        <p:spPr bwMode="auto">
          <a:xfrm>
            <a:off x="9067800" y="2743200"/>
            <a:ext cx="6858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V</a:t>
            </a:r>
            <a:r>
              <a:rPr lang="en-US" altLang="en-US" baseline="-25000">
                <a:latin typeface="Comic Sans MS" panose="030F0702030302020204" pitchFamily="66" charset="0"/>
              </a:rPr>
              <a:t>D</a:t>
            </a:r>
          </a:p>
        </p:txBody>
      </p:sp>
      <p:sp>
        <p:nvSpPr>
          <p:cNvPr id="56" name="Rectangle 55">
            <a:extLst>
              <a:ext uri="{FF2B5EF4-FFF2-40B4-BE49-F238E27FC236}">
                <a16:creationId xmlns:a16="http://schemas.microsoft.com/office/drawing/2014/main" id="{9B03B329-CF2D-DB64-20BA-152A999E3CC7}"/>
              </a:ext>
            </a:extLst>
          </p:cNvPr>
          <p:cNvSpPr/>
          <p:nvPr/>
        </p:nvSpPr>
        <p:spPr>
          <a:xfrm>
            <a:off x="6934200" y="2743200"/>
            <a:ext cx="609600" cy="304800"/>
          </a:xfrm>
          <a:prstGeom prst="rect">
            <a:avLst/>
          </a:prstGeom>
          <a:solidFill>
            <a:srgbClr val="FFC000"/>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7" name="Rectangle 56">
            <a:extLst>
              <a:ext uri="{FF2B5EF4-FFF2-40B4-BE49-F238E27FC236}">
                <a16:creationId xmlns:a16="http://schemas.microsoft.com/office/drawing/2014/main" id="{D8A8FCB2-A9B2-7312-CBB1-43B2F6965E9C}"/>
              </a:ext>
            </a:extLst>
          </p:cNvPr>
          <p:cNvSpPr/>
          <p:nvPr/>
        </p:nvSpPr>
        <p:spPr>
          <a:xfrm>
            <a:off x="9525000" y="2743200"/>
            <a:ext cx="685800" cy="304800"/>
          </a:xfrm>
          <a:prstGeom prst="rect">
            <a:avLst/>
          </a:prstGeom>
          <a:solidFill>
            <a:srgbClr val="FFC000"/>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58" name="Rectangle 57">
            <a:extLst>
              <a:ext uri="{FF2B5EF4-FFF2-40B4-BE49-F238E27FC236}">
                <a16:creationId xmlns:a16="http://schemas.microsoft.com/office/drawing/2014/main" id="{5D7C27E7-D3D7-A70E-180D-12805C6DF0F0}"/>
              </a:ext>
            </a:extLst>
          </p:cNvPr>
          <p:cNvSpPr/>
          <p:nvPr/>
        </p:nvSpPr>
        <p:spPr>
          <a:xfrm>
            <a:off x="7543800" y="2514600"/>
            <a:ext cx="1981200" cy="76200"/>
          </a:xfrm>
          <a:prstGeom prst="rect">
            <a:avLst/>
          </a:prstGeom>
          <a:solidFill>
            <a:srgbClr val="FFC000"/>
          </a:solidFill>
          <a:ln w="444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6" name="Group 61">
            <a:extLst>
              <a:ext uri="{FF2B5EF4-FFF2-40B4-BE49-F238E27FC236}">
                <a16:creationId xmlns:a16="http://schemas.microsoft.com/office/drawing/2014/main" id="{AD8EAFB5-83D2-C5F8-37AC-95E828AF43AF}"/>
              </a:ext>
            </a:extLst>
          </p:cNvPr>
          <p:cNvGrpSpPr>
            <a:grpSpLocks/>
          </p:cNvGrpSpPr>
          <p:nvPr/>
        </p:nvGrpSpPr>
        <p:grpSpPr bwMode="auto">
          <a:xfrm>
            <a:off x="7467601" y="2038350"/>
            <a:ext cx="2079625" cy="400050"/>
            <a:chOff x="1284202" y="2895600"/>
            <a:chExt cx="2079796" cy="400110"/>
          </a:xfrm>
        </p:grpSpPr>
        <p:sp>
          <p:nvSpPr>
            <p:cNvPr id="13355" name="TextBox 62">
              <a:extLst>
                <a:ext uri="{FF2B5EF4-FFF2-40B4-BE49-F238E27FC236}">
                  <a16:creationId xmlns:a16="http://schemas.microsoft.com/office/drawing/2014/main" id="{03A72670-3E29-D481-C9E9-B47E0860D262}"/>
                </a:ext>
              </a:extLst>
            </p:cNvPr>
            <p:cNvSpPr txBox="1">
              <a:spLocks noChangeArrowheads="1"/>
            </p:cNvSpPr>
            <p:nvPr/>
          </p:nvSpPr>
          <p:spPr bwMode="auto">
            <a:xfrm>
              <a:off x="1284202" y="2895600"/>
              <a:ext cx="4683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V</a:t>
              </a:r>
              <a:r>
                <a:rPr lang="en-US" altLang="en-US" baseline="-25000">
                  <a:latin typeface="Comic Sans MS" panose="030F0702030302020204" pitchFamily="66" charset="0"/>
                </a:rPr>
                <a:t>G</a:t>
              </a:r>
            </a:p>
          </p:txBody>
        </p:sp>
        <p:sp>
          <p:nvSpPr>
            <p:cNvPr id="13356" name="TextBox 63">
              <a:extLst>
                <a:ext uri="{FF2B5EF4-FFF2-40B4-BE49-F238E27FC236}">
                  <a16:creationId xmlns:a16="http://schemas.microsoft.com/office/drawing/2014/main" id="{A36F65E5-7286-B21F-4258-76E435630A06}"/>
                </a:ext>
              </a:extLst>
            </p:cNvPr>
            <p:cNvSpPr txBox="1">
              <a:spLocks noChangeArrowheads="1"/>
            </p:cNvSpPr>
            <p:nvPr/>
          </p:nvSpPr>
          <p:spPr bwMode="auto">
            <a:xfrm>
              <a:off x="2895600" y="2895600"/>
              <a:ext cx="46839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2000">
                  <a:solidFill>
                    <a:schemeClr val="tx1"/>
                  </a:solidFill>
                  <a:latin typeface="Arial" panose="020B0604020202020204" pitchFamily="34" charset="0"/>
                </a:defRPr>
              </a:lvl1pPr>
              <a:lvl2pPr marL="742950" indent="-285750" eaLnBrk="0" hangingPunct="0">
                <a:defRPr sz="2000">
                  <a:solidFill>
                    <a:schemeClr val="tx1"/>
                  </a:solidFill>
                  <a:latin typeface="Arial" panose="020B0604020202020204" pitchFamily="34" charset="0"/>
                </a:defRPr>
              </a:lvl2pPr>
              <a:lvl3pPr marL="1143000" indent="-228600" eaLnBrk="0" hangingPunct="0">
                <a:defRPr sz="2000">
                  <a:solidFill>
                    <a:schemeClr val="tx1"/>
                  </a:solidFill>
                  <a:latin typeface="Arial" panose="020B0604020202020204" pitchFamily="34" charset="0"/>
                </a:defRPr>
              </a:lvl3pPr>
              <a:lvl4pPr marL="1600200" indent="-228600" eaLnBrk="0" hangingPunct="0">
                <a:defRPr sz="2000">
                  <a:solidFill>
                    <a:schemeClr val="tx1"/>
                  </a:solidFill>
                  <a:latin typeface="Arial" panose="020B0604020202020204" pitchFamily="34" charset="0"/>
                </a:defRPr>
              </a:lvl4pPr>
              <a:lvl5pPr marL="2057400" indent="-228600" eaLnBrk="0" hangingPunct="0">
                <a:defRPr sz="2000">
                  <a:solidFill>
                    <a:schemeClr val="tx1"/>
                  </a:solidFill>
                  <a:latin typeface="Arial" panose="020B0604020202020204" pitchFamily="34" charset="0"/>
                </a:defRPr>
              </a:lvl5pPr>
              <a:lvl6pPr marL="2514600" indent="-228600" eaLnBrk="0" fontAlgn="base" hangingPunct="0">
                <a:spcBef>
                  <a:spcPct val="0"/>
                </a:spcBef>
                <a:spcAft>
                  <a:spcPct val="0"/>
                </a:spcAft>
                <a:defRPr sz="2000">
                  <a:solidFill>
                    <a:schemeClr val="tx1"/>
                  </a:solidFill>
                  <a:latin typeface="Arial" panose="020B0604020202020204" pitchFamily="34" charset="0"/>
                </a:defRPr>
              </a:lvl6pPr>
              <a:lvl7pPr marL="2971800" indent="-228600" eaLnBrk="0" fontAlgn="base" hangingPunct="0">
                <a:spcBef>
                  <a:spcPct val="0"/>
                </a:spcBef>
                <a:spcAft>
                  <a:spcPct val="0"/>
                </a:spcAft>
                <a:defRPr sz="2000">
                  <a:solidFill>
                    <a:schemeClr val="tx1"/>
                  </a:solidFill>
                  <a:latin typeface="Arial" panose="020B0604020202020204" pitchFamily="34" charset="0"/>
                </a:defRPr>
              </a:lvl7pPr>
              <a:lvl8pPr marL="3429000" indent="-228600" eaLnBrk="0" fontAlgn="base" hangingPunct="0">
                <a:spcBef>
                  <a:spcPct val="0"/>
                </a:spcBef>
                <a:spcAft>
                  <a:spcPct val="0"/>
                </a:spcAft>
                <a:defRPr sz="2000">
                  <a:solidFill>
                    <a:schemeClr val="tx1"/>
                  </a:solidFill>
                  <a:latin typeface="Arial" panose="020B0604020202020204" pitchFamily="34" charset="0"/>
                </a:defRPr>
              </a:lvl8pPr>
              <a:lvl9pPr marL="3886200" indent="-228600" eaLnBrk="0" fontAlgn="base" hangingPunct="0">
                <a:spcBef>
                  <a:spcPct val="0"/>
                </a:spcBef>
                <a:spcAft>
                  <a:spcPct val="0"/>
                </a:spcAft>
                <a:defRPr sz="2000">
                  <a:solidFill>
                    <a:schemeClr val="tx1"/>
                  </a:solidFill>
                  <a:latin typeface="Arial" panose="020B0604020202020204" pitchFamily="34" charset="0"/>
                </a:defRPr>
              </a:lvl9pPr>
            </a:lstStyle>
            <a:p>
              <a:pPr eaLnBrk="1" hangingPunct="1"/>
              <a:r>
                <a:rPr lang="en-US" altLang="en-US">
                  <a:latin typeface="Comic Sans MS" panose="030F0702030302020204" pitchFamily="66" charset="0"/>
                </a:rPr>
                <a:t>V</a:t>
              </a:r>
              <a:r>
                <a:rPr lang="en-US" altLang="en-US" baseline="-25000">
                  <a:latin typeface="Comic Sans MS" panose="030F0702030302020204" pitchFamily="66" charset="0"/>
                </a:rPr>
                <a:t>G</a:t>
              </a:r>
            </a:p>
          </p:txBody>
        </p:sp>
      </p:grpSp>
      <p:sp>
        <p:nvSpPr>
          <p:cNvPr id="65" name="Rectangle 64">
            <a:extLst>
              <a:ext uri="{FF2B5EF4-FFF2-40B4-BE49-F238E27FC236}">
                <a16:creationId xmlns:a16="http://schemas.microsoft.com/office/drawing/2014/main" id="{11D03153-7AED-62D0-AF64-4B9376568F45}"/>
              </a:ext>
            </a:extLst>
          </p:cNvPr>
          <p:cNvSpPr/>
          <p:nvPr/>
        </p:nvSpPr>
        <p:spPr>
          <a:xfrm>
            <a:off x="6934200" y="990600"/>
            <a:ext cx="609600" cy="609600"/>
          </a:xfrm>
          <a:prstGeom prst="rect">
            <a:avLst/>
          </a:prstGeom>
          <a:solidFill>
            <a:srgbClr val="FF0000">
              <a:alpha val="42000"/>
            </a:srgbClr>
          </a:solidFill>
          <a:ln w="444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6" name="Rectangle 65">
            <a:extLst>
              <a:ext uri="{FF2B5EF4-FFF2-40B4-BE49-F238E27FC236}">
                <a16:creationId xmlns:a16="http://schemas.microsoft.com/office/drawing/2014/main" id="{594D1FE0-F8A3-F8E8-98F7-C38D10234DFE}"/>
              </a:ext>
            </a:extLst>
          </p:cNvPr>
          <p:cNvSpPr/>
          <p:nvPr/>
        </p:nvSpPr>
        <p:spPr>
          <a:xfrm>
            <a:off x="9601200" y="1143000"/>
            <a:ext cx="609600" cy="685800"/>
          </a:xfrm>
          <a:prstGeom prst="rect">
            <a:avLst/>
          </a:prstGeom>
          <a:solidFill>
            <a:srgbClr val="FF0000">
              <a:alpha val="42000"/>
            </a:srgbClr>
          </a:solidFill>
          <a:ln w="444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68" name="Rectangle 67">
            <a:extLst>
              <a:ext uri="{FF2B5EF4-FFF2-40B4-BE49-F238E27FC236}">
                <a16:creationId xmlns:a16="http://schemas.microsoft.com/office/drawing/2014/main" id="{9DE6CDAF-07C3-0554-64AE-58A0604C32D6}"/>
              </a:ext>
            </a:extLst>
          </p:cNvPr>
          <p:cNvSpPr/>
          <p:nvPr/>
        </p:nvSpPr>
        <p:spPr>
          <a:xfrm>
            <a:off x="2819400" y="2743200"/>
            <a:ext cx="1981200" cy="76200"/>
          </a:xfrm>
          <a:prstGeom prst="rect">
            <a:avLst/>
          </a:prstGeom>
          <a:solidFill>
            <a:schemeClr val="accent1"/>
          </a:solidFill>
          <a:ln w="444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0" name="Freeform 69">
            <a:extLst>
              <a:ext uri="{FF2B5EF4-FFF2-40B4-BE49-F238E27FC236}">
                <a16:creationId xmlns:a16="http://schemas.microsoft.com/office/drawing/2014/main" id="{3A685050-ECAA-6F94-26CD-E9F56D840DD2}"/>
              </a:ext>
            </a:extLst>
          </p:cNvPr>
          <p:cNvSpPr/>
          <p:nvPr/>
        </p:nvSpPr>
        <p:spPr>
          <a:xfrm>
            <a:off x="6953250" y="1295400"/>
            <a:ext cx="3276600" cy="596900"/>
          </a:xfrm>
          <a:custGeom>
            <a:avLst/>
            <a:gdLst>
              <a:gd name="connsiteX0" fmla="*/ 0 w 3276600"/>
              <a:gd name="connsiteY0" fmla="*/ 269875 h 596900"/>
              <a:gd name="connsiteX1" fmla="*/ 495300 w 3276600"/>
              <a:gd name="connsiteY1" fmla="*/ 288925 h 596900"/>
              <a:gd name="connsiteX2" fmla="*/ 647700 w 3276600"/>
              <a:gd name="connsiteY2" fmla="*/ 60325 h 596900"/>
              <a:gd name="connsiteX3" fmla="*/ 933450 w 3276600"/>
              <a:gd name="connsiteY3" fmla="*/ 3175 h 596900"/>
              <a:gd name="connsiteX4" fmla="*/ 1657350 w 3276600"/>
              <a:gd name="connsiteY4" fmla="*/ 41275 h 596900"/>
              <a:gd name="connsiteX5" fmla="*/ 2362200 w 3276600"/>
              <a:gd name="connsiteY5" fmla="*/ 136525 h 596900"/>
              <a:gd name="connsiteX6" fmla="*/ 2628900 w 3276600"/>
              <a:gd name="connsiteY6" fmla="*/ 288925 h 596900"/>
              <a:gd name="connsiteX7" fmla="*/ 2686050 w 3276600"/>
              <a:gd name="connsiteY7" fmla="*/ 555625 h 596900"/>
              <a:gd name="connsiteX8" fmla="*/ 2705100 w 3276600"/>
              <a:gd name="connsiteY8" fmla="*/ 536575 h 596900"/>
              <a:gd name="connsiteX9" fmla="*/ 3276600 w 3276600"/>
              <a:gd name="connsiteY9" fmla="*/ 517525 h 59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276600" h="596900">
                <a:moveTo>
                  <a:pt x="0" y="269875"/>
                </a:moveTo>
                <a:cubicBezTo>
                  <a:pt x="193675" y="296862"/>
                  <a:pt x="387350" y="323850"/>
                  <a:pt x="495300" y="288925"/>
                </a:cubicBezTo>
                <a:cubicBezTo>
                  <a:pt x="603250" y="254000"/>
                  <a:pt x="574675" y="107950"/>
                  <a:pt x="647700" y="60325"/>
                </a:cubicBezTo>
                <a:cubicBezTo>
                  <a:pt x="720725" y="12700"/>
                  <a:pt x="765175" y="6350"/>
                  <a:pt x="933450" y="3175"/>
                </a:cubicBezTo>
                <a:cubicBezTo>
                  <a:pt x="1101725" y="0"/>
                  <a:pt x="1419225" y="19050"/>
                  <a:pt x="1657350" y="41275"/>
                </a:cubicBezTo>
                <a:cubicBezTo>
                  <a:pt x="1895475" y="63500"/>
                  <a:pt x="2200275" y="95250"/>
                  <a:pt x="2362200" y="136525"/>
                </a:cubicBezTo>
                <a:cubicBezTo>
                  <a:pt x="2524125" y="177800"/>
                  <a:pt x="2574925" y="219075"/>
                  <a:pt x="2628900" y="288925"/>
                </a:cubicBezTo>
                <a:cubicBezTo>
                  <a:pt x="2682875" y="358775"/>
                  <a:pt x="2673350" y="514350"/>
                  <a:pt x="2686050" y="555625"/>
                </a:cubicBezTo>
                <a:cubicBezTo>
                  <a:pt x="2698750" y="596900"/>
                  <a:pt x="2606675" y="542925"/>
                  <a:pt x="2705100" y="536575"/>
                </a:cubicBezTo>
                <a:cubicBezTo>
                  <a:pt x="2803525" y="530225"/>
                  <a:pt x="3040062" y="523875"/>
                  <a:pt x="3276600" y="517525"/>
                </a:cubicBezTo>
              </a:path>
            </a:pathLst>
          </a:custGeom>
          <a:ln w="349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sp>
        <p:nvSpPr>
          <p:cNvPr id="71" name="Freeform 70">
            <a:extLst>
              <a:ext uri="{FF2B5EF4-FFF2-40B4-BE49-F238E27FC236}">
                <a16:creationId xmlns:a16="http://schemas.microsoft.com/office/drawing/2014/main" id="{98B2CBD8-1719-B0DA-28BA-DD2B11C8B4C7}"/>
              </a:ext>
            </a:extLst>
          </p:cNvPr>
          <p:cNvSpPr/>
          <p:nvPr/>
        </p:nvSpPr>
        <p:spPr>
          <a:xfrm>
            <a:off x="7505700" y="1028700"/>
            <a:ext cx="2133600" cy="571500"/>
          </a:xfrm>
          <a:custGeom>
            <a:avLst/>
            <a:gdLst>
              <a:gd name="connsiteX0" fmla="*/ 19050 w 2133600"/>
              <a:gd name="connsiteY0" fmla="*/ 0 h 571500"/>
              <a:gd name="connsiteX1" fmla="*/ 2133600 w 2133600"/>
              <a:gd name="connsiteY1" fmla="*/ 19050 h 571500"/>
              <a:gd name="connsiteX2" fmla="*/ 2133600 w 2133600"/>
              <a:gd name="connsiteY2" fmla="*/ 571500 h 571500"/>
              <a:gd name="connsiteX3" fmla="*/ 1962150 w 2133600"/>
              <a:gd name="connsiteY3" fmla="*/ 419100 h 571500"/>
              <a:gd name="connsiteX4" fmla="*/ 1162050 w 2133600"/>
              <a:gd name="connsiteY4" fmla="*/ 304800 h 571500"/>
              <a:gd name="connsiteX5" fmla="*/ 323850 w 2133600"/>
              <a:gd name="connsiteY5" fmla="*/ 247650 h 571500"/>
              <a:gd name="connsiteX6" fmla="*/ 38100 w 2133600"/>
              <a:gd name="connsiteY6" fmla="*/ 381000 h 571500"/>
              <a:gd name="connsiteX7" fmla="*/ 0 w 2133600"/>
              <a:gd name="connsiteY7" fmla="*/ 419100 h 571500"/>
              <a:gd name="connsiteX8" fmla="*/ 19050 w 2133600"/>
              <a:gd name="connsiteY8" fmla="*/ 0 h 57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33600" h="571500">
                <a:moveTo>
                  <a:pt x="19050" y="0"/>
                </a:moveTo>
                <a:lnTo>
                  <a:pt x="2133600" y="19050"/>
                </a:lnTo>
                <a:lnTo>
                  <a:pt x="2133600" y="571500"/>
                </a:lnTo>
                <a:lnTo>
                  <a:pt x="1962150" y="419100"/>
                </a:lnTo>
                <a:lnTo>
                  <a:pt x="1162050" y="304800"/>
                </a:lnTo>
                <a:lnTo>
                  <a:pt x="323850" y="247650"/>
                </a:lnTo>
                <a:lnTo>
                  <a:pt x="38100" y="381000"/>
                </a:lnTo>
                <a:lnTo>
                  <a:pt x="0" y="419100"/>
                </a:lnTo>
                <a:lnTo>
                  <a:pt x="19050" y="0"/>
                </a:lnTo>
                <a:close/>
              </a:path>
            </a:pathLst>
          </a:custGeom>
          <a:solidFill>
            <a:srgbClr val="FF0000">
              <a:alpha val="41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2" name="Rectangle 3">
            <a:extLst>
              <a:ext uri="{FF2B5EF4-FFF2-40B4-BE49-F238E27FC236}">
                <a16:creationId xmlns:a16="http://schemas.microsoft.com/office/drawing/2014/main" id="{C009B095-76BE-DA18-4950-51663EFAABA5}"/>
              </a:ext>
            </a:extLst>
          </p:cNvPr>
          <p:cNvSpPr txBox="1">
            <a:spLocks noChangeArrowheads="1"/>
          </p:cNvSpPr>
          <p:nvPr/>
        </p:nvSpPr>
        <p:spPr bwMode="auto">
          <a:xfrm>
            <a:off x="2133600" y="5410200"/>
            <a:ext cx="8001000" cy="685800"/>
          </a:xfrm>
          <a:prstGeom prst="rect">
            <a:avLst/>
          </a:prstGeom>
          <a:noFill/>
          <a:ln w="9525">
            <a:noFill/>
            <a:miter lim="800000"/>
            <a:headEnd/>
            <a:tailEnd/>
          </a:ln>
        </p:spPr>
        <p:txBody>
          <a:bodyPr anchor="ctr"/>
          <a:lstStyle/>
          <a:p>
            <a:pPr>
              <a:defRPr/>
            </a:pPr>
            <a:r>
              <a:rPr lang="en-US" kern="0" dirty="0">
                <a:latin typeface="Comic Sans MS" pitchFamily="66" charset="0"/>
                <a:ea typeface="+mj-ea"/>
                <a:cs typeface="+mj-cs"/>
              </a:rPr>
              <a:t>When you reach </a:t>
            </a:r>
            <a:r>
              <a:rPr lang="en-US" kern="0" dirty="0" err="1">
                <a:latin typeface="Comic Sans MS" pitchFamily="66" charset="0"/>
                <a:ea typeface="+mj-ea"/>
                <a:cs typeface="+mj-cs"/>
              </a:rPr>
              <a:t>V</a:t>
            </a:r>
            <a:r>
              <a:rPr lang="en-US" kern="0" baseline="-25000" dirty="0" err="1">
                <a:latin typeface="Comic Sans MS" pitchFamily="66" charset="0"/>
                <a:ea typeface="+mj-ea"/>
                <a:cs typeface="+mj-cs"/>
              </a:rPr>
              <a:t>Dsat</a:t>
            </a:r>
            <a:r>
              <a:rPr lang="en-US" kern="0" dirty="0">
                <a:latin typeface="Comic Sans MS" pitchFamily="66" charset="0"/>
                <a:ea typeface="+mj-ea"/>
                <a:cs typeface="+mj-cs"/>
              </a:rPr>
              <a:t> = V</a:t>
            </a:r>
            <a:r>
              <a:rPr lang="en-US" kern="0" baseline="-25000" dirty="0">
                <a:latin typeface="Comic Sans MS" pitchFamily="66" charset="0"/>
                <a:ea typeface="+mj-ea"/>
                <a:cs typeface="+mj-cs"/>
              </a:rPr>
              <a:t>G</a:t>
            </a:r>
            <a:r>
              <a:rPr lang="en-US" kern="0" dirty="0">
                <a:latin typeface="Comic Sans MS" pitchFamily="66" charset="0"/>
                <a:ea typeface="+mj-ea"/>
                <a:cs typeface="+mj-cs"/>
              </a:rPr>
              <a:t> – V</a:t>
            </a:r>
            <a:r>
              <a:rPr lang="en-US" kern="0" baseline="-25000" dirty="0">
                <a:latin typeface="Comic Sans MS" pitchFamily="66" charset="0"/>
                <a:ea typeface="+mj-ea"/>
                <a:cs typeface="+mj-cs"/>
              </a:rPr>
              <a:t>T</a:t>
            </a:r>
            <a:r>
              <a:rPr lang="en-US" kern="0" dirty="0">
                <a:latin typeface="Comic Sans MS" pitchFamily="66" charset="0"/>
                <a:ea typeface="+mj-ea"/>
                <a:cs typeface="+mj-cs"/>
              </a:rPr>
              <a:t>, inversion is disabled at the </a:t>
            </a:r>
            <a:r>
              <a:rPr lang="en-US" kern="0" dirty="0" err="1">
                <a:latin typeface="Comic Sans MS" pitchFamily="66" charset="0"/>
                <a:ea typeface="+mj-ea"/>
                <a:cs typeface="+mj-cs"/>
              </a:rPr>
              <a:t>drai</a:t>
            </a:r>
            <a:r>
              <a:rPr lang="en-US" kern="0" dirty="0">
                <a:latin typeface="Comic Sans MS" pitchFamily="66" charset="0"/>
                <a:ea typeface="+mj-ea"/>
                <a:cs typeface="+mj-cs"/>
              </a:rPr>
              <a:t>n end (pinch-off), but the source end is still inverted</a:t>
            </a:r>
          </a:p>
          <a:p>
            <a:pPr>
              <a:defRPr/>
            </a:pPr>
            <a:r>
              <a:rPr lang="en-US" kern="0" dirty="0">
                <a:latin typeface="Comic Sans MS" pitchFamily="66" charset="0"/>
                <a:ea typeface="+mj-ea"/>
                <a:cs typeface="+mj-cs"/>
              </a:rPr>
              <a:t> </a:t>
            </a:r>
          </a:p>
          <a:p>
            <a:pPr>
              <a:defRPr/>
            </a:pPr>
            <a:r>
              <a:rPr lang="en-US" kern="0" dirty="0">
                <a:latin typeface="Comic Sans MS" pitchFamily="66" charset="0"/>
                <a:ea typeface="+mj-ea"/>
                <a:cs typeface="+mj-cs"/>
              </a:rPr>
              <a:t>The charges still flow, just that you can’t draw more current </a:t>
            </a:r>
          </a:p>
          <a:p>
            <a:pPr>
              <a:defRPr/>
            </a:pPr>
            <a:r>
              <a:rPr lang="en-US" kern="0" dirty="0">
                <a:latin typeface="Comic Sans MS" pitchFamily="66" charset="0"/>
                <a:ea typeface="+mj-ea"/>
                <a:cs typeface="+mj-cs"/>
              </a:rPr>
              <a:t>with higher drain bias, </a:t>
            </a:r>
            <a:r>
              <a:rPr lang="en-US" b="1" u="sng" kern="0" dirty="0">
                <a:latin typeface="Comic Sans MS" pitchFamily="66" charset="0"/>
                <a:ea typeface="+mj-ea"/>
                <a:cs typeface="+mj-cs"/>
              </a:rPr>
              <a:t>and the current saturates </a:t>
            </a:r>
          </a:p>
        </p:txBody>
      </p:sp>
      <p:sp>
        <p:nvSpPr>
          <p:cNvPr id="73" name="Rectangle 72">
            <a:extLst>
              <a:ext uri="{FF2B5EF4-FFF2-40B4-BE49-F238E27FC236}">
                <a16:creationId xmlns:a16="http://schemas.microsoft.com/office/drawing/2014/main" id="{35EB722A-7643-9ACE-DC6C-CE544F305C3D}"/>
              </a:ext>
            </a:extLst>
          </p:cNvPr>
          <p:cNvSpPr/>
          <p:nvPr/>
        </p:nvSpPr>
        <p:spPr>
          <a:xfrm>
            <a:off x="7543800" y="2743200"/>
            <a:ext cx="1981200" cy="76200"/>
          </a:xfrm>
          <a:prstGeom prst="rect">
            <a:avLst/>
          </a:prstGeom>
          <a:solidFill>
            <a:schemeClr val="accent1"/>
          </a:solidFill>
          <a:ln w="4445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5" name="Freeform 74">
            <a:extLst>
              <a:ext uri="{FF2B5EF4-FFF2-40B4-BE49-F238E27FC236}">
                <a16:creationId xmlns:a16="http://schemas.microsoft.com/office/drawing/2014/main" id="{A05546F4-4660-1885-6110-137CD2500144}"/>
              </a:ext>
            </a:extLst>
          </p:cNvPr>
          <p:cNvSpPr/>
          <p:nvPr/>
        </p:nvSpPr>
        <p:spPr>
          <a:xfrm>
            <a:off x="7505700" y="2743200"/>
            <a:ext cx="2019300" cy="76200"/>
          </a:xfrm>
          <a:custGeom>
            <a:avLst/>
            <a:gdLst>
              <a:gd name="connsiteX0" fmla="*/ 38100 w 2019300"/>
              <a:gd name="connsiteY0" fmla="*/ 0 h 76200"/>
              <a:gd name="connsiteX1" fmla="*/ 2019300 w 2019300"/>
              <a:gd name="connsiteY1" fmla="*/ 19050 h 76200"/>
              <a:gd name="connsiteX2" fmla="*/ 1847850 w 2019300"/>
              <a:gd name="connsiteY2" fmla="*/ 76200 h 76200"/>
              <a:gd name="connsiteX3" fmla="*/ 0 w 2019300"/>
              <a:gd name="connsiteY3" fmla="*/ 76200 h 76200"/>
              <a:gd name="connsiteX4" fmla="*/ 38100 w 2019300"/>
              <a:gd name="connsiteY4" fmla="*/ 0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19300" h="76200">
                <a:moveTo>
                  <a:pt x="38100" y="0"/>
                </a:moveTo>
                <a:lnTo>
                  <a:pt x="2019300" y="19050"/>
                </a:lnTo>
                <a:lnTo>
                  <a:pt x="1847850" y="76200"/>
                </a:lnTo>
                <a:lnTo>
                  <a:pt x="0" y="76200"/>
                </a:lnTo>
                <a:lnTo>
                  <a:pt x="3810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nvGrpSpPr>
          <p:cNvPr id="7" name="Group 84">
            <a:extLst>
              <a:ext uri="{FF2B5EF4-FFF2-40B4-BE49-F238E27FC236}">
                <a16:creationId xmlns:a16="http://schemas.microsoft.com/office/drawing/2014/main" id="{AE5F2B0D-1B3B-5347-8F30-D98A294D89CF}"/>
              </a:ext>
            </a:extLst>
          </p:cNvPr>
          <p:cNvGrpSpPr>
            <a:grpSpLocks/>
          </p:cNvGrpSpPr>
          <p:nvPr/>
        </p:nvGrpSpPr>
        <p:grpSpPr bwMode="auto">
          <a:xfrm>
            <a:off x="6324600" y="762000"/>
            <a:ext cx="4114800" cy="1295400"/>
            <a:chOff x="4800600" y="762000"/>
            <a:chExt cx="4114800" cy="1295400"/>
          </a:xfrm>
        </p:grpSpPr>
        <p:grpSp>
          <p:nvGrpSpPr>
            <p:cNvPr id="13348" name="Group 82">
              <a:extLst>
                <a:ext uri="{FF2B5EF4-FFF2-40B4-BE49-F238E27FC236}">
                  <a16:creationId xmlns:a16="http://schemas.microsoft.com/office/drawing/2014/main" id="{802AE9E8-B67C-5ADF-E135-34675CF99D27}"/>
                </a:ext>
              </a:extLst>
            </p:cNvPr>
            <p:cNvGrpSpPr>
              <a:grpSpLocks/>
            </p:cNvGrpSpPr>
            <p:nvPr/>
          </p:nvGrpSpPr>
          <p:grpSpPr bwMode="auto">
            <a:xfrm>
              <a:off x="4800600" y="762000"/>
              <a:ext cx="4114800" cy="1295400"/>
              <a:chOff x="4800600" y="762000"/>
              <a:chExt cx="4114800" cy="1295400"/>
            </a:xfrm>
          </p:grpSpPr>
          <p:sp>
            <p:nvSpPr>
              <p:cNvPr id="76" name="Rectangle 75">
                <a:extLst>
                  <a:ext uri="{FF2B5EF4-FFF2-40B4-BE49-F238E27FC236}">
                    <a16:creationId xmlns:a16="http://schemas.microsoft.com/office/drawing/2014/main" id="{BA016A9D-F5AF-1CD2-F7A2-6EE3564CF401}"/>
                  </a:ext>
                </a:extLst>
              </p:cNvPr>
              <p:cNvSpPr/>
              <p:nvPr/>
            </p:nvSpPr>
            <p:spPr>
              <a:xfrm>
                <a:off x="4800600" y="762000"/>
                <a:ext cx="4114800" cy="12954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78" name="Freeform 77">
                <a:extLst>
                  <a:ext uri="{FF2B5EF4-FFF2-40B4-BE49-F238E27FC236}">
                    <a16:creationId xmlns:a16="http://schemas.microsoft.com/office/drawing/2014/main" id="{D284D2AB-DA89-BD20-371B-CF107DF4A097}"/>
                  </a:ext>
                </a:extLst>
              </p:cNvPr>
              <p:cNvSpPr/>
              <p:nvPr/>
            </p:nvSpPr>
            <p:spPr>
              <a:xfrm>
                <a:off x="5410200" y="1352550"/>
                <a:ext cx="3257550" cy="704850"/>
              </a:xfrm>
              <a:custGeom>
                <a:avLst/>
                <a:gdLst>
                  <a:gd name="connsiteX0" fmla="*/ 0 w 3257550"/>
                  <a:gd name="connsiteY0" fmla="*/ 247650 h 704850"/>
                  <a:gd name="connsiteX1" fmla="*/ 495300 w 3257550"/>
                  <a:gd name="connsiteY1" fmla="*/ 247650 h 704850"/>
                  <a:gd name="connsiteX2" fmla="*/ 552450 w 3257550"/>
                  <a:gd name="connsiteY2" fmla="*/ 171450 h 704850"/>
                  <a:gd name="connsiteX3" fmla="*/ 666750 w 3257550"/>
                  <a:gd name="connsiteY3" fmla="*/ 19050 h 704850"/>
                  <a:gd name="connsiteX4" fmla="*/ 971550 w 3257550"/>
                  <a:gd name="connsiteY4" fmla="*/ 57150 h 704850"/>
                  <a:gd name="connsiteX5" fmla="*/ 1219200 w 3257550"/>
                  <a:gd name="connsiteY5" fmla="*/ 133350 h 704850"/>
                  <a:gd name="connsiteX6" fmla="*/ 2476500 w 3257550"/>
                  <a:gd name="connsiteY6" fmla="*/ 266700 h 704850"/>
                  <a:gd name="connsiteX7" fmla="*/ 2667000 w 3257550"/>
                  <a:gd name="connsiteY7" fmla="*/ 476250 h 704850"/>
                  <a:gd name="connsiteX8" fmla="*/ 2667000 w 3257550"/>
                  <a:gd name="connsiteY8" fmla="*/ 647700 h 704850"/>
                  <a:gd name="connsiteX9" fmla="*/ 2724150 w 3257550"/>
                  <a:gd name="connsiteY9" fmla="*/ 685800 h 704850"/>
                  <a:gd name="connsiteX10" fmla="*/ 3257550 w 3257550"/>
                  <a:gd name="connsiteY10" fmla="*/ 704850 h 704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257550" h="704850">
                    <a:moveTo>
                      <a:pt x="0" y="247650"/>
                    </a:moveTo>
                    <a:cubicBezTo>
                      <a:pt x="201612" y="254000"/>
                      <a:pt x="403225" y="260350"/>
                      <a:pt x="495300" y="247650"/>
                    </a:cubicBezTo>
                    <a:cubicBezTo>
                      <a:pt x="587375" y="234950"/>
                      <a:pt x="552450" y="171450"/>
                      <a:pt x="552450" y="171450"/>
                    </a:cubicBezTo>
                    <a:cubicBezTo>
                      <a:pt x="581025" y="133350"/>
                      <a:pt x="596900" y="38100"/>
                      <a:pt x="666750" y="19050"/>
                    </a:cubicBezTo>
                    <a:cubicBezTo>
                      <a:pt x="736600" y="0"/>
                      <a:pt x="879475" y="38100"/>
                      <a:pt x="971550" y="57150"/>
                    </a:cubicBezTo>
                    <a:cubicBezTo>
                      <a:pt x="1063625" y="76200"/>
                      <a:pt x="968375" y="98425"/>
                      <a:pt x="1219200" y="133350"/>
                    </a:cubicBezTo>
                    <a:cubicBezTo>
                      <a:pt x="1470025" y="168275"/>
                      <a:pt x="2235200" y="209550"/>
                      <a:pt x="2476500" y="266700"/>
                    </a:cubicBezTo>
                    <a:cubicBezTo>
                      <a:pt x="2717800" y="323850"/>
                      <a:pt x="2635250" y="412750"/>
                      <a:pt x="2667000" y="476250"/>
                    </a:cubicBezTo>
                    <a:cubicBezTo>
                      <a:pt x="2698750" y="539750"/>
                      <a:pt x="2657475" y="612775"/>
                      <a:pt x="2667000" y="647700"/>
                    </a:cubicBezTo>
                    <a:cubicBezTo>
                      <a:pt x="2676525" y="682625"/>
                      <a:pt x="2625725" y="676275"/>
                      <a:pt x="2724150" y="685800"/>
                    </a:cubicBezTo>
                    <a:cubicBezTo>
                      <a:pt x="2822575" y="695325"/>
                      <a:pt x="3040062" y="700087"/>
                      <a:pt x="3257550" y="704850"/>
                    </a:cubicBezTo>
                  </a:path>
                </a:pathLst>
              </a:custGeom>
              <a:ln w="34925">
                <a:solidFill>
                  <a:schemeClr val="tx1"/>
                </a:solid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nvGrpSpPr>
              <p:cNvPr id="13352" name="Group 80">
                <a:extLst>
                  <a:ext uri="{FF2B5EF4-FFF2-40B4-BE49-F238E27FC236}">
                    <a16:creationId xmlns:a16="http://schemas.microsoft.com/office/drawing/2014/main" id="{46C7B30E-AD94-2EA5-32F8-3F4F79BBBE5A}"/>
                  </a:ext>
                </a:extLst>
              </p:cNvPr>
              <p:cNvGrpSpPr>
                <a:grpSpLocks/>
              </p:cNvGrpSpPr>
              <p:nvPr/>
            </p:nvGrpSpPr>
            <p:grpSpPr bwMode="auto">
              <a:xfrm>
                <a:off x="5410200" y="1066800"/>
                <a:ext cx="1733550" cy="800100"/>
                <a:chOff x="5410200" y="1066800"/>
                <a:chExt cx="1733550" cy="800100"/>
              </a:xfrm>
            </p:grpSpPr>
            <p:sp>
              <p:nvSpPr>
                <p:cNvPr id="79" name="Rectangle 78">
                  <a:extLst>
                    <a:ext uri="{FF2B5EF4-FFF2-40B4-BE49-F238E27FC236}">
                      <a16:creationId xmlns:a16="http://schemas.microsoft.com/office/drawing/2014/main" id="{26157338-883C-6602-3766-8DA0DE74CD14}"/>
                    </a:ext>
                  </a:extLst>
                </p:cNvPr>
                <p:cNvSpPr/>
                <p:nvPr/>
              </p:nvSpPr>
              <p:spPr>
                <a:xfrm>
                  <a:off x="5410200" y="1066800"/>
                  <a:ext cx="1676400" cy="533400"/>
                </a:xfrm>
                <a:prstGeom prst="rect">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80" name="Freeform 79">
                  <a:extLst>
                    <a:ext uri="{FF2B5EF4-FFF2-40B4-BE49-F238E27FC236}">
                      <a16:creationId xmlns:a16="http://schemas.microsoft.com/office/drawing/2014/main" id="{1383F320-E0EE-9AE0-4ABD-3A0307CF95D6}"/>
                    </a:ext>
                  </a:extLst>
                </p:cNvPr>
                <p:cNvSpPr/>
                <p:nvPr/>
              </p:nvSpPr>
              <p:spPr>
                <a:xfrm>
                  <a:off x="5924550" y="1390650"/>
                  <a:ext cx="1219200" cy="476250"/>
                </a:xfrm>
                <a:custGeom>
                  <a:avLst/>
                  <a:gdLst>
                    <a:gd name="connsiteX0" fmla="*/ 38100 w 1219200"/>
                    <a:gd name="connsiteY0" fmla="*/ 247650 h 476250"/>
                    <a:gd name="connsiteX1" fmla="*/ 133350 w 1219200"/>
                    <a:gd name="connsiteY1" fmla="*/ 0 h 476250"/>
                    <a:gd name="connsiteX2" fmla="*/ 323850 w 1219200"/>
                    <a:gd name="connsiteY2" fmla="*/ 0 h 476250"/>
                    <a:gd name="connsiteX3" fmla="*/ 495300 w 1219200"/>
                    <a:gd name="connsiteY3" fmla="*/ 76200 h 476250"/>
                    <a:gd name="connsiteX4" fmla="*/ 895350 w 1219200"/>
                    <a:gd name="connsiteY4" fmla="*/ 114300 h 476250"/>
                    <a:gd name="connsiteX5" fmla="*/ 1162050 w 1219200"/>
                    <a:gd name="connsiteY5" fmla="*/ 133350 h 476250"/>
                    <a:gd name="connsiteX6" fmla="*/ 1219200 w 1219200"/>
                    <a:gd name="connsiteY6" fmla="*/ 285750 h 476250"/>
                    <a:gd name="connsiteX7" fmla="*/ 704850 w 1219200"/>
                    <a:gd name="connsiteY7" fmla="*/ 476250 h 476250"/>
                    <a:gd name="connsiteX8" fmla="*/ 0 w 1219200"/>
                    <a:gd name="connsiteY8" fmla="*/ 209550 h 476250"/>
                    <a:gd name="connsiteX9" fmla="*/ 0 w 1219200"/>
                    <a:gd name="connsiteY9" fmla="*/ 209550 h 476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200" h="476250">
                      <a:moveTo>
                        <a:pt x="38100" y="247650"/>
                      </a:moveTo>
                      <a:lnTo>
                        <a:pt x="133350" y="0"/>
                      </a:lnTo>
                      <a:lnTo>
                        <a:pt x="323850" y="0"/>
                      </a:lnTo>
                      <a:lnTo>
                        <a:pt x="495300" y="76200"/>
                      </a:lnTo>
                      <a:lnTo>
                        <a:pt x="895350" y="114300"/>
                      </a:lnTo>
                      <a:lnTo>
                        <a:pt x="1162050" y="133350"/>
                      </a:lnTo>
                      <a:lnTo>
                        <a:pt x="1219200" y="285750"/>
                      </a:lnTo>
                      <a:lnTo>
                        <a:pt x="704850" y="476250"/>
                      </a:lnTo>
                      <a:lnTo>
                        <a:pt x="0" y="209550"/>
                      </a:lnTo>
                      <a:lnTo>
                        <a:pt x="0" y="209550"/>
                      </a:lnTo>
                    </a:path>
                  </a:pathLst>
                </a:custGeom>
                <a:solidFill>
                  <a:schemeClr val="bg1"/>
                </a:solidFill>
                <a:ln>
                  <a:noFill/>
                </a:ln>
              </p:spPr>
              <p:style>
                <a:lnRef idx="1">
                  <a:schemeClr val="accent1"/>
                </a:lnRef>
                <a:fillRef idx="0">
                  <a:schemeClr val="accent1"/>
                </a:fillRef>
                <a:effectRef idx="0">
                  <a:schemeClr val="accent1"/>
                </a:effectRef>
                <a:fontRef idx="minor">
                  <a:schemeClr val="tx1"/>
                </a:fontRef>
              </p:style>
              <p:txBody>
                <a:bodyPr anchor="ctr"/>
                <a:lstStyle/>
                <a:p>
                  <a:pPr algn="ctr">
                    <a:defRPr/>
                  </a:pPr>
                  <a:endParaRPr lang="en-US"/>
                </a:p>
              </p:txBody>
            </p:sp>
          </p:grpSp>
        </p:grpSp>
        <p:sp>
          <p:nvSpPr>
            <p:cNvPr id="84" name="Rectangle 83">
              <a:extLst>
                <a:ext uri="{FF2B5EF4-FFF2-40B4-BE49-F238E27FC236}">
                  <a16:creationId xmlns:a16="http://schemas.microsoft.com/office/drawing/2014/main" id="{D35814F3-DCBA-3313-99B2-E628E46A4830}"/>
                </a:ext>
              </a:extLst>
            </p:cNvPr>
            <p:cNvSpPr/>
            <p:nvPr/>
          </p:nvSpPr>
          <p:spPr>
            <a:xfrm>
              <a:off x="8077200" y="1524000"/>
              <a:ext cx="609600" cy="533400"/>
            </a:xfrm>
            <a:prstGeom prst="rect">
              <a:avLst/>
            </a:prstGeom>
            <a:solidFill>
              <a:srgbClr val="FF0000">
                <a:alpha val="37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grpSp>
      <p:sp>
        <p:nvSpPr>
          <p:cNvPr id="86" name="Oval 85">
            <a:extLst>
              <a:ext uri="{FF2B5EF4-FFF2-40B4-BE49-F238E27FC236}">
                <a16:creationId xmlns:a16="http://schemas.microsoft.com/office/drawing/2014/main" id="{7637C643-E853-D63E-3274-8951FB89ACD7}"/>
              </a:ext>
            </a:extLst>
          </p:cNvPr>
          <p:cNvSpPr/>
          <p:nvPr/>
        </p:nvSpPr>
        <p:spPr>
          <a:xfrm>
            <a:off x="9448800" y="914400"/>
            <a:ext cx="685800" cy="1524000"/>
          </a:xfrm>
          <a:prstGeom prst="ellipse">
            <a:avLst/>
          </a:prstGeom>
          <a:noFill/>
          <a:ln w="5080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Tree>
    <p:custDataLst>
      <p:tags r:id="rId1"/>
    </p:custData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xit" presetSubtype="0" fill="hold" nodeType="clickEffect">
                                  <p:stCondLst>
                                    <p:cond delay="0"/>
                                  </p:stCondLst>
                                  <p:childTnLst>
                                    <p:animEffect transition="out" filter="dissolve">
                                      <p:cBhvr>
                                        <p:cTn id="6" dur="500"/>
                                        <p:tgtEl>
                                          <p:spTgt spid="2"/>
                                        </p:tgtEl>
                                      </p:cBhvr>
                                    </p:animEffect>
                                    <p:set>
                                      <p:cBhvr>
                                        <p:cTn id="7" dur="1" fill="hold">
                                          <p:stCondLst>
                                            <p:cond delay="499"/>
                                          </p:stCondLst>
                                        </p:cTn>
                                        <p:tgtEl>
                                          <p:spTgt spid="2"/>
                                        </p:tgtEl>
                                        <p:attrNameLst>
                                          <p:attrName>style.visibility</p:attrName>
                                        </p:attrNameLst>
                                      </p:cBhvr>
                                      <p:to>
                                        <p:strVal val="hidden"/>
                                      </p:to>
                                    </p:set>
                                  </p:childTnLst>
                                </p:cTn>
                              </p:par>
                              <p:par>
                                <p:cTn id="8" presetID="9" presetClass="exit" presetSubtype="0" fill="hold" nodeType="withEffect">
                                  <p:stCondLst>
                                    <p:cond delay="0"/>
                                  </p:stCondLst>
                                  <p:childTnLst>
                                    <p:animEffect transition="out" filter="dissolve">
                                      <p:cBhvr>
                                        <p:cTn id="9" dur="500"/>
                                        <p:tgtEl>
                                          <p:spTgt spid="3"/>
                                        </p:tgtEl>
                                      </p:cBhvr>
                                    </p:animEffect>
                                    <p:set>
                                      <p:cBhvr>
                                        <p:cTn id="10" dur="1" fill="hold">
                                          <p:stCondLst>
                                            <p:cond delay="499"/>
                                          </p:stCondLst>
                                        </p:cTn>
                                        <p:tgtEl>
                                          <p:spTgt spid="3"/>
                                        </p:tgtEl>
                                        <p:attrNameLst>
                                          <p:attrName>style.visibility</p:attrName>
                                        </p:attrNameLst>
                                      </p:cBhvr>
                                      <p:to>
                                        <p:strVal val="hidden"/>
                                      </p:to>
                                    </p:set>
                                  </p:childTnLst>
                                </p:cTn>
                              </p:par>
                              <p:par>
                                <p:cTn id="11" presetID="9" presetClass="entr" presetSubtype="0" fill="hold" grpId="0" nodeType="withEffect">
                                  <p:stCondLst>
                                    <p:cond delay="0"/>
                                  </p:stCondLst>
                                  <p:childTnLst>
                                    <p:set>
                                      <p:cBhvr>
                                        <p:cTn id="12" dur="1" fill="hold">
                                          <p:stCondLst>
                                            <p:cond delay="0"/>
                                          </p:stCondLst>
                                        </p:cTn>
                                        <p:tgtEl>
                                          <p:spTgt spid="68"/>
                                        </p:tgtEl>
                                        <p:attrNameLst>
                                          <p:attrName>style.visibility</p:attrName>
                                        </p:attrNameLst>
                                      </p:cBhvr>
                                      <p:to>
                                        <p:strVal val="visible"/>
                                      </p:to>
                                    </p:set>
                                    <p:animEffect transition="in" filter="dissolve">
                                      <p:cBhvr>
                                        <p:cTn id="13" dur="500"/>
                                        <p:tgtEl>
                                          <p:spTgt spid="68"/>
                                        </p:tgtEl>
                                      </p:cBhvr>
                                    </p:animEffect>
                                  </p:childTnLst>
                                </p:cTn>
                              </p:par>
                              <p:par>
                                <p:cTn id="14" presetID="9"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dissolve">
                                      <p:cBhvr>
                                        <p:cTn id="16" dur="500"/>
                                        <p:tgtEl>
                                          <p:spTgt spid="4"/>
                                        </p:tgtEl>
                                      </p:cBhvr>
                                    </p:animEffect>
                                  </p:childTnLst>
                                </p:cTn>
                              </p:par>
                              <p:par>
                                <p:cTn id="17" presetID="9" presetClass="entr" presetSubtype="0" fill="hold" nodeType="with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dissolve">
                                      <p:cBhvr>
                                        <p:cTn id="19" dur="500"/>
                                        <p:tgtEl>
                                          <p:spTgt spid="5"/>
                                        </p:tgtEl>
                                      </p:cBhvr>
                                    </p:animEffect>
                                  </p:childTnLst>
                                </p:cTn>
                              </p:par>
                              <p:par>
                                <p:cTn id="20" presetID="9" presetClass="entr" presetSubtype="0" fill="hold" nodeType="withEffect">
                                  <p:stCondLst>
                                    <p:cond delay="0"/>
                                  </p:stCondLst>
                                  <p:childTnLst>
                                    <p:set>
                                      <p:cBhvr>
                                        <p:cTn id="21" dur="1" fill="hold">
                                          <p:stCondLst>
                                            <p:cond delay="0"/>
                                          </p:stCondLst>
                                        </p:cTn>
                                        <p:tgtEl>
                                          <p:spTgt spid="44"/>
                                        </p:tgtEl>
                                        <p:attrNameLst>
                                          <p:attrName>style.visibility</p:attrName>
                                        </p:attrNameLst>
                                      </p:cBhvr>
                                      <p:to>
                                        <p:strVal val="visible"/>
                                      </p:to>
                                    </p:set>
                                    <p:animEffect transition="in" filter="dissolve">
                                      <p:cBhvr>
                                        <p:cTn id="22" dur="500"/>
                                        <p:tgtEl>
                                          <p:spTgt spid="4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9" presetClass="entr" presetSubtype="0" fill="hold" grpId="0" nodeType="clickEffect">
                                  <p:stCondLst>
                                    <p:cond delay="0"/>
                                  </p:stCondLst>
                                  <p:childTnLst>
                                    <p:set>
                                      <p:cBhvr>
                                        <p:cTn id="26" dur="1" fill="hold">
                                          <p:stCondLst>
                                            <p:cond delay="0"/>
                                          </p:stCondLst>
                                        </p:cTn>
                                        <p:tgtEl>
                                          <p:spTgt spid="49"/>
                                        </p:tgtEl>
                                        <p:attrNameLst>
                                          <p:attrName>style.visibility</p:attrName>
                                        </p:attrNameLst>
                                      </p:cBhvr>
                                      <p:to>
                                        <p:strVal val="visible"/>
                                      </p:to>
                                    </p:set>
                                    <p:animEffect transition="in" filter="dissolve">
                                      <p:cBhvr>
                                        <p:cTn id="27" dur="500"/>
                                        <p:tgtEl>
                                          <p:spTgt spid="49"/>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50"/>
                                        </p:tgtEl>
                                        <p:attrNameLst>
                                          <p:attrName>style.visibility</p:attrName>
                                        </p:attrNameLst>
                                      </p:cBhvr>
                                      <p:to>
                                        <p:strVal val="visible"/>
                                      </p:to>
                                    </p:set>
                                    <p:animEffect transition="in" filter="dissolve">
                                      <p:cBhvr>
                                        <p:cTn id="30" dur="500"/>
                                        <p:tgtEl>
                                          <p:spTgt spid="50"/>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51"/>
                                        </p:tgtEl>
                                        <p:attrNameLst>
                                          <p:attrName>style.visibility</p:attrName>
                                        </p:attrNameLst>
                                      </p:cBhvr>
                                      <p:to>
                                        <p:strVal val="visible"/>
                                      </p:to>
                                    </p:set>
                                    <p:animEffect transition="in" filter="dissolve">
                                      <p:cBhvr>
                                        <p:cTn id="33" dur="500"/>
                                        <p:tgtEl>
                                          <p:spTgt spid="51"/>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55"/>
                                        </p:tgtEl>
                                        <p:attrNameLst>
                                          <p:attrName>style.visibility</p:attrName>
                                        </p:attrNameLst>
                                      </p:cBhvr>
                                      <p:to>
                                        <p:strVal val="visible"/>
                                      </p:to>
                                    </p:set>
                                    <p:animEffect transition="in" filter="dissolve">
                                      <p:cBhvr>
                                        <p:cTn id="36" dur="500"/>
                                        <p:tgtEl>
                                          <p:spTgt spid="55"/>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56"/>
                                        </p:tgtEl>
                                        <p:attrNameLst>
                                          <p:attrName>style.visibility</p:attrName>
                                        </p:attrNameLst>
                                      </p:cBhvr>
                                      <p:to>
                                        <p:strVal val="visible"/>
                                      </p:to>
                                    </p:set>
                                    <p:animEffect transition="in" filter="dissolve">
                                      <p:cBhvr>
                                        <p:cTn id="39" dur="500"/>
                                        <p:tgtEl>
                                          <p:spTgt spid="56"/>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57"/>
                                        </p:tgtEl>
                                        <p:attrNameLst>
                                          <p:attrName>style.visibility</p:attrName>
                                        </p:attrNameLst>
                                      </p:cBhvr>
                                      <p:to>
                                        <p:strVal val="visible"/>
                                      </p:to>
                                    </p:set>
                                    <p:animEffect transition="in" filter="dissolve">
                                      <p:cBhvr>
                                        <p:cTn id="42" dur="500"/>
                                        <p:tgtEl>
                                          <p:spTgt spid="57"/>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58"/>
                                        </p:tgtEl>
                                        <p:attrNameLst>
                                          <p:attrName>style.visibility</p:attrName>
                                        </p:attrNameLst>
                                      </p:cBhvr>
                                      <p:to>
                                        <p:strVal val="visible"/>
                                      </p:to>
                                    </p:set>
                                    <p:animEffect transition="in" filter="dissolve">
                                      <p:cBhvr>
                                        <p:cTn id="45" dur="500"/>
                                        <p:tgtEl>
                                          <p:spTgt spid="58"/>
                                        </p:tgtEl>
                                      </p:cBhvr>
                                    </p:animEffect>
                                  </p:childTnLst>
                                </p:cTn>
                              </p:par>
                              <p:par>
                                <p:cTn id="46" presetID="9" presetClass="entr" presetSubtype="0" fill="hold"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dissolve">
                                      <p:cBhvr>
                                        <p:cTn id="48" dur="500"/>
                                        <p:tgtEl>
                                          <p:spTgt spid="6"/>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animEffect transition="in" filter="dissolve">
                                      <p:cBhvr>
                                        <p:cTn id="51" dur="500"/>
                                        <p:tgtEl>
                                          <p:spTgt spid="65"/>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66"/>
                                        </p:tgtEl>
                                        <p:attrNameLst>
                                          <p:attrName>style.visibility</p:attrName>
                                        </p:attrNameLst>
                                      </p:cBhvr>
                                      <p:to>
                                        <p:strVal val="visible"/>
                                      </p:to>
                                    </p:set>
                                    <p:animEffect transition="in" filter="dissolve">
                                      <p:cBhvr>
                                        <p:cTn id="54" dur="500"/>
                                        <p:tgtEl>
                                          <p:spTgt spid="66"/>
                                        </p:tgtEl>
                                      </p:cBhvr>
                                    </p:animEffect>
                                  </p:childTnLst>
                                </p:cTn>
                              </p:par>
                              <p:par>
                                <p:cTn id="55" presetID="9" presetClass="entr" presetSubtype="0" fill="hold" nodeType="withEffect">
                                  <p:stCondLst>
                                    <p:cond delay="0"/>
                                  </p:stCondLst>
                                  <p:childTnLst>
                                    <p:set>
                                      <p:cBhvr>
                                        <p:cTn id="56" dur="1" fill="hold">
                                          <p:stCondLst>
                                            <p:cond delay="0"/>
                                          </p:stCondLst>
                                        </p:cTn>
                                        <p:tgtEl>
                                          <p:spTgt spid="70"/>
                                        </p:tgtEl>
                                        <p:attrNameLst>
                                          <p:attrName>style.visibility</p:attrName>
                                        </p:attrNameLst>
                                      </p:cBhvr>
                                      <p:to>
                                        <p:strVal val="visible"/>
                                      </p:to>
                                    </p:set>
                                    <p:animEffect transition="in" filter="dissolve">
                                      <p:cBhvr>
                                        <p:cTn id="57" dur="500"/>
                                        <p:tgtEl>
                                          <p:spTgt spid="70"/>
                                        </p:tgtEl>
                                      </p:cBhvr>
                                    </p:animEffect>
                                  </p:childTnLst>
                                </p:cTn>
                              </p:par>
                              <p:par>
                                <p:cTn id="58" presetID="9" presetClass="entr" presetSubtype="0" fill="hold" nodeType="withEffect">
                                  <p:stCondLst>
                                    <p:cond delay="0"/>
                                  </p:stCondLst>
                                  <p:childTnLst>
                                    <p:set>
                                      <p:cBhvr>
                                        <p:cTn id="59" dur="1" fill="hold">
                                          <p:stCondLst>
                                            <p:cond delay="0"/>
                                          </p:stCondLst>
                                        </p:cTn>
                                        <p:tgtEl>
                                          <p:spTgt spid="71"/>
                                        </p:tgtEl>
                                        <p:attrNameLst>
                                          <p:attrName>style.visibility</p:attrName>
                                        </p:attrNameLst>
                                      </p:cBhvr>
                                      <p:to>
                                        <p:strVal val="visible"/>
                                      </p:to>
                                    </p:set>
                                    <p:animEffect transition="in" filter="dissolve">
                                      <p:cBhvr>
                                        <p:cTn id="60" dur="500"/>
                                        <p:tgtEl>
                                          <p:spTgt spid="71"/>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73"/>
                                        </p:tgtEl>
                                        <p:attrNameLst>
                                          <p:attrName>style.visibility</p:attrName>
                                        </p:attrNameLst>
                                      </p:cBhvr>
                                      <p:to>
                                        <p:strVal val="visible"/>
                                      </p:to>
                                    </p:set>
                                    <p:animEffect transition="in" filter="dissolve">
                                      <p:cBhvr>
                                        <p:cTn id="63" dur="500"/>
                                        <p:tgtEl>
                                          <p:spTgt spid="73"/>
                                        </p:tgtEl>
                                      </p:cBhvr>
                                    </p:animEffect>
                                  </p:childTnLst>
                                </p:cTn>
                              </p:par>
                              <p:par>
                                <p:cTn id="64" presetID="9" presetClass="entr" presetSubtype="0" fill="hold" nodeType="withEffect">
                                  <p:stCondLst>
                                    <p:cond delay="0"/>
                                  </p:stCondLst>
                                  <p:childTnLst>
                                    <p:set>
                                      <p:cBhvr>
                                        <p:cTn id="65" dur="1" fill="hold">
                                          <p:stCondLst>
                                            <p:cond delay="0"/>
                                          </p:stCondLst>
                                        </p:cTn>
                                        <p:tgtEl>
                                          <p:spTgt spid="45">
                                            <p:txEl>
                                              <p:pRg st="0" end="0"/>
                                            </p:txEl>
                                          </p:spTgt>
                                        </p:tgtEl>
                                        <p:attrNameLst>
                                          <p:attrName>style.visibility</p:attrName>
                                        </p:attrNameLst>
                                      </p:cBhvr>
                                      <p:to>
                                        <p:strVal val="visible"/>
                                      </p:to>
                                    </p:set>
                                    <p:animEffect transition="in" filter="dissolve">
                                      <p:cBhvr>
                                        <p:cTn id="66" dur="500"/>
                                        <p:tgtEl>
                                          <p:spTgt spid="45">
                                            <p:txEl>
                                              <p:pRg st="0" end="0"/>
                                            </p:txEl>
                                          </p:spTgt>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9" presetClass="exit" presetSubtype="0" fill="hold" grpId="1" nodeType="clickEffect">
                                  <p:stCondLst>
                                    <p:cond delay="0"/>
                                  </p:stCondLst>
                                  <p:childTnLst>
                                    <p:animEffect transition="out" filter="dissolve">
                                      <p:cBhvr>
                                        <p:cTn id="70" dur="500"/>
                                        <p:tgtEl>
                                          <p:spTgt spid="73"/>
                                        </p:tgtEl>
                                      </p:cBhvr>
                                    </p:animEffect>
                                    <p:set>
                                      <p:cBhvr>
                                        <p:cTn id="71" dur="1" fill="hold">
                                          <p:stCondLst>
                                            <p:cond delay="499"/>
                                          </p:stCondLst>
                                        </p:cTn>
                                        <p:tgtEl>
                                          <p:spTgt spid="73"/>
                                        </p:tgtEl>
                                        <p:attrNameLst>
                                          <p:attrName>style.visibility</p:attrName>
                                        </p:attrNameLst>
                                      </p:cBhvr>
                                      <p:to>
                                        <p:strVal val="hidden"/>
                                      </p:to>
                                    </p:set>
                                  </p:childTnLst>
                                </p:cTn>
                              </p:par>
                              <p:par>
                                <p:cTn id="72" presetID="9" presetClass="entr" presetSubtype="0" fill="hold" nodeType="withEffect">
                                  <p:stCondLst>
                                    <p:cond delay="0"/>
                                  </p:stCondLst>
                                  <p:childTnLst>
                                    <p:set>
                                      <p:cBhvr>
                                        <p:cTn id="73" dur="1" fill="hold">
                                          <p:stCondLst>
                                            <p:cond delay="0"/>
                                          </p:stCondLst>
                                        </p:cTn>
                                        <p:tgtEl>
                                          <p:spTgt spid="75"/>
                                        </p:tgtEl>
                                        <p:attrNameLst>
                                          <p:attrName>style.visibility</p:attrName>
                                        </p:attrNameLst>
                                      </p:cBhvr>
                                      <p:to>
                                        <p:strVal val="visible"/>
                                      </p:to>
                                    </p:set>
                                    <p:animEffect transition="in" filter="dissolve">
                                      <p:cBhvr>
                                        <p:cTn id="74" dur="500"/>
                                        <p:tgtEl>
                                          <p:spTgt spid="75"/>
                                        </p:tgtEl>
                                      </p:cBhvr>
                                    </p:animEffect>
                                  </p:childTnLst>
                                </p:cTn>
                              </p:par>
                              <p:par>
                                <p:cTn id="75" presetID="9" presetClass="entr" presetSubtype="0" fill="hold" nodeType="withEffect">
                                  <p:stCondLst>
                                    <p:cond delay="0"/>
                                  </p:stCondLst>
                                  <p:childTnLst>
                                    <p:set>
                                      <p:cBhvr>
                                        <p:cTn id="76" dur="1" fill="hold">
                                          <p:stCondLst>
                                            <p:cond delay="0"/>
                                          </p:stCondLst>
                                        </p:cTn>
                                        <p:tgtEl>
                                          <p:spTgt spid="7"/>
                                        </p:tgtEl>
                                        <p:attrNameLst>
                                          <p:attrName>style.visibility</p:attrName>
                                        </p:attrNameLst>
                                      </p:cBhvr>
                                      <p:to>
                                        <p:strVal val="visible"/>
                                      </p:to>
                                    </p:set>
                                    <p:animEffect transition="in" filter="dissolve">
                                      <p:cBhvr>
                                        <p:cTn id="77" dur="500"/>
                                        <p:tgtEl>
                                          <p:spTgt spid="7"/>
                                        </p:tgtEl>
                                      </p:cBhvr>
                                    </p:animEffect>
                                  </p:childTnLst>
                                </p:cTn>
                              </p:par>
                              <p:par>
                                <p:cTn id="78" presetID="9" presetClass="entr" presetSubtype="0" fill="hold" nodeType="withEffect">
                                  <p:stCondLst>
                                    <p:cond delay="0"/>
                                  </p:stCondLst>
                                  <p:childTnLst>
                                    <p:set>
                                      <p:cBhvr>
                                        <p:cTn id="79" dur="1" fill="hold">
                                          <p:stCondLst>
                                            <p:cond delay="0"/>
                                          </p:stCondLst>
                                        </p:cTn>
                                        <p:tgtEl>
                                          <p:spTgt spid="72">
                                            <p:txEl>
                                              <p:pRg st="0" end="0"/>
                                            </p:txEl>
                                          </p:spTgt>
                                        </p:tgtEl>
                                        <p:attrNameLst>
                                          <p:attrName>style.visibility</p:attrName>
                                        </p:attrNameLst>
                                      </p:cBhvr>
                                      <p:to>
                                        <p:strVal val="visible"/>
                                      </p:to>
                                    </p:set>
                                    <p:animEffect transition="in" filter="dissolve">
                                      <p:cBhvr>
                                        <p:cTn id="80" dur="500"/>
                                        <p:tgtEl>
                                          <p:spTgt spid="72">
                                            <p:txEl>
                                              <p:pRg st="0" end="0"/>
                                            </p:txEl>
                                          </p:spTgt>
                                        </p:tgtEl>
                                      </p:cBhvr>
                                    </p:animEffect>
                                  </p:childTnLst>
                                </p:cTn>
                              </p:par>
                              <p:par>
                                <p:cTn id="81" presetID="9" presetClass="entr" presetSubtype="0" fill="hold" nodeType="withEffect">
                                  <p:stCondLst>
                                    <p:cond delay="0"/>
                                  </p:stCondLst>
                                  <p:childTnLst>
                                    <p:set>
                                      <p:cBhvr>
                                        <p:cTn id="82" dur="1" fill="hold">
                                          <p:stCondLst>
                                            <p:cond delay="0"/>
                                          </p:stCondLst>
                                        </p:cTn>
                                        <p:tgtEl>
                                          <p:spTgt spid="72">
                                            <p:txEl>
                                              <p:pRg st="1" end="1"/>
                                            </p:txEl>
                                          </p:spTgt>
                                        </p:tgtEl>
                                        <p:attrNameLst>
                                          <p:attrName>style.visibility</p:attrName>
                                        </p:attrNameLst>
                                      </p:cBhvr>
                                      <p:to>
                                        <p:strVal val="visible"/>
                                      </p:to>
                                    </p:set>
                                    <p:animEffect transition="in" filter="dissolve">
                                      <p:cBhvr>
                                        <p:cTn id="83" dur="500"/>
                                        <p:tgtEl>
                                          <p:spTgt spid="72">
                                            <p:txEl>
                                              <p:pRg st="1" end="1"/>
                                            </p:txEl>
                                          </p:spTgt>
                                        </p:tgtEl>
                                      </p:cBhvr>
                                    </p:animEffect>
                                  </p:childTnLst>
                                </p:cTn>
                              </p:par>
                            </p:childTnLst>
                          </p:cTn>
                        </p:par>
                      </p:childTnLst>
                    </p:cTn>
                  </p:par>
                  <p:par>
                    <p:cTn id="84" fill="hold" nodeType="clickPar">
                      <p:stCondLst>
                        <p:cond delay="indefinite"/>
                      </p:stCondLst>
                      <p:childTnLst>
                        <p:par>
                          <p:cTn id="85" fill="hold" nodeType="withGroup">
                            <p:stCondLst>
                              <p:cond delay="0"/>
                            </p:stCondLst>
                            <p:childTnLst>
                              <p:par>
                                <p:cTn id="86" presetID="9" presetClass="entr" presetSubtype="0" fill="hold" grpId="0" nodeType="clickEffect">
                                  <p:stCondLst>
                                    <p:cond delay="0"/>
                                  </p:stCondLst>
                                  <p:childTnLst>
                                    <p:set>
                                      <p:cBhvr>
                                        <p:cTn id="87" dur="1" fill="hold">
                                          <p:stCondLst>
                                            <p:cond delay="0"/>
                                          </p:stCondLst>
                                        </p:cTn>
                                        <p:tgtEl>
                                          <p:spTgt spid="86"/>
                                        </p:tgtEl>
                                        <p:attrNameLst>
                                          <p:attrName>style.visibility</p:attrName>
                                        </p:attrNameLst>
                                      </p:cBhvr>
                                      <p:to>
                                        <p:strVal val="visible"/>
                                      </p:to>
                                    </p:set>
                                    <p:animEffect transition="in" filter="dissolve">
                                      <p:cBhvr>
                                        <p:cTn id="88" dur="500"/>
                                        <p:tgtEl>
                                          <p:spTgt spid="86"/>
                                        </p:tgtEl>
                                      </p:cBhvr>
                                    </p:animEffect>
                                  </p:childTnLst>
                                </p:cTn>
                              </p:par>
                            </p:childTnLst>
                          </p:cTn>
                        </p:par>
                      </p:childTnLst>
                    </p:cTn>
                  </p:par>
                  <p:par>
                    <p:cTn id="89" fill="hold" nodeType="clickPar">
                      <p:stCondLst>
                        <p:cond delay="indefinite"/>
                      </p:stCondLst>
                      <p:childTnLst>
                        <p:par>
                          <p:cTn id="90" fill="hold" nodeType="withGroup">
                            <p:stCondLst>
                              <p:cond delay="0"/>
                            </p:stCondLst>
                            <p:childTnLst>
                              <p:par>
                                <p:cTn id="91" presetID="9" presetClass="entr" presetSubtype="0" fill="hold" nodeType="clickEffect">
                                  <p:stCondLst>
                                    <p:cond delay="0"/>
                                  </p:stCondLst>
                                  <p:childTnLst>
                                    <p:set>
                                      <p:cBhvr>
                                        <p:cTn id="92" dur="1" fill="hold">
                                          <p:stCondLst>
                                            <p:cond delay="0"/>
                                          </p:stCondLst>
                                        </p:cTn>
                                        <p:tgtEl>
                                          <p:spTgt spid="72">
                                            <p:txEl>
                                              <p:pRg st="1" end="1"/>
                                            </p:txEl>
                                          </p:spTgt>
                                        </p:tgtEl>
                                        <p:attrNameLst>
                                          <p:attrName>style.visibility</p:attrName>
                                        </p:attrNameLst>
                                      </p:cBhvr>
                                      <p:to>
                                        <p:strVal val="visible"/>
                                      </p:to>
                                    </p:set>
                                    <p:animEffect transition="in" filter="dissolve">
                                      <p:cBhvr>
                                        <p:cTn id="93" dur="500"/>
                                        <p:tgtEl>
                                          <p:spTgt spid="72">
                                            <p:txEl>
                                              <p:pRg st="1" end="1"/>
                                            </p:txEl>
                                          </p:spTgt>
                                        </p:tgtEl>
                                      </p:cBhvr>
                                    </p:animEffect>
                                  </p:childTnLst>
                                </p:cTn>
                              </p:par>
                              <p:par>
                                <p:cTn id="94" presetID="9" presetClass="entr" presetSubtype="0" fill="hold" nodeType="withEffect">
                                  <p:stCondLst>
                                    <p:cond delay="0"/>
                                  </p:stCondLst>
                                  <p:childTnLst>
                                    <p:set>
                                      <p:cBhvr>
                                        <p:cTn id="95" dur="1" fill="hold">
                                          <p:stCondLst>
                                            <p:cond delay="0"/>
                                          </p:stCondLst>
                                        </p:cTn>
                                        <p:tgtEl>
                                          <p:spTgt spid="72">
                                            <p:txEl>
                                              <p:pRg st="2" end="2"/>
                                            </p:txEl>
                                          </p:spTgt>
                                        </p:tgtEl>
                                        <p:attrNameLst>
                                          <p:attrName>style.visibility</p:attrName>
                                        </p:attrNameLst>
                                      </p:cBhvr>
                                      <p:to>
                                        <p:strVal val="visible"/>
                                      </p:to>
                                    </p:set>
                                    <p:animEffect transition="in" filter="dissolve">
                                      <p:cBhvr>
                                        <p:cTn id="96" dur="500"/>
                                        <p:tgtEl>
                                          <p:spTgt spid="72">
                                            <p:txEl>
                                              <p:pRg st="2" end="2"/>
                                            </p:txEl>
                                          </p:spTgt>
                                        </p:tgtEl>
                                      </p:cBhvr>
                                    </p:animEffect>
                                  </p:childTnLst>
                                </p:cTn>
                              </p:par>
                              <p:par>
                                <p:cTn id="97" presetID="9" presetClass="entr" presetSubtype="0" fill="hold" nodeType="withEffect">
                                  <p:stCondLst>
                                    <p:cond delay="0"/>
                                  </p:stCondLst>
                                  <p:childTnLst>
                                    <p:set>
                                      <p:cBhvr>
                                        <p:cTn id="98" dur="1" fill="hold">
                                          <p:stCondLst>
                                            <p:cond delay="0"/>
                                          </p:stCondLst>
                                        </p:cTn>
                                        <p:tgtEl>
                                          <p:spTgt spid="72">
                                            <p:txEl>
                                              <p:pRg st="3" end="3"/>
                                            </p:txEl>
                                          </p:spTgt>
                                        </p:tgtEl>
                                        <p:attrNameLst>
                                          <p:attrName>style.visibility</p:attrName>
                                        </p:attrNameLst>
                                      </p:cBhvr>
                                      <p:to>
                                        <p:strVal val="visible"/>
                                      </p:to>
                                    </p:set>
                                    <p:animEffect transition="in" filter="dissolve">
                                      <p:cBhvr>
                                        <p:cTn id="99" dur="500"/>
                                        <p:tgtEl>
                                          <p:spTgt spid="7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9" grpId="0" animBg="1"/>
      <p:bldP spid="50" grpId="0"/>
      <p:bldP spid="51" grpId="0" animBg="1"/>
      <p:bldP spid="55" grpId="0"/>
      <p:bldP spid="56" grpId="0" animBg="1"/>
      <p:bldP spid="57" grpId="0" animBg="1"/>
      <p:bldP spid="58" grpId="0" animBg="1"/>
      <p:bldP spid="65" grpId="0" animBg="1"/>
      <p:bldP spid="66" grpId="0" animBg="1"/>
      <p:bldP spid="68" grpId="0" animBg="1"/>
      <p:bldP spid="73" grpId="0" animBg="1"/>
      <p:bldP spid="73" grpId="1" animBg="1"/>
      <p:bldP spid="86" grpId="0" animBg="1"/>
    </p:bld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5E215A46-483E-F9F0-33A0-C530CB4EAE63}"/>
              </a:ext>
            </a:extLst>
          </p:cNvPr>
          <p:cNvSpPr>
            <a:spLocks noGrp="1"/>
          </p:cNvSpPr>
          <p:nvPr>
            <p:ph type="dt" sz="half" idx="10"/>
          </p:nvPr>
        </p:nvSpPr>
        <p:spPr/>
        <p:txBody>
          <a:bodyPr/>
          <a:lstStyle/>
          <a:p>
            <a:fld id="{E51764B9-257A-40B2-8A9F-65019AD936B9}" type="datetime1">
              <a:rPr lang="en-US" smtClean="0"/>
              <a:t>9/9/2025</a:t>
            </a:fld>
            <a:endParaRPr lang="en-IN"/>
          </a:p>
        </p:txBody>
      </p:sp>
      <p:sp>
        <p:nvSpPr>
          <p:cNvPr id="5" name="Footer Placeholder 4">
            <a:extLst>
              <a:ext uri="{FF2B5EF4-FFF2-40B4-BE49-F238E27FC236}">
                <a16:creationId xmlns:a16="http://schemas.microsoft.com/office/drawing/2014/main" id="{6AC93AF1-5DBD-4322-8F24-3B00C918224C}"/>
              </a:ext>
            </a:extLst>
          </p:cNvPr>
          <p:cNvSpPr>
            <a:spLocks noGrp="1"/>
          </p:cNvSpPr>
          <p:nvPr>
            <p:ph type="ftr" sz="quarter" idx="11"/>
          </p:nvPr>
        </p:nvSpPr>
        <p:spPr/>
        <p:txBody>
          <a:bodyPr/>
          <a:lstStyle/>
          <a:p>
            <a:r>
              <a:rPr lang="en-IN"/>
              <a:t>CMOS</a:t>
            </a:r>
          </a:p>
        </p:txBody>
      </p:sp>
      <p:sp>
        <p:nvSpPr>
          <p:cNvPr id="6" name="Slide Number Placeholder 5">
            <a:extLst>
              <a:ext uri="{FF2B5EF4-FFF2-40B4-BE49-F238E27FC236}">
                <a16:creationId xmlns:a16="http://schemas.microsoft.com/office/drawing/2014/main" id="{ED19D883-EAA8-42BC-5D0E-CADB80414B88}"/>
              </a:ext>
            </a:extLst>
          </p:cNvPr>
          <p:cNvSpPr>
            <a:spLocks noGrp="1"/>
          </p:cNvSpPr>
          <p:nvPr>
            <p:ph type="sldNum" sz="quarter" idx="12"/>
          </p:nvPr>
        </p:nvSpPr>
        <p:spPr/>
        <p:txBody>
          <a:bodyPr/>
          <a:lstStyle/>
          <a:p>
            <a:fld id="{BC2E8B6D-A843-4976-BA70-A811246CC566}" type="slidenum">
              <a:rPr lang="en-IN" smtClean="0"/>
              <a:pPr/>
              <a:t>71</a:t>
            </a:fld>
            <a:endParaRPr lang="en-IN"/>
          </a:p>
        </p:txBody>
      </p:sp>
      <p:sp>
        <p:nvSpPr>
          <p:cNvPr id="10" name="TextBox 9">
            <a:extLst>
              <a:ext uri="{FF2B5EF4-FFF2-40B4-BE49-F238E27FC236}">
                <a16:creationId xmlns:a16="http://schemas.microsoft.com/office/drawing/2014/main" id="{906FC79B-674B-0537-726E-A9EAEA21AB5A}"/>
              </a:ext>
            </a:extLst>
          </p:cNvPr>
          <p:cNvSpPr txBox="1"/>
          <p:nvPr/>
        </p:nvSpPr>
        <p:spPr>
          <a:xfrm>
            <a:off x="1055440" y="1394560"/>
            <a:ext cx="10297143" cy="4801314"/>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The term CMOS stands for “Complementary Metal Oxide Semiconductor”. CMOS technology is one of the most popular technology in the computer chip design industry and broadly used today to form integrated circuits in numerous and varied applications. </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Today’s computer memories, CPUs and cell phones make use of this technology due to several key advantages. This technology makes use of both P channel and N channel semiconductor devices. One of the most popular MOSFET technologies available today is the Complementary MOS or CMOS technology. This is the dominant semiconductor technology for microprocessors, microcontroller chips, memories like RAM, ROM, EEPROM and application specific integrated circuits (ASICs). </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CMOS (Complementary Metal Oxide Semiconductor) The main advantage of CMOS over NMOS and BIPOLAR technology is the much smaller power dissipation. Unlike NMOS or BIPOLAR circuits, a Complementary MOS circuit has almost no static power dissipation. Power is only dissipated in case the circuit actually switches. This allows integrating more CMOS gates on an IC than in NMOS or bipolar technology, resulting in much better performance. Complementary Metal Oxide Semiconductor transistor consists of P-channel MOS (PMOS) and N-channel MOS (NMOS). Please refer the link to know more about the fabrication process of CMOS transistor</a:t>
            </a:r>
            <a:endParaRPr lang="en-IN"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7222F2D2-E65C-30A0-C084-06B4F206215C}"/>
              </a:ext>
            </a:extLst>
          </p:cNvPr>
          <p:cNvSpPr txBox="1"/>
          <p:nvPr/>
        </p:nvSpPr>
        <p:spPr>
          <a:xfrm>
            <a:off x="2711624" y="769445"/>
            <a:ext cx="6094428" cy="461665"/>
          </a:xfrm>
          <a:prstGeom prst="rect">
            <a:avLst/>
          </a:prstGeom>
          <a:solidFill>
            <a:schemeClr val="tx2">
              <a:lumMod val="40000"/>
              <a:lumOff val="60000"/>
            </a:schemeClr>
          </a:solidFill>
        </p:spPr>
        <p:txBody>
          <a:bodyPr wrap="square">
            <a:spAutoFit/>
          </a:bodyPr>
          <a:lstStyle/>
          <a:p>
            <a:pPr algn="ctr"/>
            <a:r>
              <a:rPr lang="en-US" sz="2400" b="1" dirty="0">
                <a:latin typeface="Times New Roman" panose="02020603050405020304" pitchFamily="18" charset="0"/>
                <a:cs typeface="Times New Roman" panose="02020603050405020304" pitchFamily="18" charset="0"/>
              </a:rPr>
              <a:t>CMOS Working Principle and Applications </a:t>
            </a:r>
            <a:endParaRPr lang="en-IN" sz="2400" b="1" dirty="0"/>
          </a:p>
        </p:txBody>
      </p:sp>
    </p:spTree>
    <p:extLst>
      <p:ext uri="{BB962C8B-B14F-4D97-AF65-F5344CB8AC3E}">
        <p14:creationId xmlns:p14="http://schemas.microsoft.com/office/powerpoint/2010/main" val="2323980195"/>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B8BDE56-6079-EB01-671F-81AA4328A173}"/>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FBF98053-0B7A-6F11-17D3-3E91215ACA13}"/>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9895BE6C-9580-5E88-344B-CDF3834700DB}"/>
              </a:ext>
            </a:extLst>
          </p:cNvPr>
          <p:cNvSpPr>
            <a:spLocks noGrp="1"/>
          </p:cNvSpPr>
          <p:nvPr>
            <p:ph type="sldNum" sz="quarter" idx="12"/>
          </p:nvPr>
        </p:nvSpPr>
        <p:spPr/>
        <p:txBody>
          <a:bodyPr/>
          <a:lstStyle/>
          <a:p>
            <a:fld id="{BC2E8B6D-A843-4976-BA70-A811246CC566}" type="slidenum">
              <a:rPr lang="en-IN" smtClean="0"/>
              <a:pPr/>
              <a:t>72</a:t>
            </a:fld>
            <a:endParaRPr lang="en-IN"/>
          </a:p>
        </p:txBody>
      </p:sp>
      <p:sp>
        <p:nvSpPr>
          <p:cNvPr id="6" name="TextBox 5">
            <a:extLst>
              <a:ext uri="{FF2B5EF4-FFF2-40B4-BE49-F238E27FC236}">
                <a16:creationId xmlns:a16="http://schemas.microsoft.com/office/drawing/2014/main" id="{A4E77902-521F-1E74-B486-3D5F703FEC55}"/>
              </a:ext>
            </a:extLst>
          </p:cNvPr>
          <p:cNvSpPr txBox="1"/>
          <p:nvPr/>
        </p:nvSpPr>
        <p:spPr>
          <a:xfrm>
            <a:off x="609600" y="980729"/>
            <a:ext cx="11031016" cy="1938992"/>
          </a:xfrm>
          <a:prstGeom prst="rect">
            <a:avLst/>
          </a:prstGeom>
          <a:noFill/>
        </p:spPr>
        <p:txBody>
          <a:bodyPr wrap="square">
            <a:spAutoFit/>
          </a:bodyPr>
          <a:lstStyle/>
          <a:p>
            <a:pPr algn="just"/>
            <a:r>
              <a:rPr lang="en-US" sz="2000" dirty="0">
                <a:latin typeface="Times New Roman" panose="02020603050405020304" pitchFamily="18" charset="0"/>
                <a:cs typeface="Times New Roman" panose="02020603050405020304" pitchFamily="18" charset="0"/>
              </a:rPr>
              <a:t>CMOS (Complementary Metal Oxide Semiconductor) The main advantage of CMOS over NMOS and BIPOLAR technology is the much smaller power dissipation. Unlike NMOS or BIPOLAR circuits, a Complementary MOS circuit has almost no static power dissipation. Power is only dissipated in case the circuit actually switches. This allows integrating more CMOS gates on an IC than in NMOS or bipolar technology, resulting in much better performance. Complementary Metal Oxide Semiconductor transistor consists of P-channel MOS (PMOS) and N-channel MOS (NMOS). </a:t>
            </a:r>
            <a:endParaRPr lang="en-IN" sz="2000"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5D0653C-3DC2-AFB0-5787-A35FCB975AC8}"/>
              </a:ext>
            </a:extLst>
          </p:cNvPr>
          <p:cNvPicPr>
            <a:picLocks noChangeAspect="1"/>
          </p:cNvPicPr>
          <p:nvPr/>
        </p:nvPicPr>
        <p:blipFill>
          <a:blip r:embed="rId2"/>
          <a:stretch>
            <a:fillRect/>
          </a:stretch>
        </p:blipFill>
        <p:spPr>
          <a:xfrm>
            <a:off x="2032000" y="3036545"/>
            <a:ext cx="7704856" cy="3684931"/>
          </a:xfrm>
          <a:prstGeom prst="rect">
            <a:avLst/>
          </a:prstGeom>
        </p:spPr>
      </p:pic>
    </p:spTree>
    <p:extLst>
      <p:ext uri="{BB962C8B-B14F-4D97-AF65-F5344CB8AC3E}">
        <p14:creationId xmlns:p14="http://schemas.microsoft.com/office/powerpoint/2010/main" val="1186632340"/>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CD099C9-3BB9-667F-4830-97B04C7490AE}"/>
              </a:ext>
            </a:extLst>
          </p:cNvPr>
          <p:cNvSpPr>
            <a:spLocks noGrp="1"/>
          </p:cNvSpPr>
          <p:nvPr>
            <p:ph type="dt" sz="half" idx="10"/>
          </p:nvPr>
        </p:nvSpPr>
        <p:spPr/>
        <p:txBody>
          <a:bodyPr/>
          <a:lstStyle/>
          <a:p>
            <a:fld id="{7FA6D653-5D0A-4DC5-BB5A-1DD2575C855C}" type="datetime1">
              <a:rPr lang="en-US" smtClean="0"/>
              <a:t>9/9/2025</a:t>
            </a:fld>
            <a:endParaRPr lang="en-IN"/>
          </a:p>
        </p:txBody>
      </p:sp>
      <p:sp>
        <p:nvSpPr>
          <p:cNvPr id="3" name="Footer Placeholder 2">
            <a:extLst>
              <a:ext uri="{FF2B5EF4-FFF2-40B4-BE49-F238E27FC236}">
                <a16:creationId xmlns:a16="http://schemas.microsoft.com/office/drawing/2014/main" id="{6C7A7294-ADFD-4AF7-C4AC-B7082D103C50}"/>
              </a:ext>
            </a:extLst>
          </p:cNvPr>
          <p:cNvSpPr>
            <a:spLocks noGrp="1"/>
          </p:cNvSpPr>
          <p:nvPr>
            <p:ph type="ftr" sz="quarter" idx="11"/>
          </p:nvPr>
        </p:nvSpPr>
        <p:spPr/>
        <p:txBody>
          <a:bodyPr/>
          <a:lstStyle/>
          <a:p>
            <a:r>
              <a:rPr lang="en-IN"/>
              <a:t>CMOS</a:t>
            </a:r>
          </a:p>
        </p:txBody>
      </p:sp>
      <p:sp>
        <p:nvSpPr>
          <p:cNvPr id="4" name="Slide Number Placeholder 3">
            <a:extLst>
              <a:ext uri="{FF2B5EF4-FFF2-40B4-BE49-F238E27FC236}">
                <a16:creationId xmlns:a16="http://schemas.microsoft.com/office/drawing/2014/main" id="{3C4D5430-32C7-4238-C262-2105F82D2D53}"/>
              </a:ext>
            </a:extLst>
          </p:cNvPr>
          <p:cNvSpPr>
            <a:spLocks noGrp="1"/>
          </p:cNvSpPr>
          <p:nvPr>
            <p:ph type="sldNum" sz="quarter" idx="12"/>
          </p:nvPr>
        </p:nvSpPr>
        <p:spPr/>
        <p:txBody>
          <a:bodyPr/>
          <a:lstStyle/>
          <a:p>
            <a:fld id="{BC2E8B6D-A843-4976-BA70-A811246CC566}" type="slidenum">
              <a:rPr lang="en-IN" smtClean="0"/>
              <a:pPr/>
              <a:t>73</a:t>
            </a:fld>
            <a:endParaRPr lang="en-IN"/>
          </a:p>
        </p:txBody>
      </p:sp>
      <p:sp>
        <p:nvSpPr>
          <p:cNvPr id="6" name="TextBox 5">
            <a:extLst>
              <a:ext uri="{FF2B5EF4-FFF2-40B4-BE49-F238E27FC236}">
                <a16:creationId xmlns:a16="http://schemas.microsoft.com/office/drawing/2014/main" id="{E8ACCEB0-E249-D5B8-96C2-7A27920FD757}"/>
              </a:ext>
            </a:extLst>
          </p:cNvPr>
          <p:cNvSpPr txBox="1"/>
          <p:nvPr/>
        </p:nvSpPr>
        <p:spPr>
          <a:xfrm>
            <a:off x="407368" y="1443841"/>
            <a:ext cx="6422503" cy="3970318"/>
          </a:xfrm>
          <a:prstGeom prst="rect">
            <a:avLst/>
          </a:prstGeom>
          <a:noFill/>
        </p:spPr>
        <p:txBody>
          <a:bodyPr wrap="square">
            <a:spAutoFit/>
          </a:bodyPr>
          <a:lstStyle/>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NMOS is built on a p-type substrate with n-type source and drain diffused on it. In NMOS, the majority carriers are electrons. When a high voltage is applied to the gate, the NMOS will conduct. Similarly, when a low voltage is applied to the gate, NMOS will not conduct. NMOS are considered to be faster than PMOS, since the carriers in NMOS, which are electrons, travel twice as fast as the holes.</a:t>
            </a: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a:p>
            <a:pPr marL="285750" indent="-285750" algn="just">
              <a:buFont typeface="Arial" panose="020B0604020202020204" pitchFamily="34" charset="0"/>
              <a:buChar char="•"/>
            </a:pPr>
            <a:r>
              <a:rPr lang="en-US" dirty="0">
                <a:latin typeface="Times New Roman" panose="02020603050405020304" pitchFamily="18" charset="0"/>
                <a:cs typeface="Times New Roman" panose="02020603050405020304" pitchFamily="18" charset="0"/>
              </a:rPr>
              <a:t>PMOS consists P-type Source and Drain diffused on an N-type substrate. Majority carriers are holes. When a high voltage is applied to the gate, the PMOS will not conduct. When a low voltage is applied to the gate, the PMOS will conduct. The PMOS devices are more immune to noise than NMOS devices.</a:t>
            </a:r>
            <a:endParaRPr lang="en-IN" dirty="0">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2D1E0125-D5EC-DF4C-0FE6-490077BE967F}"/>
              </a:ext>
            </a:extLst>
          </p:cNvPr>
          <p:cNvPicPr>
            <a:picLocks noChangeAspect="1"/>
          </p:cNvPicPr>
          <p:nvPr/>
        </p:nvPicPr>
        <p:blipFill>
          <a:blip r:embed="rId2">
            <a:extLst>
              <a:ext uri="{BEBA8EAE-BF5A-486C-A8C5-ECC9F3942E4B}">
                <a14:imgProps xmlns:a14="http://schemas.microsoft.com/office/drawing/2010/main">
                  <a14:imgLayer r:embed="rId3">
                    <a14:imgEffect>
                      <a14:sharpenSoften amount="25000"/>
                    </a14:imgEffect>
                    <a14:imgEffect>
                      <a14:brightnessContrast bright="20000" contrast="-40000"/>
                    </a14:imgEffect>
                  </a14:imgLayer>
                </a14:imgProps>
              </a:ext>
            </a:extLst>
          </a:blip>
          <a:stretch>
            <a:fillRect/>
          </a:stretch>
        </p:blipFill>
        <p:spPr>
          <a:xfrm>
            <a:off x="8400256" y="12326"/>
            <a:ext cx="2924583" cy="6677957"/>
          </a:xfrm>
          <a:prstGeom prst="rect">
            <a:avLst/>
          </a:prstGeom>
        </p:spPr>
      </p:pic>
      <p:sp>
        <p:nvSpPr>
          <p:cNvPr id="9" name="Rectangle 8">
            <a:extLst>
              <a:ext uri="{FF2B5EF4-FFF2-40B4-BE49-F238E27FC236}">
                <a16:creationId xmlns:a16="http://schemas.microsoft.com/office/drawing/2014/main" id="{5CAEA13F-1EAE-39AD-7466-A3D61749ABFE}"/>
              </a:ext>
            </a:extLst>
          </p:cNvPr>
          <p:cNvSpPr/>
          <p:nvPr/>
        </p:nvSpPr>
        <p:spPr>
          <a:xfrm>
            <a:off x="8400256" y="2780928"/>
            <a:ext cx="2952328" cy="1296144"/>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39646765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2614621" y="199033"/>
            <a:ext cx="5599813" cy="629018"/>
          </a:xfrm>
          <a:prstGeom prst="rect">
            <a:avLst/>
          </a:prstGeom>
          <a:solidFill>
            <a:schemeClr val="tx2">
              <a:lumMod val="40000"/>
              <a:lumOff val="60000"/>
            </a:schemeClr>
          </a:solidFill>
        </p:spPr>
        <p:txBody>
          <a:bodyPr vert="horz" wrap="square" lIns="0" tIns="13335" rIns="0" bIns="0" rtlCol="0" anchor="ctr">
            <a:spAutoFit/>
          </a:bodyPr>
          <a:lstStyle/>
          <a:p>
            <a:pPr marL="12700">
              <a:spcBef>
                <a:spcPts val="105"/>
              </a:spcBef>
            </a:pPr>
            <a:r>
              <a:rPr sz="4000" b="1" spc="10" dirty="0"/>
              <a:t>CMOS</a:t>
            </a:r>
          </a:p>
        </p:txBody>
      </p:sp>
      <p:grpSp>
        <p:nvGrpSpPr>
          <p:cNvPr id="8" name="object 8"/>
          <p:cNvGrpSpPr/>
          <p:nvPr/>
        </p:nvGrpSpPr>
        <p:grpSpPr>
          <a:xfrm>
            <a:off x="1825562" y="1069658"/>
            <a:ext cx="8550275" cy="5267325"/>
            <a:chOff x="301561" y="1069657"/>
            <a:chExt cx="8550275" cy="5267325"/>
          </a:xfrm>
        </p:grpSpPr>
        <p:sp>
          <p:nvSpPr>
            <p:cNvPr id="9" name="object 9"/>
            <p:cNvSpPr/>
            <p:nvPr/>
          </p:nvSpPr>
          <p:spPr>
            <a:xfrm>
              <a:off x="306324" y="1074419"/>
              <a:ext cx="8540750" cy="5257800"/>
            </a:xfrm>
            <a:custGeom>
              <a:avLst/>
              <a:gdLst/>
              <a:ahLst/>
              <a:cxnLst/>
              <a:rect l="l" t="t" r="r" b="b"/>
              <a:pathLst>
                <a:path w="8540750" h="5257800">
                  <a:moveTo>
                    <a:pt x="8540242" y="0"/>
                  </a:moveTo>
                  <a:lnTo>
                    <a:pt x="0" y="0"/>
                  </a:lnTo>
                  <a:lnTo>
                    <a:pt x="0" y="5257800"/>
                  </a:lnTo>
                  <a:lnTo>
                    <a:pt x="8540242" y="5257800"/>
                  </a:lnTo>
                  <a:lnTo>
                    <a:pt x="8540242" y="0"/>
                  </a:lnTo>
                  <a:close/>
                </a:path>
              </a:pathLst>
            </a:custGeom>
            <a:solidFill>
              <a:srgbClr val="DFEBF6"/>
            </a:solidFill>
          </p:spPr>
          <p:txBody>
            <a:bodyPr wrap="square" lIns="0" tIns="0" rIns="0" bIns="0" rtlCol="0"/>
            <a:lstStyle/>
            <a:p>
              <a:endParaRPr/>
            </a:p>
          </p:txBody>
        </p:sp>
        <p:sp>
          <p:nvSpPr>
            <p:cNvPr id="10" name="object 10"/>
            <p:cNvSpPr/>
            <p:nvPr/>
          </p:nvSpPr>
          <p:spPr>
            <a:xfrm>
              <a:off x="306324" y="1074419"/>
              <a:ext cx="8540750" cy="5257800"/>
            </a:xfrm>
            <a:custGeom>
              <a:avLst/>
              <a:gdLst/>
              <a:ahLst/>
              <a:cxnLst/>
              <a:rect l="l" t="t" r="r" b="b"/>
              <a:pathLst>
                <a:path w="8540750" h="5257800">
                  <a:moveTo>
                    <a:pt x="0" y="5257800"/>
                  </a:moveTo>
                  <a:lnTo>
                    <a:pt x="8540242" y="5257800"/>
                  </a:lnTo>
                  <a:lnTo>
                    <a:pt x="8540242" y="0"/>
                  </a:lnTo>
                  <a:lnTo>
                    <a:pt x="0" y="0"/>
                  </a:lnTo>
                  <a:lnTo>
                    <a:pt x="0" y="5257800"/>
                  </a:lnTo>
                  <a:close/>
                </a:path>
              </a:pathLst>
            </a:custGeom>
            <a:ln w="9144">
              <a:solidFill>
                <a:srgbClr val="000000"/>
              </a:solidFill>
            </a:ln>
          </p:spPr>
          <p:txBody>
            <a:bodyPr wrap="square" lIns="0" tIns="0" rIns="0" bIns="0" rtlCol="0"/>
            <a:lstStyle/>
            <a:p>
              <a:endParaRPr/>
            </a:p>
          </p:txBody>
        </p:sp>
        <p:sp>
          <p:nvSpPr>
            <p:cNvPr id="11" name="object 11"/>
            <p:cNvSpPr/>
            <p:nvPr/>
          </p:nvSpPr>
          <p:spPr>
            <a:xfrm>
              <a:off x="530352" y="1225295"/>
              <a:ext cx="8083550" cy="2038985"/>
            </a:xfrm>
            <a:custGeom>
              <a:avLst/>
              <a:gdLst/>
              <a:ahLst/>
              <a:cxnLst/>
              <a:rect l="l" t="t" r="r" b="b"/>
              <a:pathLst>
                <a:path w="8083550" h="2038985">
                  <a:moveTo>
                    <a:pt x="8083042" y="0"/>
                  </a:moveTo>
                  <a:lnTo>
                    <a:pt x="0" y="0"/>
                  </a:lnTo>
                  <a:lnTo>
                    <a:pt x="0" y="2038603"/>
                  </a:lnTo>
                  <a:lnTo>
                    <a:pt x="8083042" y="2038603"/>
                  </a:lnTo>
                  <a:lnTo>
                    <a:pt x="8083042" y="0"/>
                  </a:lnTo>
                  <a:close/>
                </a:path>
              </a:pathLst>
            </a:custGeom>
            <a:solidFill>
              <a:srgbClr val="A9CCEC"/>
            </a:solidFill>
          </p:spPr>
          <p:txBody>
            <a:bodyPr wrap="square" lIns="0" tIns="0" rIns="0" bIns="0" rtlCol="0"/>
            <a:lstStyle/>
            <a:p>
              <a:endParaRPr/>
            </a:p>
          </p:txBody>
        </p:sp>
        <p:sp>
          <p:nvSpPr>
            <p:cNvPr id="12" name="object 12"/>
            <p:cNvSpPr/>
            <p:nvPr/>
          </p:nvSpPr>
          <p:spPr>
            <a:xfrm>
              <a:off x="531114" y="1226057"/>
              <a:ext cx="8083550" cy="2038985"/>
            </a:xfrm>
            <a:custGeom>
              <a:avLst/>
              <a:gdLst/>
              <a:ahLst/>
              <a:cxnLst/>
              <a:rect l="l" t="t" r="r" b="b"/>
              <a:pathLst>
                <a:path w="8083550" h="2038985">
                  <a:moveTo>
                    <a:pt x="0" y="2038604"/>
                  </a:moveTo>
                  <a:lnTo>
                    <a:pt x="8083042" y="2038604"/>
                  </a:lnTo>
                  <a:lnTo>
                    <a:pt x="8083042" y="0"/>
                  </a:lnTo>
                  <a:lnTo>
                    <a:pt x="0" y="0"/>
                  </a:lnTo>
                  <a:lnTo>
                    <a:pt x="0" y="2038604"/>
                  </a:lnTo>
                  <a:close/>
                </a:path>
              </a:pathLst>
            </a:custGeom>
            <a:ln w="35052">
              <a:solidFill>
                <a:srgbClr val="214F77"/>
              </a:solidFill>
            </a:ln>
          </p:spPr>
          <p:txBody>
            <a:bodyPr wrap="square" lIns="0" tIns="0" rIns="0" bIns="0" rtlCol="0"/>
            <a:lstStyle/>
            <a:p>
              <a:endParaRPr/>
            </a:p>
          </p:txBody>
        </p:sp>
      </p:grpSp>
      <p:sp>
        <p:nvSpPr>
          <p:cNvPr id="13" name="object 13"/>
          <p:cNvSpPr txBox="1"/>
          <p:nvPr/>
        </p:nvSpPr>
        <p:spPr>
          <a:xfrm>
            <a:off x="2058009" y="1147343"/>
            <a:ext cx="4386580" cy="2026920"/>
          </a:xfrm>
          <a:prstGeom prst="rect">
            <a:avLst/>
          </a:prstGeom>
        </p:spPr>
        <p:txBody>
          <a:bodyPr vert="horz" wrap="square" lIns="0" tIns="177165" rIns="0" bIns="0" rtlCol="0">
            <a:spAutoFit/>
          </a:bodyPr>
          <a:lstStyle/>
          <a:p>
            <a:pPr marL="456565" indent="-456565">
              <a:spcBef>
                <a:spcPts val="1395"/>
              </a:spcBef>
              <a:buFont typeface="Arial MT"/>
              <a:buChar char="•"/>
              <a:tabLst>
                <a:tab pos="456565" algn="l"/>
                <a:tab pos="457200" algn="l"/>
              </a:tabLst>
            </a:pPr>
            <a:r>
              <a:rPr sz="2200" spc="-10" dirty="0">
                <a:latin typeface="Times New Roman"/>
                <a:cs typeface="Times New Roman"/>
              </a:rPr>
              <a:t>Complementary</a:t>
            </a:r>
            <a:r>
              <a:rPr sz="2200" spc="10" dirty="0">
                <a:latin typeface="Times New Roman"/>
                <a:cs typeface="Times New Roman"/>
              </a:rPr>
              <a:t> </a:t>
            </a:r>
            <a:r>
              <a:rPr sz="2200" spc="15" dirty="0">
                <a:latin typeface="Times New Roman"/>
                <a:cs typeface="Times New Roman"/>
              </a:rPr>
              <a:t>CMOS</a:t>
            </a:r>
            <a:r>
              <a:rPr sz="2200" spc="-135" dirty="0">
                <a:latin typeface="Times New Roman"/>
                <a:cs typeface="Times New Roman"/>
              </a:rPr>
              <a:t> </a:t>
            </a:r>
            <a:r>
              <a:rPr sz="2200" dirty="0">
                <a:latin typeface="Times New Roman"/>
                <a:cs typeface="Times New Roman"/>
              </a:rPr>
              <a:t>logic</a:t>
            </a:r>
            <a:r>
              <a:rPr sz="2200" spc="-130" dirty="0">
                <a:latin typeface="Times New Roman"/>
                <a:cs typeface="Times New Roman"/>
              </a:rPr>
              <a:t> </a:t>
            </a:r>
            <a:r>
              <a:rPr sz="2200" spc="5" dirty="0">
                <a:latin typeface="Times New Roman"/>
                <a:cs typeface="Times New Roman"/>
              </a:rPr>
              <a:t>gates</a:t>
            </a:r>
            <a:endParaRPr sz="2200" dirty="0">
              <a:latin typeface="Times New Roman"/>
              <a:cs typeface="Times New Roman"/>
            </a:endParaRPr>
          </a:p>
          <a:p>
            <a:pPr marL="960119" lvl="1" indent="-101600">
              <a:spcBef>
                <a:spcPts val="1295"/>
              </a:spcBef>
              <a:buSzPct val="90909"/>
              <a:buFont typeface="Arial MT"/>
              <a:buChar char="•"/>
              <a:tabLst>
                <a:tab pos="960755" algn="l"/>
              </a:tabLst>
            </a:pPr>
            <a:r>
              <a:rPr sz="2200" spc="-25" dirty="0">
                <a:latin typeface="Times New Roman"/>
                <a:cs typeface="Times New Roman"/>
              </a:rPr>
              <a:t>p</a:t>
            </a:r>
            <a:r>
              <a:rPr sz="2200" spc="55" dirty="0">
                <a:latin typeface="Times New Roman"/>
                <a:cs typeface="Times New Roman"/>
              </a:rPr>
              <a:t>M</a:t>
            </a:r>
            <a:r>
              <a:rPr sz="2200" spc="-20" dirty="0">
                <a:latin typeface="Times New Roman"/>
                <a:cs typeface="Times New Roman"/>
              </a:rPr>
              <a:t>O</a:t>
            </a:r>
            <a:r>
              <a:rPr sz="2200" spc="-5" dirty="0">
                <a:latin typeface="Times New Roman"/>
                <a:cs typeface="Times New Roman"/>
              </a:rPr>
              <a:t>S</a:t>
            </a:r>
            <a:r>
              <a:rPr sz="2200" spc="-55" dirty="0">
                <a:latin typeface="Times New Roman"/>
                <a:cs typeface="Times New Roman"/>
              </a:rPr>
              <a:t> </a:t>
            </a:r>
            <a:r>
              <a:rPr sz="2200" i="1" spc="45" dirty="0">
                <a:latin typeface="Times New Roman"/>
                <a:cs typeface="Times New Roman"/>
              </a:rPr>
              <a:t>pu</a:t>
            </a:r>
            <a:r>
              <a:rPr sz="2200" i="1" spc="20" dirty="0">
                <a:latin typeface="Times New Roman"/>
                <a:cs typeface="Times New Roman"/>
              </a:rPr>
              <a:t>l</a:t>
            </a:r>
            <a:r>
              <a:rPr sz="2200" i="1" spc="30" dirty="0">
                <a:latin typeface="Times New Roman"/>
                <a:cs typeface="Times New Roman"/>
              </a:rPr>
              <a:t>l</a:t>
            </a:r>
            <a:r>
              <a:rPr sz="2200" i="1" spc="-20" dirty="0">
                <a:latin typeface="Times New Roman"/>
                <a:cs typeface="Times New Roman"/>
              </a:rPr>
              <a:t>-</a:t>
            </a:r>
            <a:r>
              <a:rPr sz="2200" i="1" spc="45" dirty="0">
                <a:latin typeface="Times New Roman"/>
                <a:cs typeface="Times New Roman"/>
              </a:rPr>
              <a:t>u</a:t>
            </a:r>
            <a:r>
              <a:rPr sz="2200" i="1" spc="-5" dirty="0">
                <a:latin typeface="Times New Roman"/>
                <a:cs typeface="Times New Roman"/>
              </a:rPr>
              <a:t>p</a:t>
            </a:r>
            <a:r>
              <a:rPr sz="2200" i="1" spc="-220" dirty="0">
                <a:latin typeface="Times New Roman"/>
                <a:cs typeface="Times New Roman"/>
              </a:rPr>
              <a:t> </a:t>
            </a:r>
            <a:r>
              <a:rPr sz="2200" i="1" spc="45" dirty="0">
                <a:latin typeface="Times New Roman"/>
                <a:cs typeface="Times New Roman"/>
              </a:rPr>
              <a:t>n</a:t>
            </a:r>
            <a:r>
              <a:rPr sz="2200" i="1" spc="15" dirty="0">
                <a:latin typeface="Times New Roman"/>
                <a:cs typeface="Times New Roman"/>
              </a:rPr>
              <a:t>e</a:t>
            </a:r>
            <a:r>
              <a:rPr sz="2200" i="1" spc="20" dirty="0">
                <a:latin typeface="Times New Roman"/>
                <a:cs typeface="Times New Roman"/>
              </a:rPr>
              <a:t>t</a:t>
            </a:r>
            <a:r>
              <a:rPr sz="2200" i="1" spc="-114" dirty="0">
                <a:latin typeface="Times New Roman"/>
                <a:cs typeface="Times New Roman"/>
              </a:rPr>
              <a:t>w</a:t>
            </a:r>
            <a:r>
              <a:rPr sz="2200" i="1" spc="45" dirty="0">
                <a:latin typeface="Times New Roman"/>
                <a:cs typeface="Times New Roman"/>
              </a:rPr>
              <a:t>o</a:t>
            </a:r>
            <a:r>
              <a:rPr sz="2200" i="1" dirty="0">
                <a:latin typeface="Times New Roman"/>
                <a:cs typeface="Times New Roman"/>
              </a:rPr>
              <a:t>rk</a:t>
            </a:r>
            <a:endParaRPr sz="2200" dirty="0">
              <a:latin typeface="Times New Roman"/>
              <a:cs typeface="Times New Roman"/>
            </a:endParaRPr>
          </a:p>
          <a:p>
            <a:pPr marL="960119" lvl="1" indent="-101600">
              <a:spcBef>
                <a:spcPts val="1310"/>
              </a:spcBef>
              <a:buSzPct val="90909"/>
              <a:buFont typeface="Arial MT"/>
              <a:buChar char="•"/>
              <a:tabLst>
                <a:tab pos="960755" algn="l"/>
              </a:tabLst>
            </a:pPr>
            <a:r>
              <a:rPr sz="2200" spc="10" dirty="0">
                <a:latin typeface="Times New Roman"/>
                <a:cs typeface="Times New Roman"/>
              </a:rPr>
              <a:t>n</a:t>
            </a:r>
            <a:r>
              <a:rPr sz="2200" spc="5" dirty="0">
                <a:latin typeface="Times New Roman"/>
                <a:cs typeface="Times New Roman"/>
              </a:rPr>
              <a:t>M</a:t>
            </a:r>
            <a:r>
              <a:rPr sz="2200" dirty="0">
                <a:latin typeface="Times New Roman"/>
                <a:cs typeface="Times New Roman"/>
              </a:rPr>
              <a:t>O</a:t>
            </a:r>
            <a:r>
              <a:rPr sz="2200" spc="-5" dirty="0">
                <a:latin typeface="Times New Roman"/>
                <a:cs typeface="Times New Roman"/>
              </a:rPr>
              <a:t>S</a:t>
            </a:r>
            <a:r>
              <a:rPr sz="2200" spc="-95" dirty="0">
                <a:latin typeface="Times New Roman"/>
                <a:cs typeface="Times New Roman"/>
              </a:rPr>
              <a:t> </a:t>
            </a:r>
            <a:r>
              <a:rPr sz="2200" i="1" spc="10" dirty="0">
                <a:latin typeface="Times New Roman"/>
                <a:cs typeface="Times New Roman"/>
              </a:rPr>
              <a:t>pu</a:t>
            </a:r>
            <a:r>
              <a:rPr sz="2200" i="1" spc="5" dirty="0">
                <a:latin typeface="Times New Roman"/>
                <a:cs typeface="Times New Roman"/>
              </a:rPr>
              <a:t>l</a:t>
            </a:r>
            <a:r>
              <a:rPr sz="2200" i="1" spc="15" dirty="0">
                <a:latin typeface="Times New Roman"/>
                <a:cs typeface="Times New Roman"/>
              </a:rPr>
              <a:t>l</a:t>
            </a:r>
            <a:r>
              <a:rPr sz="2200" i="1" spc="5" dirty="0">
                <a:latin typeface="Times New Roman"/>
                <a:cs typeface="Times New Roman"/>
              </a:rPr>
              <a:t>-</a:t>
            </a:r>
            <a:r>
              <a:rPr sz="2200" i="1" spc="10" dirty="0">
                <a:latin typeface="Times New Roman"/>
                <a:cs typeface="Times New Roman"/>
              </a:rPr>
              <a:t>do</a:t>
            </a:r>
            <a:r>
              <a:rPr sz="2200" i="1" dirty="0">
                <a:latin typeface="Times New Roman"/>
                <a:cs typeface="Times New Roman"/>
              </a:rPr>
              <a:t>w</a:t>
            </a:r>
            <a:r>
              <a:rPr sz="2200" i="1" spc="-5" dirty="0">
                <a:latin typeface="Times New Roman"/>
                <a:cs typeface="Times New Roman"/>
              </a:rPr>
              <a:t>n</a:t>
            </a:r>
            <a:r>
              <a:rPr sz="2200" i="1" spc="-130" dirty="0">
                <a:latin typeface="Times New Roman"/>
                <a:cs typeface="Times New Roman"/>
              </a:rPr>
              <a:t> </a:t>
            </a:r>
            <a:r>
              <a:rPr sz="2200" i="1" spc="10" dirty="0">
                <a:latin typeface="Times New Roman"/>
                <a:cs typeface="Times New Roman"/>
              </a:rPr>
              <a:t>n</a:t>
            </a:r>
            <a:r>
              <a:rPr sz="2200" i="1" dirty="0">
                <a:latin typeface="Times New Roman"/>
                <a:cs typeface="Times New Roman"/>
              </a:rPr>
              <a:t>e</a:t>
            </a:r>
            <a:r>
              <a:rPr sz="2200" i="1" spc="5" dirty="0">
                <a:latin typeface="Times New Roman"/>
                <a:cs typeface="Times New Roman"/>
              </a:rPr>
              <a:t>t</a:t>
            </a:r>
            <a:r>
              <a:rPr sz="2200" i="1" dirty="0">
                <a:latin typeface="Times New Roman"/>
                <a:cs typeface="Times New Roman"/>
              </a:rPr>
              <a:t>w</a:t>
            </a:r>
            <a:r>
              <a:rPr sz="2200" i="1" spc="10" dirty="0">
                <a:latin typeface="Times New Roman"/>
                <a:cs typeface="Times New Roman"/>
              </a:rPr>
              <a:t>o</a:t>
            </a:r>
            <a:r>
              <a:rPr sz="2200" i="1" dirty="0">
                <a:latin typeface="Times New Roman"/>
                <a:cs typeface="Times New Roman"/>
              </a:rPr>
              <a:t>r</a:t>
            </a:r>
            <a:r>
              <a:rPr sz="2200" i="1" spc="-5" dirty="0">
                <a:latin typeface="Times New Roman"/>
                <a:cs typeface="Times New Roman"/>
              </a:rPr>
              <a:t>k</a:t>
            </a:r>
            <a:endParaRPr sz="2200" dirty="0">
              <a:latin typeface="Times New Roman"/>
              <a:cs typeface="Times New Roman"/>
            </a:endParaRPr>
          </a:p>
          <a:p>
            <a:pPr marL="960119" lvl="1" indent="-101600">
              <a:spcBef>
                <a:spcPts val="1300"/>
              </a:spcBef>
              <a:buSzPct val="90909"/>
              <a:buFont typeface="Arial MT"/>
              <a:buChar char="•"/>
              <a:tabLst>
                <a:tab pos="960755" algn="l"/>
              </a:tabLst>
            </a:pPr>
            <a:r>
              <a:rPr sz="2200" spc="15" dirty="0">
                <a:latin typeface="Times New Roman"/>
                <a:cs typeface="Times New Roman"/>
              </a:rPr>
              <a:t>a</a:t>
            </a:r>
            <a:r>
              <a:rPr sz="2200" spc="20" dirty="0">
                <a:latin typeface="Times New Roman"/>
                <a:cs typeface="Times New Roman"/>
              </a:rPr>
              <a:t>.</a:t>
            </a:r>
            <a:r>
              <a:rPr sz="2200" spc="45" dirty="0">
                <a:latin typeface="Times New Roman"/>
                <a:cs typeface="Times New Roman"/>
              </a:rPr>
              <a:t>k</a:t>
            </a:r>
            <a:r>
              <a:rPr sz="2200" spc="20" dirty="0">
                <a:latin typeface="Times New Roman"/>
                <a:cs typeface="Times New Roman"/>
              </a:rPr>
              <a:t>.</a:t>
            </a:r>
            <a:r>
              <a:rPr sz="2200" spc="15" dirty="0">
                <a:latin typeface="Times New Roman"/>
                <a:cs typeface="Times New Roman"/>
              </a:rPr>
              <a:t>a</a:t>
            </a:r>
            <a:r>
              <a:rPr sz="2200" spc="-5" dirty="0">
                <a:latin typeface="Times New Roman"/>
                <a:cs typeface="Times New Roman"/>
              </a:rPr>
              <a:t>.</a:t>
            </a:r>
            <a:r>
              <a:rPr sz="2200" spc="-175" dirty="0">
                <a:latin typeface="Times New Roman"/>
                <a:cs typeface="Times New Roman"/>
              </a:rPr>
              <a:t> </a:t>
            </a:r>
            <a:r>
              <a:rPr sz="2200" spc="-80" dirty="0">
                <a:latin typeface="Times New Roman"/>
                <a:cs typeface="Times New Roman"/>
              </a:rPr>
              <a:t>s</a:t>
            </a:r>
            <a:r>
              <a:rPr sz="2200" spc="15" dirty="0">
                <a:latin typeface="Times New Roman"/>
                <a:cs typeface="Times New Roman"/>
              </a:rPr>
              <a:t>t</a:t>
            </a:r>
            <a:r>
              <a:rPr sz="2200" spc="10" dirty="0">
                <a:latin typeface="Times New Roman"/>
                <a:cs typeface="Times New Roman"/>
              </a:rPr>
              <a:t>a</a:t>
            </a:r>
            <a:r>
              <a:rPr sz="2200" spc="15" dirty="0">
                <a:latin typeface="Times New Roman"/>
                <a:cs typeface="Times New Roman"/>
              </a:rPr>
              <a:t>t</a:t>
            </a:r>
            <a:r>
              <a:rPr sz="2200" spc="25" dirty="0">
                <a:latin typeface="Times New Roman"/>
                <a:cs typeface="Times New Roman"/>
              </a:rPr>
              <a:t>i</a:t>
            </a:r>
            <a:r>
              <a:rPr sz="2200" spc="-5" dirty="0">
                <a:latin typeface="Times New Roman"/>
                <a:cs typeface="Times New Roman"/>
              </a:rPr>
              <a:t>c</a:t>
            </a:r>
            <a:r>
              <a:rPr sz="2200" spc="-100" dirty="0">
                <a:latin typeface="Times New Roman"/>
                <a:cs typeface="Times New Roman"/>
              </a:rPr>
              <a:t> </a:t>
            </a:r>
            <a:r>
              <a:rPr sz="2200" spc="30" dirty="0">
                <a:latin typeface="Times New Roman"/>
                <a:cs typeface="Times New Roman"/>
              </a:rPr>
              <a:t>C</a:t>
            </a:r>
            <a:r>
              <a:rPr sz="2200" spc="55" dirty="0">
                <a:latin typeface="Times New Roman"/>
                <a:cs typeface="Times New Roman"/>
              </a:rPr>
              <a:t>M</a:t>
            </a:r>
            <a:r>
              <a:rPr sz="2200" spc="-20" dirty="0">
                <a:latin typeface="Times New Roman"/>
                <a:cs typeface="Times New Roman"/>
              </a:rPr>
              <a:t>O</a:t>
            </a:r>
            <a:r>
              <a:rPr sz="2200" spc="-5" dirty="0">
                <a:latin typeface="Times New Roman"/>
                <a:cs typeface="Times New Roman"/>
              </a:rPr>
              <a:t>S</a:t>
            </a:r>
            <a:endParaRPr sz="2200" dirty="0">
              <a:latin typeface="Times New Roman"/>
              <a:cs typeface="Times New Roman"/>
            </a:endParaRPr>
          </a:p>
        </p:txBody>
      </p:sp>
      <p:grpSp>
        <p:nvGrpSpPr>
          <p:cNvPr id="14" name="object 14"/>
          <p:cNvGrpSpPr/>
          <p:nvPr/>
        </p:nvGrpSpPr>
        <p:grpSpPr>
          <a:xfrm>
            <a:off x="6691629" y="3411982"/>
            <a:ext cx="3464560" cy="2861310"/>
            <a:chOff x="5167629" y="3411982"/>
            <a:chExt cx="3464560" cy="2861310"/>
          </a:xfrm>
        </p:grpSpPr>
        <p:sp>
          <p:nvSpPr>
            <p:cNvPr id="15" name="object 15"/>
            <p:cNvSpPr/>
            <p:nvPr/>
          </p:nvSpPr>
          <p:spPr>
            <a:xfrm>
              <a:off x="5184647" y="3429000"/>
              <a:ext cx="3429000" cy="2825750"/>
            </a:xfrm>
            <a:custGeom>
              <a:avLst/>
              <a:gdLst/>
              <a:ahLst/>
              <a:cxnLst/>
              <a:rect l="l" t="t" r="r" b="b"/>
              <a:pathLst>
                <a:path w="3429000" h="2825750">
                  <a:moveTo>
                    <a:pt x="3429000" y="0"/>
                  </a:moveTo>
                  <a:lnTo>
                    <a:pt x="0" y="0"/>
                  </a:lnTo>
                  <a:lnTo>
                    <a:pt x="0" y="2825242"/>
                  </a:lnTo>
                  <a:lnTo>
                    <a:pt x="3429000" y="2825242"/>
                  </a:lnTo>
                  <a:lnTo>
                    <a:pt x="3429000" y="0"/>
                  </a:lnTo>
                  <a:close/>
                </a:path>
              </a:pathLst>
            </a:custGeom>
            <a:solidFill>
              <a:srgbClr val="A9CCEC"/>
            </a:solidFill>
          </p:spPr>
          <p:txBody>
            <a:bodyPr wrap="square" lIns="0" tIns="0" rIns="0" bIns="0" rtlCol="0"/>
            <a:lstStyle/>
            <a:p>
              <a:endParaRPr/>
            </a:p>
          </p:txBody>
        </p:sp>
        <p:sp>
          <p:nvSpPr>
            <p:cNvPr id="16" name="object 16"/>
            <p:cNvSpPr/>
            <p:nvPr/>
          </p:nvSpPr>
          <p:spPr>
            <a:xfrm>
              <a:off x="5413247" y="3538728"/>
              <a:ext cx="2971800" cy="2551430"/>
            </a:xfrm>
            <a:custGeom>
              <a:avLst/>
              <a:gdLst/>
              <a:ahLst/>
              <a:cxnLst/>
              <a:rect l="l" t="t" r="r" b="b"/>
              <a:pathLst>
                <a:path w="2971800" h="2551429">
                  <a:moveTo>
                    <a:pt x="2971800" y="0"/>
                  </a:moveTo>
                  <a:lnTo>
                    <a:pt x="0" y="0"/>
                  </a:lnTo>
                  <a:lnTo>
                    <a:pt x="0" y="2550922"/>
                  </a:lnTo>
                  <a:lnTo>
                    <a:pt x="2971800" y="2550922"/>
                  </a:lnTo>
                  <a:lnTo>
                    <a:pt x="2971800" y="0"/>
                  </a:lnTo>
                  <a:close/>
                </a:path>
              </a:pathLst>
            </a:custGeom>
            <a:solidFill>
              <a:srgbClr val="609DD1"/>
            </a:solidFill>
          </p:spPr>
          <p:txBody>
            <a:bodyPr wrap="square" lIns="0" tIns="0" rIns="0" bIns="0" rtlCol="0"/>
            <a:lstStyle/>
            <a:p>
              <a:endParaRPr/>
            </a:p>
          </p:txBody>
        </p:sp>
        <p:sp>
          <p:nvSpPr>
            <p:cNvPr id="17" name="object 17"/>
            <p:cNvSpPr/>
            <p:nvPr/>
          </p:nvSpPr>
          <p:spPr>
            <a:xfrm>
              <a:off x="6411467" y="3680460"/>
              <a:ext cx="863600" cy="882015"/>
            </a:xfrm>
            <a:custGeom>
              <a:avLst/>
              <a:gdLst/>
              <a:ahLst/>
              <a:cxnLst/>
              <a:rect l="l" t="t" r="r" b="b"/>
              <a:pathLst>
                <a:path w="863600" h="882014">
                  <a:moveTo>
                    <a:pt x="757047" y="0"/>
                  </a:moveTo>
                  <a:lnTo>
                    <a:pt x="109347" y="0"/>
                  </a:lnTo>
                  <a:lnTo>
                    <a:pt x="74803" y="5714"/>
                  </a:lnTo>
                  <a:lnTo>
                    <a:pt x="45974" y="20065"/>
                  </a:lnTo>
                  <a:lnTo>
                    <a:pt x="20193" y="43052"/>
                  </a:lnTo>
                  <a:lnTo>
                    <a:pt x="5715" y="74675"/>
                  </a:lnTo>
                  <a:lnTo>
                    <a:pt x="0" y="106425"/>
                  </a:lnTo>
                  <a:lnTo>
                    <a:pt x="0" y="772540"/>
                  </a:lnTo>
                  <a:lnTo>
                    <a:pt x="20193" y="835787"/>
                  </a:lnTo>
                  <a:lnTo>
                    <a:pt x="74803" y="876172"/>
                  </a:lnTo>
                  <a:lnTo>
                    <a:pt x="109347" y="881888"/>
                  </a:lnTo>
                  <a:lnTo>
                    <a:pt x="757047" y="881888"/>
                  </a:lnTo>
                  <a:lnTo>
                    <a:pt x="820292" y="861694"/>
                  </a:lnTo>
                  <a:lnTo>
                    <a:pt x="860679" y="807084"/>
                  </a:lnTo>
                  <a:lnTo>
                    <a:pt x="863473" y="772540"/>
                  </a:lnTo>
                  <a:lnTo>
                    <a:pt x="863473" y="106425"/>
                  </a:lnTo>
                  <a:lnTo>
                    <a:pt x="843407" y="43052"/>
                  </a:lnTo>
                  <a:lnTo>
                    <a:pt x="788670" y="5714"/>
                  </a:lnTo>
                  <a:lnTo>
                    <a:pt x="757047" y="0"/>
                  </a:lnTo>
                  <a:close/>
                </a:path>
              </a:pathLst>
            </a:custGeom>
            <a:solidFill>
              <a:srgbClr val="FFFFFF"/>
            </a:solidFill>
          </p:spPr>
          <p:txBody>
            <a:bodyPr wrap="square" lIns="0" tIns="0" rIns="0" bIns="0" rtlCol="0"/>
            <a:lstStyle/>
            <a:p>
              <a:endParaRPr/>
            </a:p>
          </p:txBody>
        </p:sp>
        <p:sp>
          <p:nvSpPr>
            <p:cNvPr id="18" name="object 18"/>
            <p:cNvSpPr/>
            <p:nvPr/>
          </p:nvSpPr>
          <p:spPr>
            <a:xfrm>
              <a:off x="5763767" y="3680460"/>
              <a:ext cx="1727835" cy="1746250"/>
            </a:xfrm>
            <a:custGeom>
              <a:avLst/>
              <a:gdLst/>
              <a:ahLst/>
              <a:cxnLst/>
              <a:rect l="l" t="t" r="r" b="b"/>
              <a:pathLst>
                <a:path w="1727834" h="1746250">
                  <a:moveTo>
                    <a:pt x="757301" y="881888"/>
                  </a:moveTo>
                  <a:lnTo>
                    <a:pt x="1405382" y="881888"/>
                  </a:lnTo>
                  <a:lnTo>
                    <a:pt x="1437005" y="876172"/>
                  </a:lnTo>
                  <a:lnTo>
                    <a:pt x="1468628" y="861821"/>
                  </a:lnTo>
                  <a:lnTo>
                    <a:pt x="1491614" y="835913"/>
                  </a:lnTo>
                  <a:lnTo>
                    <a:pt x="1508887" y="807084"/>
                  </a:lnTo>
                  <a:lnTo>
                    <a:pt x="1511808" y="772540"/>
                  </a:lnTo>
                  <a:lnTo>
                    <a:pt x="1511808" y="106425"/>
                  </a:lnTo>
                  <a:lnTo>
                    <a:pt x="1491614" y="43052"/>
                  </a:lnTo>
                  <a:lnTo>
                    <a:pt x="1437005" y="5714"/>
                  </a:lnTo>
                  <a:lnTo>
                    <a:pt x="1405382" y="0"/>
                  </a:lnTo>
                  <a:lnTo>
                    <a:pt x="757301" y="0"/>
                  </a:lnTo>
                  <a:lnTo>
                    <a:pt x="694055" y="20065"/>
                  </a:lnTo>
                  <a:lnTo>
                    <a:pt x="653796" y="74675"/>
                  </a:lnTo>
                  <a:lnTo>
                    <a:pt x="647954" y="106425"/>
                  </a:lnTo>
                  <a:lnTo>
                    <a:pt x="647954" y="772540"/>
                  </a:lnTo>
                  <a:lnTo>
                    <a:pt x="668147" y="835913"/>
                  </a:lnTo>
                  <a:lnTo>
                    <a:pt x="722757" y="876172"/>
                  </a:lnTo>
                  <a:lnTo>
                    <a:pt x="757301" y="881888"/>
                  </a:lnTo>
                  <a:close/>
                </a:path>
                <a:path w="1727834" h="1746250">
                  <a:moveTo>
                    <a:pt x="1080135" y="881888"/>
                  </a:moveTo>
                  <a:lnTo>
                    <a:pt x="1080135" y="1313814"/>
                  </a:lnTo>
                </a:path>
                <a:path w="1727834" h="1746250">
                  <a:moveTo>
                    <a:pt x="1727581" y="1097914"/>
                  </a:moveTo>
                  <a:lnTo>
                    <a:pt x="1080135" y="1097914"/>
                  </a:lnTo>
                </a:path>
                <a:path w="1727834" h="1746250">
                  <a:moveTo>
                    <a:pt x="647954" y="449579"/>
                  </a:moveTo>
                  <a:lnTo>
                    <a:pt x="432181" y="449579"/>
                  </a:lnTo>
                  <a:lnTo>
                    <a:pt x="432181" y="1746123"/>
                  </a:lnTo>
                  <a:lnTo>
                    <a:pt x="647954" y="1746123"/>
                  </a:lnTo>
                </a:path>
                <a:path w="1727834" h="1746250">
                  <a:moveTo>
                    <a:pt x="0" y="1097914"/>
                  </a:moveTo>
                  <a:lnTo>
                    <a:pt x="432181" y="1097914"/>
                  </a:lnTo>
                </a:path>
                <a:path w="1727834" h="1746250">
                  <a:moveTo>
                    <a:pt x="216408" y="988440"/>
                  </a:moveTo>
                  <a:lnTo>
                    <a:pt x="107061" y="1204340"/>
                  </a:lnTo>
                </a:path>
              </a:pathLst>
            </a:custGeom>
            <a:ln w="6096">
              <a:solidFill>
                <a:srgbClr val="000000"/>
              </a:solidFill>
            </a:ln>
          </p:spPr>
          <p:txBody>
            <a:bodyPr wrap="square" lIns="0" tIns="0" rIns="0" bIns="0" rtlCol="0"/>
            <a:lstStyle/>
            <a:p>
              <a:endParaRPr/>
            </a:p>
          </p:txBody>
        </p:sp>
        <p:pic>
          <p:nvPicPr>
            <p:cNvPr id="19" name="object 19"/>
            <p:cNvPicPr/>
            <p:nvPr/>
          </p:nvPicPr>
          <p:blipFill>
            <a:blip r:embed="rId2" cstate="print"/>
            <a:stretch>
              <a:fillRect/>
            </a:stretch>
          </p:blipFill>
          <p:spPr>
            <a:xfrm>
              <a:off x="6734555" y="5844539"/>
              <a:ext cx="167640" cy="219456"/>
            </a:xfrm>
            <a:prstGeom prst="rect">
              <a:avLst/>
            </a:prstGeom>
          </p:spPr>
        </p:pic>
        <p:sp>
          <p:nvSpPr>
            <p:cNvPr id="20" name="object 20"/>
            <p:cNvSpPr/>
            <p:nvPr/>
          </p:nvSpPr>
          <p:spPr>
            <a:xfrm>
              <a:off x="6737603" y="3570732"/>
              <a:ext cx="161290" cy="109855"/>
            </a:xfrm>
            <a:custGeom>
              <a:avLst/>
              <a:gdLst/>
              <a:ahLst/>
              <a:cxnLst/>
              <a:rect l="l" t="t" r="r" b="b"/>
              <a:pathLst>
                <a:path w="161290" h="109854">
                  <a:moveTo>
                    <a:pt x="80899" y="0"/>
                  </a:moveTo>
                  <a:lnTo>
                    <a:pt x="80899" y="109473"/>
                  </a:lnTo>
                </a:path>
                <a:path w="161290" h="109854">
                  <a:moveTo>
                    <a:pt x="0" y="0"/>
                  </a:moveTo>
                  <a:lnTo>
                    <a:pt x="161290" y="0"/>
                  </a:lnTo>
                </a:path>
              </a:pathLst>
            </a:custGeom>
            <a:ln w="6096">
              <a:solidFill>
                <a:srgbClr val="000000"/>
              </a:solidFill>
            </a:ln>
          </p:spPr>
          <p:txBody>
            <a:bodyPr wrap="square" lIns="0" tIns="0" rIns="0" bIns="0" rtlCol="0"/>
            <a:lstStyle/>
            <a:p>
              <a:endParaRPr/>
            </a:p>
          </p:txBody>
        </p:sp>
        <p:sp>
          <p:nvSpPr>
            <p:cNvPr id="21" name="object 21"/>
            <p:cNvSpPr/>
            <p:nvPr/>
          </p:nvSpPr>
          <p:spPr>
            <a:xfrm>
              <a:off x="6411467" y="4994148"/>
              <a:ext cx="863600" cy="865505"/>
            </a:xfrm>
            <a:custGeom>
              <a:avLst/>
              <a:gdLst/>
              <a:ahLst/>
              <a:cxnLst/>
              <a:rect l="l" t="t" r="r" b="b"/>
              <a:pathLst>
                <a:path w="863600" h="865504">
                  <a:moveTo>
                    <a:pt x="757047" y="0"/>
                  </a:moveTo>
                  <a:lnTo>
                    <a:pt x="109347" y="0"/>
                  </a:lnTo>
                  <a:lnTo>
                    <a:pt x="74803" y="6350"/>
                  </a:lnTo>
                  <a:lnTo>
                    <a:pt x="45974" y="20700"/>
                  </a:lnTo>
                  <a:lnTo>
                    <a:pt x="20193" y="43814"/>
                  </a:lnTo>
                  <a:lnTo>
                    <a:pt x="5715" y="75437"/>
                  </a:lnTo>
                  <a:lnTo>
                    <a:pt x="0" y="107187"/>
                  </a:lnTo>
                  <a:lnTo>
                    <a:pt x="0" y="758558"/>
                  </a:lnTo>
                  <a:lnTo>
                    <a:pt x="20193" y="821893"/>
                  </a:lnTo>
                  <a:lnTo>
                    <a:pt x="74803" y="859332"/>
                  </a:lnTo>
                  <a:lnTo>
                    <a:pt x="109347" y="865098"/>
                  </a:lnTo>
                  <a:lnTo>
                    <a:pt x="757047" y="865098"/>
                  </a:lnTo>
                  <a:lnTo>
                    <a:pt x="820292" y="844930"/>
                  </a:lnTo>
                  <a:lnTo>
                    <a:pt x="860679" y="790219"/>
                  </a:lnTo>
                  <a:lnTo>
                    <a:pt x="863473" y="758558"/>
                  </a:lnTo>
                  <a:lnTo>
                    <a:pt x="863473" y="107187"/>
                  </a:lnTo>
                  <a:lnTo>
                    <a:pt x="843407" y="43814"/>
                  </a:lnTo>
                  <a:lnTo>
                    <a:pt x="788670" y="6350"/>
                  </a:lnTo>
                  <a:lnTo>
                    <a:pt x="757047" y="0"/>
                  </a:lnTo>
                  <a:close/>
                </a:path>
              </a:pathLst>
            </a:custGeom>
            <a:solidFill>
              <a:srgbClr val="FFFFFF"/>
            </a:solidFill>
          </p:spPr>
          <p:txBody>
            <a:bodyPr wrap="square" lIns="0" tIns="0" rIns="0" bIns="0" rtlCol="0"/>
            <a:lstStyle/>
            <a:p>
              <a:endParaRPr/>
            </a:p>
          </p:txBody>
        </p:sp>
        <p:sp>
          <p:nvSpPr>
            <p:cNvPr id="22" name="object 22"/>
            <p:cNvSpPr/>
            <p:nvPr/>
          </p:nvSpPr>
          <p:spPr>
            <a:xfrm>
              <a:off x="6411467" y="4994148"/>
              <a:ext cx="863600" cy="865505"/>
            </a:xfrm>
            <a:custGeom>
              <a:avLst/>
              <a:gdLst/>
              <a:ahLst/>
              <a:cxnLst/>
              <a:rect l="l" t="t" r="r" b="b"/>
              <a:pathLst>
                <a:path w="863600" h="865504">
                  <a:moveTo>
                    <a:pt x="109347" y="865098"/>
                  </a:moveTo>
                  <a:lnTo>
                    <a:pt x="757047" y="865098"/>
                  </a:lnTo>
                  <a:lnTo>
                    <a:pt x="788670" y="859332"/>
                  </a:lnTo>
                  <a:lnTo>
                    <a:pt x="820292" y="844930"/>
                  </a:lnTo>
                  <a:lnTo>
                    <a:pt x="843407" y="821893"/>
                  </a:lnTo>
                  <a:lnTo>
                    <a:pt x="860679" y="790219"/>
                  </a:lnTo>
                  <a:lnTo>
                    <a:pt x="863473" y="758558"/>
                  </a:lnTo>
                  <a:lnTo>
                    <a:pt x="863473" y="107187"/>
                  </a:lnTo>
                  <a:lnTo>
                    <a:pt x="843407" y="43814"/>
                  </a:lnTo>
                  <a:lnTo>
                    <a:pt x="788670" y="6350"/>
                  </a:lnTo>
                  <a:lnTo>
                    <a:pt x="757047" y="0"/>
                  </a:lnTo>
                  <a:lnTo>
                    <a:pt x="109347" y="0"/>
                  </a:lnTo>
                  <a:lnTo>
                    <a:pt x="45974" y="20700"/>
                  </a:lnTo>
                  <a:lnTo>
                    <a:pt x="5715" y="75437"/>
                  </a:lnTo>
                  <a:lnTo>
                    <a:pt x="0" y="107187"/>
                  </a:lnTo>
                  <a:lnTo>
                    <a:pt x="0" y="758558"/>
                  </a:lnTo>
                  <a:lnTo>
                    <a:pt x="20193" y="821893"/>
                  </a:lnTo>
                  <a:lnTo>
                    <a:pt x="74803" y="859332"/>
                  </a:lnTo>
                  <a:lnTo>
                    <a:pt x="109347" y="865098"/>
                  </a:lnTo>
                  <a:close/>
                </a:path>
              </a:pathLst>
            </a:custGeom>
            <a:ln w="6096">
              <a:solidFill>
                <a:srgbClr val="000000"/>
              </a:solidFill>
            </a:ln>
          </p:spPr>
          <p:txBody>
            <a:bodyPr wrap="square" lIns="0" tIns="0" rIns="0" bIns="0" rtlCol="0"/>
            <a:lstStyle/>
            <a:p>
              <a:endParaRPr/>
            </a:p>
          </p:txBody>
        </p:sp>
        <p:sp>
          <p:nvSpPr>
            <p:cNvPr id="23" name="object 23"/>
            <p:cNvSpPr/>
            <p:nvPr/>
          </p:nvSpPr>
          <p:spPr>
            <a:xfrm>
              <a:off x="5185409" y="3429762"/>
              <a:ext cx="3429000" cy="2825750"/>
            </a:xfrm>
            <a:custGeom>
              <a:avLst/>
              <a:gdLst/>
              <a:ahLst/>
              <a:cxnLst/>
              <a:rect l="l" t="t" r="r" b="b"/>
              <a:pathLst>
                <a:path w="3429000" h="2825750">
                  <a:moveTo>
                    <a:pt x="0" y="2825496"/>
                  </a:moveTo>
                  <a:lnTo>
                    <a:pt x="3428999" y="2825496"/>
                  </a:lnTo>
                  <a:lnTo>
                    <a:pt x="3428999" y="0"/>
                  </a:lnTo>
                  <a:lnTo>
                    <a:pt x="0" y="0"/>
                  </a:lnTo>
                  <a:lnTo>
                    <a:pt x="0" y="2825496"/>
                  </a:lnTo>
                  <a:close/>
                </a:path>
              </a:pathLst>
            </a:custGeom>
            <a:ln w="35052">
              <a:solidFill>
                <a:srgbClr val="214F77"/>
              </a:solidFill>
            </a:ln>
          </p:spPr>
          <p:txBody>
            <a:bodyPr wrap="square" lIns="0" tIns="0" rIns="0" bIns="0" rtlCol="0"/>
            <a:lstStyle/>
            <a:p>
              <a:endParaRPr/>
            </a:p>
          </p:txBody>
        </p:sp>
      </p:grpSp>
      <p:sp>
        <p:nvSpPr>
          <p:cNvPr id="24" name="object 24"/>
          <p:cNvSpPr txBox="1"/>
          <p:nvPr/>
        </p:nvSpPr>
        <p:spPr>
          <a:xfrm>
            <a:off x="6937247" y="3538729"/>
            <a:ext cx="2971800" cy="2202141"/>
          </a:xfrm>
          <a:prstGeom prst="rect">
            <a:avLst/>
          </a:prstGeom>
        </p:spPr>
        <p:txBody>
          <a:bodyPr vert="horz" wrap="square" lIns="0" tIns="0" rIns="0" bIns="0" rtlCol="0">
            <a:spAutoFit/>
          </a:bodyPr>
          <a:lstStyle/>
          <a:p>
            <a:pPr>
              <a:lnSpc>
                <a:spcPct val="100000"/>
              </a:lnSpc>
            </a:pPr>
            <a:endParaRPr sz="1200">
              <a:latin typeface="Times New Roman"/>
              <a:cs typeface="Times New Roman"/>
            </a:endParaRPr>
          </a:p>
          <a:p>
            <a:pPr>
              <a:spcBef>
                <a:spcPts val="35"/>
              </a:spcBef>
            </a:pPr>
            <a:endParaRPr sz="1050">
              <a:latin typeface="Times New Roman"/>
              <a:cs typeface="Times New Roman"/>
            </a:endParaRPr>
          </a:p>
          <a:p>
            <a:pPr marR="90805" algn="ctr">
              <a:lnSpc>
                <a:spcPts val="1295"/>
              </a:lnSpc>
              <a:spcBef>
                <a:spcPts val="5"/>
              </a:spcBef>
            </a:pPr>
            <a:r>
              <a:rPr sz="1100" spc="5" dirty="0">
                <a:latin typeface="Arial MT"/>
                <a:cs typeface="Arial MT"/>
              </a:rPr>
              <a:t>pMOS</a:t>
            </a:r>
            <a:endParaRPr sz="1100">
              <a:latin typeface="Arial MT"/>
              <a:cs typeface="Arial MT"/>
            </a:endParaRPr>
          </a:p>
          <a:p>
            <a:pPr marR="93980" algn="ctr">
              <a:lnSpc>
                <a:spcPts val="1295"/>
              </a:lnSpc>
            </a:pPr>
            <a:r>
              <a:rPr sz="1100" spc="10" dirty="0">
                <a:latin typeface="Arial MT"/>
                <a:cs typeface="Arial MT"/>
              </a:rPr>
              <a:t>pull-up</a:t>
            </a:r>
            <a:endParaRPr sz="1100">
              <a:latin typeface="Arial MT"/>
              <a:cs typeface="Arial MT"/>
            </a:endParaRPr>
          </a:p>
          <a:p>
            <a:pPr marR="95885" algn="ctr">
              <a:spcBef>
                <a:spcPts val="45"/>
              </a:spcBef>
            </a:pPr>
            <a:r>
              <a:rPr sz="1100" spc="5" dirty="0">
                <a:latin typeface="Arial MT"/>
                <a:cs typeface="Arial MT"/>
              </a:rPr>
              <a:t>network</a:t>
            </a:r>
            <a:endParaRPr sz="1100">
              <a:latin typeface="Arial MT"/>
              <a:cs typeface="Arial MT"/>
            </a:endParaRPr>
          </a:p>
          <a:p>
            <a:pPr marL="201930">
              <a:spcBef>
                <a:spcPts val="370"/>
              </a:spcBef>
            </a:pPr>
            <a:r>
              <a:rPr sz="1500" dirty="0">
                <a:latin typeface="Arial MT"/>
                <a:cs typeface="Arial MT"/>
              </a:rPr>
              <a:t>inputs</a:t>
            </a:r>
            <a:endParaRPr sz="1500">
              <a:latin typeface="Arial MT"/>
              <a:cs typeface="Arial MT"/>
            </a:endParaRPr>
          </a:p>
          <a:p>
            <a:pPr marL="2242820">
              <a:spcBef>
                <a:spcPts val="300"/>
              </a:spcBef>
            </a:pPr>
            <a:r>
              <a:rPr sz="1500" dirty="0">
                <a:latin typeface="Arial MT"/>
                <a:cs typeface="Arial MT"/>
              </a:rPr>
              <a:t>output</a:t>
            </a:r>
            <a:endParaRPr sz="1500">
              <a:latin typeface="Arial MT"/>
              <a:cs typeface="Arial MT"/>
            </a:endParaRPr>
          </a:p>
          <a:p>
            <a:pPr>
              <a:spcBef>
                <a:spcPts val="45"/>
              </a:spcBef>
            </a:pPr>
            <a:endParaRPr>
              <a:latin typeface="Arial MT"/>
              <a:cs typeface="Arial MT"/>
            </a:endParaRPr>
          </a:p>
          <a:p>
            <a:pPr marR="90170" algn="ctr"/>
            <a:r>
              <a:rPr sz="1100" spc="5" dirty="0">
                <a:latin typeface="Arial MT"/>
                <a:cs typeface="Arial MT"/>
              </a:rPr>
              <a:t>nMOS</a:t>
            </a:r>
            <a:endParaRPr sz="1100">
              <a:latin typeface="Arial MT"/>
              <a:cs typeface="Arial MT"/>
            </a:endParaRPr>
          </a:p>
          <a:p>
            <a:pPr marL="1128395" marR="1225550" algn="ctr">
              <a:lnSpc>
                <a:spcPct val="105400"/>
              </a:lnSpc>
              <a:spcBef>
                <a:spcPts val="15"/>
              </a:spcBef>
            </a:pPr>
            <a:r>
              <a:rPr sz="1100" spc="10" dirty="0">
                <a:latin typeface="Arial MT"/>
                <a:cs typeface="Arial MT"/>
              </a:rPr>
              <a:t>pu</a:t>
            </a:r>
            <a:r>
              <a:rPr sz="1100" spc="15" dirty="0">
                <a:latin typeface="Arial MT"/>
                <a:cs typeface="Arial MT"/>
              </a:rPr>
              <a:t>ll-</a:t>
            </a:r>
            <a:r>
              <a:rPr sz="1100" spc="10" dirty="0">
                <a:latin typeface="Arial MT"/>
                <a:cs typeface="Arial MT"/>
              </a:rPr>
              <a:t>do</a:t>
            </a:r>
            <a:r>
              <a:rPr sz="1100" spc="-20" dirty="0">
                <a:latin typeface="Arial MT"/>
                <a:cs typeface="Arial MT"/>
              </a:rPr>
              <a:t>w</a:t>
            </a:r>
            <a:r>
              <a:rPr sz="1100" dirty="0">
                <a:latin typeface="Arial MT"/>
                <a:cs typeface="Arial MT"/>
              </a:rPr>
              <a:t>n  </a:t>
            </a:r>
            <a:r>
              <a:rPr sz="1100" spc="5" dirty="0">
                <a:latin typeface="Arial MT"/>
                <a:cs typeface="Arial MT"/>
              </a:rPr>
              <a:t>network</a:t>
            </a:r>
            <a:endParaRPr sz="1100">
              <a:latin typeface="Arial MT"/>
              <a:cs typeface="Arial MT"/>
            </a:endParaRPr>
          </a:p>
        </p:txBody>
      </p:sp>
      <p:grpSp>
        <p:nvGrpSpPr>
          <p:cNvPr id="25" name="object 25"/>
          <p:cNvGrpSpPr/>
          <p:nvPr/>
        </p:nvGrpSpPr>
        <p:grpSpPr>
          <a:xfrm>
            <a:off x="2037587" y="3421380"/>
            <a:ext cx="4533900" cy="2860675"/>
            <a:chOff x="513587" y="3421379"/>
            <a:chExt cx="4533900" cy="2860675"/>
          </a:xfrm>
        </p:grpSpPr>
        <p:pic>
          <p:nvPicPr>
            <p:cNvPr id="26" name="object 26"/>
            <p:cNvPicPr/>
            <p:nvPr/>
          </p:nvPicPr>
          <p:blipFill>
            <a:blip r:embed="rId3" cstate="print"/>
            <a:stretch>
              <a:fillRect/>
            </a:stretch>
          </p:blipFill>
          <p:spPr>
            <a:xfrm>
              <a:off x="2404871" y="4023359"/>
              <a:ext cx="836676" cy="589788"/>
            </a:xfrm>
            <a:prstGeom prst="rect">
              <a:avLst/>
            </a:prstGeom>
          </p:spPr>
        </p:pic>
        <p:pic>
          <p:nvPicPr>
            <p:cNvPr id="27" name="object 27"/>
            <p:cNvPicPr/>
            <p:nvPr/>
          </p:nvPicPr>
          <p:blipFill>
            <a:blip r:embed="rId4" cstate="print"/>
            <a:stretch>
              <a:fillRect/>
            </a:stretch>
          </p:blipFill>
          <p:spPr>
            <a:xfrm>
              <a:off x="2221992" y="4425695"/>
              <a:ext cx="1211580" cy="589788"/>
            </a:xfrm>
            <a:prstGeom prst="rect">
              <a:avLst/>
            </a:prstGeom>
          </p:spPr>
        </p:pic>
        <p:pic>
          <p:nvPicPr>
            <p:cNvPr id="28" name="object 28"/>
            <p:cNvPicPr/>
            <p:nvPr/>
          </p:nvPicPr>
          <p:blipFill>
            <a:blip r:embed="rId5" cstate="print"/>
            <a:stretch>
              <a:fillRect/>
            </a:stretch>
          </p:blipFill>
          <p:spPr>
            <a:xfrm>
              <a:off x="4005072" y="4425695"/>
              <a:ext cx="489203" cy="589788"/>
            </a:xfrm>
            <a:prstGeom prst="rect">
              <a:avLst/>
            </a:prstGeom>
          </p:spPr>
        </p:pic>
        <p:pic>
          <p:nvPicPr>
            <p:cNvPr id="29" name="object 29"/>
            <p:cNvPicPr/>
            <p:nvPr/>
          </p:nvPicPr>
          <p:blipFill>
            <a:blip r:embed="rId6" cstate="print"/>
            <a:stretch>
              <a:fillRect/>
            </a:stretch>
          </p:blipFill>
          <p:spPr>
            <a:xfrm>
              <a:off x="2578608" y="5120639"/>
              <a:ext cx="489204" cy="598932"/>
            </a:xfrm>
            <a:prstGeom prst="rect">
              <a:avLst/>
            </a:prstGeom>
          </p:spPr>
        </p:pic>
        <p:sp>
          <p:nvSpPr>
            <p:cNvPr id="30" name="object 30"/>
            <p:cNvSpPr/>
            <p:nvPr/>
          </p:nvSpPr>
          <p:spPr>
            <a:xfrm>
              <a:off x="530351" y="3438143"/>
              <a:ext cx="4498975" cy="2825750"/>
            </a:xfrm>
            <a:custGeom>
              <a:avLst/>
              <a:gdLst/>
              <a:ahLst/>
              <a:cxnLst/>
              <a:rect l="l" t="t" r="r" b="b"/>
              <a:pathLst>
                <a:path w="4498975" h="2825750">
                  <a:moveTo>
                    <a:pt x="4498721" y="0"/>
                  </a:moveTo>
                  <a:lnTo>
                    <a:pt x="0" y="0"/>
                  </a:lnTo>
                  <a:lnTo>
                    <a:pt x="0" y="2825242"/>
                  </a:lnTo>
                  <a:lnTo>
                    <a:pt x="4498721" y="2825242"/>
                  </a:lnTo>
                  <a:lnTo>
                    <a:pt x="4498721" y="0"/>
                  </a:lnTo>
                  <a:close/>
                </a:path>
              </a:pathLst>
            </a:custGeom>
            <a:solidFill>
              <a:srgbClr val="A9CCEC"/>
            </a:solidFill>
          </p:spPr>
          <p:txBody>
            <a:bodyPr wrap="square" lIns="0" tIns="0" rIns="0" bIns="0" rtlCol="0"/>
            <a:lstStyle/>
            <a:p>
              <a:endParaRPr/>
            </a:p>
          </p:txBody>
        </p:sp>
        <p:sp>
          <p:nvSpPr>
            <p:cNvPr id="31" name="object 31"/>
            <p:cNvSpPr/>
            <p:nvPr/>
          </p:nvSpPr>
          <p:spPr>
            <a:xfrm>
              <a:off x="531113" y="3438905"/>
              <a:ext cx="4498975" cy="2825750"/>
            </a:xfrm>
            <a:custGeom>
              <a:avLst/>
              <a:gdLst/>
              <a:ahLst/>
              <a:cxnLst/>
              <a:rect l="l" t="t" r="r" b="b"/>
              <a:pathLst>
                <a:path w="4498975" h="2825750">
                  <a:moveTo>
                    <a:pt x="0" y="2825242"/>
                  </a:moveTo>
                  <a:lnTo>
                    <a:pt x="4498721" y="2825242"/>
                  </a:lnTo>
                  <a:lnTo>
                    <a:pt x="4498721" y="0"/>
                  </a:lnTo>
                  <a:lnTo>
                    <a:pt x="0" y="0"/>
                  </a:lnTo>
                  <a:lnTo>
                    <a:pt x="0" y="2825242"/>
                  </a:lnTo>
                  <a:close/>
                </a:path>
              </a:pathLst>
            </a:custGeom>
            <a:ln w="35052">
              <a:solidFill>
                <a:srgbClr val="214F77"/>
              </a:solidFill>
            </a:ln>
          </p:spPr>
          <p:txBody>
            <a:bodyPr wrap="square" lIns="0" tIns="0" rIns="0" bIns="0" rtlCol="0"/>
            <a:lstStyle/>
            <a:p>
              <a:endParaRPr/>
            </a:p>
          </p:txBody>
        </p:sp>
        <p:pic>
          <p:nvPicPr>
            <p:cNvPr id="32" name="object 32"/>
            <p:cNvPicPr/>
            <p:nvPr/>
          </p:nvPicPr>
          <p:blipFill>
            <a:blip r:embed="rId7" cstate="print"/>
            <a:stretch>
              <a:fillRect/>
            </a:stretch>
          </p:blipFill>
          <p:spPr>
            <a:xfrm>
              <a:off x="2267711" y="3721607"/>
              <a:ext cx="781812" cy="589788"/>
            </a:xfrm>
            <a:prstGeom prst="rect">
              <a:avLst/>
            </a:prstGeom>
          </p:spPr>
        </p:pic>
        <p:pic>
          <p:nvPicPr>
            <p:cNvPr id="33" name="object 33"/>
            <p:cNvPicPr/>
            <p:nvPr/>
          </p:nvPicPr>
          <p:blipFill>
            <a:blip r:embed="rId8" cstate="print"/>
            <a:stretch>
              <a:fillRect/>
            </a:stretch>
          </p:blipFill>
          <p:spPr>
            <a:xfrm>
              <a:off x="2688336" y="3721607"/>
              <a:ext cx="443484" cy="589788"/>
            </a:xfrm>
            <a:prstGeom prst="rect">
              <a:avLst/>
            </a:prstGeom>
          </p:spPr>
        </p:pic>
        <p:pic>
          <p:nvPicPr>
            <p:cNvPr id="34" name="object 34"/>
            <p:cNvPicPr/>
            <p:nvPr/>
          </p:nvPicPr>
          <p:blipFill>
            <a:blip r:embed="rId9" cstate="print"/>
            <a:stretch>
              <a:fillRect/>
            </a:stretch>
          </p:blipFill>
          <p:spPr>
            <a:xfrm>
              <a:off x="2770631" y="3721607"/>
              <a:ext cx="672083" cy="589788"/>
            </a:xfrm>
            <a:prstGeom prst="rect">
              <a:avLst/>
            </a:prstGeom>
          </p:spPr>
        </p:pic>
        <p:pic>
          <p:nvPicPr>
            <p:cNvPr id="35" name="object 35"/>
            <p:cNvPicPr/>
            <p:nvPr/>
          </p:nvPicPr>
          <p:blipFill>
            <a:blip r:embed="rId10" cstate="print"/>
            <a:stretch>
              <a:fillRect/>
            </a:stretch>
          </p:blipFill>
          <p:spPr>
            <a:xfrm>
              <a:off x="3483864" y="3721607"/>
              <a:ext cx="781812" cy="589788"/>
            </a:xfrm>
            <a:prstGeom prst="rect">
              <a:avLst/>
            </a:prstGeom>
          </p:spPr>
        </p:pic>
        <p:pic>
          <p:nvPicPr>
            <p:cNvPr id="36" name="object 36"/>
            <p:cNvPicPr/>
            <p:nvPr/>
          </p:nvPicPr>
          <p:blipFill>
            <a:blip r:embed="rId11" cstate="print"/>
            <a:stretch>
              <a:fillRect/>
            </a:stretch>
          </p:blipFill>
          <p:spPr>
            <a:xfrm>
              <a:off x="3904487" y="3721607"/>
              <a:ext cx="443484" cy="589788"/>
            </a:xfrm>
            <a:prstGeom prst="rect">
              <a:avLst/>
            </a:prstGeom>
          </p:spPr>
        </p:pic>
        <p:pic>
          <p:nvPicPr>
            <p:cNvPr id="37" name="object 37"/>
            <p:cNvPicPr/>
            <p:nvPr/>
          </p:nvPicPr>
          <p:blipFill>
            <a:blip r:embed="rId12" cstate="print"/>
            <a:stretch>
              <a:fillRect/>
            </a:stretch>
          </p:blipFill>
          <p:spPr>
            <a:xfrm>
              <a:off x="3986784" y="3721607"/>
              <a:ext cx="1037843" cy="589788"/>
            </a:xfrm>
            <a:prstGeom prst="rect">
              <a:avLst/>
            </a:prstGeom>
          </p:spPr>
        </p:pic>
        <p:pic>
          <p:nvPicPr>
            <p:cNvPr id="38" name="object 38"/>
            <p:cNvPicPr/>
            <p:nvPr/>
          </p:nvPicPr>
          <p:blipFill>
            <a:blip r:embed="rId13" cstate="print"/>
            <a:stretch>
              <a:fillRect/>
            </a:stretch>
          </p:blipFill>
          <p:spPr>
            <a:xfrm>
              <a:off x="685799" y="4425695"/>
              <a:ext cx="781812" cy="589788"/>
            </a:xfrm>
            <a:prstGeom prst="rect">
              <a:avLst/>
            </a:prstGeom>
          </p:spPr>
        </p:pic>
        <p:pic>
          <p:nvPicPr>
            <p:cNvPr id="39" name="object 39"/>
            <p:cNvPicPr/>
            <p:nvPr/>
          </p:nvPicPr>
          <p:blipFill>
            <a:blip r:embed="rId14" cstate="print"/>
            <a:stretch>
              <a:fillRect/>
            </a:stretch>
          </p:blipFill>
          <p:spPr>
            <a:xfrm>
              <a:off x="1106423" y="4425695"/>
              <a:ext cx="443484" cy="589788"/>
            </a:xfrm>
            <a:prstGeom prst="rect">
              <a:avLst/>
            </a:prstGeom>
          </p:spPr>
        </p:pic>
        <p:pic>
          <p:nvPicPr>
            <p:cNvPr id="40" name="object 40"/>
            <p:cNvPicPr/>
            <p:nvPr/>
          </p:nvPicPr>
          <p:blipFill>
            <a:blip r:embed="rId15" cstate="print"/>
            <a:stretch>
              <a:fillRect/>
            </a:stretch>
          </p:blipFill>
          <p:spPr>
            <a:xfrm>
              <a:off x="1188719" y="4425695"/>
              <a:ext cx="982980" cy="589788"/>
            </a:xfrm>
            <a:prstGeom prst="rect">
              <a:avLst/>
            </a:prstGeom>
          </p:spPr>
        </p:pic>
        <p:pic>
          <p:nvPicPr>
            <p:cNvPr id="41" name="object 41"/>
            <p:cNvPicPr/>
            <p:nvPr/>
          </p:nvPicPr>
          <p:blipFill>
            <a:blip r:embed="rId16" cstate="print"/>
            <a:stretch>
              <a:fillRect/>
            </a:stretch>
          </p:blipFill>
          <p:spPr>
            <a:xfrm>
              <a:off x="978407" y="4727447"/>
              <a:ext cx="836676" cy="589788"/>
            </a:xfrm>
            <a:prstGeom prst="rect">
              <a:avLst/>
            </a:prstGeom>
          </p:spPr>
        </p:pic>
        <p:pic>
          <p:nvPicPr>
            <p:cNvPr id="42" name="object 42"/>
            <p:cNvPicPr/>
            <p:nvPr/>
          </p:nvPicPr>
          <p:blipFill>
            <a:blip r:embed="rId17" cstate="print"/>
            <a:stretch>
              <a:fillRect/>
            </a:stretch>
          </p:blipFill>
          <p:spPr>
            <a:xfrm>
              <a:off x="685799" y="5120639"/>
              <a:ext cx="781812" cy="598932"/>
            </a:xfrm>
            <a:prstGeom prst="rect">
              <a:avLst/>
            </a:prstGeom>
          </p:spPr>
        </p:pic>
        <p:pic>
          <p:nvPicPr>
            <p:cNvPr id="43" name="object 43"/>
            <p:cNvPicPr/>
            <p:nvPr/>
          </p:nvPicPr>
          <p:blipFill>
            <a:blip r:embed="rId18" cstate="print"/>
            <a:stretch>
              <a:fillRect/>
            </a:stretch>
          </p:blipFill>
          <p:spPr>
            <a:xfrm>
              <a:off x="1106423" y="5120639"/>
              <a:ext cx="443484" cy="598932"/>
            </a:xfrm>
            <a:prstGeom prst="rect">
              <a:avLst/>
            </a:prstGeom>
          </p:spPr>
        </p:pic>
        <p:pic>
          <p:nvPicPr>
            <p:cNvPr id="44" name="object 44"/>
            <p:cNvPicPr/>
            <p:nvPr/>
          </p:nvPicPr>
          <p:blipFill>
            <a:blip r:embed="rId19" cstate="print"/>
            <a:stretch>
              <a:fillRect/>
            </a:stretch>
          </p:blipFill>
          <p:spPr>
            <a:xfrm>
              <a:off x="1188719" y="5120639"/>
              <a:ext cx="982980" cy="598932"/>
            </a:xfrm>
            <a:prstGeom prst="rect">
              <a:avLst/>
            </a:prstGeom>
          </p:spPr>
        </p:pic>
        <p:pic>
          <p:nvPicPr>
            <p:cNvPr id="45" name="object 45"/>
            <p:cNvPicPr/>
            <p:nvPr/>
          </p:nvPicPr>
          <p:blipFill>
            <a:blip r:embed="rId20" cstate="print"/>
            <a:stretch>
              <a:fillRect/>
            </a:stretch>
          </p:blipFill>
          <p:spPr>
            <a:xfrm>
              <a:off x="1033271" y="5422391"/>
              <a:ext cx="726947" cy="598932"/>
            </a:xfrm>
            <a:prstGeom prst="rect">
              <a:avLst/>
            </a:prstGeom>
          </p:spPr>
        </p:pic>
        <p:pic>
          <p:nvPicPr>
            <p:cNvPr id="46" name="object 46"/>
            <p:cNvPicPr/>
            <p:nvPr/>
          </p:nvPicPr>
          <p:blipFill>
            <a:blip r:embed="rId21" cstate="print"/>
            <a:stretch>
              <a:fillRect/>
            </a:stretch>
          </p:blipFill>
          <p:spPr>
            <a:xfrm>
              <a:off x="3977640" y="5120639"/>
              <a:ext cx="608076" cy="598932"/>
            </a:xfrm>
            <a:prstGeom prst="rect">
              <a:avLst/>
            </a:prstGeom>
          </p:spPr>
        </p:pic>
        <p:pic>
          <p:nvPicPr>
            <p:cNvPr id="47" name="object 47"/>
            <p:cNvPicPr/>
            <p:nvPr/>
          </p:nvPicPr>
          <p:blipFill>
            <a:blip r:embed="rId22" cstate="print"/>
            <a:stretch>
              <a:fillRect/>
            </a:stretch>
          </p:blipFill>
          <p:spPr>
            <a:xfrm>
              <a:off x="3584448" y="5422391"/>
              <a:ext cx="1339596" cy="598932"/>
            </a:xfrm>
            <a:prstGeom prst="rect">
              <a:avLst/>
            </a:prstGeom>
          </p:spPr>
        </p:pic>
      </p:grpSp>
      <p:graphicFrame>
        <p:nvGraphicFramePr>
          <p:cNvPr id="48" name="object 48"/>
          <p:cNvGraphicFramePr>
            <a:graphicFrameLocks noGrp="1"/>
          </p:cNvGraphicFramePr>
          <p:nvPr/>
        </p:nvGraphicFramePr>
        <p:xfrm>
          <a:off x="2181225" y="3740087"/>
          <a:ext cx="4267200" cy="2103169"/>
        </p:xfrm>
        <a:graphic>
          <a:graphicData uri="http://schemas.openxmlformats.org/drawingml/2006/table">
            <a:tbl>
              <a:tblPr firstRow="1" bandRow="1">
                <a:tableStyleId>{2D5ABB26-0587-4C30-8999-92F81FD0307C}</a:tableStyleId>
              </a:tblPr>
              <a:tblGrid>
                <a:gridCol w="1422400">
                  <a:extLst>
                    <a:ext uri="{9D8B030D-6E8A-4147-A177-3AD203B41FA5}">
                      <a16:colId xmlns:a16="http://schemas.microsoft.com/office/drawing/2014/main" val="20000"/>
                    </a:ext>
                  </a:extLst>
                </a:gridCol>
                <a:gridCol w="1422400">
                  <a:extLst>
                    <a:ext uri="{9D8B030D-6E8A-4147-A177-3AD203B41FA5}">
                      <a16:colId xmlns:a16="http://schemas.microsoft.com/office/drawing/2014/main" val="20001"/>
                    </a:ext>
                  </a:extLst>
                </a:gridCol>
                <a:gridCol w="1422400">
                  <a:extLst>
                    <a:ext uri="{9D8B030D-6E8A-4147-A177-3AD203B41FA5}">
                      <a16:colId xmlns:a16="http://schemas.microsoft.com/office/drawing/2014/main" val="20002"/>
                    </a:ext>
                  </a:extLst>
                </a:gridCol>
              </a:tblGrid>
              <a:tr h="701039">
                <a:tc>
                  <a:txBody>
                    <a:bodyPr/>
                    <a:lstStyle/>
                    <a:p>
                      <a:pPr>
                        <a:lnSpc>
                          <a:spcPct val="100000"/>
                        </a:lnSpc>
                      </a:pPr>
                      <a:endParaRPr sz="1800">
                        <a:latin typeface="Times New Roman"/>
                        <a:cs typeface="Times New Roman"/>
                      </a:endParaRPr>
                    </a:p>
                  </a:txBody>
                  <a:tcPr marL="0" marR="0" marT="0" marB="0">
                    <a:lnL w="28575">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marL="469265" marR="323850" indent="-137160">
                        <a:lnSpc>
                          <a:spcPct val="100000"/>
                        </a:lnSpc>
                        <a:spcBef>
                          <a:spcPts val="284"/>
                        </a:spcBef>
                      </a:pPr>
                      <a:r>
                        <a:rPr sz="2000" spc="10" dirty="0">
                          <a:latin typeface="Times New Roman"/>
                          <a:cs typeface="Times New Roman"/>
                        </a:rPr>
                        <a:t>P</a:t>
                      </a:r>
                      <a:r>
                        <a:rPr sz="2000" spc="15" dirty="0">
                          <a:latin typeface="Times New Roman"/>
                          <a:cs typeface="Times New Roman"/>
                        </a:rPr>
                        <a:t>u</a:t>
                      </a:r>
                      <a:r>
                        <a:rPr sz="2000" dirty="0">
                          <a:latin typeface="Times New Roman"/>
                          <a:cs typeface="Times New Roman"/>
                        </a:rPr>
                        <a:t>l</a:t>
                      </a:r>
                      <a:r>
                        <a:rPr sz="2000" spc="10" dirty="0">
                          <a:latin typeface="Times New Roman"/>
                          <a:cs typeface="Times New Roman"/>
                        </a:rPr>
                        <a:t>l</a:t>
                      </a:r>
                      <a:r>
                        <a:rPr sz="2000" spc="15" dirty="0">
                          <a:latin typeface="Times New Roman"/>
                          <a:cs typeface="Times New Roman"/>
                        </a:rPr>
                        <a:t>-</a:t>
                      </a:r>
                      <a:r>
                        <a:rPr sz="2000" spc="5" dirty="0">
                          <a:latin typeface="Times New Roman"/>
                          <a:cs typeface="Times New Roman"/>
                        </a:rPr>
                        <a:t>up  </a:t>
                      </a:r>
                      <a:r>
                        <a:rPr sz="2000" spc="10" dirty="0">
                          <a:latin typeface="Times New Roman"/>
                          <a:cs typeface="Times New Roman"/>
                        </a:rPr>
                        <a:t>OFF</a:t>
                      </a:r>
                      <a:endParaRPr sz="2000">
                        <a:latin typeface="Times New Roman"/>
                        <a:cs typeface="Times New Roman"/>
                      </a:endParaRPr>
                    </a:p>
                  </a:txBody>
                  <a:tcPr marL="0" marR="0" marT="36194" marB="0">
                    <a:lnL w="28575">
                      <a:solidFill>
                        <a:srgbClr val="000000"/>
                      </a:solidFill>
                      <a:prstDash val="solid"/>
                    </a:lnL>
                    <a:lnR w="12700">
                      <a:solidFill>
                        <a:srgbClr val="000000"/>
                      </a:solidFill>
                      <a:prstDash val="solid"/>
                    </a:lnR>
                    <a:lnT w="28575">
                      <a:solidFill>
                        <a:srgbClr val="000000"/>
                      </a:solidFill>
                      <a:prstDash val="solid"/>
                    </a:lnT>
                    <a:lnB w="28575">
                      <a:solidFill>
                        <a:srgbClr val="000000"/>
                      </a:solidFill>
                      <a:prstDash val="solid"/>
                    </a:lnB>
                    <a:solidFill>
                      <a:srgbClr val="FFFFFF"/>
                    </a:solidFill>
                  </a:tcPr>
                </a:tc>
                <a:tc>
                  <a:txBody>
                    <a:bodyPr/>
                    <a:lstStyle/>
                    <a:p>
                      <a:pPr marL="5080" algn="ctr">
                        <a:lnSpc>
                          <a:spcPct val="100000"/>
                        </a:lnSpc>
                        <a:spcBef>
                          <a:spcPts val="284"/>
                        </a:spcBef>
                      </a:pPr>
                      <a:r>
                        <a:rPr sz="2000" spc="10" dirty="0">
                          <a:latin typeface="Times New Roman"/>
                          <a:cs typeface="Times New Roman"/>
                        </a:rPr>
                        <a:t>P</a:t>
                      </a:r>
                      <a:r>
                        <a:rPr sz="2000" spc="15" dirty="0">
                          <a:latin typeface="Times New Roman"/>
                          <a:cs typeface="Times New Roman"/>
                        </a:rPr>
                        <a:t>u</a:t>
                      </a:r>
                      <a:r>
                        <a:rPr sz="2000" dirty="0">
                          <a:latin typeface="Times New Roman"/>
                          <a:cs typeface="Times New Roman"/>
                        </a:rPr>
                        <a:t>l</a:t>
                      </a:r>
                      <a:r>
                        <a:rPr sz="2000" spc="10" dirty="0">
                          <a:latin typeface="Times New Roman"/>
                          <a:cs typeface="Times New Roman"/>
                        </a:rPr>
                        <a:t>l</a:t>
                      </a:r>
                      <a:r>
                        <a:rPr sz="2000" spc="15" dirty="0">
                          <a:latin typeface="Times New Roman"/>
                          <a:cs typeface="Times New Roman"/>
                        </a:rPr>
                        <a:t>-</a:t>
                      </a:r>
                      <a:r>
                        <a:rPr sz="2000" spc="5" dirty="0">
                          <a:latin typeface="Times New Roman"/>
                          <a:cs typeface="Times New Roman"/>
                        </a:rPr>
                        <a:t>u</a:t>
                      </a:r>
                      <a:r>
                        <a:rPr sz="2000" dirty="0">
                          <a:latin typeface="Times New Roman"/>
                          <a:cs typeface="Times New Roman"/>
                        </a:rPr>
                        <a:t>p</a:t>
                      </a:r>
                      <a:r>
                        <a:rPr sz="2000" spc="-135" dirty="0">
                          <a:latin typeface="Times New Roman"/>
                          <a:cs typeface="Times New Roman"/>
                        </a:rPr>
                        <a:t> </a:t>
                      </a:r>
                      <a:r>
                        <a:rPr sz="2000" spc="5" dirty="0">
                          <a:latin typeface="Times New Roman"/>
                          <a:cs typeface="Times New Roman"/>
                        </a:rPr>
                        <a:t>ON</a:t>
                      </a:r>
                      <a:endParaRPr sz="2000">
                        <a:latin typeface="Times New Roman"/>
                        <a:cs typeface="Times New Roman"/>
                      </a:endParaRPr>
                    </a:p>
                  </a:txBody>
                  <a:tcPr marL="0" marR="0" marT="36194" marB="0">
                    <a:lnL w="12700">
                      <a:solidFill>
                        <a:srgbClr val="000000"/>
                      </a:solidFill>
                      <a:prstDash val="solid"/>
                    </a:lnL>
                    <a:lnR w="28575">
                      <a:solidFill>
                        <a:srgbClr val="000000"/>
                      </a:solidFill>
                      <a:prstDash val="solid"/>
                    </a:lnR>
                    <a:lnT w="28575">
                      <a:solidFill>
                        <a:srgbClr val="000000"/>
                      </a:solidFill>
                      <a:prstDash val="solid"/>
                    </a:lnT>
                    <a:lnB w="28575">
                      <a:solidFill>
                        <a:srgbClr val="000000"/>
                      </a:solidFill>
                      <a:prstDash val="solid"/>
                    </a:lnB>
                    <a:solidFill>
                      <a:srgbClr val="FFFFFF"/>
                    </a:solidFill>
                  </a:tcPr>
                </a:tc>
                <a:extLst>
                  <a:ext uri="{0D108BD9-81ED-4DB2-BD59-A6C34878D82A}">
                    <a16:rowId xmlns:a16="http://schemas.microsoft.com/office/drawing/2014/main" val="10000"/>
                  </a:ext>
                </a:extLst>
              </a:tr>
              <a:tr h="701040">
                <a:tc>
                  <a:txBody>
                    <a:bodyPr/>
                    <a:lstStyle/>
                    <a:p>
                      <a:pPr marR="7620" algn="ctr">
                        <a:lnSpc>
                          <a:spcPct val="100000"/>
                        </a:lnSpc>
                        <a:spcBef>
                          <a:spcPts val="390"/>
                        </a:spcBef>
                      </a:pPr>
                      <a:r>
                        <a:rPr sz="2000" spc="-5" dirty="0">
                          <a:latin typeface="Times New Roman"/>
                          <a:cs typeface="Times New Roman"/>
                        </a:rPr>
                        <a:t>Pull-down</a:t>
                      </a:r>
                      <a:endParaRPr sz="2000">
                        <a:latin typeface="Times New Roman"/>
                        <a:cs typeface="Times New Roman"/>
                      </a:endParaRPr>
                    </a:p>
                    <a:p>
                      <a:pPr marR="7620" algn="ctr">
                        <a:lnSpc>
                          <a:spcPct val="100000"/>
                        </a:lnSpc>
                      </a:pPr>
                      <a:r>
                        <a:rPr sz="2000" spc="10" dirty="0">
                          <a:latin typeface="Times New Roman"/>
                          <a:cs typeface="Times New Roman"/>
                        </a:rPr>
                        <a:t>OFF</a:t>
                      </a:r>
                      <a:endParaRPr sz="2000">
                        <a:latin typeface="Times New Roman"/>
                        <a:cs typeface="Times New Roman"/>
                      </a:endParaRPr>
                    </a:p>
                  </a:txBody>
                  <a:tcPr marL="0" marR="0" marT="49530" marB="0">
                    <a:lnL w="28575">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FFFFFF"/>
                    </a:solidFill>
                  </a:tcPr>
                </a:tc>
                <a:tc>
                  <a:txBody>
                    <a:bodyPr/>
                    <a:lstStyle/>
                    <a:p>
                      <a:pPr marL="3175" algn="ctr">
                        <a:lnSpc>
                          <a:spcPct val="100000"/>
                        </a:lnSpc>
                        <a:spcBef>
                          <a:spcPts val="295"/>
                        </a:spcBef>
                      </a:pPr>
                      <a:r>
                        <a:rPr sz="2000" dirty="0">
                          <a:latin typeface="Times New Roman"/>
                          <a:cs typeface="Times New Roman"/>
                        </a:rPr>
                        <a:t>Z</a:t>
                      </a:r>
                      <a:r>
                        <a:rPr sz="2000" spc="-80" dirty="0">
                          <a:latin typeface="Times New Roman"/>
                          <a:cs typeface="Times New Roman"/>
                        </a:rPr>
                        <a:t> </a:t>
                      </a:r>
                      <a:r>
                        <a:rPr sz="2000" spc="-5" dirty="0">
                          <a:latin typeface="Times New Roman"/>
                          <a:cs typeface="Times New Roman"/>
                        </a:rPr>
                        <a:t>(float)</a:t>
                      </a:r>
                      <a:endParaRPr sz="2000">
                        <a:latin typeface="Times New Roman"/>
                        <a:cs typeface="Times New Roman"/>
                      </a:endParaRPr>
                    </a:p>
                  </a:txBody>
                  <a:tcPr marL="0" marR="0" marT="37465" marB="0">
                    <a:lnL w="28575">
                      <a:solidFill>
                        <a:srgbClr val="000000"/>
                      </a:solidFill>
                      <a:prstDash val="solid"/>
                    </a:lnL>
                    <a:lnR w="12700">
                      <a:solidFill>
                        <a:srgbClr val="000000"/>
                      </a:solidFill>
                      <a:prstDash val="solid"/>
                    </a:lnR>
                    <a:lnT w="28575">
                      <a:solidFill>
                        <a:srgbClr val="000000"/>
                      </a:solidFill>
                      <a:prstDash val="solid"/>
                    </a:lnT>
                    <a:lnB w="12700">
                      <a:solidFill>
                        <a:srgbClr val="000000"/>
                      </a:solidFill>
                      <a:prstDash val="solid"/>
                    </a:lnB>
                    <a:solidFill>
                      <a:srgbClr val="FFFFFF"/>
                    </a:solidFill>
                  </a:tcPr>
                </a:tc>
                <a:tc>
                  <a:txBody>
                    <a:bodyPr/>
                    <a:lstStyle/>
                    <a:p>
                      <a:pPr algn="ctr">
                        <a:lnSpc>
                          <a:spcPct val="100000"/>
                        </a:lnSpc>
                        <a:spcBef>
                          <a:spcPts val="295"/>
                        </a:spcBef>
                      </a:pPr>
                      <a:r>
                        <a:rPr sz="2000" dirty="0">
                          <a:latin typeface="Times New Roman"/>
                          <a:cs typeface="Times New Roman"/>
                        </a:rPr>
                        <a:t>1</a:t>
                      </a:r>
                      <a:endParaRPr sz="2000">
                        <a:latin typeface="Times New Roman"/>
                        <a:cs typeface="Times New Roman"/>
                      </a:endParaRPr>
                    </a:p>
                  </a:txBody>
                  <a:tcPr marL="0" marR="0" marT="37465" marB="0">
                    <a:lnL w="12700">
                      <a:solidFill>
                        <a:srgbClr val="000000"/>
                      </a:solidFill>
                      <a:prstDash val="solid"/>
                    </a:lnL>
                    <a:lnR w="28575">
                      <a:solidFill>
                        <a:srgbClr val="000000"/>
                      </a:solidFill>
                      <a:prstDash val="solid"/>
                    </a:lnR>
                    <a:lnT w="28575">
                      <a:solidFill>
                        <a:srgbClr val="000000"/>
                      </a:solidFill>
                      <a:prstDash val="solid"/>
                    </a:lnT>
                    <a:lnB w="12700">
                      <a:solidFill>
                        <a:srgbClr val="000000"/>
                      </a:solidFill>
                      <a:prstDash val="solid"/>
                    </a:lnB>
                    <a:solidFill>
                      <a:srgbClr val="FFFFFF"/>
                    </a:solidFill>
                  </a:tcPr>
                </a:tc>
                <a:extLst>
                  <a:ext uri="{0D108BD9-81ED-4DB2-BD59-A6C34878D82A}">
                    <a16:rowId xmlns:a16="http://schemas.microsoft.com/office/drawing/2014/main" val="10001"/>
                  </a:ext>
                </a:extLst>
              </a:tr>
              <a:tr h="701090">
                <a:tc>
                  <a:txBody>
                    <a:bodyPr/>
                    <a:lstStyle/>
                    <a:p>
                      <a:pPr marL="522605" marR="183515" indent="-347980">
                        <a:lnSpc>
                          <a:spcPct val="100000"/>
                        </a:lnSpc>
                        <a:spcBef>
                          <a:spcPts val="395"/>
                        </a:spcBef>
                      </a:pPr>
                      <a:r>
                        <a:rPr sz="2000" spc="25" dirty="0">
                          <a:latin typeface="Times New Roman"/>
                          <a:cs typeface="Times New Roman"/>
                        </a:rPr>
                        <a:t>P</a:t>
                      </a:r>
                      <a:r>
                        <a:rPr sz="2000" spc="5" dirty="0">
                          <a:latin typeface="Times New Roman"/>
                          <a:cs typeface="Times New Roman"/>
                        </a:rPr>
                        <a:t>ul</a:t>
                      </a:r>
                      <a:r>
                        <a:rPr sz="2000" spc="15" dirty="0">
                          <a:latin typeface="Times New Roman"/>
                          <a:cs typeface="Times New Roman"/>
                        </a:rPr>
                        <a:t>l</a:t>
                      </a:r>
                      <a:r>
                        <a:rPr sz="2000" spc="-20" dirty="0">
                          <a:latin typeface="Times New Roman"/>
                          <a:cs typeface="Times New Roman"/>
                        </a:rPr>
                        <a:t>-</a:t>
                      </a:r>
                      <a:r>
                        <a:rPr sz="2000" spc="5" dirty="0">
                          <a:latin typeface="Times New Roman"/>
                          <a:cs typeface="Times New Roman"/>
                        </a:rPr>
                        <a:t>d</a:t>
                      </a:r>
                      <a:r>
                        <a:rPr sz="2000" spc="-10" dirty="0">
                          <a:latin typeface="Times New Roman"/>
                          <a:cs typeface="Times New Roman"/>
                        </a:rPr>
                        <a:t>o</a:t>
                      </a:r>
                      <a:r>
                        <a:rPr sz="2000" spc="-80" dirty="0">
                          <a:latin typeface="Times New Roman"/>
                          <a:cs typeface="Times New Roman"/>
                        </a:rPr>
                        <a:t>w</a:t>
                      </a:r>
                      <a:r>
                        <a:rPr sz="2000" dirty="0">
                          <a:latin typeface="Times New Roman"/>
                          <a:cs typeface="Times New Roman"/>
                        </a:rPr>
                        <a:t>n  </a:t>
                      </a:r>
                      <a:r>
                        <a:rPr sz="2000" spc="-10" dirty="0">
                          <a:latin typeface="Times New Roman"/>
                          <a:cs typeface="Times New Roman"/>
                        </a:rPr>
                        <a:t>ON</a:t>
                      </a:r>
                      <a:endParaRPr sz="2000">
                        <a:latin typeface="Times New Roman"/>
                        <a:cs typeface="Times New Roman"/>
                      </a:endParaRPr>
                    </a:p>
                  </a:txBody>
                  <a:tcPr marL="0" marR="0" marT="50165" marB="0">
                    <a:lnL w="28575">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solidFill>
                      <a:srgbClr val="FFFFFF"/>
                    </a:solidFill>
                  </a:tcPr>
                </a:tc>
                <a:tc>
                  <a:txBody>
                    <a:bodyPr/>
                    <a:lstStyle/>
                    <a:p>
                      <a:pPr algn="ctr">
                        <a:lnSpc>
                          <a:spcPct val="100000"/>
                        </a:lnSpc>
                        <a:spcBef>
                          <a:spcPts val="300"/>
                        </a:spcBef>
                      </a:pPr>
                      <a:r>
                        <a:rPr sz="2000" dirty="0">
                          <a:latin typeface="Times New Roman"/>
                          <a:cs typeface="Times New Roman"/>
                        </a:rPr>
                        <a:t>0</a:t>
                      </a:r>
                      <a:endParaRPr sz="2000">
                        <a:latin typeface="Times New Roman"/>
                        <a:cs typeface="Times New Roman"/>
                      </a:endParaRPr>
                    </a:p>
                  </a:txBody>
                  <a:tcPr marL="0" marR="0" marT="38100" marB="0">
                    <a:lnL w="28575">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solidFill>
                      <a:srgbClr val="FFFFFF"/>
                    </a:solidFill>
                  </a:tcPr>
                </a:tc>
                <a:tc>
                  <a:txBody>
                    <a:bodyPr/>
                    <a:lstStyle/>
                    <a:p>
                      <a:pPr algn="ctr">
                        <a:lnSpc>
                          <a:spcPct val="100000"/>
                        </a:lnSpc>
                        <a:spcBef>
                          <a:spcPts val="300"/>
                        </a:spcBef>
                      </a:pPr>
                      <a:r>
                        <a:rPr sz="2000" dirty="0">
                          <a:latin typeface="Times New Roman"/>
                          <a:cs typeface="Times New Roman"/>
                        </a:rPr>
                        <a:t>X</a:t>
                      </a:r>
                      <a:endParaRPr sz="2000">
                        <a:latin typeface="Times New Roman"/>
                        <a:cs typeface="Times New Roman"/>
                      </a:endParaRPr>
                    </a:p>
                    <a:p>
                      <a:pPr marL="12065" algn="ctr">
                        <a:lnSpc>
                          <a:spcPct val="100000"/>
                        </a:lnSpc>
                      </a:pPr>
                      <a:r>
                        <a:rPr sz="2000" spc="-25" dirty="0">
                          <a:latin typeface="Times New Roman"/>
                          <a:cs typeface="Times New Roman"/>
                        </a:rPr>
                        <a:t>(crowbar)</a:t>
                      </a:r>
                      <a:endParaRPr sz="2000">
                        <a:latin typeface="Times New Roman"/>
                        <a:cs typeface="Times New Roman"/>
                      </a:endParaRPr>
                    </a:p>
                  </a:txBody>
                  <a:tcPr marL="0" marR="0" marT="38100" marB="0">
                    <a:lnL w="12700">
                      <a:solidFill>
                        <a:srgbClr val="000000"/>
                      </a:solidFill>
                      <a:prstDash val="solid"/>
                    </a:lnL>
                    <a:lnR w="28575">
                      <a:solidFill>
                        <a:srgbClr val="000000"/>
                      </a:solidFill>
                      <a:prstDash val="solid"/>
                    </a:lnR>
                    <a:lnT w="12700">
                      <a:solidFill>
                        <a:srgbClr val="000000"/>
                      </a:solidFill>
                      <a:prstDash val="solid"/>
                    </a:lnT>
                    <a:lnB w="28575">
                      <a:solidFill>
                        <a:srgbClr val="000000"/>
                      </a:solidFill>
                      <a:prstDash val="solid"/>
                    </a:lnB>
                    <a:solidFill>
                      <a:srgbClr val="FFFFFF"/>
                    </a:solidFill>
                  </a:tcPr>
                </a:tc>
                <a:extLst>
                  <a:ext uri="{0D108BD9-81ED-4DB2-BD59-A6C34878D82A}">
                    <a16:rowId xmlns:a16="http://schemas.microsoft.com/office/drawing/2014/main" val="10002"/>
                  </a:ext>
                </a:extLst>
              </a:tr>
            </a:tbl>
          </a:graphicData>
        </a:graphic>
      </p:graphicFrame>
      <p:sp>
        <p:nvSpPr>
          <p:cNvPr id="51" name="object 51"/>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74</a:t>
            </a:fld>
            <a:endParaRPr dirty="0"/>
          </a:p>
        </p:txBody>
      </p:sp>
      <p:sp>
        <p:nvSpPr>
          <p:cNvPr id="2" name="Footer Placeholder 1"/>
          <p:cNvSpPr>
            <a:spLocks noGrp="1"/>
          </p:cNvSpPr>
          <p:nvPr>
            <p:ph type="ftr" sz="quarter" idx="4294967295"/>
          </p:nvPr>
        </p:nvSpPr>
        <p:spPr/>
        <p:txBody>
          <a:bodyPr/>
          <a:lstStyle/>
          <a:p>
            <a:r>
              <a:rPr lang="en-IN"/>
              <a:t>CMOS</a:t>
            </a:r>
          </a:p>
        </p:txBody>
      </p:sp>
      <p:sp>
        <p:nvSpPr>
          <p:cNvPr id="3" name="Date Placeholder 2"/>
          <p:cNvSpPr>
            <a:spLocks noGrp="1"/>
          </p:cNvSpPr>
          <p:nvPr>
            <p:ph type="dt" sz="half" idx="10"/>
          </p:nvPr>
        </p:nvSpPr>
        <p:spPr/>
        <p:txBody>
          <a:bodyPr/>
          <a:lstStyle/>
          <a:p>
            <a:fld id="{0FFA19D0-19AE-4639-8FB6-7B81E7E73CAB}" type="datetime1">
              <a:rPr lang="en-US" smtClean="0"/>
              <a:t>9/9/2025</a:t>
            </a:fld>
            <a:endParaRPr lang="en-IN"/>
          </a:p>
        </p:txBody>
      </p:sp>
    </p:spTree>
    <p:extLst>
      <p:ext uri="{BB962C8B-B14F-4D97-AF65-F5344CB8AC3E}">
        <p14:creationId xmlns:p14="http://schemas.microsoft.com/office/powerpoint/2010/main" val="33291919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E93A6019-2A17-41B6-5915-9EA0C4C3A0E0}"/>
              </a:ext>
            </a:extLst>
          </p:cNvPr>
          <p:cNvSpPr>
            <a:spLocks noGrp="1"/>
          </p:cNvSpPr>
          <p:nvPr>
            <p:ph type="dt" sz="half" idx="10"/>
          </p:nvPr>
        </p:nvSpPr>
        <p:spPr/>
        <p:txBody>
          <a:bodyPr/>
          <a:lstStyle/>
          <a:p>
            <a:fld id="{E51764B9-257A-40B2-8A9F-65019AD936B9}" type="datetime1">
              <a:rPr lang="en-US" smtClean="0"/>
              <a:t>9/9/2025</a:t>
            </a:fld>
            <a:endParaRPr lang="en-IN"/>
          </a:p>
        </p:txBody>
      </p:sp>
      <p:sp>
        <p:nvSpPr>
          <p:cNvPr id="5" name="Footer Placeholder 4">
            <a:extLst>
              <a:ext uri="{FF2B5EF4-FFF2-40B4-BE49-F238E27FC236}">
                <a16:creationId xmlns:a16="http://schemas.microsoft.com/office/drawing/2014/main" id="{5C1BCE06-21B8-1C74-BD4F-9A65E8EE83B8}"/>
              </a:ext>
            </a:extLst>
          </p:cNvPr>
          <p:cNvSpPr>
            <a:spLocks noGrp="1"/>
          </p:cNvSpPr>
          <p:nvPr>
            <p:ph type="ftr" sz="quarter" idx="11"/>
          </p:nvPr>
        </p:nvSpPr>
        <p:spPr/>
        <p:txBody>
          <a:bodyPr/>
          <a:lstStyle/>
          <a:p>
            <a:r>
              <a:rPr lang="en-IN"/>
              <a:t>CMOS</a:t>
            </a:r>
          </a:p>
        </p:txBody>
      </p:sp>
      <p:sp>
        <p:nvSpPr>
          <p:cNvPr id="6" name="Slide Number Placeholder 5">
            <a:extLst>
              <a:ext uri="{FF2B5EF4-FFF2-40B4-BE49-F238E27FC236}">
                <a16:creationId xmlns:a16="http://schemas.microsoft.com/office/drawing/2014/main" id="{3357329E-B0ED-D496-850E-A9361AA941D7}"/>
              </a:ext>
            </a:extLst>
          </p:cNvPr>
          <p:cNvSpPr>
            <a:spLocks noGrp="1"/>
          </p:cNvSpPr>
          <p:nvPr>
            <p:ph type="sldNum" sz="quarter" idx="12"/>
          </p:nvPr>
        </p:nvSpPr>
        <p:spPr/>
        <p:txBody>
          <a:bodyPr/>
          <a:lstStyle/>
          <a:p>
            <a:fld id="{BC2E8B6D-A843-4976-BA70-A811246CC566}" type="slidenum">
              <a:rPr lang="en-IN" smtClean="0"/>
              <a:pPr/>
              <a:t>75</a:t>
            </a:fld>
            <a:endParaRPr lang="en-IN"/>
          </a:p>
        </p:txBody>
      </p:sp>
      <p:sp>
        <p:nvSpPr>
          <p:cNvPr id="8" name="TextBox 7">
            <a:extLst>
              <a:ext uri="{FF2B5EF4-FFF2-40B4-BE49-F238E27FC236}">
                <a16:creationId xmlns:a16="http://schemas.microsoft.com/office/drawing/2014/main" id="{09610AF4-11CA-E23B-7267-B18419087416}"/>
              </a:ext>
            </a:extLst>
          </p:cNvPr>
          <p:cNvSpPr txBox="1"/>
          <p:nvPr/>
        </p:nvSpPr>
        <p:spPr>
          <a:xfrm>
            <a:off x="1415480" y="1412776"/>
            <a:ext cx="9937104" cy="4401205"/>
          </a:xfrm>
          <a:prstGeom prst="rect">
            <a:avLst/>
          </a:prstGeom>
          <a:noFill/>
        </p:spPr>
        <p:txBody>
          <a:bodyPr wrap="square">
            <a:spAutoFit/>
          </a:bodyPr>
          <a:lstStyle/>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CMOS technology, both N-type and P-type transistors are used to design logic functions. The same signal which turns ON a transistor of one type is used to turn OFF a transistor of the other type. </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This characteristic allows the design of logic devices using only simple switches, without the need for a pullup resistor. In CMOS logic gates a collection of n-type MOSFETs is arranged in a pull-down network between the output and the low voltage power supply rail (</a:t>
            </a:r>
            <a:r>
              <a:rPr lang="en-US" sz="2000" dirty="0" err="1">
                <a:latin typeface="Times New Roman" panose="02020603050405020304" pitchFamily="18" charset="0"/>
                <a:cs typeface="Times New Roman" panose="02020603050405020304" pitchFamily="18" charset="0"/>
              </a:rPr>
              <a:t>Vss</a:t>
            </a:r>
            <a:r>
              <a:rPr lang="en-US" sz="2000" dirty="0">
                <a:latin typeface="Times New Roman" panose="02020603050405020304" pitchFamily="18" charset="0"/>
                <a:cs typeface="Times New Roman" panose="02020603050405020304" pitchFamily="18" charset="0"/>
              </a:rPr>
              <a:t> or quite often ground). </a:t>
            </a:r>
          </a:p>
          <a:p>
            <a:pPr marL="342900" indent="-342900" algn="just">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lgn="just">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Instead of the load resistor of NMOS logic gates, CMOS logic gates have a collection of p-type MOSFETs in a pull-up network between the output and the higher-voltage rail (often named V). Thus, if both a p-type and n-type transistor have their gates connected to the same input, the </a:t>
            </a:r>
            <a:r>
              <a:rPr lang="en-US" sz="2000" dirty="0" err="1">
                <a:latin typeface="Times New Roman" panose="02020603050405020304" pitchFamily="18" charset="0"/>
                <a:cs typeface="Times New Roman" panose="02020603050405020304" pitchFamily="18" charset="0"/>
              </a:rPr>
              <a:t>ptype</a:t>
            </a:r>
            <a:r>
              <a:rPr lang="en-US" sz="2000" dirty="0">
                <a:latin typeface="Times New Roman" panose="02020603050405020304" pitchFamily="18" charset="0"/>
                <a:cs typeface="Times New Roman" panose="02020603050405020304" pitchFamily="18" charset="0"/>
              </a:rPr>
              <a:t> MOSFET will be ON when the n-type MOSFET is OFF, and vice-versa. T</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341876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object 8"/>
          <p:cNvGrpSpPr/>
          <p:nvPr/>
        </p:nvGrpSpPr>
        <p:grpSpPr>
          <a:xfrm>
            <a:off x="1825562" y="996506"/>
            <a:ext cx="8550275" cy="5267325"/>
            <a:chOff x="301561" y="996505"/>
            <a:chExt cx="8550275" cy="5267325"/>
          </a:xfrm>
        </p:grpSpPr>
        <p:sp>
          <p:nvSpPr>
            <p:cNvPr id="9" name="object 9"/>
            <p:cNvSpPr/>
            <p:nvPr/>
          </p:nvSpPr>
          <p:spPr>
            <a:xfrm>
              <a:off x="306324" y="1001267"/>
              <a:ext cx="8540750" cy="5257800"/>
            </a:xfrm>
            <a:custGeom>
              <a:avLst/>
              <a:gdLst/>
              <a:ahLst/>
              <a:cxnLst/>
              <a:rect l="l" t="t" r="r" b="b"/>
              <a:pathLst>
                <a:path w="8540750" h="5257800">
                  <a:moveTo>
                    <a:pt x="8540242" y="0"/>
                  </a:moveTo>
                  <a:lnTo>
                    <a:pt x="0" y="0"/>
                  </a:lnTo>
                  <a:lnTo>
                    <a:pt x="0" y="5257800"/>
                  </a:lnTo>
                  <a:lnTo>
                    <a:pt x="8540242" y="5257800"/>
                  </a:lnTo>
                  <a:lnTo>
                    <a:pt x="8540242" y="0"/>
                  </a:lnTo>
                  <a:close/>
                </a:path>
              </a:pathLst>
            </a:custGeom>
            <a:solidFill>
              <a:srgbClr val="DFEBF6"/>
            </a:solidFill>
          </p:spPr>
          <p:txBody>
            <a:bodyPr wrap="square" lIns="0" tIns="0" rIns="0" bIns="0" rtlCol="0"/>
            <a:lstStyle/>
            <a:p>
              <a:endParaRPr/>
            </a:p>
          </p:txBody>
        </p:sp>
        <p:sp>
          <p:nvSpPr>
            <p:cNvPr id="10" name="object 10"/>
            <p:cNvSpPr/>
            <p:nvPr/>
          </p:nvSpPr>
          <p:spPr>
            <a:xfrm>
              <a:off x="306324" y="1001267"/>
              <a:ext cx="8540750" cy="5257800"/>
            </a:xfrm>
            <a:custGeom>
              <a:avLst/>
              <a:gdLst/>
              <a:ahLst/>
              <a:cxnLst/>
              <a:rect l="l" t="t" r="r" b="b"/>
              <a:pathLst>
                <a:path w="8540750" h="5257800">
                  <a:moveTo>
                    <a:pt x="0" y="5257800"/>
                  </a:moveTo>
                  <a:lnTo>
                    <a:pt x="8540242" y="5257800"/>
                  </a:lnTo>
                  <a:lnTo>
                    <a:pt x="8540242" y="0"/>
                  </a:lnTo>
                  <a:lnTo>
                    <a:pt x="0" y="0"/>
                  </a:lnTo>
                  <a:lnTo>
                    <a:pt x="0" y="5257800"/>
                  </a:lnTo>
                  <a:close/>
                </a:path>
              </a:pathLst>
            </a:custGeom>
            <a:ln w="9144">
              <a:solidFill>
                <a:srgbClr val="000000"/>
              </a:solidFill>
            </a:ln>
          </p:spPr>
          <p:txBody>
            <a:bodyPr wrap="square" lIns="0" tIns="0" rIns="0" bIns="0" rtlCol="0"/>
            <a:lstStyle/>
            <a:p>
              <a:endParaRPr/>
            </a:p>
          </p:txBody>
        </p:sp>
      </p:grpSp>
      <p:sp>
        <p:nvSpPr>
          <p:cNvPr id="11" name="object 11"/>
          <p:cNvSpPr txBox="1"/>
          <p:nvPr/>
        </p:nvSpPr>
        <p:spPr>
          <a:xfrm>
            <a:off x="2055113" y="1152905"/>
            <a:ext cx="8083550" cy="347980"/>
          </a:xfrm>
          <a:prstGeom prst="rect">
            <a:avLst/>
          </a:prstGeom>
          <a:solidFill>
            <a:srgbClr val="A9CCEC"/>
          </a:solidFill>
          <a:ln w="35051">
            <a:solidFill>
              <a:srgbClr val="214F77"/>
            </a:solidFill>
          </a:ln>
        </p:spPr>
        <p:txBody>
          <a:bodyPr vert="horz" wrap="square" lIns="0" tIns="0" rIns="0" bIns="0" rtlCol="0">
            <a:spAutoFit/>
          </a:bodyPr>
          <a:lstStyle/>
          <a:p>
            <a:pPr marL="1905"/>
            <a:r>
              <a:rPr sz="2200" spc="-110" dirty="0">
                <a:latin typeface="Times New Roman"/>
                <a:cs typeface="Times New Roman"/>
              </a:rPr>
              <a:t>To</a:t>
            </a:r>
            <a:r>
              <a:rPr sz="2200" spc="-55" dirty="0">
                <a:latin typeface="Times New Roman"/>
                <a:cs typeface="Times New Roman"/>
              </a:rPr>
              <a:t> </a:t>
            </a:r>
            <a:r>
              <a:rPr sz="2200" dirty="0">
                <a:latin typeface="Times New Roman"/>
                <a:cs typeface="Times New Roman"/>
              </a:rPr>
              <a:t>build</a:t>
            </a:r>
            <a:r>
              <a:rPr sz="2200" spc="-50" dirty="0">
                <a:latin typeface="Times New Roman"/>
                <a:cs typeface="Times New Roman"/>
              </a:rPr>
              <a:t> </a:t>
            </a:r>
            <a:r>
              <a:rPr sz="2200" spc="-5" dirty="0">
                <a:latin typeface="Times New Roman"/>
                <a:cs typeface="Times New Roman"/>
              </a:rPr>
              <a:t>a</a:t>
            </a:r>
            <a:r>
              <a:rPr sz="2200" spc="-10" dirty="0">
                <a:latin typeface="Times New Roman"/>
                <a:cs typeface="Times New Roman"/>
              </a:rPr>
              <a:t> </a:t>
            </a:r>
            <a:r>
              <a:rPr sz="2200" spc="-5" dirty="0">
                <a:latin typeface="Times New Roman"/>
                <a:cs typeface="Times New Roman"/>
              </a:rPr>
              <a:t>logic </a:t>
            </a:r>
            <a:r>
              <a:rPr sz="2200" spc="5" dirty="0">
                <a:latin typeface="Times New Roman"/>
                <a:cs typeface="Times New Roman"/>
              </a:rPr>
              <a:t>gate</a:t>
            </a:r>
            <a:r>
              <a:rPr sz="2200" spc="-90" dirty="0">
                <a:latin typeface="Times New Roman"/>
                <a:cs typeface="Times New Roman"/>
              </a:rPr>
              <a:t> </a:t>
            </a:r>
            <a:r>
              <a:rPr sz="2200" spc="-25" dirty="0">
                <a:latin typeface="Times New Roman"/>
                <a:cs typeface="Times New Roman"/>
              </a:rPr>
              <a:t>we</a:t>
            </a:r>
            <a:r>
              <a:rPr sz="2200" spc="90" dirty="0">
                <a:latin typeface="Times New Roman"/>
                <a:cs typeface="Times New Roman"/>
              </a:rPr>
              <a:t> </a:t>
            </a:r>
            <a:r>
              <a:rPr sz="2200" dirty="0">
                <a:latin typeface="Times New Roman"/>
                <a:cs typeface="Times New Roman"/>
              </a:rPr>
              <a:t>need</a:t>
            </a:r>
            <a:r>
              <a:rPr sz="2200" spc="-70" dirty="0">
                <a:latin typeface="Times New Roman"/>
                <a:cs typeface="Times New Roman"/>
              </a:rPr>
              <a:t> </a:t>
            </a:r>
            <a:r>
              <a:rPr sz="2200" spc="10" dirty="0">
                <a:latin typeface="Times New Roman"/>
                <a:cs typeface="Times New Roman"/>
              </a:rPr>
              <a:t>to</a:t>
            </a:r>
            <a:r>
              <a:rPr sz="2200" spc="-50" dirty="0">
                <a:latin typeface="Times New Roman"/>
                <a:cs typeface="Times New Roman"/>
              </a:rPr>
              <a:t> </a:t>
            </a:r>
            <a:r>
              <a:rPr sz="2200" spc="-5" dirty="0">
                <a:latin typeface="Times New Roman"/>
                <a:cs typeface="Times New Roman"/>
              </a:rPr>
              <a:t>build</a:t>
            </a:r>
            <a:r>
              <a:rPr sz="2200" spc="25" dirty="0">
                <a:latin typeface="Times New Roman"/>
                <a:cs typeface="Times New Roman"/>
              </a:rPr>
              <a:t> </a:t>
            </a:r>
            <a:r>
              <a:rPr sz="2200" spc="-15" dirty="0">
                <a:latin typeface="Times New Roman"/>
                <a:cs typeface="Times New Roman"/>
              </a:rPr>
              <a:t>two </a:t>
            </a:r>
            <a:r>
              <a:rPr sz="2200" spc="-20" dirty="0">
                <a:latin typeface="Times New Roman"/>
                <a:cs typeface="Times New Roman"/>
              </a:rPr>
              <a:t>switch</a:t>
            </a:r>
            <a:r>
              <a:rPr sz="2200" spc="80" dirty="0">
                <a:latin typeface="Times New Roman"/>
                <a:cs typeface="Times New Roman"/>
              </a:rPr>
              <a:t> </a:t>
            </a:r>
            <a:r>
              <a:rPr sz="2200" spc="-15" dirty="0">
                <a:latin typeface="Times New Roman"/>
                <a:cs typeface="Times New Roman"/>
              </a:rPr>
              <a:t>networks:</a:t>
            </a:r>
            <a:endParaRPr sz="2200">
              <a:latin typeface="Times New Roman"/>
              <a:cs typeface="Times New Roman"/>
            </a:endParaRPr>
          </a:p>
        </p:txBody>
      </p:sp>
      <p:pic>
        <p:nvPicPr>
          <p:cNvPr id="12" name="object 12"/>
          <p:cNvPicPr/>
          <p:nvPr/>
        </p:nvPicPr>
        <p:blipFill>
          <a:blip r:embed="rId2" cstate="print"/>
          <a:stretch>
            <a:fillRect/>
          </a:stretch>
        </p:blipFill>
        <p:spPr>
          <a:xfrm>
            <a:off x="2365247" y="2066543"/>
            <a:ext cx="7543800" cy="3813048"/>
          </a:xfrm>
          <a:prstGeom prst="rect">
            <a:avLst/>
          </a:prstGeom>
        </p:spPr>
      </p:pic>
      <p:sp>
        <p:nvSpPr>
          <p:cNvPr id="15" name="object 15"/>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76</a:t>
            </a:fld>
            <a:endParaRPr dirty="0"/>
          </a:p>
        </p:txBody>
      </p:sp>
      <p:sp>
        <p:nvSpPr>
          <p:cNvPr id="2" name="Footer Placeholder 1"/>
          <p:cNvSpPr>
            <a:spLocks noGrp="1"/>
          </p:cNvSpPr>
          <p:nvPr>
            <p:ph type="ftr" sz="quarter" idx="4294967295"/>
          </p:nvPr>
        </p:nvSpPr>
        <p:spPr/>
        <p:txBody>
          <a:bodyPr/>
          <a:lstStyle/>
          <a:p>
            <a:r>
              <a:rPr lang="en-IN"/>
              <a:t>CMOS</a:t>
            </a:r>
          </a:p>
        </p:txBody>
      </p:sp>
      <p:sp>
        <p:nvSpPr>
          <p:cNvPr id="3" name="Date Placeholder 2"/>
          <p:cNvSpPr>
            <a:spLocks noGrp="1"/>
          </p:cNvSpPr>
          <p:nvPr>
            <p:ph type="dt" sz="half" idx="10"/>
          </p:nvPr>
        </p:nvSpPr>
        <p:spPr/>
        <p:txBody>
          <a:bodyPr/>
          <a:lstStyle/>
          <a:p>
            <a:fld id="{5AEB91F7-B88A-45EB-B9D0-1F87E1C43496}" type="datetime1">
              <a:rPr lang="en-US" smtClean="0"/>
              <a:t>9/9/2025</a:t>
            </a:fld>
            <a:endParaRPr lang="en-IN"/>
          </a:p>
        </p:txBody>
      </p:sp>
    </p:spTree>
    <p:extLst>
      <p:ext uri="{BB962C8B-B14F-4D97-AF65-F5344CB8AC3E}">
        <p14:creationId xmlns:p14="http://schemas.microsoft.com/office/powerpoint/2010/main" val="51447152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979737" y="1936839"/>
            <a:ext cx="949325" cy="1728037"/>
          </a:xfrm>
          <a:prstGeom prst="rect">
            <a:avLst/>
          </a:prstGeom>
        </p:spPr>
        <p:txBody>
          <a:bodyPr vert="horz" wrap="square" lIns="0" tIns="217805" rIns="0" bIns="0" rtlCol="0">
            <a:spAutoFit/>
          </a:bodyPr>
          <a:lstStyle/>
          <a:p>
            <a:pPr marL="12700">
              <a:spcBef>
                <a:spcPts val="1715"/>
              </a:spcBef>
              <a:tabLst>
                <a:tab pos="736600" algn="l"/>
              </a:tabLst>
            </a:pPr>
            <a:r>
              <a:rPr sz="2350" dirty="0">
                <a:latin typeface="Arial MT"/>
                <a:cs typeface="Arial MT"/>
              </a:rPr>
              <a:t>A	Y</a:t>
            </a:r>
          </a:p>
          <a:p>
            <a:pPr marL="12700">
              <a:spcBef>
                <a:spcPts val="1610"/>
              </a:spcBef>
            </a:pPr>
            <a:r>
              <a:rPr sz="2350" dirty="0">
                <a:latin typeface="Arial MT"/>
                <a:cs typeface="Arial MT"/>
              </a:rPr>
              <a:t>0</a:t>
            </a:r>
            <a:r>
              <a:rPr lang="en-US" sz="2350" dirty="0">
                <a:latin typeface="Arial MT"/>
                <a:cs typeface="Arial MT"/>
              </a:rPr>
              <a:t>       1</a:t>
            </a:r>
            <a:endParaRPr sz="2350" dirty="0">
              <a:latin typeface="Arial MT"/>
              <a:cs typeface="Arial MT"/>
            </a:endParaRPr>
          </a:p>
          <a:p>
            <a:pPr marL="12700">
              <a:spcBef>
                <a:spcPts val="1689"/>
              </a:spcBef>
            </a:pPr>
            <a:r>
              <a:rPr sz="2350" dirty="0">
                <a:latin typeface="Arial MT"/>
                <a:cs typeface="Arial MT"/>
              </a:rPr>
              <a:t>1</a:t>
            </a:r>
            <a:r>
              <a:rPr lang="en-US" sz="2350" dirty="0">
                <a:latin typeface="Arial MT"/>
                <a:cs typeface="Arial MT"/>
              </a:rPr>
              <a:t>       0</a:t>
            </a:r>
            <a:endParaRPr sz="2350" dirty="0">
              <a:latin typeface="Arial MT"/>
              <a:cs typeface="Arial MT"/>
            </a:endParaRPr>
          </a:p>
        </p:txBody>
      </p:sp>
      <p:sp>
        <p:nvSpPr>
          <p:cNvPr id="3" name="object 3"/>
          <p:cNvSpPr/>
          <p:nvPr/>
        </p:nvSpPr>
        <p:spPr>
          <a:xfrm>
            <a:off x="7312914" y="2588514"/>
            <a:ext cx="466090" cy="2660650"/>
          </a:xfrm>
          <a:custGeom>
            <a:avLst/>
            <a:gdLst/>
            <a:ahLst/>
            <a:cxnLst/>
            <a:rect l="l" t="t" r="r" b="b"/>
            <a:pathLst>
              <a:path w="466089" h="2660650">
                <a:moveTo>
                  <a:pt x="465963" y="1188593"/>
                </a:moveTo>
                <a:lnTo>
                  <a:pt x="201040" y="1188593"/>
                </a:lnTo>
              </a:path>
              <a:path w="466089" h="2660650">
                <a:moveTo>
                  <a:pt x="201040" y="1325753"/>
                </a:moveTo>
                <a:lnTo>
                  <a:pt x="201040" y="1424178"/>
                </a:lnTo>
                <a:lnTo>
                  <a:pt x="0" y="1424178"/>
                </a:lnTo>
                <a:lnTo>
                  <a:pt x="0" y="2026031"/>
                </a:lnTo>
                <a:lnTo>
                  <a:pt x="201040" y="2026031"/>
                </a:lnTo>
                <a:lnTo>
                  <a:pt x="201040" y="2124583"/>
                </a:lnTo>
              </a:path>
              <a:path w="466089" h="2660650">
                <a:moveTo>
                  <a:pt x="201040" y="2124583"/>
                </a:moveTo>
                <a:lnTo>
                  <a:pt x="201040" y="2386203"/>
                </a:lnTo>
              </a:path>
              <a:path w="466089" h="2660650">
                <a:moveTo>
                  <a:pt x="196469" y="2390394"/>
                </a:moveTo>
                <a:lnTo>
                  <a:pt x="392811" y="2390394"/>
                </a:lnTo>
                <a:lnTo>
                  <a:pt x="196469" y="2660523"/>
                </a:lnTo>
                <a:lnTo>
                  <a:pt x="0" y="2390394"/>
                </a:lnTo>
                <a:lnTo>
                  <a:pt x="196469" y="2390394"/>
                </a:lnTo>
                <a:close/>
              </a:path>
              <a:path w="466089" h="2660650">
                <a:moveTo>
                  <a:pt x="196469" y="0"/>
                </a:moveTo>
                <a:lnTo>
                  <a:pt x="196469" y="262509"/>
                </a:lnTo>
              </a:path>
              <a:path w="466089" h="2660650">
                <a:moveTo>
                  <a:pt x="0" y="0"/>
                </a:moveTo>
                <a:lnTo>
                  <a:pt x="392811" y="0"/>
                </a:lnTo>
              </a:path>
              <a:path w="466089" h="2660650">
                <a:moveTo>
                  <a:pt x="196469" y="262509"/>
                </a:moveTo>
                <a:lnTo>
                  <a:pt x="196469" y="361441"/>
                </a:lnTo>
                <a:lnTo>
                  <a:pt x="0" y="361441"/>
                </a:lnTo>
                <a:lnTo>
                  <a:pt x="0" y="965073"/>
                </a:lnTo>
                <a:lnTo>
                  <a:pt x="196469" y="965073"/>
                </a:lnTo>
                <a:lnTo>
                  <a:pt x="196469" y="1064006"/>
                </a:lnTo>
              </a:path>
              <a:path w="466089" h="2660650">
                <a:moveTo>
                  <a:pt x="196469" y="1064006"/>
                </a:moveTo>
                <a:lnTo>
                  <a:pt x="196469" y="1326515"/>
                </a:lnTo>
              </a:path>
            </a:pathLst>
          </a:custGeom>
          <a:ln w="13716">
            <a:solidFill>
              <a:srgbClr val="000000"/>
            </a:solidFill>
          </a:ln>
        </p:spPr>
        <p:txBody>
          <a:bodyPr wrap="square" lIns="0" tIns="0" rIns="0" bIns="0" rtlCol="0"/>
          <a:lstStyle/>
          <a:p>
            <a:endParaRPr/>
          </a:p>
        </p:txBody>
      </p:sp>
      <p:grpSp>
        <p:nvGrpSpPr>
          <p:cNvPr id="4" name="object 4"/>
          <p:cNvGrpSpPr/>
          <p:nvPr/>
        </p:nvGrpSpPr>
        <p:grpSpPr>
          <a:xfrm>
            <a:off x="6444234" y="2945129"/>
            <a:ext cx="740410" cy="1673860"/>
            <a:chOff x="4920234" y="2945129"/>
            <a:chExt cx="740410" cy="1673860"/>
          </a:xfrm>
        </p:grpSpPr>
        <p:sp>
          <p:nvSpPr>
            <p:cNvPr id="5" name="object 5"/>
            <p:cNvSpPr/>
            <p:nvPr/>
          </p:nvSpPr>
          <p:spPr>
            <a:xfrm>
              <a:off x="4920234" y="3246881"/>
              <a:ext cx="731520" cy="1371600"/>
            </a:xfrm>
            <a:custGeom>
              <a:avLst/>
              <a:gdLst/>
              <a:ahLst/>
              <a:cxnLst/>
              <a:rect l="l" t="t" r="r" b="b"/>
              <a:pathLst>
                <a:path w="731520" h="1371600">
                  <a:moveTo>
                    <a:pt x="262127" y="1065529"/>
                  </a:moveTo>
                  <a:lnTo>
                    <a:pt x="262127" y="0"/>
                  </a:lnTo>
                </a:path>
                <a:path w="731520" h="1371600">
                  <a:moveTo>
                    <a:pt x="0" y="532129"/>
                  </a:moveTo>
                  <a:lnTo>
                    <a:pt x="262127" y="532129"/>
                  </a:lnTo>
                </a:path>
                <a:path w="731520" h="1371600">
                  <a:moveTo>
                    <a:pt x="731519" y="767079"/>
                  </a:moveTo>
                  <a:lnTo>
                    <a:pt x="731519" y="1371599"/>
                  </a:lnTo>
                </a:path>
                <a:path w="731520" h="1371600">
                  <a:moveTo>
                    <a:pt x="731519" y="1065529"/>
                  </a:moveTo>
                  <a:lnTo>
                    <a:pt x="262127" y="1065529"/>
                  </a:lnTo>
                </a:path>
              </a:pathLst>
            </a:custGeom>
            <a:ln w="13716">
              <a:solidFill>
                <a:srgbClr val="000000"/>
              </a:solidFill>
            </a:ln>
          </p:spPr>
          <p:txBody>
            <a:bodyPr wrap="square" lIns="0" tIns="0" rIns="0" bIns="0" rtlCol="0"/>
            <a:lstStyle/>
            <a:p>
              <a:endParaRPr/>
            </a:p>
          </p:txBody>
        </p:sp>
        <p:pic>
          <p:nvPicPr>
            <p:cNvPr id="6" name="object 6"/>
            <p:cNvPicPr/>
            <p:nvPr/>
          </p:nvPicPr>
          <p:blipFill>
            <a:blip r:embed="rId2" cstate="print"/>
            <a:stretch>
              <a:fillRect/>
            </a:stretch>
          </p:blipFill>
          <p:spPr>
            <a:xfrm>
              <a:off x="5513832" y="3172967"/>
              <a:ext cx="146303" cy="146303"/>
            </a:xfrm>
            <a:prstGeom prst="rect">
              <a:avLst/>
            </a:prstGeom>
          </p:spPr>
        </p:pic>
        <p:sp>
          <p:nvSpPr>
            <p:cNvPr id="7" name="object 7"/>
            <p:cNvSpPr/>
            <p:nvPr/>
          </p:nvSpPr>
          <p:spPr>
            <a:xfrm>
              <a:off x="5185410" y="2945129"/>
              <a:ext cx="466090" cy="603250"/>
            </a:xfrm>
            <a:custGeom>
              <a:avLst/>
              <a:gdLst/>
              <a:ahLst/>
              <a:cxnLst/>
              <a:rect l="l" t="t" r="r" b="b"/>
              <a:pathLst>
                <a:path w="466089" h="603250">
                  <a:moveTo>
                    <a:pt x="465963" y="0"/>
                  </a:moveTo>
                  <a:lnTo>
                    <a:pt x="465963" y="603123"/>
                  </a:lnTo>
                </a:path>
                <a:path w="466089" h="603250">
                  <a:moveTo>
                    <a:pt x="332104" y="297815"/>
                  </a:moveTo>
                  <a:lnTo>
                    <a:pt x="0" y="297815"/>
                  </a:lnTo>
                </a:path>
              </a:pathLst>
            </a:custGeom>
            <a:ln w="13716">
              <a:solidFill>
                <a:srgbClr val="000000"/>
              </a:solidFill>
            </a:ln>
          </p:spPr>
          <p:txBody>
            <a:bodyPr wrap="square" lIns="0" tIns="0" rIns="0" bIns="0" rtlCol="0"/>
            <a:lstStyle/>
            <a:p>
              <a:endParaRPr/>
            </a:p>
          </p:txBody>
        </p:sp>
      </p:grpSp>
      <p:sp>
        <p:nvSpPr>
          <p:cNvPr id="8" name="object 8"/>
          <p:cNvSpPr txBox="1"/>
          <p:nvPr/>
        </p:nvSpPr>
        <p:spPr>
          <a:xfrm>
            <a:off x="7050914" y="1966722"/>
            <a:ext cx="852169" cy="598170"/>
          </a:xfrm>
          <a:prstGeom prst="rect">
            <a:avLst/>
          </a:prstGeom>
        </p:spPr>
        <p:txBody>
          <a:bodyPr vert="horz" wrap="square" lIns="0" tIns="13335" rIns="0" bIns="0" rtlCol="0">
            <a:spAutoFit/>
          </a:bodyPr>
          <a:lstStyle/>
          <a:p>
            <a:pPr marL="38100">
              <a:spcBef>
                <a:spcPts val="105"/>
              </a:spcBef>
            </a:pPr>
            <a:r>
              <a:rPr sz="5625" spc="30" baseline="13333" dirty="0">
                <a:latin typeface="Arial MT"/>
                <a:cs typeface="Arial MT"/>
              </a:rPr>
              <a:t>V</a:t>
            </a:r>
            <a:r>
              <a:rPr sz="2450" spc="20" dirty="0">
                <a:latin typeface="Arial MT"/>
                <a:cs typeface="Arial MT"/>
              </a:rPr>
              <a:t>DD</a:t>
            </a:r>
            <a:endParaRPr sz="2450">
              <a:latin typeface="Arial MT"/>
              <a:cs typeface="Arial MT"/>
            </a:endParaRPr>
          </a:p>
        </p:txBody>
      </p:sp>
      <p:sp>
        <p:nvSpPr>
          <p:cNvPr id="9" name="object 9"/>
          <p:cNvSpPr txBox="1"/>
          <p:nvPr/>
        </p:nvSpPr>
        <p:spPr>
          <a:xfrm>
            <a:off x="6009513" y="3475686"/>
            <a:ext cx="344170" cy="598805"/>
          </a:xfrm>
          <a:prstGeom prst="rect">
            <a:avLst/>
          </a:prstGeom>
        </p:spPr>
        <p:txBody>
          <a:bodyPr vert="horz" wrap="square" lIns="0" tIns="13335" rIns="0" bIns="0" rtlCol="0">
            <a:spAutoFit/>
          </a:bodyPr>
          <a:lstStyle/>
          <a:p>
            <a:pPr marL="12700">
              <a:spcBef>
                <a:spcPts val="105"/>
              </a:spcBef>
            </a:pPr>
            <a:r>
              <a:rPr sz="3750" spc="5" dirty="0">
                <a:latin typeface="Arial MT"/>
                <a:cs typeface="Arial MT"/>
              </a:rPr>
              <a:t>A</a:t>
            </a:r>
            <a:endParaRPr sz="3750">
              <a:latin typeface="Arial MT"/>
              <a:cs typeface="Arial MT"/>
            </a:endParaRPr>
          </a:p>
        </p:txBody>
      </p:sp>
      <p:sp>
        <p:nvSpPr>
          <p:cNvPr id="10" name="object 10"/>
          <p:cNvSpPr txBox="1"/>
          <p:nvPr/>
        </p:nvSpPr>
        <p:spPr>
          <a:xfrm>
            <a:off x="7870952" y="3475686"/>
            <a:ext cx="344170" cy="598805"/>
          </a:xfrm>
          <a:prstGeom prst="rect">
            <a:avLst/>
          </a:prstGeom>
        </p:spPr>
        <p:txBody>
          <a:bodyPr vert="horz" wrap="square" lIns="0" tIns="13335" rIns="0" bIns="0" rtlCol="0">
            <a:spAutoFit/>
          </a:bodyPr>
          <a:lstStyle/>
          <a:p>
            <a:pPr marL="12700">
              <a:spcBef>
                <a:spcPts val="105"/>
              </a:spcBef>
            </a:pPr>
            <a:r>
              <a:rPr sz="3750" spc="5" dirty="0">
                <a:latin typeface="Arial MT"/>
                <a:cs typeface="Arial MT"/>
              </a:rPr>
              <a:t>Y</a:t>
            </a:r>
            <a:endParaRPr sz="3750">
              <a:latin typeface="Arial MT"/>
              <a:cs typeface="Arial MT"/>
            </a:endParaRPr>
          </a:p>
        </p:txBody>
      </p:sp>
      <p:sp>
        <p:nvSpPr>
          <p:cNvPr id="11" name="object 11"/>
          <p:cNvSpPr txBox="1"/>
          <p:nvPr/>
        </p:nvSpPr>
        <p:spPr>
          <a:xfrm>
            <a:off x="7067550" y="5227726"/>
            <a:ext cx="1083310" cy="598170"/>
          </a:xfrm>
          <a:prstGeom prst="rect">
            <a:avLst/>
          </a:prstGeom>
        </p:spPr>
        <p:txBody>
          <a:bodyPr vert="horz" wrap="square" lIns="0" tIns="13335" rIns="0" bIns="0" rtlCol="0">
            <a:spAutoFit/>
          </a:bodyPr>
          <a:lstStyle/>
          <a:p>
            <a:pPr marL="12700">
              <a:spcBef>
                <a:spcPts val="105"/>
              </a:spcBef>
            </a:pPr>
            <a:r>
              <a:rPr sz="3750" spc="-40" dirty="0">
                <a:latin typeface="Arial MT"/>
                <a:cs typeface="Arial MT"/>
              </a:rPr>
              <a:t>G</a:t>
            </a:r>
            <a:r>
              <a:rPr sz="3750" spc="20" dirty="0">
                <a:latin typeface="Arial MT"/>
                <a:cs typeface="Arial MT"/>
              </a:rPr>
              <a:t>N</a:t>
            </a:r>
            <a:r>
              <a:rPr sz="3750" dirty="0">
                <a:latin typeface="Arial MT"/>
                <a:cs typeface="Arial MT"/>
              </a:rPr>
              <a:t>D</a:t>
            </a:r>
            <a:endParaRPr sz="3750">
              <a:latin typeface="Arial MT"/>
              <a:cs typeface="Arial MT"/>
            </a:endParaRPr>
          </a:p>
        </p:txBody>
      </p:sp>
      <p:sp>
        <p:nvSpPr>
          <p:cNvPr id="12" name="object 12"/>
          <p:cNvSpPr txBox="1"/>
          <p:nvPr/>
        </p:nvSpPr>
        <p:spPr>
          <a:xfrm>
            <a:off x="2516835" y="4814138"/>
            <a:ext cx="288290" cy="497840"/>
          </a:xfrm>
          <a:prstGeom prst="rect">
            <a:avLst/>
          </a:prstGeom>
        </p:spPr>
        <p:txBody>
          <a:bodyPr vert="horz" wrap="square" lIns="0" tIns="12065" rIns="0" bIns="0" rtlCol="0">
            <a:spAutoFit/>
          </a:bodyPr>
          <a:lstStyle/>
          <a:p>
            <a:pPr marL="12700">
              <a:spcBef>
                <a:spcPts val="95"/>
              </a:spcBef>
            </a:pPr>
            <a:r>
              <a:rPr sz="3100" spc="-5" dirty="0">
                <a:latin typeface="Arial MT"/>
                <a:cs typeface="Arial MT"/>
              </a:rPr>
              <a:t>A</a:t>
            </a:r>
            <a:endParaRPr sz="3100">
              <a:latin typeface="Arial MT"/>
              <a:cs typeface="Arial MT"/>
            </a:endParaRPr>
          </a:p>
        </p:txBody>
      </p:sp>
      <p:sp>
        <p:nvSpPr>
          <p:cNvPr id="13" name="object 13"/>
          <p:cNvSpPr txBox="1"/>
          <p:nvPr/>
        </p:nvSpPr>
        <p:spPr>
          <a:xfrm>
            <a:off x="4822063" y="4814138"/>
            <a:ext cx="288290" cy="497840"/>
          </a:xfrm>
          <a:prstGeom prst="rect">
            <a:avLst/>
          </a:prstGeom>
        </p:spPr>
        <p:txBody>
          <a:bodyPr vert="horz" wrap="square" lIns="0" tIns="12065" rIns="0" bIns="0" rtlCol="0">
            <a:spAutoFit/>
          </a:bodyPr>
          <a:lstStyle/>
          <a:p>
            <a:pPr marL="12700">
              <a:spcBef>
                <a:spcPts val="95"/>
              </a:spcBef>
            </a:pPr>
            <a:r>
              <a:rPr sz="3100" spc="-5" dirty="0">
                <a:latin typeface="Arial MT"/>
                <a:cs typeface="Arial MT"/>
              </a:rPr>
              <a:t>Y</a:t>
            </a:r>
            <a:endParaRPr sz="3100">
              <a:latin typeface="Arial MT"/>
              <a:cs typeface="Arial MT"/>
            </a:endParaRPr>
          </a:p>
        </p:txBody>
      </p:sp>
      <p:sp>
        <p:nvSpPr>
          <p:cNvPr id="14" name="object 14"/>
          <p:cNvSpPr/>
          <p:nvPr/>
        </p:nvSpPr>
        <p:spPr>
          <a:xfrm>
            <a:off x="3110484" y="4686301"/>
            <a:ext cx="1536065" cy="877569"/>
          </a:xfrm>
          <a:custGeom>
            <a:avLst/>
            <a:gdLst/>
            <a:ahLst/>
            <a:cxnLst/>
            <a:rect l="l" t="t" r="r" b="b"/>
            <a:pathLst>
              <a:path w="1536064" h="877570">
                <a:moveTo>
                  <a:pt x="219328" y="0"/>
                </a:moveTo>
                <a:lnTo>
                  <a:pt x="219328" y="877443"/>
                </a:lnTo>
                <a:lnTo>
                  <a:pt x="1096898" y="439927"/>
                </a:lnTo>
                <a:lnTo>
                  <a:pt x="219328" y="0"/>
                </a:lnTo>
                <a:close/>
              </a:path>
              <a:path w="1536064" h="877570">
                <a:moveTo>
                  <a:pt x="1319657" y="434848"/>
                </a:moveTo>
                <a:lnTo>
                  <a:pt x="1306957" y="387731"/>
                </a:lnTo>
                <a:lnTo>
                  <a:pt x="1277620" y="345567"/>
                </a:lnTo>
                <a:lnTo>
                  <a:pt x="1230630" y="329056"/>
                </a:lnTo>
                <a:lnTo>
                  <a:pt x="1183513" y="329056"/>
                </a:lnTo>
                <a:lnTo>
                  <a:pt x="1137792" y="345567"/>
                </a:lnTo>
                <a:lnTo>
                  <a:pt x="1107313" y="387731"/>
                </a:lnTo>
                <a:lnTo>
                  <a:pt x="1097026" y="434848"/>
                </a:lnTo>
                <a:lnTo>
                  <a:pt x="1107313" y="481838"/>
                </a:lnTo>
                <a:lnTo>
                  <a:pt x="1137792" y="521335"/>
                </a:lnTo>
                <a:lnTo>
                  <a:pt x="1183513" y="539242"/>
                </a:lnTo>
                <a:lnTo>
                  <a:pt x="1230630" y="539242"/>
                </a:lnTo>
                <a:lnTo>
                  <a:pt x="1277620" y="521335"/>
                </a:lnTo>
                <a:lnTo>
                  <a:pt x="1306957" y="481838"/>
                </a:lnTo>
                <a:lnTo>
                  <a:pt x="1319657" y="434848"/>
                </a:lnTo>
                <a:close/>
              </a:path>
              <a:path w="1536064" h="877570">
                <a:moveTo>
                  <a:pt x="0" y="434848"/>
                </a:moveTo>
                <a:lnTo>
                  <a:pt x="217297" y="434848"/>
                </a:lnTo>
              </a:path>
              <a:path w="1536064" h="877570">
                <a:moveTo>
                  <a:pt x="1319657" y="434848"/>
                </a:moveTo>
                <a:lnTo>
                  <a:pt x="1535684" y="434848"/>
                </a:lnTo>
              </a:path>
            </a:pathLst>
          </a:custGeom>
          <a:ln w="12192">
            <a:solidFill>
              <a:srgbClr val="000000"/>
            </a:solidFill>
          </a:ln>
        </p:spPr>
        <p:txBody>
          <a:bodyPr wrap="square" lIns="0" tIns="0" rIns="0" bIns="0" rtlCol="0"/>
          <a:lstStyle/>
          <a:p>
            <a:endParaRPr/>
          </a:p>
        </p:txBody>
      </p:sp>
      <p:sp>
        <p:nvSpPr>
          <p:cNvPr id="20" name="object 20"/>
          <p:cNvSpPr txBox="1"/>
          <p:nvPr/>
        </p:nvSpPr>
        <p:spPr>
          <a:xfrm>
            <a:off x="4646548" y="476672"/>
            <a:ext cx="2391283" cy="444352"/>
          </a:xfrm>
          <a:prstGeom prst="rect">
            <a:avLst/>
          </a:prstGeom>
          <a:solidFill>
            <a:schemeClr val="tx2">
              <a:lumMod val="40000"/>
              <a:lumOff val="60000"/>
            </a:schemeClr>
          </a:solidFill>
        </p:spPr>
        <p:txBody>
          <a:bodyPr vert="horz" wrap="square" lIns="0" tIns="13335" rIns="0" bIns="0" rtlCol="0">
            <a:spAutoFit/>
          </a:bodyPr>
          <a:lstStyle/>
          <a:p>
            <a:pPr marL="12700" algn="ctr">
              <a:spcBef>
                <a:spcPts val="105"/>
              </a:spcBef>
            </a:pPr>
            <a:r>
              <a:rPr sz="2800" b="1" spc="10" dirty="0">
                <a:latin typeface="Times New Roman"/>
                <a:cs typeface="Times New Roman"/>
              </a:rPr>
              <a:t>CMOS</a:t>
            </a:r>
            <a:r>
              <a:rPr sz="2800" b="1" spc="-25" dirty="0">
                <a:latin typeface="Times New Roman"/>
                <a:cs typeface="Times New Roman"/>
              </a:rPr>
              <a:t> </a:t>
            </a:r>
            <a:r>
              <a:rPr lang="en-IN" sz="2800" b="1" spc="-15" dirty="0">
                <a:latin typeface="Times New Roman"/>
                <a:cs typeface="Times New Roman"/>
              </a:rPr>
              <a:t>NOT </a:t>
            </a:r>
            <a:endParaRPr sz="2800" b="1" dirty="0">
              <a:latin typeface="Times New Roman"/>
              <a:cs typeface="Times New Roman"/>
            </a:endParaRPr>
          </a:p>
        </p:txBody>
      </p:sp>
      <p:sp>
        <p:nvSpPr>
          <p:cNvPr id="17" name="Footer Placeholder 16"/>
          <p:cNvSpPr>
            <a:spLocks noGrp="1"/>
          </p:cNvSpPr>
          <p:nvPr>
            <p:ph type="ftr" sz="quarter" idx="4294967295"/>
          </p:nvPr>
        </p:nvSpPr>
        <p:spPr/>
        <p:txBody>
          <a:bodyPr/>
          <a:lstStyle/>
          <a:p>
            <a:r>
              <a:rPr lang="en-IN"/>
              <a:t>CMOS</a:t>
            </a:r>
            <a:endParaRPr lang="en-IN" dirty="0"/>
          </a:p>
        </p:txBody>
      </p:sp>
      <p:sp>
        <p:nvSpPr>
          <p:cNvPr id="18" name="Slide Number Placeholder 17"/>
          <p:cNvSpPr>
            <a:spLocks noGrp="1"/>
          </p:cNvSpPr>
          <p:nvPr>
            <p:ph type="sldNum" sz="quarter" idx="4294967295"/>
          </p:nvPr>
        </p:nvSpPr>
        <p:spPr/>
        <p:txBody>
          <a:bodyPr/>
          <a:lstStyle/>
          <a:p>
            <a:pPr marL="38100">
              <a:lnSpc>
                <a:spcPts val="1240"/>
              </a:lnSpc>
            </a:pPr>
            <a:fld id="{81D60167-4931-47E6-BA6A-407CBD079E47}" type="slidenum">
              <a:rPr lang="en-IN" smtClean="0"/>
              <a:pPr marL="38100">
                <a:lnSpc>
                  <a:spcPts val="1240"/>
                </a:lnSpc>
              </a:pPr>
              <a:t>77</a:t>
            </a:fld>
            <a:endParaRPr lang="en-IN" dirty="0"/>
          </a:p>
        </p:txBody>
      </p:sp>
      <p:sp>
        <p:nvSpPr>
          <p:cNvPr id="15" name="Date Placeholder 14"/>
          <p:cNvSpPr>
            <a:spLocks noGrp="1"/>
          </p:cNvSpPr>
          <p:nvPr>
            <p:ph type="dt" sz="half" idx="10"/>
          </p:nvPr>
        </p:nvSpPr>
        <p:spPr/>
        <p:txBody>
          <a:bodyPr/>
          <a:lstStyle/>
          <a:p>
            <a:fld id="{0CBC8423-0127-4B9B-A41D-4973CF53D144}" type="datetime1">
              <a:rPr lang="en-US" smtClean="0"/>
              <a:t>9/9/2025</a:t>
            </a:fld>
            <a:endParaRPr lang="en-IN"/>
          </a:p>
        </p:txBody>
      </p:sp>
      <p:sp>
        <p:nvSpPr>
          <p:cNvPr id="19" name="TextBox 18">
            <a:extLst>
              <a:ext uri="{FF2B5EF4-FFF2-40B4-BE49-F238E27FC236}">
                <a16:creationId xmlns:a16="http://schemas.microsoft.com/office/drawing/2014/main" id="{0D608F30-351F-EBD1-A12E-09AD2F7C7D59}"/>
              </a:ext>
            </a:extLst>
          </p:cNvPr>
          <p:cNvSpPr txBox="1"/>
          <p:nvPr/>
        </p:nvSpPr>
        <p:spPr>
          <a:xfrm>
            <a:off x="3047215" y="3246690"/>
            <a:ext cx="6094428" cy="369332"/>
          </a:xfrm>
          <a:prstGeom prst="rect">
            <a:avLst/>
          </a:prstGeom>
          <a:noFill/>
        </p:spPr>
        <p:txBody>
          <a:bodyPr wrap="square">
            <a:spAutoFit/>
          </a:bodyPr>
          <a:lstStyle/>
          <a:p>
            <a:r>
              <a:rPr lang="en-IN" sz="1800" dirty="0">
                <a:latin typeface="Arial MT"/>
                <a:cs typeface="Arial MT"/>
              </a:rPr>
              <a:t>A</a:t>
            </a:r>
            <a:endParaRPr lang="en-IN" dirty="0"/>
          </a:p>
        </p:txBody>
      </p:sp>
      <p:sp>
        <p:nvSpPr>
          <p:cNvPr id="21" name="TextBox 20">
            <a:extLst>
              <a:ext uri="{FF2B5EF4-FFF2-40B4-BE49-F238E27FC236}">
                <a16:creationId xmlns:a16="http://schemas.microsoft.com/office/drawing/2014/main" id="{781FC76B-95E4-657D-17F9-8984DAB307D1}"/>
              </a:ext>
            </a:extLst>
          </p:cNvPr>
          <p:cNvSpPr txBox="1"/>
          <p:nvPr/>
        </p:nvSpPr>
        <p:spPr>
          <a:xfrm>
            <a:off x="591330" y="1486946"/>
            <a:ext cx="6094428" cy="369332"/>
          </a:xfrm>
          <a:prstGeom prst="rect">
            <a:avLst/>
          </a:prstGeom>
          <a:noFill/>
        </p:spPr>
        <p:txBody>
          <a:bodyPr wrap="square">
            <a:spAutoFit/>
          </a:bodyPr>
          <a:lstStyle/>
          <a:p>
            <a:pPr algn="ctr"/>
            <a:r>
              <a:rPr lang="en-IN" b="1" dirty="0">
                <a:latin typeface="Arial MT"/>
              </a:rPr>
              <a:t>TRUTH TABLE</a:t>
            </a:r>
            <a:endParaRPr lang="en-IN" b="1" dirty="0"/>
          </a:p>
        </p:txBody>
      </p:sp>
    </p:spTree>
    <p:extLst>
      <p:ext uri="{BB962C8B-B14F-4D97-AF65-F5344CB8AC3E}">
        <p14:creationId xmlns:p14="http://schemas.microsoft.com/office/powerpoint/2010/main" val="14778160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37892" y="1713717"/>
            <a:ext cx="949325" cy="1724660"/>
          </a:xfrm>
          <a:prstGeom prst="rect">
            <a:avLst/>
          </a:prstGeom>
        </p:spPr>
        <p:txBody>
          <a:bodyPr vert="horz" wrap="square" lIns="0" tIns="217805" rIns="0" bIns="0" rtlCol="0">
            <a:spAutoFit/>
          </a:bodyPr>
          <a:lstStyle/>
          <a:p>
            <a:pPr marL="12700">
              <a:spcBef>
                <a:spcPts val="1715"/>
              </a:spcBef>
              <a:tabLst>
                <a:tab pos="736600" algn="l"/>
              </a:tabLst>
            </a:pPr>
            <a:r>
              <a:rPr sz="2350" dirty="0">
                <a:latin typeface="Arial MT"/>
                <a:cs typeface="Arial MT"/>
              </a:rPr>
              <a:t>A	Y</a:t>
            </a:r>
            <a:endParaRPr sz="2350">
              <a:latin typeface="Arial MT"/>
              <a:cs typeface="Arial MT"/>
            </a:endParaRPr>
          </a:p>
          <a:p>
            <a:pPr marL="12700">
              <a:spcBef>
                <a:spcPts val="1610"/>
              </a:spcBef>
            </a:pPr>
            <a:r>
              <a:rPr sz="2350" dirty="0">
                <a:latin typeface="Arial MT"/>
                <a:cs typeface="Arial MT"/>
              </a:rPr>
              <a:t>0</a:t>
            </a:r>
            <a:endParaRPr sz="2350">
              <a:latin typeface="Arial MT"/>
              <a:cs typeface="Arial MT"/>
            </a:endParaRPr>
          </a:p>
          <a:p>
            <a:pPr marL="12700">
              <a:spcBef>
                <a:spcPts val="1689"/>
              </a:spcBef>
              <a:tabLst>
                <a:tab pos="736600" algn="l"/>
              </a:tabLst>
            </a:pPr>
            <a:r>
              <a:rPr sz="2350" b="1" dirty="0">
                <a:solidFill>
                  <a:srgbClr val="0000FF"/>
                </a:solidFill>
                <a:latin typeface="Arial"/>
                <a:cs typeface="Arial"/>
              </a:rPr>
              <a:t>1	0</a:t>
            </a:r>
            <a:endParaRPr sz="2350">
              <a:latin typeface="Arial"/>
              <a:cs typeface="Arial"/>
            </a:endParaRPr>
          </a:p>
        </p:txBody>
      </p:sp>
      <p:grpSp>
        <p:nvGrpSpPr>
          <p:cNvPr id="3" name="object 3"/>
          <p:cNvGrpSpPr/>
          <p:nvPr/>
        </p:nvGrpSpPr>
        <p:grpSpPr>
          <a:xfrm>
            <a:off x="6444234" y="2945129"/>
            <a:ext cx="740410" cy="1673860"/>
            <a:chOff x="4920234" y="2945129"/>
            <a:chExt cx="740410" cy="1673860"/>
          </a:xfrm>
        </p:grpSpPr>
        <p:sp>
          <p:nvSpPr>
            <p:cNvPr id="4" name="object 4"/>
            <p:cNvSpPr/>
            <p:nvPr/>
          </p:nvSpPr>
          <p:spPr>
            <a:xfrm>
              <a:off x="4920234" y="3246881"/>
              <a:ext cx="731520" cy="1371600"/>
            </a:xfrm>
            <a:custGeom>
              <a:avLst/>
              <a:gdLst/>
              <a:ahLst/>
              <a:cxnLst/>
              <a:rect l="l" t="t" r="r" b="b"/>
              <a:pathLst>
                <a:path w="731520" h="1371600">
                  <a:moveTo>
                    <a:pt x="265175" y="1060703"/>
                  </a:moveTo>
                  <a:lnTo>
                    <a:pt x="265175" y="0"/>
                  </a:lnTo>
                </a:path>
                <a:path w="731520" h="1371600">
                  <a:moveTo>
                    <a:pt x="0" y="529716"/>
                  </a:moveTo>
                  <a:lnTo>
                    <a:pt x="265175" y="529716"/>
                  </a:lnTo>
                </a:path>
                <a:path w="731520" h="1371600">
                  <a:moveTo>
                    <a:pt x="731519" y="768095"/>
                  </a:moveTo>
                  <a:lnTo>
                    <a:pt x="731519" y="1371599"/>
                  </a:lnTo>
                </a:path>
                <a:path w="731520" h="1371600">
                  <a:moveTo>
                    <a:pt x="731519" y="1066037"/>
                  </a:moveTo>
                  <a:lnTo>
                    <a:pt x="265175" y="1066037"/>
                  </a:lnTo>
                </a:path>
              </a:pathLst>
            </a:custGeom>
            <a:ln w="13716">
              <a:solidFill>
                <a:srgbClr val="000000"/>
              </a:solidFill>
            </a:ln>
          </p:spPr>
          <p:txBody>
            <a:bodyPr wrap="square" lIns="0" tIns="0" rIns="0" bIns="0" rtlCol="0"/>
            <a:lstStyle/>
            <a:p>
              <a:endParaRPr/>
            </a:p>
          </p:txBody>
        </p:sp>
        <p:pic>
          <p:nvPicPr>
            <p:cNvPr id="5" name="object 5"/>
            <p:cNvPicPr/>
            <p:nvPr/>
          </p:nvPicPr>
          <p:blipFill>
            <a:blip r:embed="rId2" cstate="print"/>
            <a:stretch>
              <a:fillRect/>
            </a:stretch>
          </p:blipFill>
          <p:spPr>
            <a:xfrm>
              <a:off x="5513832" y="3172967"/>
              <a:ext cx="146303" cy="146303"/>
            </a:xfrm>
            <a:prstGeom prst="rect">
              <a:avLst/>
            </a:prstGeom>
          </p:spPr>
        </p:pic>
        <p:sp>
          <p:nvSpPr>
            <p:cNvPr id="6" name="object 6"/>
            <p:cNvSpPr/>
            <p:nvPr/>
          </p:nvSpPr>
          <p:spPr>
            <a:xfrm>
              <a:off x="5185410" y="2945129"/>
              <a:ext cx="466090" cy="603250"/>
            </a:xfrm>
            <a:custGeom>
              <a:avLst/>
              <a:gdLst/>
              <a:ahLst/>
              <a:cxnLst/>
              <a:rect l="l" t="t" r="r" b="b"/>
              <a:pathLst>
                <a:path w="466089" h="603250">
                  <a:moveTo>
                    <a:pt x="465963" y="0"/>
                  </a:moveTo>
                  <a:lnTo>
                    <a:pt x="465963" y="603123"/>
                  </a:lnTo>
                </a:path>
                <a:path w="466089" h="603250">
                  <a:moveTo>
                    <a:pt x="332104" y="297815"/>
                  </a:moveTo>
                  <a:lnTo>
                    <a:pt x="0" y="297815"/>
                  </a:lnTo>
                </a:path>
              </a:pathLst>
            </a:custGeom>
            <a:ln w="13716">
              <a:solidFill>
                <a:srgbClr val="000000"/>
              </a:solidFill>
            </a:ln>
          </p:spPr>
          <p:txBody>
            <a:bodyPr wrap="square" lIns="0" tIns="0" rIns="0" bIns="0" rtlCol="0"/>
            <a:lstStyle/>
            <a:p>
              <a:endParaRPr/>
            </a:p>
          </p:txBody>
        </p:sp>
      </p:grpSp>
      <p:sp>
        <p:nvSpPr>
          <p:cNvPr id="7" name="object 7"/>
          <p:cNvSpPr/>
          <p:nvPr/>
        </p:nvSpPr>
        <p:spPr>
          <a:xfrm>
            <a:off x="7312914" y="2588514"/>
            <a:ext cx="466090" cy="2660650"/>
          </a:xfrm>
          <a:custGeom>
            <a:avLst/>
            <a:gdLst/>
            <a:ahLst/>
            <a:cxnLst/>
            <a:rect l="l" t="t" r="r" b="b"/>
            <a:pathLst>
              <a:path w="466089" h="2660650">
                <a:moveTo>
                  <a:pt x="465963" y="1188593"/>
                </a:moveTo>
                <a:lnTo>
                  <a:pt x="201040" y="1188593"/>
                </a:lnTo>
              </a:path>
              <a:path w="466089" h="2660650">
                <a:moveTo>
                  <a:pt x="201040" y="1325753"/>
                </a:moveTo>
                <a:lnTo>
                  <a:pt x="201040" y="1424178"/>
                </a:lnTo>
                <a:lnTo>
                  <a:pt x="0" y="1424178"/>
                </a:lnTo>
                <a:lnTo>
                  <a:pt x="0" y="2026031"/>
                </a:lnTo>
                <a:lnTo>
                  <a:pt x="201040" y="2026031"/>
                </a:lnTo>
                <a:lnTo>
                  <a:pt x="201040" y="2124583"/>
                </a:lnTo>
              </a:path>
              <a:path w="466089" h="2660650">
                <a:moveTo>
                  <a:pt x="201040" y="2124583"/>
                </a:moveTo>
                <a:lnTo>
                  <a:pt x="201040" y="2386203"/>
                </a:lnTo>
              </a:path>
              <a:path w="466089" h="2660650">
                <a:moveTo>
                  <a:pt x="196469" y="2390394"/>
                </a:moveTo>
                <a:lnTo>
                  <a:pt x="392811" y="2390394"/>
                </a:lnTo>
                <a:lnTo>
                  <a:pt x="196469" y="2660523"/>
                </a:lnTo>
                <a:lnTo>
                  <a:pt x="0" y="2390394"/>
                </a:lnTo>
                <a:lnTo>
                  <a:pt x="196469" y="2390394"/>
                </a:lnTo>
                <a:close/>
              </a:path>
              <a:path w="466089" h="2660650">
                <a:moveTo>
                  <a:pt x="196469" y="0"/>
                </a:moveTo>
                <a:lnTo>
                  <a:pt x="196469" y="262509"/>
                </a:lnTo>
              </a:path>
              <a:path w="466089" h="2660650">
                <a:moveTo>
                  <a:pt x="0" y="0"/>
                </a:moveTo>
                <a:lnTo>
                  <a:pt x="392811" y="0"/>
                </a:lnTo>
              </a:path>
              <a:path w="466089" h="2660650">
                <a:moveTo>
                  <a:pt x="196469" y="262509"/>
                </a:moveTo>
                <a:lnTo>
                  <a:pt x="196469" y="361441"/>
                </a:lnTo>
                <a:lnTo>
                  <a:pt x="0" y="361441"/>
                </a:lnTo>
                <a:lnTo>
                  <a:pt x="0" y="965073"/>
                </a:lnTo>
                <a:lnTo>
                  <a:pt x="196469" y="965073"/>
                </a:lnTo>
                <a:lnTo>
                  <a:pt x="196469" y="1064006"/>
                </a:lnTo>
              </a:path>
              <a:path w="466089" h="2660650">
                <a:moveTo>
                  <a:pt x="196469" y="1064006"/>
                </a:moveTo>
                <a:lnTo>
                  <a:pt x="196469" y="1326515"/>
                </a:lnTo>
              </a:path>
            </a:pathLst>
          </a:custGeom>
          <a:ln w="13716">
            <a:solidFill>
              <a:srgbClr val="000000"/>
            </a:solidFill>
          </a:ln>
        </p:spPr>
        <p:txBody>
          <a:bodyPr wrap="square" lIns="0" tIns="0" rIns="0" bIns="0" rtlCol="0"/>
          <a:lstStyle/>
          <a:p>
            <a:endParaRPr/>
          </a:p>
        </p:txBody>
      </p:sp>
      <p:sp>
        <p:nvSpPr>
          <p:cNvPr id="8" name="object 8"/>
          <p:cNvSpPr txBox="1">
            <a:spLocks noGrp="1"/>
          </p:cNvSpPr>
          <p:nvPr>
            <p:ph type="title"/>
          </p:nvPr>
        </p:nvSpPr>
        <p:spPr>
          <a:xfrm>
            <a:off x="7050914" y="1966722"/>
            <a:ext cx="852169" cy="598170"/>
          </a:xfrm>
          <a:prstGeom prst="rect">
            <a:avLst/>
          </a:prstGeom>
        </p:spPr>
        <p:txBody>
          <a:bodyPr vert="horz" wrap="square" lIns="0" tIns="13335" rIns="0" bIns="0" rtlCol="0" anchor="ctr">
            <a:spAutoFit/>
          </a:bodyPr>
          <a:lstStyle/>
          <a:p>
            <a:pPr marL="38100">
              <a:spcBef>
                <a:spcPts val="105"/>
              </a:spcBef>
            </a:pPr>
            <a:r>
              <a:rPr sz="5625" spc="30" baseline="13333" dirty="0">
                <a:latin typeface="Arial MT"/>
                <a:cs typeface="Arial MT"/>
              </a:rPr>
              <a:t>V</a:t>
            </a:r>
            <a:r>
              <a:rPr sz="2450" spc="20" dirty="0">
                <a:latin typeface="Arial MT"/>
                <a:cs typeface="Arial MT"/>
              </a:rPr>
              <a:t>DD</a:t>
            </a:r>
            <a:endParaRPr sz="2450">
              <a:latin typeface="Arial MT"/>
              <a:cs typeface="Arial MT"/>
            </a:endParaRPr>
          </a:p>
        </p:txBody>
      </p:sp>
      <p:sp>
        <p:nvSpPr>
          <p:cNvPr id="9" name="object 9"/>
          <p:cNvSpPr txBox="1"/>
          <p:nvPr/>
        </p:nvSpPr>
        <p:spPr>
          <a:xfrm>
            <a:off x="5744972" y="3567176"/>
            <a:ext cx="668655" cy="452120"/>
          </a:xfrm>
          <a:prstGeom prst="rect">
            <a:avLst/>
          </a:prstGeom>
        </p:spPr>
        <p:txBody>
          <a:bodyPr vert="horz" wrap="square" lIns="0" tIns="12065" rIns="0" bIns="0" rtlCol="0">
            <a:spAutoFit/>
          </a:bodyPr>
          <a:lstStyle/>
          <a:p>
            <a:pPr marL="12700">
              <a:spcBef>
                <a:spcPts val="95"/>
              </a:spcBef>
            </a:pPr>
            <a:r>
              <a:rPr sz="2800" spc="-10" dirty="0">
                <a:latin typeface="Arial MT"/>
                <a:cs typeface="Arial MT"/>
              </a:rPr>
              <a:t>A</a:t>
            </a:r>
            <a:r>
              <a:rPr sz="2800" spc="5" dirty="0">
                <a:latin typeface="Arial MT"/>
                <a:cs typeface="Arial MT"/>
              </a:rPr>
              <a:t>=</a:t>
            </a:r>
            <a:r>
              <a:rPr sz="2800" spc="-5" dirty="0">
                <a:solidFill>
                  <a:srgbClr val="0000FF"/>
                </a:solidFill>
                <a:latin typeface="Arial MT"/>
                <a:cs typeface="Arial MT"/>
              </a:rPr>
              <a:t>1</a:t>
            </a:r>
            <a:endParaRPr sz="2800">
              <a:latin typeface="Arial MT"/>
              <a:cs typeface="Arial MT"/>
            </a:endParaRPr>
          </a:p>
        </p:txBody>
      </p:sp>
      <p:sp>
        <p:nvSpPr>
          <p:cNvPr id="10" name="object 10"/>
          <p:cNvSpPr txBox="1"/>
          <p:nvPr/>
        </p:nvSpPr>
        <p:spPr>
          <a:xfrm>
            <a:off x="7870952" y="3567176"/>
            <a:ext cx="660400" cy="452120"/>
          </a:xfrm>
          <a:prstGeom prst="rect">
            <a:avLst/>
          </a:prstGeom>
        </p:spPr>
        <p:txBody>
          <a:bodyPr vert="horz" wrap="square" lIns="0" tIns="12065" rIns="0" bIns="0" rtlCol="0">
            <a:spAutoFit/>
          </a:bodyPr>
          <a:lstStyle/>
          <a:p>
            <a:pPr marL="12700">
              <a:spcBef>
                <a:spcPts val="95"/>
              </a:spcBef>
            </a:pPr>
            <a:r>
              <a:rPr sz="2800" spc="-85" dirty="0">
                <a:latin typeface="Arial MT"/>
                <a:cs typeface="Arial MT"/>
              </a:rPr>
              <a:t>Y</a:t>
            </a:r>
            <a:r>
              <a:rPr sz="2800" spc="15" dirty="0">
                <a:latin typeface="Arial MT"/>
                <a:cs typeface="Arial MT"/>
              </a:rPr>
              <a:t>=</a:t>
            </a:r>
            <a:r>
              <a:rPr sz="2800" spc="-5" dirty="0">
                <a:solidFill>
                  <a:srgbClr val="0000FF"/>
                </a:solidFill>
                <a:latin typeface="Arial MT"/>
                <a:cs typeface="Arial MT"/>
              </a:rPr>
              <a:t>0</a:t>
            </a:r>
            <a:endParaRPr sz="2800">
              <a:latin typeface="Arial MT"/>
              <a:cs typeface="Arial MT"/>
            </a:endParaRPr>
          </a:p>
        </p:txBody>
      </p:sp>
      <p:sp>
        <p:nvSpPr>
          <p:cNvPr id="11" name="object 11"/>
          <p:cNvSpPr txBox="1"/>
          <p:nvPr/>
        </p:nvSpPr>
        <p:spPr>
          <a:xfrm>
            <a:off x="7067550" y="5227726"/>
            <a:ext cx="1083310" cy="598170"/>
          </a:xfrm>
          <a:prstGeom prst="rect">
            <a:avLst/>
          </a:prstGeom>
        </p:spPr>
        <p:txBody>
          <a:bodyPr vert="horz" wrap="square" lIns="0" tIns="13335" rIns="0" bIns="0" rtlCol="0">
            <a:spAutoFit/>
          </a:bodyPr>
          <a:lstStyle/>
          <a:p>
            <a:pPr marL="12700">
              <a:spcBef>
                <a:spcPts val="105"/>
              </a:spcBef>
            </a:pPr>
            <a:r>
              <a:rPr sz="3750" spc="-40" dirty="0">
                <a:latin typeface="Arial MT"/>
                <a:cs typeface="Arial MT"/>
              </a:rPr>
              <a:t>G</a:t>
            </a:r>
            <a:r>
              <a:rPr sz="3750" spc="20" dirty="0">
                <a:latin typeface="Arial MT"/>
                <a:cs typeface="Arial MT"/>
              </a:rPr>
              <a:t>N</a:t>
            </a:r>
            <a:r>
              <a:rPr sz="3750" dirty="0">
                <a:latin typeface="Arial MT"/>
                <a:cs typeface="Arial MT"/>
              </a:rPr>
              <a:t>D</a:t>
            </a:r>
            <a:endParaRPr sz="3750">
              <a:latin typeface="Arial MT"/>
              <a:cs typeface="Arial MT"/>
            </a:endParaRPr>
          </a:p>
        </p:txBody>
      </p:sp>
      <p:sp>
        <p:nvSpPr>
          <p:cNvPr id="12" name="object 12"/>
          <p:cNvSpPr txBox="1"/>
          <p:nvPr/>
        </p:nvSpPr>
        <p:spPr>
          <a:xfrm>
            <a:off x="7536561" y="4160646"/>
            <a:ext cx="730885" cy="598170"/>
          </a:xfrm>
          <a:prstGeom prst="rect">
            <a:avLst/>
          </a:prstGeom>
        </p:spPr>
        <p:txBody>
          <a:bodyPr vert="horz" wrap="square" lIns="0" tIns="13335" rIns="0" bIns="0" rtlCol="0">
            <a:spAutoFit/>
          </a:bodyPr>
          <a:lstStyle/>
          <a:p>
            <a:pPr marL="12700">
              <a:spcBef>
                <a:spcPts val="105"/>
              </a:spcBef>
            </a:pPr>
            <a:r>
              <a:rPr sz="3750" spc="-40" dirty="0">
                <a:solidFill>
                  <a:srgbClr val="0000FF"/>
                </a:solidFill>
                <a:latin typeface="Arial MT"/>
                <a:cs typeface="Arial MT"/>
              </a:rPr>
              <a:t>ON</a:t>
            </a:r>
            <a:endParaRPr sz="3750">
              <a:latin typeface="Arial MT"/>
              <a:cs typeface="Arial MT"/>
            </a:endParaRPr>
          </a:p>
        </p:txBody>
      </p:sp>
      <p:sp>
        <p:nvSpPr>
          <p:cNvPr id="13" name="object 13"/>
          <p:cNvSpPr txBox="1"/>
          <p:nvPr/>
        </p:nvSpPr>
        <p:spPr>
          <a:xfrm>
            <a:off x="7479284" y="2822575"/>
            <a:ext cx="976630" cy="598170"/>
          </a:xfrm>
          <a:prstGeom prst="rect">
            <a:avLst/>
          </a:prstGeom>
        </p:spPr>
        <p:txBody>
          <a:bodyPr vert="horz" wrap="square" lIns="0" tIns="13335" rIns="0" bIns="0" rtlCol="0">
            <a:spAutoFit/>
          </a:bodyPr>
          <a:lstStyle/>
          <a:p>
            <a:pPr marL="12700">
              <a:spcBef>
                <a:spcPts val="105"/>
              </a:spcBef>
            </a:pPr>
            <a:r>
              <a:rPr sz="3750" spc="-40" dirty="0">
                <a:solidFill>
                  <a:srgbClr val="0000FF"/>
                </a:solidFill>
                <a:latin typeface="Arial MT"/>
                <a:cs typeface="Arial MT"/>
              </a:rPr>
              <a:t>O</a:t>
            </a:r>
            <a:r>
              <a:rPr sz="3750" spc="5" dirty="0">
                <a:solidFill>
                  <a:srgbClr val="0000FF"/>
                </a:solidFill>
                <a:latin typeface="Arial MT"/>
                <a:cs typeface="Arial MT"/>
              </a:rPr>
              <a:t>FF</a:t>
            </a:r>
            <a:endParaRPr sz="3750">
              <a:latin typeface="Arial MT"/>
              <a:cs typeface="Arial MT"/>
            </a:endParaRPr>
          </a:p>
        </p:txBody>
      </p:sp>
      <p:sp>
        <p:nvSpPr>
          <p:cNvPr id="14" name="object 14"/>
          <p:cNvSpPr txBox="1"/>
          <p:nvPr/>
        </p:nvSpPr>
        <p:spPr>
          <a:xfrm>
            <a:off x="2516835" y="4814138"/>
            <a:ext cx="288290" cy="497840"/>
          </a:xfrm>
          <a:prstGeom prst="rect">
            <a:avLst/>
          </a:prstGeom>
        </p:spPr>
        <p:txBody>
          <a:bodyPr vert="horz" wrap="square" lIns="0" tIns="12065" rIns="0" bIns="0" rtlCol="0">
            <a:spAutoFit/>
          </a:bodyPr>
          <a:lstStyle/>
          <a:p>
            <a:pPr marL="12700">
              <a:spcBef>
                <a:spcPts val="95"/>
              </a:spcBef>
            </a:pPr>
            <a:r>
              <a:rPr sz="3100" spc="-5" dirty="0">
                <a:latin typeface="Arial MT"/>
                <a:cs typeface="Arial MT"/>
              </a:rPr>
              <a:t>A</a:t>
            </a:r>
            <a:endParaRPr sz="3100">
              <a:latin typeface="Arial MT"/>
              <a:cs typeface="Arial MT"/>
            </a:endParaRPr>
          </a:p>
        </p:txBody>
      </p:sp>
      <p:sp>
        <p:nvSpPr>
          <p:cNvPr id="15" name="object 15"/>
          <p:cNvSpPr txBox="1"/>
          <p:nvPr/>
        </p:nvSpPr>
        <p:spPr>
          <a:xfrm>
            <a:off x="4822063" y="4814138"/>
            <a:ext cx="288290" cy="497840"/>
          </a:xfrm>
          <a:prstGeom prst="rect">
            <a:avLst/>
          </a:prstGeom>
        </p:spPr>
        <p:txBody>
          <a:bodyPr vert="horz" wrap="square" lIns="0" tIns="12065" rIns="0" bIns="0" rtlCol="0">
            <a:spAutoFit/>
          </a:bodyPr>
          <a:lstStyle/>
          <a:p>
            <a:pPr marL="12700">
              <a:spcBef>
                <a:spcPts val="95"/>
              </a:spcBef>
            </a:pPr>
            <a:r>
              <a:rPr sz="3100" spc="-5" dirty="0">
                <a:latin typeface="Arial MT"/>
                <a:cs typeface="Arial MT"/>
              </a:rPr>
              <a:t>Y</a:t>
            </a:r>
            <a:endParaRPr sz="3100">
              <a:latin typeface="Arial MT"/>
              <a:cs typeface="Arial MT"/>
            </a:endParaRPr>
          </a:p>
        </p:txBody>
      </p:sp>
      <p:sp>
        <p:nvSpPr>
          <p:cNvPr id="16" name="object 16"/>
          <p:cNvSpPr/>
          <p:nvPr/>
        </p:nvSpPr>
        <p:spPr>
          <a:xfrm>
            <a:off x="3110484" y="4686301"/>
            <a:ext cx="1536065" cy="877569"/>
          </a:xfrm>
          <a:custGeom>
            <a:avLst/>
            <a:gdLst/>
            <a:ahLst/>
            <a:cxnLst/>
            <a:rect l="l" t="t" r="r" b="b"/>
            <a:pathLst>
              <a:path w="1536064" h="877570">
                <a:moveTo>
                  <a:pt x="219328" y="0"/>
                </a:moveTo>
                <a:lnTo>
                  <a:pt x="219328" y="877443"/>
                </a:lnTo>
                <a:lnTo>
                  <a:pt x="1096898" y="439927"/>
                </a:lnTo>
                <a:lnTo>
                  <a:pt x="219328" y="0"/>
                </a:lnTo>
                <a:close/>
              </a:path>
              <a:path w="1536064" h="877570">
                <a:moveTo>
                  <a:pt x="1319657" y="434848"/>
                </a:moveTo>
                <a:lnTo>
                  <a:pt x="1306957" y="387731"/>
                </a:lnTo>
                <a:lnTo>
                  <a:pt x="1277620" y="345567"/>
                </a:lnTo>
                <a:lnTo>
                  <a:pt x="1230630" y="329056"/>
                </a:lnTo>
                <a:lnTo>
                  <a:pt x="1183513" y="329056"/>
                </a:lnTo>
                <a:lnTo>
                  <a:pt x="1137792" y="345567"/>
                </a:lnTo>
                <a:lnTo>
                  <a:pt x="1107313" y="387731"/>
                </a:lnTo>
                <a:lnTo>
                  <a:pt x="1097026" y="434848"/>
                </a:lnTo>
                <a:lnTo>
                  <a:pt x="1107313" y="481838"/>
                </a:lnTo>
                <a:lnTo>
                  <a:pt x="1137792" y="521335"/>
                </a:lnTo>
                <a:lnTo>
                  <a:pt x="1183513" y="539242"/>
                </a:lnTo>
                <a:lnTo>
                  <a:pt x="1230630" y="539242"/>
                </a:lnTo>
                <a:lnTo>
                  <a:pt x="1277620" y="521335"/>
                </a:lnTo>
                <a:lnTo>
                  <a:pt x="1306957" y="481838"/>
                </a:lnTo>
                <a:lnTo>
                  <a:pt x="1319657" y="434848"/>
                </a:lnTo>
                <a:close/>
              </a:path>
              <a:path w="1536064" h="877570">
                <a:moveTo>
                  <a:pt x="0" y="434848"/>
                </a:moveTo>
                <a:lnTo>
                  <a:pt x="217297" y="434848"/>
                </a:lnTo>
              </a:path>
              <a:path w="1536064" h="877570">
                <a:moveTo>
                  <a:pt x="1319657" y="434848"/>
                </a:moveTo>
                <a:lnTo>
                  <a:pt x="1535684" y="434848"/>
                </a:lnTo>
              </a:path>
            </a:pathLst>
          </a:custGeom>
          <a:ln w="12192">
            <a:solidFill>
              <a:srgbClr val="000000"/>
            </a:solidFill>
          </a:ln>
        </p:spPr>
        <p:txBody>
          <a:bodyPr wrap="square" lIns="0" tIns="0" rIns="0" bIns="0" rtlCol="0"/>
          <a:lstStyle/>
          <a:p>
            <a:endParaRPr/>
          </a:p>
        </p:txBody>
      </p:sp>
      <p:sp>
        <p:nvSpPr>
          <p:cNvPr id="22" name="object 22"/>
          <p:cNvSpPr txBox="1"/>
          <p:nvPr/>
        </p:nvSpPr>
        <p:spPr>
          <a:xfrm>
            <a:off x="5832475" y="130886"/>
            <a:ext cx="1891030" cy="384810"/>
          </a:xfrm>
          <a:prstGeom prst="rect">
            <a:avLst/>
          </a:prstGeom>
        </p:spPr>
        <p:txBody>
          <a:bodyPr vert="horz" wrap="square" lIns="0" tIns="13335" rIns="0" bIns="0" rtlCol="0">
            <a:spAutoFit/>
          </a:bodyPr>
          <a:lstStyle/>
          <a:p>
            <a:pPr marL="12700">
              <a:spcBef>
                <a:spcPts val="105"/>
              </a:spcBef>
            </a:pPr>
            <a:r>
              <a:rPr sz="2350" spc="10" dirty="0">
                <a:latin typeface="Times New Roman"/>
                <a:cs typeface="Times New Roman"/>
              </a:rPr>
              <a:t>CMOS</a:t>
            </a:r>
            <a:r>
              <a:rPr sz="2350" spc="-25" dirty="0">
                <a:latin typeface="Times New Roman"/>
                <a:cs typeface="Times New Roman"/>
              </a:rPr>
              <a:t> </a:t>
            </a:r>
            <a:r>
              <a:rPr sz="2350" spc="-15" dirty="0">
                <a:latin typeface="Times New Roman"/>
                <a:cs typeface="Times New Roman"/>
              </a:rPr>
              <a:t>Inverter</a:t>
            </a:r>
            <a:endParaRPr sz="2350">
              <a:latin typeface="Times New Roman"/>
              <a:cs typeface="Times New Roman"/>
            </a:endParaRPr>
          </a:p>
        </p:txBody>
      </p:sp>
      <p:sp>
        <p:nvSpPr>
          <p:cNvPr id="24" name="object 24"/>
          <p:cNvSpPr txBox="1"/>
          <p:nvPr/>
        </p:nvSpPr>
        <p:spPr>
          <a:xfrm>
            <a:off x="5497449" y="6375603"/>
            <a:ext cx="1928495" cy="338554"/>
          </a:xfrm>
          <a:prstGeom prst="rect">
            <a:avLst/>
          </a:prstGeom>
        </p:spPr>
        <p:txBody>
          <a:bodyPr vert="horz" wrap="square" lIns="0" tIns="0" rIns="0" bIns="0" rtlCol="0">
            <a:spAutoFit/>
          </a:bodyPr>
          <a:lstStyle/>
          <a:p>
            <a:pPr marL="12700">
              <a:lnSpc>
                <a:spcPts val="1240"/>
              </a:lnSpc>
            </a:pPr>
            <a:r>
              <a:rPr sz="1200" spc="5" dirty="0">
                <a:solidFill>
                  <a:srgbClr val="878787"/>
                </a:solidFill>
                <a:latin typeface="Calibri"/>
                <a:cs typeface="Calibri"/>
              </a:rPr>
              <a:t>C</a:t>
            </a:r>
            <a:r>
              <a:rPr sz="1200" spc="15" dirty="0">
                <a:solidFill>
                  <a:srgbClr val="878787"/>
                </a:solidFill>
                <a:latin typeface="Calibri"/>
                <a:cs typeface="Calibri"/>
              </a:rPr>
              <a:t>M</a:t>
            </a:r>
            <a:r>
              <a:rPr sz="1200" spc="5" dirty="0">
                <a:solidFill>
                  <a:srgbClr val="878787"/>
                </a:solidFill>
                <a:latin typeface="Calibri"/>
                <a:cs typeface="Calibri"/>
              </a:rPr>
              <a:t>O</a:t>
            </a:r>
            <a:r>
              <a:rPr sz="1200" dirty="0">
                <a:solidFill>
                  <a:srgbClr val="878787"/>
                </a:solidFill>
                <a:latin typeface="Calibri"/>
                <a:cs typeface="Calibri"/>
              </a:rPr>
              <a:t>S</a:t>
            </a:r>
            <a:r>
              <a:rPr sz="1200" spc="-30" dirty="0">
                <a:solidFill>
                  <a:srgbClr val="878787"/>
                </a:solidFill>
                <a:latin typeface="Calibri"/>
                <a:cs typeface="Calibri"/>
              </a:rPr>
              <a:t> </a:t>
            </a:r>
            <a:r>
              <a:rPr sz="1200" dirty="0">
                <a:solidFill>
                  <a:srgbClr val="878787"/>
                </a:solidFill>
                <a:latin typeface="Calibri"/>
                <a:cs typeface="Calibri"/>
              </a:rPr>
              <a:t>Digi</a:t>
            </a:r>
            <a:r>
              <a:rPr sz="1200" spc="-10" dirty="0">
                <a:solidFill>
                  <a:srgbClr val="878787"/>
                </a:solidFill>
                <a:latin typeface="Calibri"/>
                <a:cs typeface="Calibri"/>
              </a:rPr>
              <a:t>t</a:t>
            </a:r>
            <a:r>
              <a:rPr sz="1200" dirty="0">
                <a:solidFill>
                  <a:srgbClr val="878787"/>
                </a:solidFill>
                <a:latin typeface="Calibri"/>
                <a:cs typeface="Calibri"/>
              </a:rPr>
              <a:t>al</a:t>
            </a:r>
            <a:r>
              <a:rPr sz="1200" spc="-45" dirty="0">
                <a:solidFill>
                  <a:srgbClr val="878787"/>
                </a:solidFill>
                <a:latin typeface="Calibri"/>
                <a:cs typeface="Calibri"/>
              </a:rPr>
              <a:t> </a:t>
            </a:r>
            <a:r>
              <a:rPr sz="1200" dirty="0">
                <a:solidFill>
                  <a:srgbClr val="878787"/>
                </a:solidFill>
                <a:latin typeface="Calibri"/>
                <a:cs typeface="Calibri"/>
              </a:rPr>
              <a:t>I</a:t>
            </a:r>
            <a:r>
              <a:rPr sz="1200" spc="-10" dirty="0">
                <a:solidFill>
                  <a:srgbClr val="878787"/>
                </a:solidFill>
                <a:latin typeface="Calibri"/>
                <a:cs typeface="Calibri"/>
              </a:rPr>
              <a:t>nt</a:t>
            </a:r>
            <a:r>
              <a:rPr sz="1200" dirty="0">
                <a:solidFill>
                  <a:srgbClr val="878787"/>
                </a:solidFill>
                <a:latin typeface="Calibri"/>
                <a:cs typeface="Calibri"/>
              </a:rPr>
              <a:t>eg</a:t>
            </a:r>
            <a:r>
              <a:rPr sz="1200" spc="-25" dirty="0">
                <a:solidFill>
                  <a:srgbClr val="878787"/>
                </a:solidFill>
                <a:latin typeface="Calibri"/>
                <a:cs typeface="Calibri"/>
              </a:rPr>
              <a:t>r</a:t>
            </a:r>
            <a:r>
              <a:rPr sz="1200" spc="-15" dirty="0">
                <a:solidFill>
                  <a:srgbClr val="878787"/>
                </a:solidFill>
                <a:latin typeface="Calibri"/>
                <a:cs typeface="Calibri"/>
              </a:rPr>
              <a:t>a</a:t>
            </a:r>
            <a:r>
              <a:rPr sz="1200" spc="-10" dirty="0">
                <a:solidFill>
                  <a:srgbClr val="878787"/>
                </a:solidFill>
                <a:latin typeface="Calibri"/>
                <a:cs typeface="Calibri"/>
              </a:rPr>
              <a:t>t</a:t>
            </a:r>
            <a:r>
              <a:rPr sz="1200" dirty="0">
                <a:solidFill>
                  <a:srgbClr val="878787"/>
                </a:solidFill>
                <a:latin typeface="Calibri"/>
                <a:cs typeface="Calibri"/>
              </a:rPr>
              <a:t>ed</a:t>
            </a:r>
            <a:r>
              <a:rPr sz="1200" spc="-110" dirty="0">
                <a:solidFill>
                  <a:srgbClr val="878787"/>
                </a:solidFill>
                <a:latin typeface="Calibri"/>
                <a:cs typeface="Calibri"/>
              </a:rPr>
              <a:t> </a:t>
            </a:r>
            <a:r>
              <a:rPr sz="1200" spc="-5" dirty="0">
                <a:solidFill>
                  <a:srgbClr val="878787"/>
                </a:solidFill>
                <a:latin typeface="Calibri"/>
                <a:cs typeface="Calibri"/>
              </a:rPr>
              <a:t>C</a:t>
            </a:r>
            <a:r>
              <a:rPr sz="1200" dirty="0">
                <a:solidFill>
                  <a:srgbClr val="878787"/>
                </a:solidFill>
                <a:latin typeface="Calibri"/>
                <a:cs typeface="Calibri"/>
              </a:rPr>
              <a:t>i</a:t>
            </a:r>
            <a:r>
              <a:rPr sz="1200" spc="-15" dirty="0">
                <a:solidFill>
                  <a:srgbClr val="878787"/>
                </a:solidFill>
                <a:latin typeface="Calibri"/>
                <a:cs typeface="Calibri"/>
              </a:rPr>
              <a:t>r</a:t>
            </a:r>
            <a:r>
              <a:rPr sz="1200" spc="-5" dirty="0">
                <a:solidFill>
                  <a:srgbClr val="878787"/>
                </a:solidFill>
                <a:latin typeface="Calibri"/>
                <a:cs typeface="Calibri"/>
              </a:rPr>
              <a:t>c</a:t>
            </a:r>
            <a:r>
              <a:rPr sz="1200" dirty="0">
                <a:solidFill>
                  <a:srgbClr val="878787"/>
                </a:solidFill>
                <a:latin typeface="Calibri"/>
                <a:cs typeface="Calibri"/>
              </a:rPr>
              <a:t>u</a:t>
            </a:r>
            <a:r>
              <a:rPr sz="1200" spc="-15" dirty="0">
                <a:solidFill>
                  <a:srgbClr val="878787"/>
                </a:solidFill>
                <a:latin typeface="Calibri"/>
                <a:cs typeface="Calibri"/>
              </a:rPr>
              <a:t>i</a:t>
            </a:r>
            <a:r>
              <a:rPr sz="1200" dirty="0">
                <a:solidFill>
                  <a:srgbClr val="878787"/>
                </a:solidFill>
                <a:latin typeface="Calibri"/>
                <a:cs typeface="Calibri"/>
              </a:rPr>
              <a:t>t</a:t>
            </a:r>
            <a:endParaRPr sz="1200">
              <a:latin typeface="Calibri"/>
              <a:cs typeface="Calibri"/>
            </a:endParaRPr>
          </a:p>
          <a:p>
            <a:pPr marL="408305"/>
            <a:r>
              <a:rPr sz="1200" spc="5" dirty="0">
                <a:solidFill>
                  <a:srgbClr val="878787"/>
                </a:solidFill>
                <a:latin typeface="Calibri"/>
                <a:cs typeface="Calibri"/>
              </a:rPr>
              <a:t>U</a:t>
            </a:r>
            <a:r>
              <a:rPr sz="1200" spc="15" dirty="0">
                <a:solidFill>
                  <a:srgbClr val="878787"/>
                </a:solidFill>
                <a:latin typeface="Calibri"/>
                <a:cs typeface="Calibri"/>
              </a:rPr>
              <a:t>n</a:t>
            </a:r>
            <a:r>
              <a:rPr sz="1200" spc="10" dirty="0">
                <a:solidFill>
                  <a:srgbClr val="878787"/>
                </a:solidFill>
                <a:latin typeface="Calibri"/>
                <a:cs typeface="Calibri"/>
              </a:rPr>
              <a:t>i</a:t>
            </a:r>
            <a:r>
              <a:rPr sz="1200" dirty="0">
                <a:solidFill>
                  <a:srgbClr val="878787"/>
                </a:solidFill>
                <a:latin typeface="Calibri"/>
                <a:cs typeface="Calibri"/>
              </a:rPr>
              <a:t>t</a:t>
            </a:r>
            <a:r>
              <a:rPr sz="1200" spc="-50" dirty="0">
                <a:solidFill>
                  <a:srgbClr val="878787"/>
                </a:solidFill>
                <a:latin typeface="Calibri"/>
                <a:cs typeface="Calibri"/>
              </a:rPr>
              <a:t> </a:t>
            </a:r>
            <a:r>
              <a:rPr sz="1200" dirty="0">
                <a:solidFill>
                  <a:srgbClr val="878787"/>
                </a:solidFill>
                <a:latin typeface="Calibri"/>
                <a:cs typeface="Calibri"/>
              </a:rPr>
              <a:t>1</a:t>
            </a:r>
            <a:endParaRPr sz="1200">
              <a:latin typeface="Calibri"/>
              <a:cs typeface="Calibri"/>
            </a:endParaRPr>
          </a:p>
        </p:txBody>
      </p:sp>
      <p:sp>
        <p:nvSpPr>
          <p:cNvPr id="25" name="Footer Placeholder 24"/>
          <p:cNvSpPr>
            <a:spLocks noGrp="1"/>
          </p:cNvSpPr>
          <p:nvPr>
            <p:ph type="ftr" sz="quarter" idx="4294967295"/>
          </p:nvPr>
        </p:nvSpPr>
        <p:spPr/>
        <p:txBody>
          <a:bodyPr/>
          <a:lstStyle/>
          <a:p>
            <a:r>
              <a:rPr lang="en-IN"/>
              <a:t>CMOS</a:t>
            </a:r>
          </a:p>
        </p:txBody>
      </p:sp>
      <p:sp>
        <p:nvSpPr>
          <p:cNvPr id="26" name="Slide Number Placeholder 25"/>
          <p:cNvSpPr>
            <a:spLocks noGrp="1"/>
          </p:cNvSpPr>
          <p:nvPr>
            <p:ph type="sldNum" sz="quarter" idx="4294967295"/>
          </p:nvPr>
        </p:nvSpPr>
        <p:spPr/>
        <p:txBody>
          <a:bodyPr/>
          <a:lstStyle/>
          <a:p>
            <a:pPr marL="38100">
              <a:lnSpc>
                <a:spcPts val="1240"/>
              </a:lnSpc>
            </a:pPr>
            <a:fld id="{81D60167-4931-47E6-BA6A-407CBD079E47}" type="slidenum">
              <a:rPr lang="en-IN" smtClean="0"/>
              <a:pPr marL="38100">
                <a:lnSpc>
                  <a:spcPts val="1240"/>
                </a:lnSpc>
              </a:pPr>
              <a:t>78</a:t>
            </a:fld>
            <a:endParaRPr lang="en-IN" dirty="0"/>
          </a:p>
        </p:txBody>
      </p:sp>
      <p:sp>
        <p:nvSpPr>
          <p:cNvPr id="17" name="Date Placeholder 16"/>
          <p:cNvSpPr>
            <a:spLocks noGrp="1"/>
          </p:cNvSpPr>
          <p:nvPr>
            <p:ph type="dt" sz="half" idx="10"/>
          </p:nvPr>
        </p:nvSpPr>
        <p:spPr/>
        <p:txBody>
          <a:bodyPr/>
          <a:lstStyle/>
          <a:p>
            <a:fld id="{E6321952-2480-4781-9DB2-5BFE2E8164B1}" type="datetime1">
              <a:rPr lang="en-US" smtClean="0"/>
              <a:t>9/9/2025</a:t>
            </a:fld>
            <a:endParaRPr lang="en-IN"/>
          </a:p>
        </p:txBody>
      </p:sp>
      <p:sp>
        <p:nvSpPr>
          <p:cNvPr id="18" name="TextBox 17">
            <a:extLst>
              <a:ext uri="{FF2B5EF4-FFF2-40B4-BE49-F238E27FC236}">
                <a16:creationId xmlns:a16="http://schemas.microsoft.com/office/drawing/2014/main" id="{ABFA42C0-CC17-4D17-3999-FED4E507CEE9}"/>
              </a:ext>
            </a:extLst>
          </p:cNvPr>
          <p:cNvSpPr txBox="1"/>
          <p:nvPr/>
        </p:nvSpPr>
        <p:spPr>
          <a:xfrm>
            <a:off x="1572" y="1176414"/>
            <a:ext cx="6094428" cy="369332"/>
          </a:xfrm>
          <a:prstGeom prst="rect">
            <a:avLst/>
          </a:prstGeom>
          <a:noFill/>
        </p:spPr>
        <p:txBody>
          <a:bodyPr wrap="square">
            <a:spAutoFit/>
          </a:bodyPr>
          <a:lstStyle/>
          <a:p>
            <a:pPr algn="ctr"/>
            <a:r>
              <a:rPr lang="en-IN" b="1" dirty="0">
                <a:latin typeface="Arial MT"/>
              </a:rPr>
              <a:t>TRUTH TABLE</a:t>
            </a:r>
            <a:endParaRPr lang="en-IN" b="1" dirty="0"/>
          </a:p>
        </p:txBody>
      </p:sp>
    </p:spTree>
    <p:extLst>
      <p:ext uri="{BB962C8B-B14F-4D97-AF65-F5344CB8AC3E}">
        <p14:creationId xmlns:p14="http://schemas.microsoft.com/office/powerpoint/2010/main" val="247264421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437892" y="1713717"/>
            <a:ext cx="949325" cy="1724660"/>
          </a:xfrm>
          <a:prstGeom prst="rect">
            <a:avLst/>
          </a:prstGeom>
        </p:spPr>
        <p:txBody>
          <a:bodyPr vert="horz" wrap="square" lIns="0" tIns="217805" rIns="0" bIns="0" rtlCol="0">
            <a:spAutoFit/>
          </a:bodyPr>
          <a:lstStyle/>
          <a:p>
            <a:pPr marL="12700">
              <a:spcBef>
                <a:spcPts val="1715"/>
              </a:spcBef>
              <a:tabLst>
                <a:tab pos="736600" algn="l"/>
              </a:tabLst>
            </a:pPr>
            <a:r>
              <a:rPr sz="2350" dirty="0">
                <a:latin typeface="Arial MT"/>
                <a:cs typeface="Arial MT"/>
              </a:rPr>
              <a:t>A	Y</a:t>
            </a:r>
          </a:p>
          <a:p>
            <a:pPr marL="12700">
              <a:spcBef>
                <a:spcPts val="1610"/>
              </a:spcBef>
              <a:tabLst>
                <a:tab pos="736600" algn="l"/>
              </a:tabLst>
            </a:pPr>
            <a:r>
              <a:rPr sz="2350" b="1" dirty="0">
                <a:solidFill>
                  <a:srgbClr val="0000FF"/>
                </a:solidFill>
                <a:latin typeface="Arial"/>
                <a:cs typeface="Arial"/>
              </a:rPr>
              <a:t>0	1</a:t>
            </a:r>
            <a:endParaRPr sz="2350" dirty="0">
              <a:latin typeface="Arial"/>
              <a:cs typeface="Arial"/>
            </a:endParaRPr>
          </a:p>
          <a:p>
            <a:pPr marL="12700">
              <a:spcBef>
                <a:spcPts val="1689"/>
              </a:spcBef>
              <a:tabLst>
                <a:tab pos="736600" algn="l"/>
              </a:tabLst>
            </a:pPr>
            <a:r>
              <a:rPr sz="2350" dirty="0">
                <a:latin typeface="Arial MT"/>
                <a:cs typeface="Arial MT"/>
              </a:rPr>
              <a:t>1	0</a:t>
            </a:r>
          </a:p>
        </p:txBody>
      </p:sp>
      <p:grpSp>
        <p:nvGrpSpPr>
          <p:cNvPr id="3" name="object 3"/>
          <p:cNvGrpSpPr/>
          <p:nvPr/>
        </p:nvGrpSpPr>
        <p:grpSpPr>
          <a:xfrm>
            <a:off x="6444234" y="2945129"/>
            <a:ext cx="740410" cy="1673860"/>
            <a:chOff x="4920234" y="2945129"/>
            <a:chExt cx="740410" cy="1673860"/>
          </a:xfrm>
        </p:grpSpPr>
        <p:sp>
          <p:nvSpPr>
            <p:cNvPr id="4" name="object 4"/>
            <p:cNvSpPr/>
            <p:nvPr/>
          </p:nvSpPr>
          <p:spPr>
            <a:xfrm>
              <a:off x="4920234" y="3246881"/>
              <a:ext cx="731520" cy="1371600"/>
            </a:xfrm>
            <a:custGeom>
              <a:avLst/>
              <a:gdLst/>
              <a:ahLst/>
              <a:cxnLst/>
              <a:rect l="l" t="t" r="r" b="b"/>
              <a:pathLst>
                <a:path w="731520" h="1371600">
                  <a:moveTo>
                    <a:pt x="265175" y="1060703"/>
                  </a:moveTo>
                  <a:lnTo>
                    <a:pt x="265175" y="0"/>
                  </a:lnTo>
                </a:path>
                <a:path w="731520" h="1371600">
                  <a:moveTo>
                    <a:pt x="0" y="529716"/>
                  </a:moveTo>
                  <a:lnTo>
                    <a:pt x="265175" y="529716"/>
                  </a:lnTo>
                </a:path>
                <a:path w="731520" h="1371600">
                  <a:moveTo>
                    <a:pt x="731519" y="768095"/>
                  </a:moveTo>
                  <a:lnTo>
                    <a:pt x="731519" y="1371599"/>
                  </a:lnTo>
                </a:path>
                <a:path w="731520" h="1371600">
                  <a:moveTo>
                    <a:pt x="731519" y="1066037"/>
                  </a:moveTo>
                  <a:lnTo>
                    <a:pt x="265175" y="1066037"/>
                  </a:lnTo>
                </a:path>
              </a:pathLst>
            </a:custGeom>
            <a:ln w="13716">
              <a:solidFill>
                <a:srgbClr val="000000"/>
              </a:solidFill>
            </a:ln>
          </p:spPr>
          <p:txBody>
            <a:bodyPr wrap="square" lIns="0" tIns="0" rIns="0" bIns="0" rtlCol="0"/>
            <a:lstStyle/>
            <a:p>
              <a:endParaRPr/>
            </a:p>
          </p:txBody>
        </p:sp>
        <p:pic>
          <p:nvPicPr>
            <p:cNvPr id="5" name="object 5"/>
            <p:cNvPicPr/>
            <p:nvPr/>
          </p:nvPicPr>
          <p:blipFill>
            <a:blip r:embed="rId2" cstate="print"/>
            <a:stretch>
              <a:fillRect/>
            </a:stretch>
          </p:blipFill>
          <p:spPr>
            <a:xfrm>
              <a:off x="5513832" y="3172967"/>
              <a:ext cx="146303" cy="146303"/>
            </a:xfrm>
            <a:prstGeom prst="rect">
              <a:avLst/>
            </a:prstGeom>
          </p:spPr>
        </p:pic>
        <p:sp>
          <p:nvSpPr>
            <p:cNvPr id="6" name="object 6"/>
            <p:cNvSpPr/>
            <p:nvPr/>
          </p:nvSpPr>
          <p:spPr>
            <a:xfrm>
              <a:off x="5185410" y="2945129"/>
              <a:ext cx="466090" cy="603250"/>
            </a:xfrm>
            <a:custGeom>
              <a:avLst/>
              <a:gdLst/>
              <a:ahLst/>
              <a:cxnLst/>
              <a:rect l="l" t="t" r="r" b="b"/>
              <a:pathLst>
                <a:path w="466089" h="603250">
                  <a:moveTo>
                    <a:pt x="465963" y="0"/>
                  </a:moveTo>
                  <a:lnTo>
                    <a:pt x="465963" y="603123"/>
                  </a:lnTo>
                </a:path>
                <a:path w="466089" h="603250">
                  <a:moveTo>
                    <a:pt x="332104" y="297815"/>
                  </a:moveTo>
                  <a:lnTo>
                    <a:pt x="0" y="297815"/>
                  </a:lnTo>
                </a:path>
              </a:pathLst>
            </a:custGeom>
            <a:ln w="13716">
              <a:solidFill>
                <a:srgbClr val="000000"/>
              </a:solidFill>
            </a:ln>
          </p:spPr>
          <p:txBody>
            <a:bodyPr wrap="square" lIns="0" tIns="0" rIns="0" bIns="0" rtlCol="0"/>
            <a:lstStyle/>
            <a:p>
              <a:endParaRPr/>
            </a:p>
          </p:txBody>
        </p:sp>
      </p:grpSp>
      <p:sp>
        <p:nvSpPr>
          <p:cNvPr id="7" name="object 7"/>
          <p:cNvSpPr/>
          <p:nvPr/>
        </p:nvSpPr>
        <p:spPr>
          <a:xfrm>
            <a:off x="7312914" y="2588514"/>
            <a:ext cx="466090" cy="2660650"/>
          </a:xfrm>
          <a:custGeom>
            <a:avLst/>
            <a:gdLst/>
            <a:ahLst/>
            <a:cxnLst/>
            <a:rect l="l" t="t" r="r" b="b"/>
            <a:pathLst>
              <a:path w="466089" h="2660650">
                <a:moveTo>
                  <a:pt x="465963" y="1188593"/>
                </a:moveTo>
                <a:lnTo>
                  <a:pt x="201040" y="1188593"/>
                </a:lnTo>
              </a:path>
              <a:path w="466089" h="2660650">
                <a:moveTo>
                  <a:pt x="201040" y="1325753"/>
                </a:moveTo>
                <a:lnTo>
                  <a:pt x="201040" y="1424178"/>
                </a:lnTo>
                <a:lnTo>
                  <a:pt x="0" y="1424178"/>
                </a:lnTo>
                <a:lnTo>
                  <a:pt x="0" y="2026031"/>
                </a:lnTo>
                <a:lnTo>
                  <a:pt x="201040" y="2026031"/>
                </a:lnTo>
                <a:lnTo>
                  <a:pt x="201040" y="2124583"/>
                </a:lnTo>
              </a:path>
              <a:path w="466089" h="2660650">
                <a:moveTo>
                  <a:pt x="201040" y="2124583"/>
                </a:moveTo>
                <a:lnTo>
                  <a:pt x="201040" y="2386203"/>
                </a:lnTo>
              </a:path>
              <a:path w="466089" h="2660650">
                <a:moveTo>
                  <a:pt x="196469" y="2390394"/>
                </a:moveTo>
                <a:lnTo>
                  <a:pt x="392811" y="2390394"/>
                </a:lnTo>
                <a:lnTo>
                  <a:pt x="196469" y="2660523"/>
                </a:lnTo>
                <a:lnTo>
                  <a:pt x="0" y="2390394"/>
                </a:lnTo>
                <a:lnTo>
                  <a:pt x="196469" y="2390394"/>
                </a:lnTo>
                <a:close/>
              </a:path>
              <a:path w="466089" h="2660650">
                <a:moveTo>
                  <a:pt x="196469" y="0"/>
                </a:moveTo>
                <a:lnTo>
                  <a:pt x="196469" y="262509"/>
                </a:lnTo>
              </a:path>
              <a:path w="466089" h="2660650">
                <a:moveTo>
                  <a:pt x="0" y="0"/>
                </a:moveTo>
                <a:lnTo>
                  <a:pt x="392811" y="0"/>
                </a:lnTo>
              </a:path>
              <a:path w="466089" h="2660650">
                <a:moveTo>
                  <a:pt x="196469" y="262509"/>
                </a:moveTo>
                <a:lnTo>
                  <a:pt x="196469" y="361441"/>
                </a:lnTo>
                <a:lnTo>
                  <a:pt x="0" y="361441"/>
                </a:lnTo>
                <a:lnTo>
                  <a:pt x="0" y="965073"/>
                </a:lnTo>
                <a:lnTo>
                  <a:pt x="196469" y="965073"/>
                </a:lnTo>
                <a:lnTo>
                  <a:pt x="196469" y="1064006"/>
                </a:lnTo>
              </a:path>
              <a:path w="466089" h="2660650">
                <a:moveTo>
                  <a:pt x="196469" y="1064006"/>
                </a:moveTo>
                <a:lnTo>
                  <a:pt x="196469" y="1326515"/>
                </a:lnTo>
              </a:path>
            </a:pathLst>
          </a:custGeom>
          <a:ln w="13716">
            <a:solidFill>
              <a:srgbClr val="000000"/>
            </a:solidFill>
          </a:ln>
        </p:spPr>
        <p:txBody>
          <a:bodyPr wrap="square" lIns="0" tIns="0" rIns="0" bIns="0" rtlCol="0"/>
          <a:lstStyle/>
          <a:p>
            <a:endParaRPr/>
          </a:p>
        </p:txBody>
      </p:sp>
      <p:sp>
        <p:nvSpPr>
          <p:cNvPr id="8" name="object 8"/>
          <p:cNvSpPr txBox="1">
            <a:spLocks noGrp="1"/>
          </p:cNvSpPr>
          <p:nvPr>
            <p:ph type="title"/>
          </p:nvPr>
        </p:nvSpPr>
        <p:spPr>
          <a:xfrm>
            <a:off x="7050914" y="1966722"/>
            <a:ext cx="852169" cy="598170"/>
          </a:xfrm>
          <a:prstGeom prst="rect">
            <a:avLst/>
          </a:prstGeom>
        </p:spPr>
        <p:txBody>
          <a:bodyPr vert="horz" wrap="square" lIns="0" tIns="13335" rIns="0" bIns="0" rtlCol="0" anchor="ctr">
            <a:spAutoFit/>
          </a:bodyPr>
          <a:lstStyle/>
          <a:p>
            <a:pPr marL="38100">
              <a:spcBef>
                <a:spcPts val="105"/>
              </a:spcBef>
            </a:pPr>
            <a:r>
              <a:rPr sz="5625" spc="30" baseline="13333" dirty="0">
                <a:latin typeface="Arial MT"/>
                <a:cs typeface="Arial MT"/>
              </a:rPr>
              <a:t>V</a:t>
            </a:r>
            <a:r>
              <a:rPr sz="2450" spc="20" dirty="0">
                <a:latin typeface="Arial MT"/>
                <a:cs typeface="Arial MT"/>
              </a:rPr>
              <a:t>DD</a:t>
            </a:r>
            <a:endParaRPr sz="2450">
              <a:latin typeface="Arial MT"/>
              <a:cs typeface="Arial MT"/>
            </a:endParaRPr>
          </a:p>
        </p:txBody>
      </p:sp>
      <p:sp>
        <p:nvSpPr>
          <p:cNvPr id="9" name="object 9"/>
          <p:cNvSpPr txBox="1"/>
          <p:nvPr/>
        </p:nvSpPr>
        <p:spPr>
          <a:xfrm>
            <a:off x="5744972" y="3567176"/>
            <a:ext cx="668655" cy="452120"/>
          </a:xfrm>
          <a:prstGeom prst="rect">
            <a:avLst/>
          </a:prstGeom>
        </p:spPr>
        <p:txBody>
          <a:bodyPr vert="horz" wrap="square" lIns="0" tIns="12065" rIns="0" bIns="0" rtlCol="0">
            <a:spAutoFit/>
          </a:bodyPr>
          <a:lstStyle/>
          <a:p>
            <a:pPr marL="12700">
              <a:spcBef>
                <a:spcPts val="95"/>
              </a:spcBef>
            </a:pPr>
            <a:r>
              <a:rPr sz="2800" spc="-10" dirty="0">
                <a:latin typeface="Arial MT"/>
                <a:cs typeface="Arial MT"/>
              </a:rPr>
              <a:t>A</a:t>
            </a:r>
            <a:r>
              <a:rPr sz="2800" spc="5" dirty="0">
                <a:latin typeface="Arial MT"/>
                <a:cs typeface="Arial MT"/>
              </a:rPr>
              <a:t>=</a:t>
            </a:r>
            <a:r>
              <a:rPr sz="2800" spc="-5" dirty="0">
                <a:solidFill>
                  <a:srgbClr val="0000FF"/>
                </a:solidFill>
                <a:latin typeface="Arial MT"/>
                <a:cs typeface="Arial MT"/>
              </a:rPr>
              <a:t>0</a:t>
            </a:r>
            <a:endParaRPr sz="2800">
              <a:latin typeface="Arial MT"/>
              <a:cs typeface="Arial MT"/>
            </a:endParaRPr>
          </a:p>
        </p:txBody>
      </p:sp>
      <p:sp>
        <p:nvSpPr>
          <p:cNvPr id="10" name="object 10"/>
          <p:cNvSpPr txBox="1"/>
          <p:nvPr/>
        </p:nvSpPr>
        <p:spPr>
          <a:xfrm>
            <a:off x="7870952" y="3567176"/>
            <a:ext cx="660400" cy="452120"/>
          </a:xfrm>
          <a:prstGeom prst="rect">
            <a:avLst/>
          </a:prstGeom>
        </p:spPr>
        <p:txBody>
          <a:bodyPr vert="horz" wrap="square" lIns="0" tIns="12065" rIns="0" bIns="0" rtlCol="0">
            <a:spAutoFit/>
          </a:bodyPr>
          <a:lstStyle/>
          <a:p>
            <a:pPr marL="12700">
              <a:spcBef>
                <a:spcPts val="95"/>
              </a:spcBef>
            </a:pPr>
            <a:r>
              <a:rPr sz="2800" spc="-85" dirty="0">
                <a:latin typeface="Arial MT"/>
                <a:cs typeface="Arial MT"/>
              </a:rPr>
              <a:t>Y</a:t>
            </a:r>
            <a:r>
              <a:rPr sz="2800" spc="15" dirty="0">
                <a:latin typeface="Arial MT"/>
                <a:cs typeface="Arial MT"/>
              </a:rPr>
              <a:t>=</a:t>
            </a:r>
            <a:r>
              <a:rPr sz="2800" spc="-5" dirty="0">
                <a:solidFill>
                  <a:srgbClr val="0000FF"/>
                </a:solidFill>
                <a:latin typeface="Arial MT"/>
                <a:cs typeface="Arial MT"/>
              </a:rPr>
              <a:t>1</a:t>
            </a:r>
            <a:endParaRPr sz="2800">
              <a:latin typeface="Arial MT"/>
              <a:cs typeface="Arial MT"/>
            </a:endParaRPr>
          </a:p>
        </p:txBody>
      </p:sp>
      <p:sp>
        <p:nvSpPr>
          <p:cNvPr id="11" name="object 11"/>
          <p:cNvSpPr txBox="1"/>
          <p:nvPr/>
        </p:nvSpPr>
        <p:spPr>
          <a:xfrm>
            <a:off x="7067550" y="5227726"/>
            <a:ext cx="1083310" cy="598170"/>
          </a:xfrm>
          <a:prstGeom prst="rect">
            <a:avLst/>
          </a:prstGeom>
        </p:spPr>
        <p:txBody>
          <a:bodyPr vert="horz" wrap="square" lIns="0" tIns="13335" rIns="0" bIns="0" rtlCol="0">
            <a:spAutoFit/>
          </a:bodyPr>
          <a:lstStyle/>
          <a:p>
            <a:pPr marL="12700">
              <a:spcBef>
                <a:spcPts val="105"/>
              </a:spcBef>
            </a:pPr>
            <a:r>
              <a:rPr sz="3750" spc="-40" dirty="0">
                <a:latin typeface="Arial MT"/>
                <a:cs typeface="Arial MT"/>
              </a:rPr>
              <a:t>G</a:t>
            </a:r>
            <a:r>
              <a:rPr sz="3750" spc="20" dirty="0">
                <a:latin typeface="Arial MT"/>
                <a:cs typeface="Arial MT"/>
              </a:rPr>
              <a:t>N</a:t>
            </a:r>
            <a:r>
              <a:rPr sz="3750" dirty="0">
                <a:latin typeface="Arial MT"/>
                <a:cs typeface="Arial MT"/>
              </a:rPr>
              <a:t>D</a:t>
            </a:r>
            <a:endParaRPr sz="3750">
              <a:latin typeface="Arial MT"/>
              <a:cs typeface="Arial MT"/>
            </a:endParaRPr>
          </a:p>
        </p:txBody>
      </p:sp>
      <p:sp>
        <p:nvSpPr>
          <p:cNvPr id="12" name="object 12"/>
          <p:cNvSpPr txBox="1"/>
          <p:nvPr/>
        </p:nvSpPr>
        <p:spPr>
          <a:xfrm>
            <a:off x="7536561" y="4160646"/>
            <a:ext cx="977265" cy="598170"/>
          </a:xfrm>
          <a:prstGeom prst="rect">
            <a:avLst/>
          </a:prstGeom>
        </p:spPr>
        <p:txBody>
          <a:bodyPr vert="horz" wrap="square" lIns="0" tIns="13335" rIns="0" bIns="0" rtlCol="0">
            <a:spAutoFit/>
          </a:bodyPr>
          <a:lstStyle/>
          <a:p>
            <a:pPr marL="12700">
              <a:spcBef>
                <a:spcPts val="105"/>
              </a:spcBef>
            </a:pPr>
            <a:r>
              <a:rPr sz="3750" spc="-35" dirty="0">
                <a:solidFill>
                  <a:srgbClr val="0000FF"/>
                </a:solidFill>
                <a:latin typeface="Arial MT"/>
                <a:cs typeface="Arial MT"/>
              </a:rPr>
              <a:t>O</a:t>
            </a:r>
            <a:r>
              <a:rPr sz="3750" spc="5" dirty="0">
                <a:solidFill>
                  <a:srgbClr val="0000FF"/>
                </a:solidFill>
                <a:latin typeface="Arial MT"/>
                <a:cs typeface="Arial MT"/>
              </a:rPr>
              <a:t>FF</a:t>
            </a:r>
            <a:endParaRPr sz="3750">
              <a:latin typeface="Arial MT"/>
              <a:cs typeface="Arial MT"/>
            </a:endParaRPr>
          </a:p>
        </p:txBody>
      </p:sp>
      <p:sp>
        <p:nvSpPr>
          <p:cNvPr id="13" name="object 13"/>
          <p:cNvSpPr txBox="1"/>
          <p:nvPr/>
        </p:nvSpPr>
        <p:spPr>
          <a:xfrm>
            <a:off x="7479284" y="2822575"/>
            <a:ext cx="730250" cy="598170"/>
          </a:xfrm>
          <a:prstGeom prst="rect">
            <a:avLst/>
          </a:prstGeom>
        </p:spPr>
        <p:txBody>
          <a:bodyPr vert="horz" wrap="square" lIns="0" tIns="13335" rIns="0" bIns="0" rtlCol="0">
            <a:spAutoFit/>
          </a:bodyPr>
          <a:lstStyle/>
          <a:p>
            <a:pPr marL="12700">
              <a:spcBef>
                <a:spcPts val="105"/>
              </a:spcBef>
            </a:pPr>
            <a:r>
              <a:rPr sz="3750" spc="-45" dirty="0">
                <a:solidFill>
                  <a:srgbClr val="0000FF"/>
                </a:solidFill>
                <a:latin typeface="Arial MT"/>
                <a:cs typeface="Arial MT"/>
              </a:rPr>
              <a:t>ON</a:t>
            </a:r>
            <a:endParaRPr sz="3750">
              <a:latin typeface="Arial MT"/>
              <a:cs typeface="Arial MT"/>
            </a:endParaRPr>
          </a:p>
        </p:txBody>
      </p:sp>
      <p:sp>
        <p:nvSpPr>
          <p:cNvPr id="14" name="object 14"/>
          <p:cNvSpPr txBox="1"/>
          <p:nvPr/>
        </p:nvSpPr>
        <p:spPr>
          <a:xfrm>
            <a:off x="2516835" y="4814138"/>
            <a:ext cx="288290" cy="497840"/>
          </a:xfrm>
          <a:prstGeom prst="rect">
            <a:avLst/>
          </a:prstGeom>
        </p:spPr>
        <p:txBody>
          <a:bodyPr vert="horz" wrap="square" lIns="0" tIns="12065" rIns="0" bIns="0" rtlCol="0">
            <a:spAutoFit/>
          </a:bodyPr>
          <a:lstStyle/>
          <a:p>
            <a:pPr marL="12700">
              <a:spcBef>
                <a:spcPts val="95"/>
              </a:spcBef>
            </a:pPr>
            <a:r>
              <a:rPr sz="3100" spc="-5" dirty="0">
                <a:latin typeface="Arial MT"/>
                <a:cs typeface="Arial MT"/>
              </a:rPr>
              <a:t>A</a:t>
            </a:r>
            <a:endParaRPr sz="3100">
              <a:latin typeface="Arial MT"/>
              <a:cs typeface="Arial MT"/>
            </a:endParaRPr>
          </a:p>
        </p:txBody>
      </p:sp>
      <p:sp>
        <p:nvSpPr>
          <p:cNvPr id="15" name="object 15"/>
          <p:cNvSpPr txBox="1"/>
          <p:nvPr/>
        </p:nvSpPr>
        <p:spPr>
          <a:xfrm>
            <a:off x="4822063" y="4814138"/>
            <a:ext cx="288290" cy="497840"/>
          </a:xfrm>
          <a:prstGeom prst="rect">
            <a:avLst/>
          </a:prstGeom>
        </p:spPr>
        <p:txBody>
          <a:bodyPr vert="horz" wrap="square" lIns="0" tIns="12065" rIns="0" bIns="0" rtlCol="0">
            <a:spAutoFit/>
          </a:bodyPr>
          <a:lstStyle/>
          <a:p>
            <a:pPr marL="12700">
              <a:spcBef>
                <a:spcPts val="95"/>
              </a:spcBef>
            </a:pPr>
            <a:r>
              <a:rPr sz="3100" spc="-5" dirty="0">
                <a:latin typeface="Arial MT"/>
                <a:cs typeface="Arial MT"/>
              </a:rPr>
              <a:t>Y</a:t>
            </a:r>
            <a:endParaRPr sz="3100">
              <a:latin typeface="Arial MT"/>
              <a:cs typeface="Arial MT"/>
            </a:endParaRPr>
          </a:p>
        </p:txBody>
      </p:sp>
      <p:sp>
        <p:nvSpPr>
          <p:cNvPr id="16" name="object 16"/>
          <p:cNvSpPr/>
          <p:nvPr/>
        </p:nvSpPr>
        <p:spPr>
          <a:xfrm>
            <a:off x="3110484" y="4686301"/>
            <a:ext cx="1536065" cy="877569"/>
          </a:xfrm>
          <a:custGeom>
            <a:avLst/>
            <a:gdLst/>
            <a:ahLst/>
            <a:cxnLst/>
            <a:rect l="l" t="t" r="r" b="b"/>
            <a:pathLst>
              <a:path w="1536064" h="877570">
                <a:moveTo>
                  <a:pt x="219328" y="0"/>
                </a:moveTo>
                <a:lnTo>
                  <a:pt x="219328" y="877443"/>
                </a:lnTo>
                <a:lnTo>
                  <a:pt x="1096898" y="439927"/>
                </a:lnTo>
                <a:lnTo>
                  <a:pt x="219328" y="0"/>
                </a:lnTo>
                <a:close/>
              </a:path>
              <a:path w="1536064" h="877570">
                <a:moveTo>
                  <a:pt x="1319657" y="434848"/>
                </a:moveTo>
                <a:lnTo>
                  <a:pt x="1306957" y="387731"/>
                </a:lnTo>
                <a:lnTo>
                  <a:pt x="1277620" y="345567"/>
                </a:lnTo>
                <a:lnTo>
                  <a:pt x="1230630" y="329056"/>
                </a:lnTo>
                <a:lnTo>
                  <a:pt x="1183513" y="329056"/>
                </a:lnTo>
                <a:lnTo>
                  <a:pt x="1137792" y="345567"/>
                </a:lnTo>
                <a:lnTo>
                  <a:pt x="1107313" y="387731"/>
                </a:lnTo>
                <a:lnTo>
                  <a:pt x="1097026" y="434848"/>
                </a:lnTo>
                <a:lnTo>
                  <a:pt x="1107313" y="481838"/>
                </a:lnTo>
                <a:lnTo>
                  <a:pt x="1137792" y="521335"/>
                </a:lnTo>
                <a:lnTo>
                  <a:pt x="1183513" y="539242"/>
                </a:lnTo>
                <a:lnTo>
                  <a:pt x="1230630" y="539242"/>
                </a:lnTo>
                <a:lnTo>
                  <a:pt x="1277620" y="521335"/>
                </a:lnTo>
                <a:lnTo>
                  <a:pt x="1306957" y="481838"/>
                </a:lnTo>
                <a:lnTo>
                  <a:pt x="1319657" y="434848"/>
                </a:lnTo>
                <a:close/>
              </a:path>
              <a:path w="1536064" h="877570">
                <a:moveTo>
                  <a:pt x="0" y="434848"/>
                </a:moveTo>
                <a:lnTo>
                  <a:pt x="217297" y="434848"/>
                </a:lnTo>
              </a:path>
              <a:path w="1536064" h="877570">
                <a:moveTo>
                  <a:pt x="1319657" y="434848"/>
                </a:moveTo>
                <a:lnTo>
                  <a:pt x="1535684" y="434848"/>
                </a:lnTo>
              </a:path>
            </a:pathLst>
          </a:custGeom>
          <a:ln w="12192">
            <a:solidFill>
              <a:srgbClr val="000000"/>
            </a:solidFill>
          </a:ln>
        </p:spPr>
        <p:txBody>
          <a:bodyPr wrap="square" lIns="0" tIns="0" rIns="0" bIns="0" rtlCol="0"/>
          <a:lstStyle/>
          <a:p>
            <a:endParaRPr/>
          </a:p>
        </p:txBody>
      </p:sp>
      <p:sp>
        <p:nvSpPr>
          <p:cNvPr id="22" name="object 22"/>
          <p:cNvSpPr txBox="1"/>
          <p:nvPr/>
        </p:nvSpPr>
        <p:spPr>
          <a:xfrm>
            <a:off x="5841619" y="130886"/>
            <a:ext cx="1872614" cy="384810"/>
          </a:xfrm>
          <a:prstGeom prst="rect">
            <a:avLst/>
          </a:prstGeom>
        </p:spPr>
        <p:txBody>
          <a:bodyPr vert="horz" wrap="square" lIns="0" tIns="13335" rIns="0" bIns="0" rtlCol="0">
            <a:spAutoFit/>
          </a:bodyPr>
          <a:lstStyle/>
          <a:p>
            <a:pPr marL="12700">
              <a:spcBef>
                <a:spcPts val="105"/>
              </a:spcBef>
            </a:pPr>
            <a:r>
              <a:rPr sz="2350" spc="10" dirty="0">
                <a:latin typeface="Times New Roman"/>
                <a:cs typeface="Times New Roman"/>
              </a:rPr>
              <a:t>C</a:t>
            </a:r>
            <a:r>
              <a:rPr sz="2350" dirty="0">
                <a:latin typeface="Times New Roman"/>
                <a:cs typeface="Times New Roman"/>
              </a:rPr>
              <a:t>M</a:t>
            </a:r>
            <a:r>
              <a:rPr sz="2350" spc="20" dirty="0">
                <a:latin typeface="Times New Roman"/>
                <a:cs typeface="Times New Roman"/>
              </a:rPr>
              <a:t>O</a:t>
            </a:r>
            <a:r>
              <a:rPr sz="2350" dirty="0">
                <a:latin typeface="Times New Roman"/>
                <a:cs typeface="Times New Roman"/>
              </a:rPr>
              <a:t>S</a:t>
            </a:r>
            <a:r>
              <a:rPr sz="2350" spc="-95" dirty="0">
                <a:latin typeface="Times New Roman"/>
                <a:cs typeface="Times New Roman"/>
              </a:rPr>
              <a:t> </a:t>
            </a:r>
            <a:r>
              <a:rPr sz="2350" spc="-20" dirty="0">
                <a:latin typeface="Times New Roman"/>
                <a:cs typeface="Times New Roman"/>
              </a:rPr>
              <a:t>I</a:t>
            </a:r>
            <a:r>
              <a:rPr sz="2350" spc="-15" dirty="0">
                <a:latin typeface="Times New Roman"/>
                <a:cs typeface="Times New Roman"/>
              </a:rPr>
              <a:t>nve</a:t>
            </a:r>
            <a:r>
              <a:rPr sz="2350" spc="-20" dirty="0">
                <a:latin typeface="Times New Roman"/>
                <a:cs typeface="Times New Roman"/>
              </a:rPr>
              <a:t>rt</a:t>
            </a:r>
            <a:r>
              <a:rPr sz="2350" spc="-15" dirty="0">
                <a:latin typeface="Times New Roman"/>
                <a:cs typeface="Times New Roman"/>
              </a:rPr>
              <a:t>e</a:t>
            </a:r>
            <a:r>
              <a:rPr sz="2350" dirty="0">
                <a:latin typeface="Times New Roman"/>
                <a:cs typeface="Times New Roman"/>
              </a:rPr>
              <a:t>r</a:t>
            </a:r>
            <a:endParaRPr sz="2350">
              <a:latin typeface="Times New Roman"/>
              <a:cs typeface="Times New Roman"/>
            </a:endParaRPr>
          </a:p>
        </p:txBody>
      </p:sp>
      <p:sp>
        <p:nvSpPr>
          <p:cNvPr id="24" name="object 24"/>
          <p:cNvSpPr txBox="1"/>
          <p:nvPr/>
        </p:nvSpPr>
        <p:spPr>
          <a:xfrm>
            <a:off x="5497449" y="6375603"/>
            <a:ext cx="1928495" cy="338554"/>
          </a:xfrm>
          <a:prstGeom prst="rect">
            <a:avLst/>
          </a:prstGeom>
        </p:spPr>
        <p:txBody>
          <a:bodyPr vert="horz" wrap="square" lIns="0" tIns="0" rIns="0" bIns="0" rtlCol="0">
            <a:spAutoFit/>
          </a:bodyPr>
          <a:lstStyle/>
          <a:p>
            <a:pPr marL="12700">
              <a:lnSpc>
                <a:spcPts val="1240"/>
              </a:lnSpc>
            </a:pPr>
            <a:r>
              <a:rPr sz="1200" spc="5" dirty="0">
                <a:solidFill>
                  <a:srgbClr val="878787"/>
                </a:solidFill>
                <a:latin typeface="Calibri"/>
                <a:cs typeface="Calibri"/>
              </a:rPr>
              <a:t>C</a:t>
            </a:r>
            <a:r>
              <a:rPr sz="1200" spc="15" dirty="0">
                <a:solidFill>
                  <a:srgbClr val="878787"/>
                </a:solidFill>
                <a:latin typeface="Calibri"/>
                <a:cs typeface="Calibri"/>
              </a:rPr>
              <a:t>M</a:t>
            </a:r>
            <a:r>
              <a:rPr sz="1200" spc="5" dirty="0">
                <a:solidFill>
                  <a:srgbClr val="878787"/>
                </a:solidFill>
                <a:latin typeface="Calibri"/>
                <a:cs typeface="Calibri"/>
              </a:rPr>
              <a:t>O</a:t>
            </a:r>
            <a:r>
              <a:rPr sz="1200" dirty="0">
                <a:solidFill>
                  <a:srgbClr val="878787"/>
                </a:solidFill>
                <a:latin typeface="Calibri"/>
                <a:cs typeface="Calibri"/>
              </a:rPr>
              <a:t>S</a:t>
            </a:r>
            <a:r>
              <a:rPr sz="1200" spc="-30" dirty="0">
                <a:solidFill>
                  <a:srgbClr val="878787"/>
                </a:solidFill>
                <a:latin typeface="Calibri"/>
                <a:cs typeface="Calibri"/>
              </a:rPr>
              <a:t> </a:t>
            </a:r>
            <a:r>
              <a:rPr sz="1200" dirty="0">
                <a:solidFill>
                  <a:srgbClr val="878787"/>
                </a:solidFill>
                <a:latin typeface="Calibri"/>
                <a:cs typeface="Calibri"/>
              </a:rPr>
              <a:t>Digi</a:t>
            </a:r>
            <a:r>
              <a:rPr sz="1200" spc="-10" dirty="0">
                <a:solidFill>
                  <a:srgbClr val="878787"/>
                </a:solidFill>
                <a:latin typeface="Calibri"/>
                <a:cs typeface="Calibri"/>
              </a:rPr>
              <a:t>t</a:t>
            </a:r>
            <a:r>
              <a:rPr sz="1200" dirty="0">
                <a:solidFill>
                  <a:srgbClr val="878787"/>
                </a:solidFill>
                <a:latin typeface="Calibri"/>
                <a:cs typeface="Calibri"/>
              </a:rPr>
              <a:t>al</a:t>
            </a:r>
            <a:r>
              <a:rPr sz="1200" spc="-45" dirty="0">
                <a:solidFill>
                  <a:srgbClr val="878787"/>
                </a:solidFill>
                <a:latin typeface="Calibri"/>
                <a:cs typeface="Calibri"/>
              </a:rPr>
              <a:t> </a:t>
            </a:r>
            <a:r>
              <a:rPr sz="1200" dirty="0">
                <a:solidFill>
                  <a:srgbClr val="878787"/>
                </a:solidFill>
                <a:latin typeface="Calibri"/>
                <a:cs typeface="Calibri"/>
              </a:rPr>
              <a:t>I</a:t>
            </a:r>
            <a:r>
              <a:rPr sz="1200" spc="-10" dirty="0">
                <a:solidFill>
                  <a:srgbClr val="878787"/>
                </a:solidFill>
                <a:latin typeface="Calibri"/>
                <a:cs typeface="Calibri"/>
              </a:rPr>
              <a:t>nt</a:t>
            </a:r>
            <a:r>
              <a:rPr sz="1200" dirty="0">
                <a:solidFill>
                  <a:srgbClr val="878787"/>
                </a:solidFill>
                <a:latin typeface="Calibri"/>
                <a:cs typeface="Calibri"/>
              </a:rPr>
              <a:t>eg</a:t>
            </a:r>
            <a:r>
              <a:rPr sz="1200" spc="-25" dirty="0">
                <a:solidFill>
                  <a:srgbClr val="878787"/>
                </a:solidFill>
                <a:latin typeface="Calibri"/>
                <a:cs typeface="Calibri"/>
              </a:rPr>
              <a:t>r</a:t>
            </a:r>
            <a:r>
              <a:rPr sz="1200" spc="-15" dirty="0">
                <a:solidFill>
                  <a:srgbClr val="878787"/>
                </a:solidFill>
                <a:latin typeface="Calibri"/>
                <a:cs typeface="Calibri"/>
              </a:rPr>
              <a:t>a</a:t>
            </a:r>
            <a:r>
              <a:rPr sz="1200" spc="-10" dirty="0">
                <a:solidFill>
                  <a:srgbClr val="878787"/>
                </a:solidFill>
                <a:latin typeface="Calibri"/>
                <a:cs typeface="Calibri"/>
              </a:rPr>
              <a:t>t</a:t>
            </a:r>
            <a:r>
              <a:rPr sz="1200" dirty="0">
                <a:solidFill>
                  <a:srgbClr val="878787"/>
                </a:solidFill>
                <a:latin typeface="Calibri"/>
                <a:cs typeface="Calibri"/>
              </a:rPr>
              <a:t>ed</a:t>
            </a:r>
            <a:r>
              <a:rPr sz="1200" spc="-110" dirty="0">
                <a:solidFill>
                  <a:srgbClr val="878787"/>
                </a:solidFill>
                <a:latin typeface="Calibri"/>
                <a:cs typeface="Calibri"/>
              </a:rPr>
              <a:t> </a:t>
            </a:r>
            <a:r>
              <a:rPr sz="1200" spc="-5" dirty="0">
                <a:solidFill>
                  <a:srgbClr val="878787"/>
                </a:solidFill>
                <a:latin typeface="Calibri"/>
                <a:cs typeface="Calibri"/>
              </a:rPr>
              <a:t>C</a:t>
            </a:r>
            <a:r>
              <a:rPr sz="1200" dirty="0">
                <a:solidFill>
                  <a:srgbClr val="878787"/>
                </a:solidFill>
                <a:latin typeface="Calibri"/>
                <a:cs typeface="Calibri"/>
              </a:rPr>
              <a:t>i</a:t>
            </a:r>
            <a:r>
              <a:rPr sz="1200" spc="-15" dirty="0">
                <a:solidFill>
                  <a:srgbClr val="878787"/>
                </a:solidFill>
                <a:latin typeface="Calibri"/>
                <a:cs typeface="Calibri"/>
              </a:rPr>
              <a:t>r</a:t>
            </a:r>
            <a:r>
              <a:rPr sz="1200" spc="-5" dirty="0">
                <a:solidFill>
                  <a:srgbClr val="878787"/>
                </a:solidFill>
                <a:latin typeface="Calibri"/>
                <a:cs typeface="Calibri"/>
              </a:rPr>
              <a:t>c</a:t>
            </a:r>
            <a:r>
              <a:rPr sz="1200" dirty="0">
                <a:solidFill>
                  <a:srgbClr val="878787"/>
                </a:solidFill>
                <a:latin typeface="Calibri"/>
                <a:cs typeface="Calibri"/>
              </a:rPr>
              <a:t>u</a:t>
            </a:r>
            <a:r>
              <a:rPr sz="1200" spc="-15" dirty="0">
                <a:solidFill>
                  <a:srgbClr val="878787"/>
                </a:solidFill>
                <a:latin typeface="Calibri"/>
                <a:cs typeface="Calibri"/>
              </a:rPr>
              <a:t>i</a:t>
            </a:r>
            <a:r>
              <a:rPr sz="1200" dirty="0">
                <a:solidFill>
                  <a:srgbClr val="878787"/>
                </a:solidFill>
                <a:latin typeface="Calibri"/>
                <a:cs typeface="Calibri"/>
              </a:rPr>
              <a:t>t</a:t>
            </a:r>
            <a:endParaRPr sz="1200">
              <a:latin typeface="Calibri"/>
              <a:cs typeface="Calibri"/>
            </a:endParaRPr>
          </a:p>
          <a:p>
            <a:pPr marL="408305"/>
            <a:r>
              <a:rPr sz="1200" spc="5" dirty="0">
                <a:solidFill>
                  <a:srgbClr val="878787"/>
                </a:solidFill>
                <a:latin typeface="Calibri"/>
                <a:cs typeface="Calibri"/>
              </a:rPr>
              <a:t>U</a:t>
            </a:r>
            <a:r>
              <a:rPr sz="1200" spc="15" dirty="0">
                <a:solidFill>
                  <a:srgbClr val="878787"/>
                </a:solidFill>
                <a:latin typeface="Calibri"/>
                <a:cs typeface="Calibri"/>
              </a:rPr>
              <a:t>n</a:t>
            </a:r>
            <a:r>
              <a:rPr sz="1200" spc="10" dirty="0">
                <a:solidFill>
                  <a:srgbClr val="878787"/>
                </a:solidFill>
                <a:latin typeface="Calibri"/>
                <a:cs typeface="Calibri"/>
              </a:rPr>
              <a:t>i</a:t>
            </a:r>
            <a:r>
              <a:rPr sz="1200" dirty="0">
                <a:solidFill>
                  <a:srgbClr val="878787"/>
                </a:solidFill>
                <a:latin typeface="Calibri"/>
                <a:cs typeface="Calibri"/>
              </a:rPr>
              <a:t>t</a:t>
            </a:r>
            <a:r>
              <a:rPr sz="1200" spc="-50" dirty="0">
                <a:solidFill>
                  <a:srgbClr val="878787"/>
                </a:solidFill>
                <a:latin typeface="Calibri"/>
                <a:cs typeface="Calibri"/>
              </a:rPr>
              <a:t> </a:t>
            </a:r>
            <a:r>
              <a:rPr sz="1200" dirty="0">
                <a:solidFill>
                  <a:srgbClr val="878787"/>
                </a:solidFill>
                <a:latin typeface="Calibri"/>
                <a:cs typeface="Calibri"/>
              </a:rPr>
              <a:t>1</a:t>
            </a:r>
            <a:endParaRPr sz="1200">
              <a:latin typeface="Calibri"/>
              <a:cs typeface="Calibri"/>
            </a:endParaRPr>
          </a:p>
        </p:txBody>
      </p:sp>
      <p:sp>
        <p:nvSpPr>
          <p:cNvPr id="25" name="Footer Placeholder 24"/>
          <p:cNvSpPr>
            <a:spLocks noGrp="1"/>
          </p:cNvSpPr>
          <p:nvPr>
            <p:ph type="ftr" sz="quarter" idx="4294967295"/>
          </p:nvPr>
        </p:nvSpPr>
        <p:spPr/>
        <p:txBody>
          <a:bodyPr/>
          <a:lstStyle/>
          <a:p>
            <a:r>
              <a:rPr lang="en-IN"/>
              <a:t>CMOS</a:t>
            </a:r>
          </a:p>
        </p:txBody>
      </p:sp>
      <p:sp>
        <p:nvSpPr>
          <p:cNvPr id="26" name="Slide Number Placeholder 25"/>
          <p:cNvSpPr>
            <a:spLocks noGrp="1"/>
          </p:cNvSpPr>
          <p:nvPr>
            <p:ph type="sldNum" sz="quarter" idx="4294967295"/>
          </p:nvPr>
        </p:nvSpPr>
        <p:spPr/>
        <p:txBody>
          <a:bodyPr/>
          <a:lstStyle/>
          <a:p>
            <a:pPr marL="38100">
              <a:lnSpc>
                <a:spcPts val="1240"/>
              </a:lnSpc>
            </a:pPr>
            <a:fld id="{81D60167-4931-47E6-BA6A-407CBD079E47}" type="slidenum">
              <a:rPr lang="en-IN" smtClean="0"/>
              <a:pPr marL="38100">
                <a:lnSpc>
                  <a:spcPts val="1240"/>
                </a:lnSpc>
              </a:pPr>
              <a:t>79</a:t>
            </a:fld>
            <a:endParaRPr lang="en-IN" dirty="0"/>
          </a:p>
        </p:txBody>
      </p:sp>
      <p:sp>
        <p:nvSpPr>
          <p:cNvPr id="17" name="Date Placeholder 16"/>
          <p:cNvSpPr>
            <a:spLocks noGrp="1"/>
          </p:cNvSpPr>
          <p:nvPr>
            <p:ph type="dt" sz="half" idx="10"/>
          </p:nvPr>
        </p:nvSpPr>
        <p:spPr/>
        <p:txBody>
          <a:bodyPr/>
          <a:lstStyle/>
          <a:p>
            <a:fld id="{DF377551-95CB-46D7-A260-B9EA110D1301}" type="datetime1">
              <a:rPr lang="en-US" smtClean="0"/>
              <a:t>9/9/2025</a:t>
            </a:fld>
            <a:endParaRPr lang="en-IN"/>
          </a:p>
        </p:txBody>
      </p:sp>
      <p:sp>
        <p:nvSpPr>
          <p:cNvPr id="19" name="TextBox 18">
            <a:extLst>
              <a:ext uri="{FF2B5EF4-FFF2-40B4-BE49-F238E27FC236}">
                <a16:creationId xmlns:a16="http://schemas.microsoft.com/office/drawing/2014/main" id="{9FBC41C7-4FC0-B3E4-0459-71A3B0A78DE9}"/>
              </a:ext>
            </a:extLst>
          </p:cNvPr>
          <p:cNvSpPr txBox="1"/>
          <p:nvPr/>
        </p:nvSpPr>
        <p:spPr>
          <a:xfrm>
            <a:off x="1572" y="1176414"/>
            <a:ext cx="6094428" cy="369332"/>
          </a:xfrm>
          <a:prstGeom prst="rect">
            <a:avLst/>
          </a:prstGeom>
          <a:noFill/>
        </p:spPr>
        <p:txBody>
          <a:bodyPr wrap="square">
            <a:spAutoFit/>
          </a:bodyPr>
          <a:lstStyle/>
          <a:p>
            <a:pPr algn="ctr"/>
            <a:r>
              <a:rPr lang="en-IN" b="1" dirty="0">
                <a:latin typeface="Arial MT"/>
              </a:rPr>
              <a:t>TRUTH TABLE</a:t>
            </a:r>
            <a:endParaRPr lang="en-IN" b="1" dirty="0"/>
          </a:p>
        </p:txBody>
      </p:sp>
    </p:spTree>
    <p:extLst>
      <p:ext uri="{BB962C8B-B14F-4D97-AF65-F5344CB8AC3E}">
        <p14:creationId xmlns:p14="http://schemas.microsoft.com/office/powerpoint/2010/main" val="939756086"/>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930908" y="1014983"/>
            <a:ext cx="2496312" cy="3200400"/>
          </a:xfrm>
          <a:prstGeom prst="rect">
            <a:avLst/>
          </a:prstGeom>
        </p:spPr>
      </p:pic>
      <p:sp>
        <p:nvSpPr>
          <p:cNvPr id="3" name="object 3"/>
          <p:cNvSpPr/>
          <p:nvPr/>
        </p:nvSpPr>
        <p:spPr>
          <a:xfrm>
            <a:off x="1981963" y="4728209"/>
            <a:ext cx="2359025" cy="914400"/>
          </a:xfrm>
          <a:custGeom>
            <a:avLst/>
            <a:gdLst/>
            <a:ahLst/>
            <a:cxnLst/>
            <a:rect l="l" t="t" r="r" b="b"/>
            <a:pathLst>
              <a:path w="2359025" h="914400">
                <a:moveTo>
                  <a:pt x="1179321" y="914399"/>
                </a:moveTo>
                <a:lnTo>
                  <a:pt x="0" y="914399"/>
                </a:lnTo>
                <a:lnTo>
                  <a:pt x="0" y="0"/>
                </a:lnTo>
                <a:lnTo>
                  <a:pt x="2358644" y="0"/>
                </a:lnTo>
                <a:lnTo>
                  <a:pt x="2358644" y="914399"/>
                </a:lnTo>
                <a:lnTo>
                  <a:pt x="1179321" y="914399"/>
                </a:lnTo>
                <a:close/>
              </a:path>
            </a:pathLst>
          </a:custGeom>
          <a:ln w="38100">
            <a:solidFill>
              <a:srgbClr val="A046FF"/>
            </a:solidFill>
          </a:ln>
        </p:spPr>
        <p:txBody>
          <a:bodyPr wrap="square" lIns="0" tIns="0" rIns="0" bIns="0" rtlCol="0"/>
          <a:lstStyle/>
          <a:p>
            <a:endParaRPr/>
          </a:p>
        </p:txBody>
      </p:sp>
      <p:sp>
        <p:nvSpPr>
          <p:cNvPr id="4" name="object 4"/>
          <p:cNvSpPr txBox="1"/>
          <p:nvPr/>
        </p:nvSpPr>
        <p:spPr>
          <a:xfrm>
            <a:off x="2071726" y="4746497"/>
            <a:ext cx="2221865" cy="948978"/>
          </a:xfrm>
          <a:prstGeom prst="rect">
            <a:avLst/>
          </a:prstGeom>
        </p:spPr>
        <p:txBody>
          <a:bodyPr vert="horz" wrap="square" lIns="0" tIns="25400" rIns="0" bIns="0" rtlCol="0">
            <a:spAutoFit/>
          </a:bodyPr>
          <a:lstStyle/>
          <a:p>
            <a:pPr marR="5080" algn="just">
              <a:lnSpc>
                <a:spcPts val="2380"/>
              </a:lnSpc>
              <a:spcBef>
                <a:spcPts val="200"/>
              </a:spcBef>
            </a:pPr>
            <a:r>
              <a:rPr sz="2000" dirty="0">
                <a:latin typeface="Times New Roman"/>
                <a:cs typeface="Times New Roman"/>
              </a:rPr>
              <a:t>A</a:t>
            </a:r>
            <a:r>
              <a:rPr sz="2000" spc="5" dirty="0">
                <a:latin typeface="Times New Roman"/>
                <a:cs typeface="Times New Roman"/>
              </a:rPr>
              <a:t> CMOS</a:t>
            </a:r>
            <a:r>
              <a:rPr sz="2000" spc="10" dirty="0">
                <a:latin typeface="Times New Roman"/>
                <a:cs typeface="Times New Roman"/>
              </a:rPr>
              <a:t> </a:t>
            </a:r>
            <a:r>
              <a:rPr sz="2000" spc="-25" dirty="0">
                <a:latin typeface="Times New Roman"/>
                <a:cs typeface="Times New Roman"/>
              </a:rPr>
              <a:t>inverter </a:t>
            </a:r>
            <a:r>
              <a:rPr sz="2000" spc="-484" dirty="0">
                <a:latin typeface="Times New Roman"/>
                <a:cs typeface="Times New Roman"/>
              </a:rPr>
              <a:t> </a:t>
            </a:r>
            <a:r>
              <a:rPr sz="2000" spc="-5" dirty="0">
                <a:latin typeface="Times New Roman"/>
                <a:cs typeface="Times New Roman"/>
              </a:rPr>
              <a:t>uses </a:t>
            </a:r>
            <a:r>
              <a:rPr sz="2000" spc="5" dirty="0">
                <a:latin typeface="Times New Roman"/>
                <a:cs typeface="Times New Roman"/>
              </a:rPr>
              <a:t>one </a:t>
            </a:r>
            <a:r>
              <a:rPr sz="2000" spc="-15" dirty="0">
                <a:latin typeface="Times New Roman"/>
                <a:cs typeface="Times New Roman"/>
              </a:rPr>
              <a:t>NMOS </a:t>
            </a:r>
            <a:r>
              <a:rPr sz="2000" spc="-25" dirty="0">
                <a:latin typeface="Times New Roman"/>
                <a:cs typeface="Times New Roman"/>
              </a:rPr>
              <a:t>and </a:t>
            </a:r>
            <a:r>
              <a:rPr sz="2000" spc="-20" dirty="0">
                <a:latin typeface="Times New Roman"/>
                <a:cs typeface="Times New Roman"/>
              </a:rPr>
              <a:t> </a:t>
            </a:r>
            <a:r>
              <a:rPr sz="2000" spc="5" dirty="0">
                <a:latin typeface="Times New Roman"/>
                <a:cs typeface="Times New Roman"/>
              </a:rPr>
              <a:t>on</a:t>
            </a:r>
            <a:r>
              <a:rPr sz="2000" dirty="0">
                <a:latin typeface="Times New Roman"/>
                <a:cs typeface="Times New Roman"/>
              </a:rPr>
              <a:t>e</a:t>
            </a:r>
            <a:r>
              <a:rPr sz="2000" spc="-120" dirty="0">
                <a:latin typeface="Times New Roman"/>
                <a:cs typeface="Times New Roman"/>
              </a:rPr>
              <a:t> </a:t>
            </a:r>
            <a:r>
              <a:rPr sz="2000" spc="35" dirty="0">
                <a:latin typeface="Times New Roman"/>
                <a:cs typeface="Times New Roman"/>
              </a:rPr>
              <a:t>P</a:t>
            </a:r>
            <a:r>
              <a:rPr sz="2000" spc="15" dirty="0">
                <a:latin typeface="Times New Roman"/>
                <a:cs typeface="Times New Roman"/>
              </a:rPr>
              <a:t>M</a:t>
            </a:r>
            <a:r>
              <a:rPr sz="2000" spc="5" dirty="0">
                <a:latin typeface="Times New Roman"/>
                <a:cs typeface="Times New Roman"/>
              </a:rPr>
              <a:t>O</a:t>
            </a:r>
            <a:r>
              <a:rPr sz="2000" dirty="0">
                <a:latin typeface="Times New Roman"/>
                <a:cs typeface="Times New Roman"/>
              </a:rPr>
              <a:t>S</a:t>
            </a:r>
            <a:r>
              <a:rPr sz="2000" spc="-114" dirty="0">
                <a:latin typeface="Times New Roman"/>
                <a:cs typeface="Times New Roman"/>
              </a:rPr>
              <a:t> </a:t>
            </a:r>
            <a:r>
              <a:rPr sz="2000" spc="5" dirty="0">
                <a:latin typeface="Times New Roman"/>
                <a:cs typeface="Times New Roman"/>
              </a:rPr>
              <a:t>t</a:t>
            </a:r>
            <a:r>
              <a:rPr sz="2000" spc="-20" dirty="0">
                <a:latin typeface="Times New Roman"/>
                <a:cs typeface="Times New Roman"/>
              </a:rPr>
              <a:t>r</a:t>
            </a:r>
            <a:r>
              <a:rPr sz="2000" spc="-40" dirty="0">
                <a:latin typeface="Times New Roman"/>
                <a:cs typeface="Times New Roman"/>
              </a:rPr>
              <a:t>a</a:t>
            </a:r>
            <a:r>
              <a:rPr sz="2000" spc="5" dirty="0">
                <a:latin typeface="Times New Roman"/>
                <a:cs typeface="Times New Roman"/>
              </a:rPr>
              <a:t>n</a:t>
            </a:r>
            <a:r>
              <a:rPr sz="2000" dirty="0">
                <a:latin typeface="Times New Roman"/>
                <a:cs typeface="Times New Roman"/>
              </a:rPr>
              <a:t>s</a:t>
            </a:r>
            <a:r>
              <a:rPr sz="2000" spc="15" dirty="0">
                <a:latin typeface="Times New Roman"/>
                <a:cs typeface="Times New Roman"/>
              </a:rPr>
              <a:t>i</a:t>
            </a:r>
            <a:r>
              <a:rPr sz="2000" dirty="0">
                <a:latin typeface="Times New Roman"/>
                <a:cs typeface="Times New Roman"/>
              </a:rPr>
              <a:t>s</a:t>
            </a:r>
            <a:r>
              <a:rPr sz="2000" spc="5" dirty="0">
                <a:latin typeface="Times New Roman"/>
                <a:cs typeface="Times New Roman"/>
              </a:rPr>
              <a:t>to</a:t>
            </a:r>
            <a:r>
              <a:rPr sz="2000" spc="-260" dirty="0">
                <a:latin typeface="Times New Roman"/>
                <a:cs typeface="Times New Roman"/>
              </a:rPr>
              <a:t>r</a:t>
            </a:r>
            <a:r>
              <a:rPr sz="2000" dirty="0">
                <a:latin typeface="Times New Roman"/>
                <a:cs typeface="Times New Roman"/>
              </a:rPr>
              <a:t>.</a:t>
            </a:r>
            <a:endParaRPr sz="2000">
              <a:latin typeface="Times New Roman"/>
              <a:cs typeface="Times New Roman"/>
            </a:endParaRPr>
          </a:p>
        </p:txBody>
      </p:sp>
      <p:pic>
        <p:nvPicPr>
          <p:cNvPr id="5" name="object 5"/>
          <p:cNvPicPr/>
          <p:nvPr/>
        </p:nvPicPr>
        <p:blipFill>
          <a:blip r:embed="rId3" cstate="print"/>
          <a:stretch>
            <a:fillRect/>
          </a:stretch>
        </p:blipFill>
        <p:spPr>
          <a:xfrm>
            <a:off x="4797552" y="987552"/>
            <a:ext cx="2441448" cy="2897124"/>
          </a:xfrm>
          <a:prstGeom prst="rect">
            <a:avLst/>
          </a:prstGeom>
        </p:spPr>
      </p:pic>
      <p:sp>
        <p:nvSpPr>
          <p:cNvPr id="6" name="object 6"/>
          <p:cNvSpPr/>
          <p:nvPr/>
        </p:nvSpPr>
        <p:spPr>
          <a:xfrm>
            <a:off x="4652010" y="4280154"/>
            <a:ext cx="2971800" cy="1892935"/>
          </a:xfrm>
          <a:custGeom>
            <a:avLst/>
            <a:gdLst/>
            <a:ahLst/>
            <a:cxnLst/>
            <a:rect l="l" t="t" r="r" b="b"/>
            <a:pathLst>
              <a:path w="2971800" h="1892935">
                <a:moveTo>
                  <a:pt x="0" y="1892808"/>
                </a:moveTo>
                <a:lnTo>
                  <a:pt x="2971800" y="1892808"/>
                </a:lnTo>
                <a:lnTo>
                  <a:pt x="2971800" y="0"/>
                </a:lnTo>
                <a:lnTo>
                  <a:pt x="0" y="0"/>
                </a:lnTo>
                <a:lnTo>
                  <a:pt x="0" y="1892808"/>
                </a:lnTo>
                <a:close/>
              </a:path>
            </a:pathLst>
          </a:custGeom>
          <a:ln w="38100">
            <a:solidFill>
              <a:srgbClr val="9F009F"/>
            </a:solidFill>
          </a:ln>
        </p:spPr>
        <p:txBody>
          <a:bodyPr wrap="square" lIns="0" tIns="0" rIns="0" bIns="0" rtlCol="0"/>
          <a:lstStyle/>
          <a:p>
            <a:endParaRPr/>
          </a:p>
        </p:txBody>
      </p:sp>
      <p:sp>
        <p:nvSpPr>
          <p:cNvPr id="7" name="object 7"/>
          <p:cNvSpPr txBox="1"/>
          <p:nvPr/>
        </p:nvSpPr>
        <p:spPr>
          <a:xfrm>
            <a:off x="4743323" y="4302378"/>
            <a:ext cx="2833370" cy="1855470"/>
          </a:xfrm>
          <a:prstGeom prst="rect">
            <a:avLst/>
          </a:prstGeom>
        </p:spPr>
        <p:txBody>
          <a:bodyPr vert="horz" wrap="square" lIns="0" tIns="12700" rIns="0" bIns="0" rtlCol="0">
            <a:spAutoFit/>
          </a:bodyPr>
          <a:lstStyle/>
          <a:p>
            <a:pPr marR="5080" algn="just">
              <a:spcBef>
                <a:spcPts val="100"/>
              </a:spcBef>
            </a:pPr>
            <a:r>
              <a:rPr sz="2000" dirty="0">
                <a:latin typeface="Times New Roman"/>
                <a:cs typeface="Times New Roman"/>
              </a:rPr>
              <a:t>A </a:t>
            </a:r>
            <a:r>
              <a:rPr sz="2000" spc="-15" dirty="0">
                <a:latin typeface="Times New Roman"/>
                <a:cs typeface="Times New Roman"/>
              </a:rPr>
              <a:t>simplified</a:t>
            </a:r>
            <a:r>
              <a:rPr sz="2000" spc="-10" dirty="0">
                <a:latin typeface="Times New Roman"/>
                <a:cs typeface="Times New Roman"/>
              </a:rPr>
              <a:t> </a:t>
            </a:r>
            <a:r>
              <a:rPr sz="2000" spc="-25" dirty="0">
                <a:latin typeface="Times New Roman"/>
                <a:cs typeface="Times New Roman"/>
              </a:rPr>
              <a:t>model </a:t>
            </a:r>
            <a:r>
              <a:rPr sz="2000" dirty="0">
                <a:latin typeface="Times New Roman"/>
                <a:cs typeface="Times New Roman"/>
              </a:rPr>
              <a:t>of </a:t>
            </a:r>
            <a:r>
              <a:rPr sz="2000" spc="5" dirty="0">
                <a:latin typeface="Times New Roman"/>
                <a:cs typeface="Times New Roman"/>
              </a:rPr>
              <a:t>the </a:t>
            </a:r>
            <a:r>
              <a:rPr sz="2000" spc="10" dirty="0">
                <a:latin typeface="Times New Roman"/>
                <a:cs typeface="Times New Roman"/>
              </a:rPr>
              <a:t> </a:t>
            </a:r>
            <a:r>
              <a:rPr sz="2000" spc="-20" dirty="0">
                <a:latin typeface="Times New Roman"/>
                <a:cs typeface="Times New Roman"/>
              </a:rPr>
              <a:t>inverter</a:t>
            </a:r>
            <a:r>
              <a:rPr sz="2000" spc="-15" dirty="0">
                <a:latin typeface="Times New Roman"/>
                <a:cs typeface="Times New Roman"/>
              </a:rPr>
              <a:t> </a:t>
            </a:r>
            <a:r>
              <a:rPr sz="2000" spc="-5" dirty="0">
                <a:latin typeface="Times New Roman"/>
                <a:cs typeface="Times New Roman"/>
              </a:rPr>
              <a:t>for</a:t>
            </a:r>
            <a:r>
              <a:rPr sz="2000" dirty="0">
                <a:latin typeface="Times New Roman"/>
                <a:cs typeface="Times New Roman"/>
              </a:rPr>
              <a:t> a</a:t>
            </a:r>
            <a:r>
              <a:rPr sz="2000" spc="5" dirty="0">
                <a:latin typeface="Times New Roman"/>
                <a:cs typeface="Times New Roman"/>
              </a:rPr>
              <a:t> </a:t>
            </a:r>
            <a:r>
              <a:rPr sz="2000" spc="-10" dirty="0">
                <a:latin typeface="Times New Roman"/>
                <a:cs typeface="Times New Roman"/>
              </a:rPr>
              <a:t>high</a:t>
            </a:r>
            <a:r>
              <a:rPr sz="2000" spc="-5" dirty="0">
                <a:latin typeface="Times New Roman"/>
                <a:cs typeface="Times New Roman"/>
              </a:rPr>
              <a:t> </a:t>
            </a:r>
            <a:r>
              <a:rPr sz="2000" spc="-10" dirty="0">
                <a:latin typeface="Times New Roman"/>
                <a:cs typeface="Times New Roman"/>
              </a:rPr>
              <a:t>input </a:t>
            </a:r>
            <a:r>
              <a:rPr sz="2000" spc="-5" dirty="0">
                <a:latin typeface="Times New Roman"/>
                <a:cs typeface="Times New Roman"/>
              </a:rPr>
              <a:t> </a:t>
            </a:r>
            <a:r>
              <a:rPr sz="2000" spc="-20" dirty="0">
                <a:latin typeface="Times New Roman"/>
                <a:cs typeface="Times New Roman"/>
              </a:rPr>
              <a:t>level. </a:t>
            </a:r>
            <a:r>
              <a:rPr sz="2000" spc="-15" dirty="0">
                <a:latin typeface="Times New Roman"/>
                <a:cs typeface="Times New Roman"/>
              </a:rPr>
              <a:t>The </a:t>
            </a:r>
            <a:r>
              <a:rPr sz="2000" dirty="0">
                <a:latin typeface="Times New Roman"/>
                <a:cs typeface="Times New Roman"/>
              </a:rPr>
              <a:t>output is </a:t>
            </a:r>
            <a:r>
              <a:rPr sz="2000" spc="-15" dirty="0">
                <a:latin typeface="Times New Roman"/>
                <a:cs typeface="Times New Roman"/>
              </a:rPr>
              <a:t>forced </a:t>
            </a:r>
            <a:r>
              <a:rPr sz="2000" spc="-10" dirty="0">
                <a:latin typeface="Times New Roman"/>
                <a:cs typeface="Times New Roman"/>
              </a:rPr>
              <a:t> </a:t>
            </a:r>
            <a:r>
              <a:rPr sz="2000" dirty="0">
                <a:latin typeface="Times New Roman"/>
                <a:cs typeface="Times New Roman"/>
              </a:rPr>
              <a:t>to</a:t>
            </a:r>
            <a:r>
              <a:rPr sz="2000" spc="5" dirty="0">
                <a:latin typeface="Times New Roman"/>
                <a:cs typeface="Times New Roman"/>
              </a:rPr>
              <a:t> </a:t>
            </a:r>
            <a:r>
              <a:rPr sz="2000" spc="-20" dirty="0">
                <a:latin typeface="Times New Roman"/>
                <a:cs typeface="Times New Roman"/>
              </a:rPr>
              <a:t>zero</a:t>
            </a:r>
            <a:r>
              <a:rPr sz="2000" spc="-15" dirty="0">
                <a:latin typeface="Times New Roman"/>
                <a:cs typeface="Times New Roman"/>
              </a:rPr>
              <a:t> </a:t>
            </a:r>
            <a:r>
              <a:rPr sz="2000" spc="-10" dirty="0">
                <a:latin typeface="Times New Roman"/>
                <a:cs typeface="Times New Roman"/>
              </a:rPr>
              <a:t>through</a:t>
            </a:r>
            <a:r>
              <a:rPr sz="2000" spc="-5" dirty="0">
                <a:latin typeface="Times New Roman"/>
                <a:cs typeface="Times New Roman"/>
              </a:rPr>
              <a:t> </a:t>
            </a:r>
            <a:r>
              <a:rPr sz="2000" spc="5" dirty="0">
                <a:latin typeface="Times New Roman"/>
                <a:cs typeface="Times New Roman"/>
              </a:rPr>
              <a:t>the</a:t>
            </a:r>
            <a:r>
              <a:rPr sz="2000" spc="10" dirty="0">
                <a:latin typeface="Times New Roman"/>
                <a:cs typeface="Times New Roman"/>
              </a:rPr>
              <a:t> </a:t>
            </a:r>
            <a:r>
              <a:rPr sz="2000" dirty="0">
                <a:latin typeface="Times New Roman"/>
                <a:cs typeface="Times New Roman"/>
              </a:rPr>
              <a:t>on- </a:t>
            </a:r>
            <a:r>
              <a:rPr sz="2000" spc="5" dirty="0">
                <a:latin typeface="Times New Roman"/>
                <a:cs typeface="Times New Roman"/>
              </a:rPr>
              <a:t> </a:t>
            </a:r>
            <a:r>
              <a:rPr sz="2000" spc="-10" dirty="0">
                <a:latin typeface="Times New Roman"/>
                <a:cs typeface="Times New Roman"/>
              </a:rPr>
              <a:t>resistance</a:t>
            </a:r>
            <a:r>
              <a:rPr sz="2000" spc="-5" dirty="0">
                <a:latin typeface="Times New Roman"/>
                <a:cs typeface="Times New Roman"/>
              </a:rPr>
              <a:t> </a:t>
            </a:r>
            <a:r>
              <a:rPr sz="2000" dirty="0">
                <a:latin typeface="Times New Roman"/>
                <a:cs typeface="Times New Roman"/>
              </a:rPr>
              <a:t>of</a:t>
            </a:r>
            <a:r>
              <a:rPr sz="2000" spc="5" dirty="0">
                <a:latin typeface="Times New Roman"/>
                <a:cs typeface="Times New Roman"/>
              </a:rPr>
              <a:t> </a:t>
            </a:r>
            <a:r>
              <a:rPr sz="2000" dirty="0">
                <a:latin typeface="Times New Roman"/>
                <a:cs typeface="Times New Roman"/>
              </a:rPr>
              <a:t>the</a:t>
            </a:r>
            <a:r>
              <a:rPr sz="2000" spc="5" dirty="0">
                <a:latin typeface="Times New Roman"/>
                <a:cs typeface="Times New Roman"/>
              </a:rPr>
              <a:t> </a:t>
            </a:r>
            <a:r>
              <a:rPr sz="2000" dirty="0">
                <a:latin typeface="Times New Roman"/>
                <a:cs typeface="Times New Roman"/>
              </a:rPr>
              <a:t>NMOS </a:t>
            </a:r>
            <a:r>
              <a:rPr sz="2000" spc="-484" dirty="0">
                <a:latin typeface="Times New Roman"/>
                <a:cs typeface="Times New Roman"/>
              </a:rPr>
              <a:t> </a:t>
            </a:r>
            <a:r>
              <a:rPr sz="2000" spc="-25" dirty="0">
                <a:latin typeface="Times New Roman"/>
                <a:cs typeface="Times New Roman"/>
              </a:rPr>
              <a:t>transistor.</a:t>
            </a:r>
            <a:endParaRPr sz="2000">
              <a:latin typeface="Times New Roman"/>
              <a:cs typeface="Times New Roman"/>
            </a:endParaRPr>
          </a:p>
        </p:txBody>
      </p:sp>
      <p:pic>
        <p:nvPicPr>
          <p:cNvPr id="8" name="object 8"/>
          <p:cNvPicPr/>
          <p:nvPr/>
        </p:nvPicPr>
        <p:blipFill>
          <a:blip r:embed="rId4" cstate="print"/>
          <a:stretch>
            <a:fillRect/>
          </a:stretch>
        </p:blipFill>
        <p:spPr>
          <a:xfrm>
            <a:off x="7732776" y="1143000"/>
            <a:ext cx="2284476" cy="2944368"/>
          </a:xfrm>
          <a:prstGeom prst="rect">
            <a:avLst/>
          </a:prstGeom>
        </p:spPr>
      </p:pic>
      <p:sp>
        <p:nvSpPr>
          <p:cNvPr id="9" name="object 9"/>
          <p:cNvSpPr txBox="1"/>
          <p:nvPr/>
        </p:nvSpPr>
        <p:spPr>
          <a:xfrm>
            <a:off x="7770114" y="4280154"/>
            <a:ext cx="2871470" cy="1892935"/>
          </a:xfrm>
          <a:prstGeom prst="rect">
            <a:avLst/>
          </a:prstGeom>
          <a:ln w="38100">
            <a:solidFill>
              <a:srgbClr val="00AD4F"/>
            </a:solidFill>
          </a:ln>
        </p:spPr>
        <p:txBody>
          <a:bodyPr vert="horz" wrap="square" lIns="0" tIns="34925" rIns="0" bIns="0" rtlCol="0">
            <a:spAutoFit/>
          </a:bodyPr>
          <a:lstStyle/>
          <a:p>
            <a:pPr marL="100330" marR="146050">
              <a:spcBef>
                <a:spcPts val="275"/>
              </a:spcBef>
              <a:tabLst>
                <a:tab pos="1995170" algn="l"/>
              </a:tabLst>
            </a:pPr>
            <a:r>
              <a:rPr sz="2000" spc="-5" dirty="0">
                <a:latin typeface="Times New Roman"/>
                <a:cs typeface="Times New Roman"/>
              </a:rPr>
              <a:t>Simplified </a:t>
            </a:r>
            <a:r>
              <a:rPr sz="2000" spc="-25" dirty="0">
                <a:latin typeface="Times New Roman"/>
                <a:cs typeface="Times New Roman"/>
              </a:rPr>
              <a:t>model </a:t>
            </a:r>
            <a:r>
              <a:rPr sz="2000" dirty="0">
                <a:latin typeface="Times New Roman"/>
                <a:cs typeface="Times New Roman"/>
              </a:rPr>
              <a:t>of </a:t>
            </a:r>
            <a:r>
              <a:rPr sz="2000" spc="5" dirty="0">
                <a:latin typeface="Times New Roman"/>
                <a:cs typeface="Times New Roman"/>
              </a:rPr>
              <a:t>the </a:t>
            </a:r>
            <a:r>
              <a:rPr sz="2000" spc="10" dirty="0">
                <a:latin typeface="Times New Roman"/>
                <a:cs typeface="Times New Roman"/>
              </a:rPr>
              <a:t> </a:t>
            </a:r>
            <a:r>
              <a:rPr sz="2000" spc="-25" dirty="0">
                <a:latin typeface="Times New Roman"/>
                <a:cs typeface="Times New Roman"/>
              </a:rPr>
              <a:t>inverter</a:t>
            </a:r>
            <a:r>
              <a:rPr sz="2000" spc="-185" dirty="0">
                <a:latin typeface="Times New Roman"/>
                <a:cs typeface="Times New Roman"/>
              </a:rPr>
              <a:t> </a:t>
            </a:r>
            <a:r>
              <a:rPr sz="2000" dirty="0">
                <a:latin typeface="Times New Roman"/>
                <a:cs typeface="Times New Roman"/>
              </a:rPr>
              <a:t>for</a:t>
            </a:r>
            <a:r>
              <a:rPr sz="2000" spc="110" dirty="0">
                <a:latin typeface="Times New Roman"/>
                <a:cs typeface="Times New Roman"/>
              </a:rPr>
              <a:t> </a:t>
            </a:r>
            <a:r>
              <a:rPr sz="2000" spc="5" dirty="0">
                <a:latin typeface="Times New Roman"/>
                <a:cs typeface="Times New Roman"/>
              </a:rPr>
              <a:t>low	</a:t>
            </a:r>
            <a:r>
              <a:rPr sz="2000" spc="10" dirty="0">
                <a:latin typeface="Times New Roman"/>
                <a:cs typeface="Times New Roman"/>
              </a:rPr>
              <a:t>input </a:t>
            </a:r>
            <a:r>
              <a:rPr sz="2000" spc="15" dirty="0">
                <a:latin typeface="Times New Roman"/>
                <a:cs typeface="Times New Roman"/>
              </a:rPr>
              <a:t> </a:t>
            </a:r>
            <a:r>
              <a:rPr sz="2000" spc="-45" dirty="0">
                <a:latin typeface="Times New Roman"/>
                <a:cs typeface="Times New Roman"/>
              </a:rPr>
              <a:t>l</a:t>
            </a:r>
            <a:r>
              <a:rPr sz="2000" spc="-40" dirty="0">
                <a:latin typeface="Times New Roman"/>
                <a:cs typeface="Times New Roman"/>
              </a:rPr>
              <a:t>e</a:t>
            </a:r>
            <a:r>
              <a:rPr sz="2000" spc="-35" dirty="0">
                <a:latin typeface="Times New Roman"/>
                <a:cs typeface="Times New Roman"/>
              </a:rPr>
              <a:t>v</a:t>
            </a:r>
            <a:r>
              <a:rPr sz="2000" spc="-40" dirty="0">
                <a:latin typeface="Times New Roman"/>
                <a:cs typeface="Times New Roman"/>
              </a:rPr>
              <a:t>e</a:t>
            </a:r>
            <a:r>
              <a:rPr sz="2000" spc="-45" dirty="0">
                <a:latin typeface="Times New Roman"/>
                <a:cs typeface="Times New Roman"/>
              </a:rPr>
              <a:t>l</a:t>
            </a:r>
            <a:r>
              <a:rPr sz="2000" dirty="0">
                <a:latin typeface="Times New Roman"/>
                <a:cs typeface="Times New Roman"/>
              </a:rPr>
              <a:t>.</a:t>
            </a:r>
            <a:r>
              <a:rPr sz="2000" spc="-5" dirty="0">
                <a:latin typeface="Times New Roman"/>
                <a:cs typeface="Times New Roman"/>
              </a:rPr>
              <a:t> </a:t>
            </a:r>
            <a:r>
              <a:rPr sz="2000" spc="-25" dirty="0">
                <a:latin typeface="Times New Roman"/>
                <a:cs typeface="Times New Roman"/>
              </a:rPr>
              <a:t>T</a:t>
            </a:r>
            <a:r>
              <a:rPr sz="2000" spc="-20" dirty="0">
                <a:latin typeface="Times New Roman"/>
                <a:cs typeface="Times New Roman"/>
              </a:rPr>
              <a:t>h</a:t>
            </a:r>
            <a:r>
              <a:rPr sz="2000" dirty="0">
                <a:latin typeface="Times New Roman"/>
                <a:cs typeface="Times New Roman"/>
              </a:rPr>
              <a:t>e</a:t>
            </a:r>
            <a:r>
              <a:rPr sz="2000" spc="5" dirty="0">
                <a:latin typeface="Times New Roman"/>
                <a:cs typeface="Times New Roman"/>
              </a:rPr>
              <a:t> </a:t>
            </a:r>
            <a:r>
              <a:rPr sz="2000" spc="15" dirty="0">
                <a:latin typeface="Times New Roman"/>
                <a:cs typeface="Times New Roman"/>
              </a:rPr>
              <a:t>ou</a:t>
            </a:r>
            <a:r>
              <a:rPr sz="2000" dirty="0">
                <a:latin typeface="Times New Roman"/>
                <a:cs typeface="Times New Roman"/>
              </a:rPr>
              <a:t>t</a:t>
            </a:r>
            <a:r>
              <a:rPr sz="2000" spc="15" dirty="0">
                <a:latin typeface="Times New Roman"/>
                <a:cs typeface="Times New Roman"/>
              </a:rPr>
              <a:t>p</a:t>
            </a:r>
            <a:r>
              <a:rPr sz="2000" dirty="0">
                <a:latin typeface="Times New Roman"/>
                <a:cs typeface="Times New Roman"/>
              </a:rPr>
              <a:t>ut</a:t>
            </a:r>
            <a:r>
              <a:rPr sz="2000" spc="-130" dirty="0">
                <a:latin typeface="Times New Roman"/>
                <a:cs typeface="Times New Roman"/>
              </a:rPr>
              <a:t> </a:t>
            </a:r>
            <a:r>
              <a:rPr sz="2000" spc="5" dirty="0">
                <a:latin typeface="Times New Roman"/>
                <a:cs typeface="Times New Roman"/>
              </a:rPr>
              <a:t>i</a:t>
            </a:r>
            <a:r>
              <a:rPr sz="2000" dirty="0">
                <a:latin typeface="Times New Roman"/>
                <a:cs typeface="Times New Roman"/>
              </a:rPr>
              <a:t>s</a:t>
            </a:r>
            <a:r>
              <a:rPr sz="2000" spc="-80" dirty="0">
                <a:latin typeface="Times New Roman"/>
                <a:cs typeface="Times New Roman"/>
              </a:rPr>
              <a:t> </a:t>
            </a:r>
            <a:r>
              <a:rPr sz="2000" dirty="0">
                <a:latin typeface="Times New Roman"/>
                <a:cs typeface="Times New Roman"/>
              </a:rPr>
              <a:t>p</a:t>
            </a:r>
            <a:r>
              <a:rPr sz="2000" spc="10" dirty="0">
                <a:latin typeface="Times New Roman"/>
                <a:cs typeface="Times New Roman"/>
              </a:rPr>
              <a:t>u</a:t>
            </a:r>
            <a:r>
              <a:rPr sz="2000" dirty="0">
                <a:latin typeface="Times New Roman"/>
                <a:cs typeface="Times New Roman"/>
              </a:rPr>
              <a:t>l</a:t>
            </a:r>
            <a:r>
              <a:rPr sz="2000" spc="-10" dirty="0">
                <a:latin typeface="Times New Roman"/>
                <a:cs typeface="Times New Roman"/>
              </a:rPr>
              <a:t>l</a:t>
            </a:r>
            <a:r>
              <a:rPr sz="2000" dirty="0">
                <a:latin typeface="Times New Roman"/>
                <a:cs typeface="Times New Roman"/>
              </a:rPr>
              <a:t>ed  </a:t>
            </a:r>
            <a:r>
              <a:rPr sz="2000" spc="5" dirty="0">
                <a:latin typeface="Times New Roman"/>
                <a:cs typeface="Times New Roman"/>
              </a:rPr>
              <a:t>t</a:t>
            </a:r>
            <a:r>
              <a:rPr sz="2000" dirty="0">
                <a:latin typeface="Times New Roman"/>
                <a:cs typeface="Times New Roman"/>
              </a:rPr>
              <a:t>o</a:t>
            </a:r>
            <a:r>
              <a:rPr sz="2000" spc="-65" dirty="0">
                <a:latin typeface="Times New Roman"/>
                <a:cs typeface="Times New Roman"/>
              </a:rPr>
              <a:t> </a:t>
            </a:r>
            <a:r>
              <a:rPr sz="2000" i="1" spc="-5" dirty="0">
                <a:latin typeface="Times New Roman"/>
                <a:cs typeface="Times New Roman"/>
              </a:rPr>
              <a:t>V</a:t>
            </a:r>
            <a:r>
              <a:rPr sz="2000" i="1" spc="-10" dirty="0">
                <a:latin typeface="Times New Roman"/>
                <a:cs typeface="Times New Roman"/>
              </a:rPr>
              <a:t>D</a:t>
            </a:r>
            <a:r>
              <a:rPr sz="2000" i="1" dirty="0">
                <a:latin typeface="Times New Roman"/>
                <a:cs typeface="Times New Roman"/>
              </a:rPr>
              <a:t>D </a:t>
            </a:r>
            <a:r>
              <a:rPr sz="2000" i="1" spc="5" dirty="0">
                <a:latin typeface="Times New Roman"/>
                <a:cs typeface="Times New Roman"/>
              </a:rPr>
              <a:t>th</a:t>
            </a:r>
            <a:r>
              <a:rPr sz="2000" i="1" spc="-135" dirty="0">
                <a:latin typeface="Times New Roman"/>
                <a:cs typeface="Times New Roman"/>
              </a:rPr>
              <a:t>r</a:t>
            </a:r>
            <a:r>
              <a:rPr sz="2000" i="1" spc="5" dirty="0">
                <a:latin typeface="Times New Roman"/>
                <a:cs typeface="Times New Roman"/>
              </a:rPr>
              <a:t>oug</a:t>
            </a:r>
            <a:r>
              <a:rPr sz="2000" i="1" dirty="0">
                <a:latin typeface="Times New Roman"/>
                <a:cs typeface="Times New Roman"/>
              </a:rPr>
              <a:t>h</a:t>
            </a:r>
            <a:r>
              <a:rPr sz="2000" i="1" spc="-160" dirty="0">
                <a:latin typeface="Times New Roman"/>
                <a:cs typeface="Times New Roman"/>
              </a:rPr>
              <a:t> </a:t>
            </a:r>
            <a:r>
              <a:rPr sz="2000" i="1" spc="5" dirty="0">
                <a:latin typeface="Times New Roman"/>
                <a:cs typeface="Times New Roman"/>
              </a:rPr>
              <a:t>th</a:t>
            </a:r>
            <a:r>
              <a:rPr sz="2000" i="1" dirty="0">
                <a:latin typeface="Times New Roman"/>
                <a:cs typeface="Times New Roman"/>
              </a:rPr>
              <a:t>e</a:t>
            </a:r>
            <a:r>
              <a:rPr sz="2000" i="1" spc="-10" dirty="0">
                <a:latin typeface="Times New Roman"/>
                <a:cs typeface="Times New Roman"/>
              </a:rPr>
              <a:t> </a:t>
            </a:r>
            <a:r>
              <a:rPr sz="2000" i="1" spc="5" dirty="0">
                <a:latin typeface="Times New Roman"/>
                <a:cs typeface="Times New Roman"/>
              </a:rPr>
              <a:t>on</a:t>
            </a:r>
            <a:r>
              <a:rPr sz="2000" i="1" dirty="0">
                <a:latin typeface="Times New Roman"/>
                <a:cs typeface="Times New Roman"/>
              </a:rPr>
              <a:t>-  </a:t>
            </a:r>
            <a:r>
              <a:rPr sz="2000" i="1" spc="-135" dirty="0">
                <a:latin typeface="Times New Roman"/>
                <a:cs typeface="Times New Roman"/>
              </a:rPr>
              <a:t>r</a:t>
            </a:r>
            <a:r>
              <a:rPr sz="2000" i="1" spc="-40" dirty="0">
                <a:latin typeface="Times New Roman"/>
                <a:cs typeface="Times New Roman"/>
              </a:rPr>
              <a:t>e</a:t>
            </a:r>
            <a:r>
              <a:rPr sz="2000" i="1" spc="-5" dirty="0">
                <a:latin typeface="Times New Roman"/>
                <a:cs typeface="Times New Roman"/>
              </a:rPr>
              <a:t>s</a:t>
            </a:r>
            <a:r>
              <a:rPr sz="2000" i="1" spc="5" dirty="0">
                <a:latin typeface="Times New Roman"/>
                <a:cs typeface="Times New Roman"/>
              </a:rPr>
              <a:t>i</a:t>
            </a:r>
            <a:r>
              <a:rPr sz="2000" i="1" spc="-5" dirty="0">
                <a:latin typeface="Times New Roman"/>
                <a:cs typeface="Times New Roman"/>
              </a:rPr>
              <a:t>s</a:t>
            </a:r>
            <a:r>
              <a:rPr sz="2000" i="1" spc="5" dirty="0">
                <a:latin typeface="Times New Roman"/>
                <a:cs typeface="Times New Roman"/>
              </a:rPr>
              <a:t>t</a:t>
            </a:r>
            <a:r>
              <a:rPr sz="2000" i="1" dirty="0">
                <a:latin typeface="Times New Roman"/>
                <a:cs typeface="Times New Roman"/>
              </a:rPr>
              <a:t>a</a:t>
            </a:r>
            <a:r>
              <a:rPr sz="2000" i="1" spc="5" dirty="0">
                <a:latin typeface="Times New Roman"/>
                <a:cs typeface="Times New Roman"/>
              </a:rPr>
              <a:t>n</a:t>
            </a:r>
            <a:r>
              <a:rPr sz="2000" i="1" spc="-40" dirty="0">
                <a:latin typeface="Times New Roman"/>
                <a:cs typeface="Times New Roman"/>
              </a:rPr>
              <a:t>c</a:t>
            </a:r>
            <a:r>
              <a:rPr sz="2000" i="1" dirty="0">
                <a:latin typeface="Times New Roman"/>
                <a:cs typeface="Times New Roman"/>
              </a:rPr>
              <a:t>e</a:t>
            </a:r>
            <a:r>
              <a:rPr sz="2000" i="1" spc="-180" dirty="0">
                <a:latin typeface="Times New Roman"/>
                <a:cs typeface="Times New Roman"/>
              </a:rPr>
              <a:t> </a:t>
            </a:r>
            <a:r>
              <a:rPr sz="2000" i="1" dirty="0">
                <a:latin typeface="Times New Roman"/>
                <a:cs typeface="Times New Roman"/>
              </a:rPr>
              <a:t>of</a:t>
            </a:r>
            <a:r>
              <a:rPr sz="2000" i="1" spc="10" dirty="0">
                <a:latin typeface="Times New Roman"/>
                <a:cs typeface="Times New Roman"/>
              </a:rPr>
              <a:t> </a:t>
            </a:r>
            <a:r>
              <a:rPr sz="2000" i="1" spc="5" dirty="0">
                <a:latin typeface="Times New Roman"/>
                <a:cs typeface="Times New Roman"/>
              </a:rPr>
              <a:t>t</a:t>
            </a:r>
            <a:r>
              <a:rPr sz="2000" i="1" dirty="0">
                <a:latin typeface="Times New Roman"/>
                <a:cs typeface="Times New Roman"/>
              </a:rPr>
              <a:t>he</a:t>
            </a:r>
            <a:r>
              <a:rPr sz="2000" i="1" spc="-75" dirty="0">
                <a:latin typeface="Times New Roman"/>
                <a:cs typeface="Times New Roman"/>
              </a:rPr>
              <a:t> P</a:t>
            </a:r>
            <a:r>
              <a:rPr sz="2000" i="1" spc="-15" dirty="0">
                <a:latin typeface="Times New Roman"/>
                <a:cs typeface="Times New Roman"/>
              </a:rPr>
              <a:t>M</a:t>
            </a:r>
            <a:r>
              <a:rPr sz="2000" i="1" spc="-10" dirty="0">
                <a:latin typeface="Times New Roman"/>
                <a:cs typeface="Times New Roman"/>
              </a:rPr>
              <a:t>O</a:t>
            </a:r>
            <a:r>
              <a:rPr sz="2000" i="1" dirty="0">
                <a:latin typeface="Times New Roman"/>
                <a:cs typeface="Times New Roman"/>
              </a:rPr>
              <a:t>S  </a:t>
            </a:r>
            <a:r>
              <a:rPr sz="2000" i="1" spc="-35" dirty="0">
                <a:latin typeface="Times New Roman"/>
                <a:cs typeface="Times New Roman"/>
              </a:rPr>
              <a:t>transistor.</a:t>
            </a:r>
            <a:endParaRPr sz="2000">
              <a:latin typeface="Times New Roman"/>
              <a:cs typeface="Times New Roman"/>
            </a:endParaRPr>
          </a:p>
        </p:txBody>
      </p:sp>
      <p:sp>
        <p:nvSpPr>
          <p:cNvPr id="15" name="object 15"/>
          <p:cNvSpPr txBox="1">
            <a:spLocks noGrp="1"/>
          </p:cNvSpPr>
          <p:nvPr>
            <p:ph type="title"/>
          </p:nvPr>
        </p:nvSpPr>
        <p:spPr>
          <a:xfrm>
            <a:off x="5814440" y="2122"/>
            <a:ext cx="4386016" cy="690574"/>
          </a:xfrm>
          <a:prstGeom prst="rect">
            <a:avLst/>
          </a:prstGeom>
        </p:spPr>
        <p:txBody>
          <a:bodyPr vert="horz" wrap="square" lIns="0" tIns="13335" rIns="0" bIns="0" rtlCol="0" anchor="ctr">
            <a:spAutoFit/>
          </a:bodyPr>
          <a:lstStyle/>
          <a:p>
            <a:pPr marL="12700">
              <a:spcBef>
                <a:spcPts val="105"/>
              </a:spcBef>
            </a:pPr>
            <a:r>
              <a:rPr spc="10" dirty="0"/>
              <a:t>C</a:t>
            </a:r>
            <a:r>
              <a:rPr dirty="0"/>
              <a:t>M</a:t>
            </a:r>
            <a:r>
              <a:rPr spc="20" dirty="0"/>
              <a:t>O</a:t>
            </a:r>
            <a:r>
              <a:rPr dirty="0"/>
              <a:t>S</a:t>
            </a:r>
            <a:r>
              <a:rPr spc="-95" dirty="0"/>
              <a:t> </a:t>
            </a:r>
            <a:r>
              <a:rPr spc="-20" dirty="0"/>
              <a:t>I</a:t>
            </a:r>
            <a:r>
              <a:rPr spc="-15" dirty="0"/>
              <a:t>nve</a:t>
            </a:r>
            <a:r>
              <a:rPr spc="-20" dirty="0"/>
              <a:t>rt</a:t>
            </a:r>
            <a:r>
              <a:rPr spc="-15" dirty="0"/>
              <a:t>e</a:t>
            </a:r>
            <a:r>
              <a:rPr dirty="0"/>
              <a:t>r</a:t>
            </a:r>
          </a:p>
        </p:txBody>
      </p:sp>
      <p:sp>
        <p:nvSpPr>
          <p:cNvPr id="18" name="Footer Placeholder 17"/>
          <p:cNvSpPr>
            <a:spLocks noGrp="1"/>
          </p:cNvSpPr>
          <p:nvPr>
            <p:ph type="ftr" sz="quarter" idx="4294967295"/>
          </p:nvPr>
        </p:nvSpPr>
        <p:spPr/>
        <p:txBody>
          <a:bodyPr/>
          <a:lstStyle/>
          <a:p>
            <a:r>
              <a:rPr lang="en-IN"/>
              <a:t>CMOS</a:t>
            </a:r>
          </a:p>
        </p:txBody>
      </p:sp>
      <p:sp>
        <p:nvSpPr>
          <p:cNvPr id="19" name="Slide Number Placeholder 18"/>
          <p:cNvSpPr>
            <a:spLocks noGrp="1"/>
          </p:cNvSpPr>
          <p:nvPr>
            <p:ph type="sldNum" sz="quarter" idx="4294967295"/>
          </p:nvPr>
        </p:nvSpPr>
        <p:spPr/>
        <p:txBody>
          <a:bodyPr/>
          <a:lstStyle/>
          <a:p>
            <a:pPr marL="38100">
              <a:lnSpc>
                <a:spcPts val="1240"/>
              </a:lnSpc>
            </a:pPr>
            <a:fld id="{81D60167-4931-47E6-BA6A-407CBD079E47}" type="slidenum">
              <a:rPr lang="en-IN" smtClean="0"/>
              <a:pPr marL="38100">
                <a:lnSpc>
                  <a:spcPts val="1240"/>
                </a:lnSpc>
              </a:pPr>
              <a:t>80</a:t>
            </a:fld>
            <a:endParaRPr lang="en-IN" dirty="0"/>
          </a:p>
        </p:txBody>
      </p:sp>
      <p:sp>
        <p:nvSpPr>
          <p:cNvPr id="10" name="Date Placeholder 9"/>
          <p:cNvSpPr>
            <a:spLocks noGrp="1"/>
          </p:cNvSpPr>
          <p:nvPr>
            <p:ph type="dt" sz="half" idx="10"/>
          </p:nvPr>
        </p:nvSpPr>
        <p:spPr/>
        <p:txBody>
          <a:bodyPr/>
          <a:lstStyle/>
          <a:p>
            <a:fld id="{ACD32C88-8C5B-44C4-A76A-193AFD12F9DA}" type="datetime1">
              <a:rPr lang="en-US" smtClean="0"/>
              <a:t>9/9/2025</a:t>
            </a:fld>
            <a:endParaRPr lang="en-IN"/>
          </a:p>
        </p:txBody>
      </p:sp>
    </p:spTree>
    <p:extLst>
      <p:ext uri="{BB962C8B-B14F-4D97-AF65-F5344CB8AC3E}">
        <p14:creationId xmlns:p14="http://schemas.microsoft.com/office/powerpoint/2010/main" val="3677473121"/>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object 15"/>
          <p:cNvSpPr txBox="1"/>
          <p:nvPr/>
        </p:nvSpPr>
        <p:spPr>
          <a:xfrm>
            <a:off x="6463259" y="1354996"/>
            <a:ext cx="5249366" cy="1353924"/>
          </a:xfrm>
          <a:prstGeom prst="rect">
            <a:avLst/>
          </a:prstGeom>
        </p:spPr>
        <p:txBody>
          <a:bodyPr vert="horz" wrap="square" lIns="0" tIns="12065" rIns="0" bIns="0" rtlCol="0">
            <a:spAutoFit/>
          </a:bodyPr>
          <a:lstStyle/>
          <a:p>
            <a:pPr marL="250190" marR="5080" indent="-238125">
              <a:spcBef>
                <a:spcPts val="95"/>
              </a:spcBef>
              <a:buFont typeface="Arial MT"/>
              <a:buChar char="•"/>
              <a:tabLst>
                <a:tab pos="250190" algn="l"/>
                <a:tab pos="250825" algn="l"/>
                <a:tab pos="1156970" algn="l"/>
                <a:tab pos="2192020" algn="l"/>
                <a:tab pos="2905760" algn="l"/>
                <a:tab pos="3719195" algn="l"/>
              </a:tabLst>
            </a:pPr>
            <a:r>
              <a:rPr sz="2200" spc="-5" dirty="0">
                <a:latin typeface="Times New Roman"/>
                <a:cs typeface="Times New Roman"/>
              </a:rPr>
              <a:t>S</a:t>
            </a:r>
            <a:r>
              <a:rPr sz="2200" spc="15" dirty="0">
                <a:latin typeface="Times New Roman"/>
                <a:cs typeface="Times New Roman"/>
              </a:rPr>
              <a:t>e</a:t>
            </a:r>
            <a:r>
              <a:rPr sz="2200" spc="-20" dirty="0">
                <a:latin typeface="Times New Roman"/>
                <a:cs typeface="Times New Roman"/>
              </a:rPr>
              <a:t>r</a:t>
            </a:r>
            <a:r>
              <a:rPr sz="2200" spc="20" dirty="0">
                <a:latin typeface="Times New Roman"/>
                <a:cs typeface="Times New Roman"/>
              </a:rPr>
              <a:t>i</a:t>
            </a:r>
            <a:r>
              <a:rPr sz="2200" spc="15" dirty="0">
                <a:latin typeface="Times New Roman"/>
                <a:cs typeface="Times New Roman"/>
              </a:rPr>
              <a:t>e</a:t>
            </a:r>
            <a:r>
              <a:rPr sz="2200" spc="-5" dirty="0">
                <a:latin typeface="Times New Roman"/>
                <a:cs typeface="Times New Roman"/>
              </a:rPr>
              <a:t>s</a:t>
            </a:r>
            <a:r>
              <a:rPr sz="2200" dirty="0">
                <a:latin typeface="Times New Roman"/>
                <a:cs typeface="Times New Roman"/>
              </a:rPr>
              <a:t>	</a:t>
            </a:r>
            <a:r>
              <a:rPr sz="2200" spc="-95" dirty="0">
                <a:latin typeface="Times New Roman"/>
                <a:cs typeface="Times New Roman"/>
              </a:rPr>
              <a:t>n</a:t>
            </a:r>
            <a:r>
              <a:rPr sz="2200" spc="55" dirty="0">
                <a:latin typeface="Times New Roman"/>
                <a:cs typeface="Times New Roman"/>
              </a:rPr>
              <a:t>M</a:t>
            </a:r>
            <a:r>
              <a:rPr sz="2200" spc="-20" dirty="0">
                <a:latin typeface="Times New Roman"/>
                <a:cs typeface="Times New Roman"/>
              </a:rPr>
              <a:t>O</a:t>
            </a:r>
            <a:r>
              <a:rPr sz="2200" spc="-5" dirty="0">
                <a:latin typeface="Times New Roman"/>
                <a:cs typeface="Times New Roman"/>
              </a:rPr>
              <a:t>S:</a:t>
            </a:r>
            <a:r>
              <a:rPr sz="2200" dirty="0">
                <a:latin typeface="Times New Roman"/>
                <a:cs typeface="Times New Roman"/>
              </a:rPr>
              <a:t>	</a:t>
            </a:r>
            <a:r>
              <a:rPr sz="2200" spc="-20" dirty="0">
                <a:latin typeface="Times New Roman"/>
                <a:cs typeface="Times New Roman"/>
              </a:rPr>
              <a:t>Y</a:t>
            </a:r>
            <a:r>
              <a:rPr sz="2200" spc="-30" dirty="0">
                <a:latin typeface="Times New Roman"/>
                <a:cs typeface="Times New Roman"/>
              </a:rPr>
              <a:t>=</a:t>
            </a:r>
            <a:r>
              <a:rPr sz="2200" spc="-5" dirty="0">
                <a:latin typeface="Times New Roman"/>
                <a:cs typeface="Times New Roman"/>
              </a:rPr>
              <a:t>0</a:t>
            </a:r>
            <a:r>
              <a:rPr sz="2200" dirty="0">
                <a:latin typeface="Times New Roman"/>
                <a:cs typeface="Times New Roman"/>
              </a:rPr>
              <a:t>	</a:t>
            </a:r>
            <a:r>
              <a:rPr sz="2200" spc="-95" dirty="0">
                <a:latin typeface="Times New Roman"/>
                <a:cs typeface="Times New Roman"/>
              </a:rPr>
              <a:t>w</a:t>
            </a:r>
            <a:r>
              <a:rPr sz="2200" spc="-25" dirty="0">
                <a:latin typeface="Times New Roman"/>
                <a:cs typeface="Times New Roman"/>
              </a:rPr>
              <a:t>h</a:t>
            </a:r>
            <a:r>
              <a:rPr sz="2200" spc="15" dirty="0">
                <a:latin typeface="Times New Roman"/>
                <a:cs typeface="Times New Roman"/>
              </a:rPr>
              <a:t>e</a:t>
            </a:r>
            <a:r>
              <a:rPr sz="2200" spc="-5" dirty="0">
                <a:latin typeface="Times New Roman"/>
                <a:cs typeface="Times New Roman"/>
              </a:rPr>
              <a:t>n</a:t>
            </a:r>
            <a:r>
              <a:rPr sz="2200" dirty="0">
                <a:latin typeface="Times New Roman"/>
                <a:cs typeface="Times New Roman"/>
              </a:rPr>
              <a:t>	</a:t>
            </a:r>
            <a:r>
              <a:rPr sz="2200" spc="-25" dirty="0">
                <a:latin typeface="Times New Roman"/>
                <a:cs typeface="Times New Roman"/>
              </a:rPr>
              <a:t>bo</a:t>
            </a:r>
            <a:r>
              <a:rPr sz="2200" spc="20" dirty="0">
                <a:latin typeface="Times New Roman"/>
                <a:cs typeface="Times New Roman"/>
              </a:rPr>
              <a:t>t</a:t>
            </a:r>
            <a:r>
              <a:rPr sz="2200" spc="-5" dirty="0">
                <a:latin typeface="Times New Roman"/>
                <a:cs typeface="Times New Roman"/>
              </a:rPr>
              <a:t>h  inputs</a:t>
            </a:r>
            <a:r>
              <a:rPr sz="2200" spc="-80" dirty="0">
                <a:latin typeface="Times New Roman"/>
                <a:cs typeface="Times New Roman"/>
              </a:rPr>
              <a:t> </a:t>
            </a:r>
            <a:r>
              <a:rPr sz="2200" dirty="0">
                <a:latin typeface="Times New Roman"/>
                <a:cs typeface="Times New Roman"/>
              </a:rPr>
              <a:t>are</a:t>
            </a:r>
            <a:r>
              <a:rPr sz="2200" spc="-35" dirty="0">
                <a:latin typeface="Times New Roman"/>
                <a:cs typeface="Times New Roman"/>
              </a:rPr>
              <a:t> </a:t>
            </a:r>
            <a:r>
              <a:rPr sz="2200" spc="-5" dirty="0">
                <a:latin typeface="Times New Roman"/>
                <a:cs typeface="Times New Roman"/>
              </a:rPr>
              <a:t>1</a:t>
            </a:r>
            <a:endParaRPr sz="2200" dirty="0">
              <a:latin typeface="Times New Roman"/>
              <a:cs typeface="Times New Roman"/>
            </a:endParaRPr>
          </a:p>
          <a:p>
            <a:pPr marL="250190" indent="-238125">
              <a:lnSpc>
                <a:spcPts val="2580"/>
              </a:lnSpc>
              <a:buFont typeface="Arial MT"/>
              <a:buChar char="•"/>
              <a:tabLst>
                <a:tab pos="250190" algn="l"/>
                <a:tab pos="250825" algn="l"/>
              </a:tabLst>
            </a:pPr>
            <a:r>
              <a:rPr sz="2200" spc="-5" dirty="0">
                <a:latin typeface="Times New Roman"/>
                <a:cs typeface="Times New Roman"/>
              </a:rPr>
              <a:t>Th</a:t>
            </a:r>
            <a:r>
              <a:rPr sz="2200" dirty="0">
                <a:latin typeface="Times New Roman"/>
                <a:cs typeface="Times New Roman"/>
              </a:rPr>
              <a:t>u</a:t>
            </a:r>
            <a:r>
              <a:rPr sz="2200" spc="-5" dirty="0">
                <a:latin typeface="Times New Roman"/>
                <a:cs typeface="Times New Roman"/>
              </a:rPr>
              <a:t>s</a:t>
            </a:r>
            <a:r>
              <a:rPr sz="2200" spc="-170" dirty="0">
                <a:latin typeface="Times New Roman"/>
                <a:cs typeface="Times New Roman"/>
              </a:rPr>
              <a:t> </a:t>
            </a:r>
            <a:r>
              <a:rPr sz="2200" spc="-10" dirty="0">
                <a:latin typeface="Times New Roman"/>
                <a:cs typeface="Times New Roman"/>
              </a:rPr>
              <a:t>Y=</a:t>
            </a:r>
            <a:r>
              <a:rPr sz="2200" spc="-5" dirty="0">
                <a:latin typeface="Times New Roman"/>
                <a:cs typeface="Times New Roman"/>
              </a:rPr>
              <a:t>1</a:t>
            </a:r>
            <a:r>
              <a:rPr sz="2200" spc="-30" dirty="0">
                <a:latin typeface="Times New Roman"/>
                <a:cs typeface="Times New Roman"/>
              </a:rPr>
              <a:t> </a:t>
            </a:r>
            <a:r>
              <a:rPr sz="2200" spc="-25" dirty="0">
                <a:latin typeface="Times New Roman"/>
                <a:cs typeface="Times New Roman"/>
              </a:rPr>
              <a:t>w</a:t>
            </a:r>
            <a:r>
              <a:rPr sz="2200" spc="-15" dirty="0">
                <a:latin typeface="Times New Roman"/>
                <a:cs typeface="Times New Roman"/>
              </a:rPr>
              <a:t>h</a:t>
            </a:r>
            <a:r>
              <a:rPr sz="2200" spc="-25" dirty="0">
                <a:latin typeface="Times New Roman"/>
                <a:cs typeface="Times New Roman"/>
              </a:rPr>
              <a:t>e</a:t>
            </a:r>
            <a:r>
              <a:rPr sz="2200" spc="-5" dirty="0">
                <a:latin typeface="Times New Roman"/>
                <a:cs typeface="Times New Roman"/>
              </a:rPr>
              <a:t>n</a:t>
            </a:r>
            <a:r>
              <a:rPr sz="2200" spc="40" dirty="0">
                <a:latin typeface="Times New Roman"/>
                <a:cs typeface="Times New Roman"/>
              </a:rPr>
              <a:t> </a:t>
            </a:r>
            <a:r>
              <a:rPr sz="2200" dirty="0">
                <a:latin typeface="Times New Roman"/>
                <a:cs typeface="Times New Roman"/>
              </a:rPr>
              <a:t>e</a:t>
            </a:r>
            <a:r>
              <a:rPr sz="2200" spc="5" dirty="0">
                <a:latin typeface="Times New Roman"/>
                <a:cs typeface="Times New Roman"/>
              </a:rPr>
              <a:t>it</a:t>
            </a:r>
            <a:r>
              <a:rPr sz="2200" spc="10" dirty="0">
                <a:latin typeface="Times New Roman"/>
                <a:cs typeface="Times New Roman"/>
              </a:rPr>
              <a:t>h</a:t>
            </a:r>
            <a:r>
              <a:rPr sz="2200" dirty="0">
                <a:latin typeface="Times New Roman"/>
                <a:cs typeface="Times New Roman"/>
              </a:rPr>
              <a:t>e</a:t>
            </a:r>
            <a:r>
              <a:rPr sz="2200" spc="-5" dirty="0">
                <a:latin typeface="Times New Roman"/>
                <a:cs typeface="Times New Roman"/>
              </a:rPr>
              <a:t>r</a:t>
            </a:r>
            <a:r>
              <a:rPr sz="2200" spc="-85" dirty="0">
                <a:latin typeface="Times New Roman"/>
                <a:cs typeface="Times New Roman"/>
              </a:rPr>
              <a:t> </a:t>
            </a:r>
            <a:r>
              <a:rPr sz="2200" spc="-20" dirty="0">
                <a:latin typeface="Times New Roman"/>
                <a:cs typeface="Times New Roman"/>
              </a:rPr>
              <a:t>i</a:t>
            </a:r>
            <a:r>
              <a:rPr sz="2200" spc="-15" dirty="0">
                <a:latin typeface="Times New Roman"/>
                <a:cs typeface="Times New Roman"/>
              </a:rPr>
              <a:t>npu</a:t>
            </a:r>
            <a:r>
              <a:rPr sz="2200" spc="-5" dirty="0">
                <a:latin typeface="Times New Roman"/>
                <a:cs typeface="Times New Roman"/>
              </a:rPr>
              <a:t>t</a:t>
            </a:r>
            <a:r>
              <a:rPr sz="2200" spc="-35" dirty="0">
                <a:latin typeface="Times New Roman"/>
                <a:cs typeface="Times New Roman"/>
              </a:rPr>
              <a:t> </a:t>
            </a:r>
            <a:r>
              <a:rPr sz="2200" spc="20" dirty="0">
                <a:latin typeface="Times New Roman"/>
                <a:cs typeface="Times New Roman"/>
              </a:rPr>
              <a:t>i</a:t>
            </a:r>
            <a:r>
              <a:rPr sz="2200" spc="-5" dirty="0">
                <a:latin typeface="Times New Roman"/>
                <a:cs typeface="Times New Roman"/>
              </a:rPr>
              <a:t>s</a:t>
            </a:r>
            <a:r>
              <a:rPr sz="2200" spc="-40" dirty="0">
                <a:latin typeface="Times New Roman"/>
                <a:cs typeface="Times New Roman"/>
              </a:rPr>
              <a:t> </a:t>
            </a:r>
            <a:r>
              <a:rPr sz="2200" spc="-5" dirty="0">
                <a:latin typeface="Times New Roman"/>
                <a:cs typeface="Times New Roman"/>
              </a:rPr>
              <a:t>0</a:t>
            </a:r>
            <a:endParaRPr sz="2200" dirty="0">
              <a:latin typeface="Times New Roman"/>
              <a:cs typeface="Times New Roman"/>
            </a:endParaRPr>
          </a:p>
          <a:p>
            <a:pPr marL="250190" indent="-238125">
              <a:lnSpc>
                <a:spcPts val="2615"/>
              </a:lnSpc>
              <a:buFont typeface="Arial MT"/>
              <a:buChar char="•"/>
              <a:tabLst>
                <a:tab pos="250190" algn="l"/>
                <a:tab pos="250825" algn="l"/>
              </a:tabLst>
            </a:pPr>
            <a:r>
              <a:rPr sz="2200" dirty="0">
                <a:latin typeface="Times New Roman"/>
                <a:cs typeface="Times New Roman"/>
              </a:rPr>
              <a:t>Requires</a:t>
            </a:r>
            <a:r>
              <a:rPr sz="2200" spc="-110" dirty="0">
                <a:latin typeface="Times New Roman"/>
                <a:cs typeface="Times New Roman"/>
              </a:rPr>
              <a:t> </a:t>
            </a:r>
            <a:r>
              <a:rPr sz="2200" spc="5" dirty="0">
                <a:latin typeface="Times New Roman"/>
                <a:cs typeface="Times New Roman"/>
              </a:rPr>
              <a:t>parallel</a:t>
            </a:r>
            <a:r>
              <a:rPr sz="2200" spc="-130" dirty="0">
                <a:latin typeface="Times New Roman"/>
                <a:cs typeface="Times New Roman"/>
              </a:rPr>
              <a:t> </a:t>
            </a:r>
            <a:r>
              <a:rPr sz="2200" dirty="0">
                <a:latin typeface="Times New Roman"/>
                <a:cs typeface="Times New Roman"/>
              </a:rPr>
              <a:t>pMOS</a:t>
            </a:r>
          </a:p>
        </p:txBody>
      </p:sp>
      <p:sp>
        <p:nvSpPr>
          <p:cNvPr id="16" name="object 16"/>
          <p:cNvSpPr txBox="1"/>
          <p:nvPr/>
        </p:nvSpPr>
        <p:spPr>
          <a:xfrm>
            <a:off x="3850005" y="432141"/>
            <a:ext cx="4176395" cy="360680"/>
          </a:xfrm>
          <a:prstGeom prst="rect">
            <a:avLst/>
          </a:prstGeom>
        </p:spPr>
        <p:txBody>
          <a:bodyPr vert="horz" wrap="square" lIns="0" tIns="12065" rIns="0" bIns="0" rtlCol="0">
            <a:spAutoFit/>
          </a:bodyPr>
          <a:lstStyle/>
          <a:p>
            <a:pPr marL="12065">
              <a:spcBef>
                <a:spcPts val="95"/>
              </a:spcBef>
              <a:tabLst>
                <a:tab pos="360045" algn="l"/>
                <a:tab pos="360680" algn="l"/>
              </a:tabLst>
            </a:pPr>
            <a:r>
              <a:rPr sz="2200" b="1" spc="30" dirty="0">
                <a:latin typeface="Times New Roman"/>
                <a:cs typeface="Times New Roman"/>
              </a:rPr>
              <a:t>R</a:t>
            </a:r>
            <a:r>
              <a:rPr sz="2200" b="1" spc="-25" dirty="0">
                <a:latin typeface="Times New Roman"/>
                <a:cs typeface="Times New Roman"/>
              </a:rPr>
              <a:t>u</a:t>
            </a:r>
            <a:r>
              <a:rPr sz="2200" b="1" spc="20" dirty="0">
                <a:latin typeface="Times New Roman"/>
                <a:cs typeface="Times New Roman"/>
              </a:rPr>
              <a:t>l</a:t>
            </a:r>
            <a:r>
              <a:rPr sz="2200" b="1" spc="-5" dirty="0">
                <a:latin typeface="Times New Roman"/>
                <a:cs typeface="Times New Roman"/>
              </a:rPr>
              <a:t>e</a:t>
            </a:r>
            <a:r>
              <a:rPr sz="2200" b="1" spc="-85" dirty="0">
                <a:latin typeface="Times New Roman"/>
                <a:cs typeface="Times New Roman"/>
              </a:rPr>
              <a:t> </a:t>
            </a:r>
            <a:r>
              <a:rPr sz="2200" b="1" spc="-25" dirty="0">
                <a:latin typeface="Times New Roman"/>
                <a:cs typeface="Times New Roman"/>
              </a:rPr>
              <a:t>o</a:t>
            </a:r>
            <a:r>
              <a:rPr sz="2200" b="1" spc="-5" dirty="0">
                <a:latin typeface="Times New Roman"/>
                <a:cs typeface="Times New Roman"/>
              </a:rPr>
              <a:t>f</a:t>
            </a:r>
            <a:r>
              <a:rPr sz="2200" b="1" spc="10" dirty="0">
                <a:latin typeface="Times New Roman"/>
                <a:cs typeface="Times New Roman"/>
              </a:rPr>
              <a:t> </a:t>
            </a:r>
            <a:r>
              <a:rPr sz="2200" b="1" i="1" spc="30" dirty="0">
                <a:latin typeface="Times New Roman"/>
                <a:cs typeface="Times New Roman"/>
              </a:rPr>
              <a:t>C</a:t>
            </a:r>
            <a:r>
              <a:rPr sz="2200" b="1" i="1" spc="45" dirty="0">
                <a:latin typeface="Times New Roman"/>
                <a:cs typeface="Times New Roman"/>
              </a:rPr>
              <a:t>ondu</a:t>
            </a:r>
            <a:r>
              <a:rPr sz="2200" b="1" i="1" spc="-60" dirty="0">
                <a:latin typeface="Times New Roman"/>
                <a:cs typeface="Times New Roman"/>
              </a:rPr>
              <a:t>c</a:t>
            </a:r>
            <a:r>
              <a:rPr sz="2200" b="1" i="1" spc="20" dirty="0">
                <a:latin typeface="Times New Roman"/>
                <a:cs typeface="Times New Roman"/>
              </a:rPr>
              <a:t>t</a:t>
            </a:r>
            <a:r>
              <a:rPr sz="2200" b="1" i="1" spc="-40" dirty="0">
                <a:latin typeface="Times New Roman"/>
                <a:cs typeface="Times New Roman"/>
              </a:rPr>
              <a:t>i</a:t>
            </a:r>
            <a:r>
              <a:rPr sz="2200" b="1" i="1" spc="45" dirty="0">
                <a:latin typeface="Times New Roman"/>
                <a:cs typeface="Times New Roman"/>
              </a:rPr>
              <a:t>o</a:t>
            </a:r>
            <a:r>
              <a:rPr sz="2200" b="1" i="1" spc="-5" dirty="0">
                <a:latin typeface="Times New Roman"/>
                <a:cs typeface="Times New Roman"/>
              </a:rPr>
              <a:t>n</a:t>
            </a:r>
            <a:r>
              <a:rPr sz="2200" b="1" i="1" spc="-220" dirty="0">
                <a:latin typeface="Times New Roman"/>
                <a:cs typeface="Times New Roman"/>
              </a:rPr>
              <a:t> </a:t>
            </a:r>
            <a:r>
              <a:rPr sz="2200" b="1" i="1" spc="30" dirty="0">
                <a:latin typeface="Times New Roman"/>
                <a:cs typeface="Times New Roman"/>
              </a:rPr>
              <a:t>C</a:t>
            </a:r>
            <a:r>
              <a:rPr sz="2200" b="1" i="1" spc="50" dirty="0">
                <a:latin typeface="Times New Roman"/>
                <a:cs typeface="Times New Roman"/>
              </a:rPr>
              <a:t>o</a:t>
            </a:r>
            <a:r>
              <a:rPr sz="2200" b="1" i="1" spc="-20" dirty="0">
                <a:latin typeface="Times New Roman"/>
                <a:cs typeface="Times New Roman"/>
              </a:rPr>
              <a:t>m</a:t>
            </a:r>
            <a:r>
              <a:rPr sz="2200" b="1" i="1" spc="45" dirty="0">
                <a:latin typeface="Times New Roman"/>
                <a:cs typeface="Times New Roman"/>
              </a:rPr>
              <a:t>p</a:t>
            </a:r>
            <a:r>
              <a:rPr sz="2200" b="1" i="1" spc="20" dirty="0">
                <a:latin typeface="Times New Roman"/>
                <a:cs typeface="Times New Roman"/>
              </a:rPr>
              <a:t>l</a:t>
            </a:r>
            <a:r>
              <a:rPr sz="2200" b="1" i="1" spc="15" dirty="0">
                <a:latin typeface="Times New Roman"/>
                <a:cs typeface="Times New Roman"/>
              </a:rPr>
              <a:t>e</a:t>
            </a:r>
            <a:r>
              <a:rPr sz="2200" b="1" i="1" spc="-20" dirty="0">
                <a:latin typeface="Times New Roman"/>
                <a:cs typeface="Times New Roman"/>
              </a:rPr>
              <a:t>m</a:t>
            </a:r>
            <a:r>
              <a:rPr sz="2200" b="1" i="1" spc="-45" dirty="0">
                <a:latin typeface="Times New Roman"/>
                <a:cs typeface="Times New Roman"/>
              </a:rPr>
              <a:t>e</a:t>
            </a:r>
            <a:r>
              <a:rPr sz="2200" b="1" i="1" spc="-25" dirty="0">
                <a:latin typeface="Times New Roman"/>
                <a:cs typeface="Times New Roman"/>
              </a:rPr>
              <a:t>n</a:t>
            </a:r>
            <a:r>
              <a:rPr sz="2200" b="1" i="1" spc="20" dirty="0">
                <a:latin typeface="Times New Roman"/>
                <a:cs typeface="Times New Roman"/>
              </a:rPr>
              <a:t>t</a:t>
            </a:r>
            <a:r>
              <a:rPr sz="2200" b="1" i="1" spc="-5" dirty="0">
                <a:latin typeface="Times New Roman"/>
                <a:cs typeface="Times New Roman"/>
              </a:rPr>
              <a:t>s</a:t>
            </a:r>
            <a:endParaRPr sz="2200" b="1" dirty="0">
              <a:latin typeface="Times New Roman"/>
              <a:cs typeface="Times New Roman"/>
            </a:endParaRPr>
          </a:p>
        </p:txBody>
      </p:sp>
      <p:sp>
        <p:nvSpPr>
          <p:cNvPr id="17" name="object 17"/>
          <p:cNvSpPr txBox="1"/>
          <p:nvPr/>
        </p:nvSpPr>
        <p:spPr>
          <a:xfrm>
            <a:off x="767411" y="1357971"/>
            <a:ext cx="5112565" cy="1730602"/>
          </a:xfrm>
          <a:prstGeom prst="rect">
            <a:avLst/>
          </a:prstGeom>
        </p:spPr>
        <p:txBody>
          <a:bodyPr vert="horz" wrap="square" lIns="0" tIns="12065" rIns="0" bIns="0" rtlCol="0">
            <a:spAutoFit/>
          </a:bodyPr>
          <a:lstStyle/>
          <a:p>
            <a:pPr marL="250190">
              <a:spcBef>
                <a:spcPts val="95"/>
              </a:spcBef>
            </a:pPr>
            <a:r>
              <a:rPr lang="en-US" sz="2200" dirty="0">
                <a:latin typeface="Times New Roman"/>
                <a:cs typeface="Times New Roman"/>
              </a:rPr>
              <a:t>First Design Pull Down Network (PDN)</a:t>
            </a:r>
          </a:p>
          <a:p>
            <a:pPr marL="250190">
              <a:spcBef>
                <a:spcPts val="95"/>
              </a:spcBef>
            </a:pPr>
            <a:r>
              <a:rPr lang="en-US" sz="2200" dirty="0">
                <a:latin typeface="Times New Roman"/>
                <a:cs typeface="Times New Roman"/>
              </a:rPr>
              <a:t>Then </a:t>
            </a:r>
            <a:r>
              <a:rPr sz="2200" dirty="0">
                <a:latin typeface="Times New Roman"/>
                <a:cs typeface="Times New Roman"/>
              </a:rPr>
              <a:t>Pull-up</a:t>
            </a:r>
            <a:r>
              <a:rPr sz="2200" spc="260" dirty="0">
                <a:latin typeface="Times New Roman"/>
                <a:cs typeface="Times New Roman"/>
              </a:rPr>
              <a:t> </a:t>
            </a:r>
            <a:r>
              <a:rPr sz="2200" spc="-15" dirty="0">
                <a:latin typeface="Times New Roman"/>
                <a:cs typeface="Times New Roman"/>
              </a:rPr>
              <a:t>network</a:t>
            </a:r>
            <a:r>
              <a:rPr sz="2200" spc="285" dirty="0">
                <a:latin typeface="Times New Roman"/>
                <a:cs typeface="Times New Roman"/>
              </a:rPr>
              <a:t> </a:t>
            </a:r>
            <a:r>
              <a:rPr sz="2200" spc="10" dirty="0">
                <a:latin typeface="Times New Roman"/>
                <a:cs typeface="Times New Roman"/>
              </a:rPr>
              <a:t>is</a:t>
            </a:r>
            <a:r>
              <a:rPr sz="2200" spc="229" dirty="0">
                <a:latin typeface="Times New Roman"/>
                <a:cs typeface="Times New Roman"/>
              </a:rPr>
              <a:t> </a:t>
            </a:r>
            <a:r>
              <a:rPr sz="2200" spc="-20" dirty="0">
                <a:latin typeface="Times New Roman"/>
                <a:cs typeface="Times New Roman"/>
              </a:rPr>
              <a:t>complement</a:t>
            </a:r>
            <a:r>
              <a:rPr sz="2200" spc="385" dirty="0">
                <a:latin typeface="Times New Roman"/>
                <a:cs typeface="Times New Roman"/>
              </a:rPr>
              <a:t> </a:t>
            </a:r>
            <a:r>
              <a:rPr sz="2200" spc="-25" dirty="0">
                <a:latin typeface="Times New Roman"/>
                <a:cs typeface="Times New Roman"/>
              </a:rPr>
              <a:t>of</a:t>
            </a:r>
            <a:r>
              <a:rPr lang="en-US" sz="2200" spc="-25" dirty="0">
                <a:latin typeface="Times New Roman"/>
                <a:cs typeface="Times New Roman"/>
              </a:rPr>
              <a:t>  </a:t>
            </a:r>
            <a:r>
              <a:rPr lang="en-US" sz="2200" spc="-5" dirty="0">
                <a:latin typeface="Times New Roman"/>
                <a:cs typeface="Times New Roman"/>
              </a:rPr>
              <a:t>pull-down</a:t>
            </a:r>
            <a:endParaRPr lang="en-US" sz="2200" dirty="0">
              <a:latin typeface="Times New Roman"/>
              <a:cs typeface="Times New Roman"/>
            </a:endParaRPr>
          </a:p>
          <a:p>
            <a:pPr marL="250190" indent="-238125">
              <a:spcBef>
                <a:spcPts val="25"/>
              </a:spcBef>
              <a:buFont typeface="Arial MT"/>
              <a:buChar char="•"/>
              <a:tabLst>
                <a:tab pos="250190" algn="l"/>
                <a:tab pos="250825" algn="l"/>
              </a:tabLst>
            </a:pPr>
            <a:r>
              <a:rPr lang="en-US" sz="2200" spc="5" dirty="0">
                <a:latin typeface="Times New Roman"/>
                <a:cs typeface="Times New Roman"/>
              </a:rPr>
              <a:t>parallel</a:t>
            </a:r>
            <a:r>
              <a:rPr lang="en-US" sz="2200" spc="-130" dirty="0">
                <a:latin typeface="Times New Roman"/>
                <a:cs typeface="Times New Roman"/>
              </a:rPr>
              <a:t> </a:t>
            </a:r>
            <a:r>
              <a:rPr lang="en-US" sz="2200" spc="-5" dirty="0">
                <a:latin typeface="Times New Roman"/>
                <a:cs typeface="Times New Roman"/>
              </a:rPr>
              <a:t>→</a:t>
            </a:r>
            <a:r>
              <a:rPr lang="en-US" sz="2200" spc="50" dirty="0">
                <a:latin typeface="Times New Roman"/>
                <a:cs typeface="Times New Roman"/>
              </a:rPr>
              <a:t> </a:t>
            </a:r>
            <a:r>
              <a:rPr lang="en-US" sz="2200" spc="-20" dirty="0">
                <a:latin typeface="Times New Roman"/>
                <a:cs typeface="Times New Roman"/>
              </a:rPr>
              <a:t>series,</a:t>
            </a:r>
            <a:r>
              <a:rPr lang="en-US" sz="2200" spc="-15" dirty="0">
                <a:latin typeface="Times New Roman"/>
                <a:cs typeface="Times New Roman"/>
              </a:rPr>
              <a:t> </a:t>
            </a:r>
            <a:r>
              <a:rPr lang="en-US" sz="2200" spc="-5" dirty="0">
                <a:latin typeface="Times New Roman"/>
                <a:cs typeface="Times New Roman"/>
              </a:rPr>
              <a:t>series</a:t>
            </a:r>
            <a:r>
              <a:rPr lang="en-US" sz="2200" spc="-45" dirty="0">
                <a:latin typeface="Times New Roman"/>
                <a:cs typeface="Times New Roman"/>
              </a:rPr>
              <a:t> </a:t>
            </a:r>
            <a:r>
              <a:rPr lang="en-US" sz="2200" spc="-5" dirty="0">
                <a:latin typeface="Times New Roman"/>
                <a:cs typeface="Times New Roman"/>
              </a:rPr>
              <a:t>→</a:t>
            </a:r>
            <a:r>
              <a:rPr lang="en-US" sz="2200" spc="50" dirty="0">
                <a:latin typeface="Times New Roman"/>
                <a:cs typeface="Times New Roman"/>
              </a:rPr>
              <a:t> </a:t>
            </a:r>
            <a:r>
              <a:rPr lang="en-US" sz="2200" spc="5" dirty="0">
                <a:latin typeface="Times New Roman"/>
                <a:cs typeface="Times New Roman"/>
              </a:rPr>
              <a:t>parallel</a:t>
            </a:r>
            <a:endParaRPr lang="en-US" sz="2200" dirty="0">
              <a:latin typeface="Times New Roman"/>
              <a:cs typeface="Times New Roman"/>
            </a:endParaRPr>
          </a:p>
          <a:p>
            <a:pPr marL="250190" indent="-238125">
              <a:spcBef>
                <a:spcPts val="95"/>
              </a:spcBef>
              <a:buFont typeface="Arial MT"/>
              <a:buChar char="•"/>
              <a:tabLst>
                <a:tab pos="250190" algn="l"/>
                <a:tab pos="250825" algn="l"/>
              </a:tabLst>
            </a:pPr>
            <a:endParaRPr sz="2200" dirty="0">
              <a:latin typeface="Times New Roman"/>
              <a:cs typeface="Times New Roman"/>
            </a:endParaRPr>
          </a:p>
        </p:txBody>
      </p:sp>
      <p:sp>
        <p:nvSpPr>
          <p:cNvPr id="35" name="object 35"/>
          <p:cNvSpPr txBox="1"/>
          <p:nvPr/>
        </p:nvSpPr>
        <p:spPr>
          <a:xfrm>
            <a:off x="4731512" y="6374079"/>
            <a:ext cx="64135" cy="153888"/>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a:t>
            </a:r>
            <a:endParaRPr sz="1200">
              <a:latin typeface="Calibri"/>
              <a:cs typeface="Calibri"/>
            </a:endParaRPr>
          </a:p>
        </p:txBody>
      </p:sp>
      <p:sp>
        <p:nvSpPr>
          <p:cNvPr id="37" name="object 37"/>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81</a:t>
            </a:fld>
            <a:endParaRPr dirty="0"/>
          </a:p>
        </p:txBody>
      </p:sp>
      <p:sp>
        <p:nvSpPr>
          <p:cNvPr id="39" name="Footer Placeholder 38"/>
          <p:cNvSpPr>
            <a:spLocks noGrp="1"/>
          </p:cNvSpPr>
          <p:nvPr>
            <p:ph type="ftr" sz="quarter" idx="4294967295"/>
          </p:nvPr>
        </p:nvSpPr>
        <p:spPr/>
        <p:txBody>
          <a:bodyPr/>
          <a:lstStyle/>
          <a:p>
            <a:r>
              <a:rPr lang="en-IN"/>
              <a:t>CMOS</a:t>
            </a:r>
          </a:p>
        </p:txBody>
      </p:sp>
      <p:sp>
        <p:nvSpPr>
          <p:cNvPr id="2" name="Date Placeholder 1"/>
          <p:cNvSpPr>
            <a:spLocks noGrp="1"/>
          </p:cNvSpPr>
          <p:nvPr>
            <p:ph type="dt" sz="half" idx="10"/>
          </p:nvPr>
        </p:nvSpPr>
        <p:spPr/>
        <p:txBody>
          <a:bodyPr/>
          <a:lstStyle/>
          <a:p>
            <a:fld id="{2BA44128-A201-4E89-8A52-2955ED360EEE}" type="datetime1">
              <a:rPr lang="en-US" smtClean="0"/>
              <a:t>9/9/2025</a:t>
            </a:fld>
            <a:endParaRPr lang="en-IN"/>
          </a:p>
        </p:txBody>
      </p:sp>
      <p:pic>
        <p:nvPicPr>
          <p:cNvPr id="5" name="object 8"/>
          <p:cNvPicPr/>
          <p:nvPr/>
        </p:nvPicPr>
        <p:blipFill>
          <a:blip r:embed="rId2" cstate="print"/>
          <a:stretch>
            <a:fillRect/>
          </a:stretch>
        </p:blipFill>
        <p:spPr>
          <a:xfrm>
            <a:off x="1772568" y="3452015"/>
            <a:ext cx="8240464" cy="2166542"/>
          </a:xfrm>
          <a:prstGeom prst="rect">
            <a:avLst/>
          </a:prstGeom>
        </p:spPr>
      </p:pic>
    </p:spTree>
    <p:extLst>
      <p:ext uri="{BB962C8B-B14F-4D97-AF65-F5344CB8AC3E}">
        <p14:creationId xmlns:p14="http://schemas.microsoft.com/office/powerpoint/2010/main" val="3484553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2999656" y="-26849"/>
            <a:ext cx="6525345" cy="690574"/>
          </a:xfrm>
          <a:prstGeom prst="rect">
            <a:avLst/>
          </a:prstGeom>
        </p:spPr>
        <p:txBody>
          <a:bodyPr vert="horz" wrap="square" lIns="0" tIns="13335" rIns="0" bIns="0" rtlCol="0" anchor="ctr">
            <a:spAutoFit/>
          </a:bodyPr>
          <a:lstStyle/>
          <a:p>
            <a:pPr marL="12700">
              <a:spcBef>
                <a:spcPts val="105"/>
              </a:spcBef>
            </a:pPr>
            <a:r>
              <a:rPr spc="10" dirty="0"/>
              <a:t>CMOS</a:t>
            </a:r>
            <a:r>
              <a:rPr spc="60" dirty="0"/>
              <a:t> </a:t>
            </a:r>
            <a:r>
              <a:rPr lang="en-US" spc="60" dirty="0"/>
              <a:t>NAND </a:t>
            </a:r>
            <a:r>
              <a:rPr spc="5" dirty="0"/>
              <a:t>Gate</a:t>
            </a:r>
            <a:r>
              <a:rPr spc="-35" dirty="0"/>
              <a:t> </a:t>
            </a:r>
            <a:r>
              <a:rPr spc="-15" dirty="0"/>
              <a:t>Design</a:t>
            </a:r>
          </a:p>
        </p:txBody>
      </p:sp>
      <p:grpSp>
        <p:nvGrpSpPr>
          <p:cNvPr id="8" name="object 8"/>
          <p:cNvGrpSpPr/>
          <p:nvPr/>
        </p:nvGrpSpPr>
        <p:grpSpPr>
          <a:xfrm>
            <a:off x="1825562" y="1142809"/>
            <a:ext cx="8550275" cy="5340350"/>
            <a:chOff x="301561" y="1142809"/>
            <a:chExt cx="8550275" cy="5340350"/>
          </a:xfrm>
        </p:grpSpPr>
        <p:sp>
          <p:nvSpPr>
            <p:cNvPr id="9" name="object 9"/>
            <p:cNvSpPr/>
            <p:nvPr/>
          </p:nvSpPr>
          <p:spPr>
            <a:xfrm>
              <a:off x="306324" y="1147572"/>
              <a:ext cx="8540750" cy="5330825"/>
            </a:xfrm>
            <a:custGeom>
              <a:avLst/>
              <a:gdLst/>
              <a:ahLst/>
              <a:cxnLst/>
              <a:rect l="l" t="t" r="r" b="b"/>
              <a:pathLst>
                <a:path w="8540750" h="5330825">
                  <a:moveTo>
                    <a:pt x="8540242" y="0"/>
                  </a:moveTo>
                  <a:lnTo>
                    <a:pt x="0" y="0"/>
                  </a:lnTo>
                  <a:lnTo>
                    <a:pt x="0" y="5330444"/>
                  </a:lnTo>
                  <a:lnTo>
                    <a:pt x="8540242" y="5330444"/>
                  </a:lnTo>
                  <a:lnTo>
                    <a:pt x="8540242" y="0"/>
                  </a:lnTo>
                  <a:close/>
                </a:path>
              </a:pathLst>
            </a:custGeom>
            <a:solidFill>
              <a:srgbClr val="DFEBF6"/>
            </a:solidFill>
          </p:spPr>
          <p:txBody>
            <a:bodyPr wrap="square" lIns="0" tIns="0" rIns="0" bIns="0" rtlCol="0"/>
            <a:lstStyle/>
            <a:p>
              <a:endParaRPr/>
            </a:p>
          </p:txBody>
        </p:sp>
        <p:sp>
          <p:nvSpPr>
            <p:cNvPr id="10" name="object 10"/>
            <p:cNvSpPr/>
            <p:nvPr/>
          </p:nvSpPr>
          <p:spPr>
            <a:xfrm>
              <a:off x="306324" y="1147572"/>
              <a:ext cx="8540750" cy="5330825"/>
            </a:xfrm>
            <a:custGeom>
              <a:avLst/>
              <a:gdLst/>
              <a:ahLst/>
              <a:cxnLst/>
              <a:rect l="l" t="t" r="r" b="b"/>
              <a:pathLst>
                <a:path w="8540750" h="5330825">
                  <a:moveTo>
                    <a:pt x="0" y="5330444"/>
                  </a:moveTo>
                  <a:lnTo>
                    <a:pt x="8540242" y="5330444"/>
                  </a:lnTo>
                  <a:lnTo>
                    <a:pt x="8540242" y="0"/>
                  </a:lnTo>
                  <a:lnTo>
                    <a:pt x="0" y="0"/>
                  </a:lnTo>
                  <a:lnTo>
                    <a:pt x="0" y="5330444"/>
                  </a:lnTo>
                  <a:close/>
                </a:path>
              </a:pathLst>
            </a:custGeom>
            <a:ln w="9144">
              <a:solidFill>
                <a:srgbClr val="000000"/>
              </a:solidFill>
            </a:ln>
          </p:spPr>
          <p:txBody>
            <a:bodyPr wrap="square" lIns="0" tIns="0" rIns="0" bIns="0" rtlCol="0"/>
            <a:lstStyle/>
            <a:p>
              <a:endParaRPr/>
            </a:p>
          </p:txBody>
        </p:sp>
        <p:sp>
          <p:nvSpPr>
            <p:cNvPr id="11" name="object 11"/>
            <p:cNvSpPr/>
            <p:nvPr/>
          </p:nvSpPr>
          <p:spPr>
            <a:xfrm>
              <a:off x="530352" y="1298448"/>
              <a:ext cx="8083550" cy="4900930"/>
            </a:xfrm>
            <a:custGeom>
              <a:avLst/>
              <a:gdLst/>
              <a:ahLst/>
              <a:cxnLst/>
              <a:rect l="l" t="t" r="r" b="b"/>
              <a:pathLst>
                <a:path w="8083550" h="4900930">
                  <a:moveTo>
                    <a:pt x="8083042" y="0"/>
                  </a:moveTo>
                  <a:lnTo>
                    <a:pt x="0" y="0"/>
                  </a:lnTo>
                  <a:lnTo>
                    <a:pt x="0" y="4900803"/>
                  </a:lnTo>
                  <a:lnTo>
                    <a:pt x="8083042" y="4900803"/>
                  </a:lnTo>
                  <a:lnTo>
                    <a:pt x="8083042" y="0"/>
                  </a:lnTo>
                  <a:close/>
                </a:path>
              </a:pathLst>
            </a:custGeom>
            <a:solidFill>
              <a:srgbClr val="A9CCEC"/>
            </a:solidFill>
          </p:spPr>
          <p:txBody>
            <a:bodyPr wrap="square" lIns="0" tIns="0" rIns="0" bIns="0" rtlCol="0"/>
            <a:lstStyle/>
            <a:p>
              <a:endParaRPr/>
            </a:p>
          </p:txBody>
        </p:sp>
        <p:sp>
          <p:nvSpPr>
            <p:cNvPr id="12" name="object 12"/>
            <p:cNvSpPr/>
            <p:nvPr/>
          </p:nvSpPr>
          <p:spPr>
            <a:xfrm>
              <a:off x="531114" y="1299210"/>
              <a:ext cx="8083550" cy="4900930"/>
            </a:xfrm>
            <a:custGeom>
              <a:avLst/>
              <a:gdLst/>
              <a:ahLst/>
              <a:cxnLst/>
              <a:rect l="l" t="t" r="r" b="b"/>
              <a:pathLst>
                <a:path w="8083550" h="4900930">
                  <a:moveTo>
                    <a:pt x="0" y="4900803"/>
                  </a:moveTo>
                  <a:lnTo>
                    <a:pt x="8083042" y="4900803"/>
                  </a:lnTo>
                  <a:lnTo>
                    <a:pt x="8083042" y="0"/>
                  </a:lnTo>
                  <a:lnTo>
                    <a:pt x="0" y="0"/>
                  </a:lnTo>
                  <a:lnTo>
                    <a:pt x="0" y="4900803"/>
                  </a:lnTo>
                  <a:close/>
                </a:path>
              </a:pathLst>
            </a:custGeom>
            <a:ln w="35052">
              <a:solidFill>
                <a:srgbClr val="214F77"/>
              </a:solidFill>
            </a:ln>
          </p:spPr>
          <p:txBody>
            <a:bodyPr wrap="square" lIns="0" tIns="0" rIns="0" bIns="0" rtlCol="0"/>
            <a:lstStyle/>
            <a:p>
              <a:endParaRPr/>
            </a:p>
          </p:txBody>
        </p:sp>
      </p:grpSp>
      <p:sp>
        <p:nvSpPr>
          <p:cNvPr id="13" name="object 13"/>
          <p:cNvSpPr txBox="1"/>
          <p:nvPr/>
        </p:nvSpPr>
        <p:spPr>
          <a:xfrm>
            <a:off x="2154733" y="1281177"/>
            <a:ext cx="3034665" cy="330835"/>
          </a:xfrm>
          <a:prstGeom prst="rect">
            <a:avLst/>
          </a:prstGeom>
        </p:spPr>
        <p:txBody>
          <a:bodyPr vert="horz" wrap="square" lIns="0" tIns="13335" rIns="0" bIns="0" rtlCol="0">
            <a:spAutoFit/>
          </a:bodyPr>
          <a:lstStyle/>
          <a:p>
            <a:pPr marL="12700">
              <a:spcBef>
                <a:spcPts val="105"/>
              </a:spcBef>
            </a:pPr>
            <a:r>
              <a:rPr sz="2000" dirty="0">
                <a:latin typeface="Times New Roman"/>
                <a:cs typeface="Times New Roman"/>
              </a:rPr>
              <a:t>A</a:t>
            </a:r>
            <a:r>
              <a:rPr sz="2000" spc="-185" dirty="0">
                <a:latin typeface="Times New Roman"/>
                <a:cs typeface="Times New Roman"/>
              </a:rPr>
              <a:t> </a:t>
            </a:r>
            <a:r>
              <a:rPr sz="2000" spc="5" dirty="0">
                <a:latin typeface="Times New Roman"/>
                <a:cs typeface="Times New Roman"/>
              </a:rPr>
              <a:t>2</a:t>
            </a:r>
            <a:r>
              <a:rPr sz="2000" spc="-20" dirty="0">
                <a:latin typeface="Times New Roman"/>
                <a:cs typeface="Times New Roman"/>
              </a:rPr>
              <a:t>-</a:t>
            </a:r>
            <a:r>
              <a:rPr sz="2000" spc="5" dirty="0">
                <a:latin typeface="Times New Roman"/>
                <a:cs typeface="Times New Roman"/>
              </a:rPr>
              <a:t>inpu</a:t>
            </a:r>
            <a:r>
              <a:rPr sz="2000" dirty="0">
                <a:latin typeface="Times New Roman"/>
                <a:cs typeface="Times New Roman"/>
              </a:rPr>
              <a:t>t</a:t>
            </a:r>
            <a:r>
              <a:rPr sz="2000" spc="-75" dirty="0">
                <a:latin typeface="Times New Roman"/>
                <a:cs typeface="Times New Roman"/>
              </a:rPr>
              <a:t> </a:t>
            </a:r>
            <a:r>
              <a:rPr sz="2000" spc="30" dirty="0">
                <a:latin typeface="Times New Roman"/>
                <a:cs typeface="Times New Roman"/>
              </a:rPr>
              <a:t>C</a:t>
            </a:r>
            <a:r>
              <a:rPr sz="2000" spc="15" dirty="0">
                <a:latin typeface="Times New Roman"/>
                <a:cs typeface="Times New Roman"/>
              </a:rPr>
              <a:t>M</a:t>
            </a:r>
            <a:r>
              <a:rPr sz="2000" spc="5" dirty="0">
                <a:latin typeface="Times New Roman"/>
                <a:cs typeface="Times New Roman"/>
              </a:rPr>
              <a:t>O</a:t>
            </a:r>
            <a:r>
              <a:rPr sz="2000" dirty="0">
                <a:latin typeface="Times New Roman"/>
                <a:cs typeface="Times New Roman"/>
              </a:rPr>
              <a:t>S</a:t>
            </a:r>
            <a:r>
              <a:rPr sz="2000" spc="-130" dirty="0">
                <a:latin typeface="Times New Roman"/>
                <a:cs typeface="Times New Roman"/>
              </a:rPr>
              <a:t> </a:t>
            </a:r>
            <a:r>
              <a:rPr sz="2000" spc="5" dirty="0">
                <a:latin typeface="Times New Roman"/>
                <a:cs typeface="Times New Roman"/>
              </a:rPr>
              <a:t>N</a:t>
            </a:r>
            <a:r>
              <a:rPr sz="2000" spc="-80" dirty="0">
                <a:latin typeface="Times New Roman"/>
                <a:cs typeface="Times New Roman"/>
              </a:rPr>
              <a:t>A</a:t>
            </a:r>
            <a:r>
              <a:rPr sz="2000" spc="5" dirty="0">
                <a:latin typeface="Times New Roman"/>
                <a:cs typeface="Times New Roman"/>
              </a:rPr>
              <a:t>N</a:t>
            </a:r>
            <a:r>
              <a:rPr sz="2000" dirty="0">
                <a:latin typeface="Times New Roman"/>
                <a:cs typeface="Times New Roman"/>
              </a:rPr>
              <a:t>D</a:t>
            </a:r>
            <a:r>
              <a:rPr sz="2000" spc="125" dirty="0">
                <a:latin typeface="Times New Roman"/>
                <a:cs typeface="Times New Roman"/>
              </a:rPr>
              <a:t> </a:t>
            </a:r>
            <a:r>
              <a:rPr sz="2000" spc="-70" dirty="0">
                <a:latin typeface="Times New Roman"/>
                <a:cs typeface="Times New Roman"/>
              </a:rPr>
              <a:t>g</a:t>
            </a:r>
            <a:r>
              <a:rPr sz="2000" spc="-40" dirty="0">
                <a:latin typeface="Times New Roman"/>
                <a:cs typeface="Times New Roman"/>
              </a:rPr>
              <a:t>a</a:t>
            </a:r>
            <a:r>
              <a:rPr sz="2000" spc="5" dirty="0">
                <a:latin typeface="Times New Roman"/>
                <a:cs typeface="Times New Roman"/>
              </a:rPr>
              <a:t>t</a:t>
            </a:r>
            <a:r>
              <a:rPr sz="2000" dirty="0">
                <a:latin typeface="Times New Roman"/>
                <a:cs typeface="Times New Roman"/>
              </a:rPr>
              <a:t>e</a:t>
            </a:r>
            <a:endParaRPr sz="2000">
              <a:latin typeface="Times New Roman"/>
              <a:cs typeface="Times New Roman"/>
            </a:endParaRPr>
          </a:p>
        </p:txBody>
      </p:sp>
      <p:pic>
        <p:nvPicPr>
          <p:cNvPr id="14" name="object 14"/>
          <p:cNvPicPr/>
          <p:nvPr/>
        </p:nvPicPr>
        <p:blipFill>
          <a:blip r:embed="rId2" cstate="print"/>
          <a:stretch>
            <a:fillRect/>
          </a:stretch>
        </p:blipFill>
        <p:spPr>
          <a:xfrm>
            <a:off x="2209800" y="1984248"/>
            <a:ext cx="7772400" cy="3959352"/>
          </a:xfrm>
          <a:prstGeom prst="rect">
            <a:avLst/>
          </a:prstGeom>
        </p:spPr>
      </p:pic>
      <p:sp>
        <p:nvSpPr>
          <p:cNvPr id="16" name="object 16"/>
          <p:cNvSpPr txBox="1"/>
          <p:nvPr/>
        </p:nvSpPr>
        <p:spPr>
          <a:xfrm>
            <a:off x="4731512" y="6374079"/>
            <a:ext cx="64135" cy="153888"/>
          </a:xfrm>
          <a:prstGeom prst="rect">
            <a:avLst/>
          </a:prstGeom>
        </p:spPr>
        <p:txBody>
          <a:bodyPr vert="horz" wrap="square" lIns="0" tIns="0" rIns="0" bIns="0" rtlCol="0">
            <a:spAutoFit/>
          </a:bodyPr>
          <a:lstStyle/>
          <a:p>
            <a:pPr marL="12700">
              <a:lnSpc>
                <a:spcPts val="1240"/>
              </a:lnSpc>
            </a:pPr>
            <a:r>
              <a:rPr sz="1200" dirty="0">
                <a:solidFill>
                  <a:srgbClr val="878787"/>
                </a:solidFill>
                <a:latin typeface="Calibri"/>
                <a:cs typeface="Calibri"/>
              </a:rPr>
              <a:t>.</a:t>
            </a:r>
            <a:endParaRPr sz="1200">
              <a:latin typeface="Calibri"/>
              <a:cs typeface="Calibri"/>
            </a:endParaRPr>
          </a:p>
        </p:txBody>
      </p:sp>
      <p:sp>
        <p:nvSpPr>
          <p:cNvPr id="17" name="object 17"/>
          <p:cNvSpPr txBox="1"/>
          <p:nvPr/>
        </p:nvSpPr>
        <p:spPr>
          <a:xfrm>
            <a:off x="5498085" y="6374079"/>
            <a:ext cx="1934845" cy="338554"/>
          </a:xfrm>
          <a:prstGeom prst="rect">
            <a:avLst/>
          </a:prstGeom>
        </p:spPr>
        <p:txBody>
          <a:bodyPr vert="horz" wrap="square" lIns="0" tIns="0" rIns="0" bIns="0" rtlCol="0">
            <a:spAutoFit/>
          </a:bodyPr>
          <a:lstStyle/>
          <a:p>
            <a:pPr marL="12700">
              <a:lnSpc>
                <a:spcPts val="1240"/>
              </a:lnSpc>
            </a:pPr>
            <a:r>
              <a:rPr sz="1200" spc="5" dirty="0">
                <a:solidFill>
                  <a:srgbClr val="878787"/>
                </a:solidFill>
                <a:latin typeface="Calibri"/>
                <a:cs typeface="Calibri"/>
              </a:rPr>
              <a:t>C</a:t>
            </a:r>
            <a:r>
              <a:rPr sz="1200" spc="15" dirty="0">
                <a:solidFill>
                  <a:srgbClr val="878787"/>
                </a:solidFill>
                <a:latin typeface="Calibri"/>
                <a:cs typeface="Calibri"/>
              </a:rPr>
              <a:t>M</a:t>
            </a:r>
            <a:r>
              <a:rPr sz="1200" spc="5" dirty="0">
                <a:solidFill>
                  <a:srgbClr val="878787"/>
                </a:solidFill>
                <a:latin typeface="Calibri"/>
                <a:cs typeface="Calibri"/>
              </a:rPr>
              <a:t>O</a:t>
            </a:r>
            <a:r>
              <a:rPr sz="1200" dirty="0">
                <a:solidFill>
                  <a:srgbClr val="878787"/>
                </a:solidFill>
                <a:latin typeface="Calibri"/>
                <a:cs typeface="Calibri"/>
              </a:rPr>
              <a:t>S</a:t>
            </a:r>
            <a:r>
              <a:rPr sz="1200" spc="-20" dirty="0">
                <a:solidFill>
                  <a:srgbClr val="878787"/>
                </a:solidFill>
                <a:latin typeface="Calibri"/>
                <a:cs typeface="Calibri"/>
              </a:rPr>
              <a:t> </a:t>
            </a:r>
            <a:r>
              <a:rPr sz="1200" dirty="0">
                <a:solidFill>
                  <a:srgbClr val="878787"/>
                </a:solidFill>
                <a:latin typeface="Calibri"/>
                <a:cs typeface="Calibri"/>
              </a:rPr>
              <a:t>Digi</a:t>
            </a:r>
            <a:r>
              <a:rPr sz="1200" spc="-10" dirty="0">
                <a:solidFill>
                  <a:srgbClr val="878787"/>
                </a:solidFill>
                <a:latin typeface="Calibri"/>
                <a:cs typeface="Calibri"/>
              </a:rPr>
              <a:t>t</a:t>
            </a:r>
            <a:r>
              <a:rPr sz="1200" dirty="0">
                <a:solidFill>
                  <a:srgbClr val="878787"/>
                </a:solidFill>
                <a:latin typeface="Calibri"/>
                <a:cs typeface="Calibri"/>
              </a:rPr>
              <a:t>al</a:t>
            </a:r>
            <a:r>
              <a:rPr sz="1200" spc="-30" dirty="0">
                <a:solidFill>
                  <a:srgbClr val="878787"/>
                </a:solidFill>
                <a:latin typeface="Calibri"/>
                <a:cs typeface="Calibri"/>
              </a:rPr>
              <a:t> </a:t>
            </a:r>
            <a:r>
              <a:rPr sz="1200" dirty="0">
                <a:solidFill>
                  <a:srgbClr val="878787"/>
                </a:solidFill>
                <a:latin typeface="Calibri"/>
                <a:cs typeface="Calibri"/>
              </a:rPr>
              <a:t>I</a:t>
            </a:r>
            <a:r>
              <a:rPr sz="1200" spc="-10" dirty="0">
                <a:solidFill>
                  <a:srgbClr val="878787"/>
                </a:solidFill>
                <a:latin typeface="Calibri"/>
                <a:cs typeface="Calibri"/>
              </a:rPr>
              <a:t>nt</a:t>
            </a:r>
            <a:r>
              <a:rPr sz="1200" dirty="0">
                <a:solidFill>
                  <a:srgbClr val="878787"/>
                </a:solidFill>
                <a:latin typeface="Calibri"/>
                <a:cs typeface="Calibri"/>
              </a:rPr>
              <a:t>eg</a:t>
            </a:r>
            <a:r>
              <a:rPr sz="1200" spc="-25" dirty="0">
                <a:solidFill>
                  <a:srgbClr val="878787"/>
                </a:solidFill>
                <a:latin typeface="Calibri"/>
                <a:cs typeface="Calibri"/>
              </a:rPr>
              <a:t>r</a:t>
            </a:r>
            <a:r>
              <a:rPr sz="1200" spc="-15" dirty="0">
                <a:solidFill>
                  <a:srgbClr val="878787"/>
                </a:solidFill>
                <a:latin typeface="Calibri"/>
                <a:cs typeface="Calibri"/>
              </a:rPr>
              <a:t>a</a:t>
            </a:r>
            <a:r>
              <a:rPr sz="1200" spc="-10" dirty="0">
                <a:solidFill>
                  <a:srgbClr val="878787"/>
                </a:solidFill>
                <a:latin typeface="Calibri"/>
                <a:cs typeface="Calibri"/>
              </a:rPr>
              <a:t>t</a:t>
            </a:r>
            <a:r>
              <a:rPr sz="1200" dirty="0">
                <a:solidFill>
                  <a:srgbClr val="878787"/>
                </a:solidFill>
                <a:latin typeface="Calibri"/>
                <a:cs typeface="Calibri"/>
              </a:rPr>
              <a:t>ed</a:t>
            </a:r>
            <a:r>
              <a:rPr sz="1200" spc="-85" dirty="0">
                <a:solidFill>
                  <a:srgbClr val="878787"/>
                </a:solidFill>
                <a:latin typeface="Calibri"/>
                <a:cs typeface="Calibri"/>
              </a:rPr>
              <a:t> </a:t>
            </a:r>
            <a:r>
              <a:rPr sz="1200" spc="-5" dirty="0">
                <a:solidFill>
                  <a:srgbClr val="878787"/>
                </a:solidFill>
                <a:latin typeface="Calibri"/>
                <a:cs typeface="Calibri"/>
              </a:rPr>
              <a:t>C</a:t>
            </a:r>
            <a:r>
              <a:rPr sz="1200" dirty="0">
                <a:solidFill>
                  <a:srgbClr val="878787"/>
                </a:solidFill>
                <a:latin typeface="Calibri"/>
                <a:cs typeface="Calibri"/>
              </a:rPr>
              <a:t>i</a:t>
            </a:r>
            <a:r>
              <a:rPr sz="1200" spc="-15" dirty="0">
                <a:solidFill>
                  <a:srgbClr val="878787"/>
                </a:solidFill>
                <a:latin typeface="Calibri"/>
                <a:cs typeface="Calibri"/>
              </a:rPr>
              <a:t>r</a:t>
            </a:r>
            <a:r>
              <a:rPr sz="1200" spc="-5" dirty="0">
                <a:solidFill>
                  <a:srgbClr val="878787"/>
                </a:solidFill>
                <a:latin typeface="Calibri"/>
                <a:cs typeface="Calibri"/>
              </a:rPr>
              <a:t>c</a:t>
            </a:r>
            <a:r>
              <a:rPr sz="1200" spc="-10" dirty="0">
                <a:solidFill>
                  <a:srgbClr val="878787"/>
                </a:solidFill>
                <a:latin typeface="Calibri"/>
                <a:cs typeface="Calibri"/>
              </a:rPr>
              <a:t>u</a:t>
            </a:r>
            <a:r>
              <a:rPr sz="1200" dirty="0">
                <a:solidFill>
                  <a:srgbClr val="878787"/>
                </a:solidFill>
                <a:latin typeface="Calibri"/>
                <a:cs typeface="Calibri"/>
              </a:rPr>
              <a:t>it</a:t>
            </a:r>
            <a:endParaRPr sz="1200">
              <a:latin typeface="Calibri"/>
              <a:cs typeface="Calibri"/>
            </a:endParaRPr>
          </a:p>
          <a:p>
            <a:pPr marL="407670">
              <a:spcBef>
                <a:spcPts val="15"/>
              </a:spcBef>
            </a:pPr>
            <a:r>
              <a:rPr sz="1200" spc="10" dirty="0">
                <a:solidFill>
                  <a:srgbClr val="878787"/>
                </a:solidFill>
                <a:latin typeface="Calibri"/>
                <a:cs typeface="Calibri"/>
              </a:rPr>
              <a:t>U</a:t>
            </a:r>
            <a:r>
              <a:rPr sz="1200" spc="15" dirty="0">
                <a:solidFill>
                  <a:srgbClr val="878787"/>
                </a:solidFill>
                <a:latin typeface="Calibri"/>
                <a:cs typeface="Calibri"/>
              </a:rPr>
              <a:t>n</a:t>
            </a:r>
            <a:r>
              <a:rPr sz="1200" spc="10" dirty="0">
                <a:solidFill>
                  <a:srgbClr val="878787"/>
                </a:solidFill>
                <a:latin typeface="Calibri"/>
                <a:cs typeface="Calibri"/>
              </a:rPr>
              <a:t>i</a:t>
            </a:r>
            <a:r>
              <a:rPr sz="1200" dirty="0">
                <a:solidFill>
                  <a:srgbClr val="878787"/>
                </a:solidFill>
                <a:latin typeface="Calibri"/>
                <a:cs typeface="Calibri"/>
              </a:rPr>
              <a:t>t</a:t>
            </a:r>
            <a:r>
              <a:rPr sz="1200" spc="-40" dirty="0">
                <a:solidFill>
                  <a:srgbClr val="878787"/>
                </a:solidFill>
                <a:latin typeface="Calibri"/>
                <a:cs typeface="Calibri"/>
              </a:rPr>
              <a:t> </a:t>
            </a:r>
            <a:r>
              <a:rPr sz="1200" dirty="0">
                <a:solidFill>
                  <a:srgbClr val="878787"/>
                </a:solidFill>
                <a:latin typeface="Calibri"/>
                <a:cs typeface="Calibri"/>
              </a:rPr>
              <a:t>1</a:t>
            </a:r>
            <a:endParaRPr sz="1200">
              <a:latin typeface="Calibri"/>
              <a:cs typeface="Calibri"/>
            </a:endParaRPr>
          </a:p>
        </p:txBody>
      </p:sp>
      <p:sp>
        <p:nvSpPr>
          <p:cNvPr id="18" name="object 18"/>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82</a:t>
            </a:fld>
            <a:endParaRPr dirty="0"/>
          </a:p>
        </p:txBody>
      </p:sp>
      <p:sp>
        <p:nvSpPr>
          <p:cNvPr id="19" name="Footer Placeholder 18"/>
          <p:cNvSpPr>
            <a:spLocks noGrp="1"/>
          </p:cNvSpPr>
          <p:nvPr>
            <p:ph type="ftr" sz="quarter" idx="4294967295"/>
          </p:nvPr>
        </p:nvSpPr>
        <p:spPr/>
        <p:txBody>
          <a:bodyPr/>
          <a:lstStyle/>
          <a:p>
            <a:r>
              <a:rPr lang="en-IN"/>
              <a:t>CMOS</a:t>
            </a:r>
          </a:p>
        </p:txBody>
      </p:sp>
      <p:sp>
        <p:nvSpPr>
          <p:cNvPr id="2" name="Date Placeholder 1"/>
          <p:cNvSpPr>
            <a:spLocks noGrp="1"/>
          </p:cNvSpPr>
          <p:nvPr>
            <p:ph type="dt" sz="half" idx="10"/>
          </p:nvPr>
        </p:nvSpPr>
        <p:spPr/>
        <p:txBody>
          <a:bodyPr/>
          <a:lstStyle/>
          <a:p>
            <a:fld id="{2A35A8C4-DA1B-40CD-87EB-A26F2F24F0AC}" type="datetime1">
              <a:rPr lang="en-US" smtClean="0"/>
              <a:t>9/9/2025</a:t>
            </a:fld>
            <a:endParaRPr lang="en-IN"/>
          </a:p>
        </p:txBody>
      </p:sp>
    </p:spTree>
    <p:extLst>
      <p:ext uri="{BB962C8B-B14F-4D97-AF65-F5344CB8AC3E}">
        <p14:creationId xmlns:p14="http://schemas.microsoft.com/office/powerpoint/2010/main" val="117313763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2423592" y="628550"/>
            <a:ext cx="7112195" cy="690574"/>
          </a:xfrm>
          <a:prstGeom prst="rect">
            <a:avLst/>
          </a:prstGeom>
        </p:spPr>
        <p:txBody>
          <a:bodyPr vert="horz" wrap="square" lIns="0" tIns="13335" rIns="0" bIns="0" rtlCol="0" anchor="ctr">
            <a:spAutoFit/>
          </a:bodyPr>
          <a:lstStyle/>
          <a:p>
            <a:pPr marL="12700">
              <a:spcBef>
                <a:spcPts val="105"/>
              </a:spcBef>
            </a:pPr>
            <a:r>
              <a:rPr spc="-10" dirty="0"/>
              <a:t>PUN</a:t>
            </a:r>
            <a:r>
              <a:rPr spc="95" dirty="0"/>
              <a:t> </a:t>
            </a:r>
            <a:r>
              <a:rPr spc="-5" dirty="0"/>
              <a:t>and</a:t>
            </a:r>
            <a:r>
              <a:rPr spc="-70" dirty="0"/>
              <a:t> </a:t>
            </a:r>
            <a:r>
              <a:rPr spc="5" dirty="0"/>
              <a:t>PDN</a:t>
            </a:r>
            <a:r>
              <a:rPr spc="45" dirty="0"/>
              <a:t> </a:t>
            </a:r>
            <a:r>
              <a:rPr spc="15" dirty="0"/>
              <a:t>CONSTRUCTION</a:t>
            </a:r>
          </a:p>
        </p:txBody>
      </p:sp>
      <p:pic>
        <p:nvPicPr>
          <p:cNvPr id="10" name="object 10"/>
          <p:cNvPicPr/>
          <p:nvPr/>
        </p:nvPicPr>
        <p:blipFill>
          <a:blip r:embed="rId2" cstate="print"/>
          <a:stretch>
            <a:fillRect/>
          </a:stretch>
        </p:blipFill>
        <p:spPr>
          <a:xfrm>
            <a:off x="3035808" y="2787396"/>
            <a:ext cx="6006084" cy="3096767"/>
          </a:xfrm>
          <a:prstGeom prst="rect">
            <a:avLst/>
          </a:prstGeom>
        </p:spPr>
      </p:pic>
      <p:sp>
        <p:nvSpPr>
          <p:cNvPr id="12" name="object 12"/>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83</a:t>
            </a:fld>
            <a:endParaRPr dirty="0"/>
          </a:p>
        </p:txBody>
      </p:sp>
      <p:sp>
        <p:nvSpPr>
          <p:cNvPr id="13" name="Footer Placeholder 12"/>
          <p:cNvSpPr>
            <a:spLocks noGrp="1"/>
          </p:cNvSpPr>
          <p:nvPr>
            <p:ph type="ftr" sz="quarter" idx="4294967295"/>
          </p:nvPr>
        </p:nvSpPr>
        <p:spPr/>
        <p:txBody>
          <a:bodyPr/>
          <a:lstStyle/>
          <a:p>
            <a:r>
              <a:rPr lang="en-IN"/>
              <a:t>CMOS</a:t>
            </a:r>
          </a:p>
        </p:txBody>
      </p:sp>
      <p:sp>
        <p:nvSpPr>
          <p:cNvPr id="2" name="Date Placeholder 1"/>
          <p:cNvSpPr>
            <a:spLocks noGrp="1"/>
          </p:cNvSpPr>
          <p:nvPr>
            <p:ph type="dt" sz="half" idx="10"/>
          </p:nvPr>
        </p:nvSpPr>
        <p:spPr/>
        <p:txBody>
          <a:bodyPr/>
          <a:lstStyle/>
          <a:p>
            <a:fld id="{6F08ECE5-0844-44D5-8E8F-3F9DD503D375}" type="datetime1">
              <a:rPr lang="en-US" smtClean="0"/>
              <a:t>9/9/2025</a:t>
            </a:fld>
            <a:endParaRPr lang="en-IN"/>
          </a:p>
        </p:txBody>
      </p:sp>
    </p:spTree>
    <p:extLst>
      <p:ext uri="{BB962C8B-B14F-4D97-AF65-F5344CB8AC3E}">
        <p14:creationId xmlns:p14="http://schemas.microsoft.com/office/powerpoint/2010/main" val="1887204223"/>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object 7"/>
          <p:cNvSpPr txBox="1">
            <a:spLocks noGrp="1"/>
          </p:cNvSpPr>
          <p:nvPr>
            <p:ph type="title"/>
          </p:nvPr>
        </p:nvSpPr>
        <p:spPr>
          <a:xfrm>
            <a:off x="2711624" y="-26849"/>
            <a:ext cx="6508577" cy="690574"/>
          </a:xfrm>
          <a:prstGeom prst="rect">
            <a:avLst/>
          </a:prstGeom>
        </p:spPr>
        <p:txBody>
          <a:bodyPr vert="horz" wrap="square" lIns="0" tIns="13335" rIns="0" bIns="0" rtlCol="0" anchor="ctr">
            <a:spAutoFit/>
          </a:bodyPr>
          <a:lstStyle/>
          <a:p>
            <a:pPr marL="12700">
              <a:spcBef>
                <a:spcPts val="105"/>
              </a:spcBef>
            </a:pPr>
            <a:r>
              <a:rPr spc="10" dirty="0"/>
              <a:t>CMOS</a:t>
            </a:r>
            <a:r>
              <a:rPr spc="45" dirty="0"/>
              <a:t> </a:t>
            </a:r>
            <a:r>
              <a:rPr lang="en-US" spc="45" dirty="0"/>
              <a:t>NOR </a:t>
            </a:r>
            <a:r>
              <a:rPr spc="5" dirty="0"/>
              <a:t>Gate</a:t>
            </a:r>
            <a:r>
              <a:rPr spc="-35" dirty="0"/>
              <a:t> </a:t>
            </a:r>
            <a:r>
              <a:rPr spc="-15" dirty="0"/>
              <a:t>Design</a:t>
            </a:r>
          </a:p>
        </p:txBody>
      </p:sp>
      <p:grpSp>
        <p:nvGrpSpPr>
          <p:cNvPr id="8" name="object 8"/>
          <p:cNvGrpSpPr/>
          <p:nvPr/>
        </p:nvGrpSpPr>
        <p:grpSpPr>
          <a:xfrm>
            <a:off x="1825562" y="859345"/>
            <a:ext cx="8550275" cy="5340350"/>
            <a:chOff x="301561" y="859345"/>
            <a:chExt cx="8550275" cy="5340350"/>
          </a:xfrm>
        </p:grpSpPr>
        <p:sp>
          <p:nvSpPr>
            <p:cNvPr id="9" name="object 9"/>
            <p:cNvSpPr/>
            <p:nvPr/>
          </p:nvSpPr>
          <p:spPr>
            <a:xfrm>
              <a:off x="306324" y="864108"/>
              <a:ext cx="8540750" cy="5330825"/>
            </a:xfrm>
            <a:custGeom>
              <a:avLst/>
              <a:gdLst/>
              <a:ahLst/>
              <a:cxnLst/>
              <a:rect l="l" t="t" r="r" b="b"/>
              <a:pathLst>
                <a:path w="8540750" h="5330825">
                  <a:moveTo>
                    <a:pt x="8540242" y="0"/>
                  </a:moveTo>
                  <a:lnTo>
                    <a:pt x="0" y="0"/>
                  </a:lnTo>
                  <a:lnTo>
                    <a:pt x="0" y="5330444"/>
                  </a:lnTo>
                  <a:lnTo>
                    <a:pt x="8540242" y="5330444"/>
                  </a:lnTo>
                  <a:lnTo>
                    <a:pt x="8540242" y="0"/>
                  </a:lnTo>
                  <a:close/>
                </a:path>
              </a:pathLst>
            </a:custGeom>
            <a:solidFill>
              <a:srgbClr val="DFEBF6"/>
            </a:solidFill>
          </p:spPr>
          <p:txBody>
            <a:bodyPr wrap="square" lIns="0" tIns="0" rIns="0" bIns="0" rtlCol="0"/>
            <a:lstStyle/>
            <a:p>
              <a:endParaRPr/>
            </a:p>
          </p:txBody>
        </p:sp>
        <p:sp>
          <p:nvSpPr>
            <p:cNvPr id="10" name="object 10"/>
            <p:cNvSpPr/>
            <p:nvPr/>
          </p:nvSpPr>
          <p:spPr>
            <a:xfrm>
              <a:off x="306324" y="864108"/>
              <a:ext cx="8540750" cy="5330825"/>
            </a:xfrm>
            <a:custGeom>
              <a:avLst/>
              <a:gdLst/>
              <a:ahLst/>
              <a:cxnLst/>
              <a:rect l="l" t="t" r="r" b="b"/>
              <a:pathLst>
                <a:path w="8540750" h="5330825">
                  <a:moveTo>
                    <a:pt x="0" y="5330444"/>
                  </a:moveTo>
                  <a:lnTo>
                    <a:pt x="8540242" y="5330444"/>
                  </a:lnTo>
                  <a:lnTo>
                    <a:pt x="8540242" y="0"/>
                  </a:lnTo>
                  <a:lnTo>
                    <a:pt x="0" y="0"/>
                  </a:lnTo>
                  <a:lnTo>
                    <a:pt x="0" y="5330444"/>
                  </a:lnTo>
                  <a:close/>
                </a:path>
              </a:pathLst>
            </a:custGeom>
            <a:ln w="9144">
              <a:solidFill>
                <a:srgbClr val="000000"/>
              </a:solidFill>
            </a:ln>
          </p:spPr>
          <p:txBody>
            <a:bodyPr wrap="square" lIns="0" tIns="0" rIns="0" bIns="0" rtlCol="0"/>
            <a:lstStyle/>
            <a:p>
              <a:endParaRPr/>
            </a:p>
          </p:txBody>
        </p:sp>
        <p:sp>
          <p:nvSpPr>
            <p:cNvPr id="11" name="object 11"/>
            <p:cNvSpPr/>
            <p:nvPr/>
          </p:nvSpPr>
          <p:spPr>
            <a:xfrm>
              <a:off x="530352" y="1069848"/>
              <a:ext cx="8083550" cy="5066030"/>
            </a:xfrm>
            <a:custGeom>
              <a:avLst/>
              <a:gdLst/>
              <a:ahLst/>
              <a:cxnLst/>
              <a:rect l="l" t="t" r="r" b="b"/>
              <a:pathLst>
                <a:path w="8083550" h="5066030">
                  <a:moveTo>
                    <a:pt x="8083042" y="0"/>
                  </a:moveTo>
                  <a:lnTo>
                    <a:pt x="0" y="0"/>
                  </a:lnTo>
                  <a:lnTo>
                    <a:pt x="0" y="5065522"/>
                  </a:lnTo>
                  <a:lnTo>
                    <a:pt x="8083042" y="5065522"/>
                  </a:lnTo>
                  <a:lnTo>
                    <a:pt x="8083042" y="0"/>
                  </a:lnTo>
                  <a:close/>
                </a:path>
              </a:pathLst>
            </a:custGeom>
            <a:solidFill>
              <a:srgbClr val="A9CCEC"/>
            </a:solidFill>
          </p:spPr>
          <p:txBody>
            <a:bodyPr wrap="square" lIns="0" tIns="0" rIns="0" bIns="0" rtlCol="0"/>
            <a:lstStyle/>
            <a:p>
              <a:endParaRPr/>
            </a:p>
          </p:txBody>
        </p:sp>
        <p:sp>
          <p:nvSpPr>
            <p:cNvPr id="12" name="object 12"/>
            <p:cNvSpPr/>
            <p:nvPr/>
          </p:nvSpPr>
          <p:spPr>
            <a:xfrm>
              <a:off x="531114" y="1070610"/>
              <a:ext cx="8083550" cy="5066030"/>
            </a:xfrm>
            <a:custGeom>
              <a:avLst/>
              <a:gdLst/>
              <a:ahLst/>
              <a:cxnLst/>
              <a:rect l="l" t="t" r="r" b="b"/>
              <a:pathLst>
                <a:path w="8083550" h="5066030">
                  <a:moveTo>
                    <a:pt x="0" y="5065522"/>
                  </a:moveTo>
                  <a:lnTo>
                    <a:pt x="8083042" y="5065522"/>
                  </a:lnTo>
                  <a:lnTo>
                    <a:pt x="8083042" y="0"/>
                  </a:lnTo>
                  <a:lnTo>
                    <a:pt x="0" y="0"/>
                  </a:lnTo>
                  <a:lnTo>
                    <a:pt x="0" y="5065522"/>
                  </a:lnTo>
                  <a:close/>
                </a:path>
              </a:pathLst>
            </a:custGeom>
            <a:ln w="35052">
              <a:solidFill>
                <a:srgbClr val="214F77"/>
              </a:solidFill>
            </a:ln>
          </p:spPr>
          <p:txBody>
            <a:bodyPr wrap="square" lIns="0" tIns="0" rIns="0" bIns="0" rtlCol="0"/>
            <a:lstStyle/>
            <a:p>
              <a:endParaRPr/>
            </a:p>
          </p:txBody>
        </p:sp>
      </p:grpSp>
      <p:sp>
        <p:nvSpPr>
          <p:cNvPr id="13" name="object 13"/>
          <p:cNvSpPr txBox="1"/>
          <p:nvPr/>
        </p:nvSpPr>
        <p:spPr>
          <a:xfrm>
            <a:off x="2044701" y="1058925"/>
            <a:ext cx="3582035" cy="360680"/>
          </a:xfrm>
          <a:prstGeom prst="rect">
            <a:avLst/>
          </a:prstGeom>
        </p:spPr>
        <p:txBody>
          <a:bodyPr vert="horz" wrap="square" lIns="0" tIns="12065" rIns="0" bIns="0" rtlCol="0">
            <a:spAutoFit/>
          </a:bodyPr>
          <a:lstStyle/>
          <a:p>
            <a:pPr marL="471170" indent="-459105">
              <a:spcBef>
                <a:spcPts val="95"/>
              </a:spcBef>
              <a:buFont typeface="Arial MT"/>
              <a:buChar char="•"/>
              <a:tabLst>
                <a:tab pos="471170" algn="l"/>
                <a:tab pos="471805" algn="l"/>
              </a:tabLst>
            </a:pPr>
            <a:r>
              <a:rPr sz="2200" spc="-5" dirty="0">
                <a:latin typeface="Times New Roman"/>
                <a:cs typeface="Times New Roman"/>
              </a:rPr>
              <a:t>A</a:t>
            </a:r>
            <a:r>
              <a:rPr sz="2200" spc="-240" dirty="0">
                <a:latin typeface="Times New Roman"/>
                <a:cs typeface="Times New Roman"/>
              </a:rPr>
              <a:t> </a:t>
            </a:r>
            <a:r>
              <a:rPr sz="2200" spc="45" dirty="0">
                <a:latin typeface="Times New Roman"/>
                <a:cs typeface="Times New Roman"/>
              </a:rPr>
              <a:t>2</a:t>
            </a:r>
            <a:r>
              <a:rPr sz="2200" spc="-20" dirty="0">
                <a:latin typeface="Times New Roman"/>
                <a:cs typeface="Times New Roman"/>
              </a:rPr>
              <a:t>-</a:t>
            </a:r>
            <a:r>
              <a:rPr sz="2200" spc="30" dirty="0">
                <a:latin typeface="Times New Roman"/>
                <a:cs typeface="Times New Roman"/>
              </a:rPr>
              <a:t>i</a:t>
            </a:r>
            <a:r>
              <a:rPr sz="2200" spc="-25" dirty="0">
                <a:latin typeface="Times New Roman"/>
                <a:cs typeface="Times New Roman"/>
              </a:rPr>
              <a:t>np</a:t>
            </a:r>
            <a:r>
              <a:rPr sz="2200" spc="-30" dirty="0">
                <a:latin typeface="Times New Roman"/>
                <a:cs typeface="Times New Roman"/>
              </a:rPr>
              <a:t>u</a:t>
            </a:r>
            <a:r>
              <a:rPr sz="2200" spc="-5" dirty="0">
                <a:latin typeface="Times New Roman"/>
                <a:cs typeface="Times New Roman"/>
              </a:rPr>
              <a:t>t</a:t>
            </a:r>
            <a:r>
              <a:rPr sz="2200" spc="-35" dirty="0">
                <a:latin typeface="Times New Roman"/>
                <a:cs typeface="Times New Roman"/>
              </a:rPr>
              <a:t> </a:t>
            </a:r>
            <a:r>
              <a:rPr sz="2200" spc="30" dirty="0">
                <a:latin typeface="Times New Roman"/>
                <a:cs typeface="Times New Roman"/>
              </a:rPr>
              <a:t>C</a:t>
            </a:r>
            <a:r>
              <a:rPr sz="2200" spc="45" dirty="0">
                <a:latin typeface="Times New Roman"/>
                <a:cs typeface="Times New Roman"/>
              </a:rPr>
              <a:t>M</a:t>
            </a:r>
            <a:r>
              <a:rPr sz="2200" spc="-20" dirty="0">
                <a:latin typeface="Times New Roman"/>
                <a:cs typeface="Times New Roman"/>
              </a:rPr>
              <a:t>O</a:t>
            </a:r>
            <a:r>
              <a:rPr sz="2200" spc="-5" dirty="0">
                <a:latin typeface="Times New Roman"/>
                <a:cs typeface="Times New Roman"/>
              </a:rPr>
              <a:t>S</a:t>
            </a:r>
            <a:r>
              <a:rPr sz="2200" spc="-114" dirty="0">
                <a:latin typeface="Times New Roman"/>
                <a:cs typeface="Times New Roman"/>
              </a:rPr>
              <a:t> </a:t>
            </a:r>
            <a:r>
              <a:rPr sz="2200" spc="-10" dirty="0">
                <a:latin typeface="Times New Roman"/>
                <a:cs typeface="Times New Roman"/>
              </a:rPr>
              <a:t>NO</a:t>
            </a:r>
            <a:r>
              <a:rPr sz="2200" spc="-5" dirty="0">
                <a:latin typeface="Times New Roman"/>
                <a:cs typeface="Times New Roman"/>
              </a:rPr>
              <a:t>R</a:t>
            </a:r>
            <a:r>
              <a:rPr sz="2200" spc="-15" dirty="0">
                <a:latin typeface="Times New Roman"/>
                <a:cs typeface="Times New Roman"/>
              </a:rPr>
              <a:t> </a:t>
            </a:r>
            <a:r>
              <a:rPr sz="2200" spc="-20" dirty="0">
                <a:latin typeface="Times New Roman"/>
                <a:cs typeface="Times New Roman"/>
              </a:rPr>
              <a:t>g</a:t>
            </a:r>
            <a:r>
              <a:rPr sz="2200" spc="15" dirty="0">
                <a:latin typeface="Times New Roman"/>
                <a:cs typeface="Times New Roman"/>
              </a:rPr>
              <a:t>a</a:t>
            </a:r>
            <a:r>
              <a:rPr sz="2200" spc="30" dirty="0">
                <a:latin typeface="Times New Roman"/>
                <a:cs typeface="Times New Roman"/>
              </a:rPr>
              <a:t>t</a:t>
            </a:r>
            <a:r>
              <a:rPr sz="2200" spc="-5" dirty="0">
                <a:latin typeface="Times New Roman"/>
                <a:cs typeface="Times New Roman"/>
              </a:rPr>
              <a:t>e</a:t>
            </a:r>
            <a:endParaRPr sz="2200">
              <a:latin typeface="Times New Roman"/>
              <a:cs typeface="Times New Roman"/>
            </a:endParaRPr>
          </a:p>
        </p:txBody>
      </p:sp>
      <p:pic>
        <p:nvPicPr>
          <p:cNvPr id="15" name="object 15"/>
          <p:cNvPicPr/>
          <p:nvPr/>
        </p:nvPicPr>
        <p:blipFill>
          <a:blip r:embed="rId2" cstate="print"/>
          <a:stretch>
            <a:fillRect/>
          </a:stretch>
        </p:blipFill>
        <p:spPr>
          <a:xfrm>
            <a:off x="2209800" y="1499616"/>
            <a:ext cx="7772400" cy="4078224"/>
          </a:xfrm>
          <a:prstGeom prst="rect">
            <a:avLst/>
          </a:prstGeom>
        </p:spPr>
      </p:pic>
      <p:sp>
        <p:nvSpPr>
          <p:cNvPr id="17" name="object 17"/>
          <p:cNvSpPr txBox="1"/>
          <p:nvPr/>
        </p:nvSpPr>
        <p:spPr>
          <a:xfrm>
            <a:off x="5497449" y="6375603"/>
            <a:ext cx="1928495" cy="338554"/>
          </a:xfrm>
          <a:prstGeom prst="rect">
            <a:avLst/>
          </a:prstGeom>
        </p:spPr>
        <p:txBody>
          <a:bodyPr vert="horz" wrap="square" lIns="0" tIns="0" rIns="0" bIns="0" rtlCol="0">
            <a:spAutoFit/>
          </a:bodyPr>
          <a:lstStyle/>
          <a:p>
            <a:pPr marL="12700">
              <a:lnSpc>
                <a:spcPts val="1240"/>
              </a:lnSpc>
            </a:pPr>
            <a:r>
              <a:rPr sz="1200" spc="5" dirty="0">
                <a:solidFill>
                  <a:srgbClr val="878787"/>
                </a:solidFill>
                <a:latin typeface="Calibri"/>
                <a:cs typeface="Calibri"/>
              </a:rPr>
              <a:t>C</a:t>
            </a:r>
            <a:r>
              <a:rPr sz="1200" spc="15" dirty="0">
                <a:solidFill>
                  <a:srgbClr val="878787"/>
                </a:solidFill>
                <a:latin typeface="Calibri"/>
                <a:cs typeface="Calibri"/>
              </a:rPr>
              <a:t>M</a:t>
            </a:r>
            <a:r>
              <a:rPr sz="1200" spc="5" dirty="0">
                <a:solidFill>
                  <a:srgbClr val="878787"/>
                </a:solidFill>
                <a:latin typeface="Calibri"/>
                <a:cs typeface="Calibri"/>
              </a:rPr>
              <a:t>O</a:t>
            </a:r>
            <a:r>
              <a:rPr sz="1200" dirty="0">
                <a:solidFill>
                  <a:srgbClr val="878787"/>
                </a:solidFill>
                <a:latin typeface="Calibri"/>
                <a:cs typeface="Calibri"/>
              </a:rPr>
              <a:t>S</a:t>
            </a:r>
            <a:r>
              <a:rPr sz="1200" spc="-30" dirty="0">
                <a:solidFill>
                  <a:srgbClr val="878787"/>
                </a:solidFill>
                <a:latin typeface="Calibri"/>
                <a:cs typeface="Calibri"/>
              </a:rPr>
              <a:t> </a:t>
            </a:r>
            <a:r>
              <a:rPr sz="1200" dirty="0">
                <a:solidFill>
                  <a:srgbClr val="878787"/>
                </a:solidFill>
                <a:latin typeface="Calibri"/>
                <a:cs typeface="Calibri"/>
              </a:rPr>
              <a:t>Digi</a:t>
            </a:r>
            <a:r>
              <a:rPr sz="1200" spc="-10" dirty="0">
                <a:solidFill>
                  <a:srgbClr val="878787"/>
                </a:solidFill>
                <a:latin typeface="Calibri"/>
                <a:cs typeface="Calibri"/>
              </a:rPr>
              <a:t>t</a:t>
            </a:r>
            <a:r>
              <a:rPr sz="1200" dirty="0">
                <a:solidFill>
                  <a:srgbClr val="878787"/>
                </a:solidFill>
                <a:latin typeface="Calibri"/>
                <a:cs typeface="Calibri"/>
              </a:rPr>
              <a:t>al</a:t>
            </a:r>
            <a:r>
              <a:rPr sz="1200" spc="-45" dirty="0">
                <a:solidFill>
                  <a:srgbClr val="878787"/>
                </a:solidFill>
                <a:latin typeface="Calibri"/>
                <a:cs typeface="Calibri"/>
              </a:rPr>
              <a:t> </a:t>
            </a:r>
            <a:r>
              <a:rPr sz="1200" dirty="0">
                <a:solidFill>
                  <a:srgbClr val="878787"/>
                </a:solidFill>
                <a:latin typeface="Calibri"/>
                <a:cs typeface="Calibri"/>
              </a:rPr>
              <a:t>I</a:t>
            </a:r>
            <a:r>
              <a:rPr sz="1200" spc="-10" dirty="0">
                <a:solidFill>
                  <a:srgbClr val="878787"/>
                </a:solidFill>
                <a:latin typeface="Calibri"/>
                <a:cs typeface="Calibri"/>
              </a:rPr>
              <a:t>nt</a:t>
            </a:r>
            <a:r>
              <a:rPr sz="1200" dirty="0">
                <a:solidFill>
                  <a:srgbClr val="878787"/>
                </a:solidFill>
                <a:latin typeface="Calibri"/>
                <a:cs typeface="Calibri"/>
              </a:rPr>
              <a:t>eg</a:t>
            </a:r>
            <a:r>
              <a:rPr sz="1200" spc="-25" dirty="0">
                <a:solidFill>
                  <a:srgbClr val="878787"/>
                </a:solidFill>
                <a:latin typeface="Calibri"/>
                <a:cs typeface="Calibri"/>
              </a:rPr>
              <a:t>r</a:t>
            </a:r>
            <a:r>
              <a:rPr sz="1200" spc="-15" dirty="0">
                <a:solidFill>
                  <a:srgbClr val="878787"/>
                </a:solidFill>
                <a:latin typeface="Calibri"/>
                <a:cs typeface="Calibri"/>
              </a:rPr>
              <a:t>a</a:t>
            </a:r>
            <a:r>
              <a:rPr sz="1200" spc="-10" dirty="0">
                <a:solidFill>
                  <a:srgbClr val="878787"/>
                </a:solidFill>
                <a:latin typeface="Calibri"/>
                <a:cs typeface="Calibri"/>
              </a:rPr>
              <a:t>t</a:t>
            </a:r>
            <a:r>
              <a:rPr sz="1200" dirty="0">
                <a:solidFill>
                  <a:srgbClr val="878787"/>
                </a:solidFill>
                <a:latin typeface="Calibri"/>
                <a:cs typeface="Calibri"/>
              </a:rPr>
              <a:t>ed</a:t>
            </a:r>
            <a:r>
              <a:rPr sz="1200" spc="-110" dirty="0">
                <a:solidFill>
                  <a:srgbClr val="878787"/>
                </a:solidFill>
                <a:latin typeface="Calibri"/>
                <a:cs typeface="Calibri"/>
              </a:rPr>
              <a:t> </a:t>
            </a:r>
            <a:r>
              <a:rPr sz="1200" spc="-5" dirty="0">
                <a:solidFill>
                  <a:srgbClr val="878787"/>
                </a:solidFill>
                <a:latin typeface="Calibri"/>
                <a:cs typeface="Calibri"/>
              </a:rPr>
              <a:t>C</a:t>
            </a:r>
            <a:r>
              <a:rPr sz="1200" dirty="0">
                <a:solidFill>
                  <a:srgbClr val="878787"/>
                </a:solidFill>
                <a:latin typeface="Calibri"/>
                <a:cs typeface="Calibri"/>
              </a:rPr>
              <a:t>i</a:t>
            </a:r>
            <a:r>
              <a:rPr sz="1200" spc="-15" dirty="0">
                <a:solidFill>
                  <a:srgbClr val="878787"/>
                </a:solidFill>
                <a:latin typeface="Calibri"/>
                <a:cs typeface="Calibri"/>
              </a:rPr>
              <a:t>r</a:t>
            </a:r>
            <a:r>
              <a:rPr sz="1200" spc="-5" dirty="0">
                <a:solidFill>
                  <a:srgbClr val="878787"/>
                </a:solidFill>
                <a:latin typeface="Calibri"/>
                <a:cs typeface="Calibri"/>
              </a:rPr>
              <a:t>c</a:t>
            </a:r>
            <a:r>
              <a:rPr sz="1200" dirty="0">
                <a:solidFill>
                  <a:srgbClr val="878787"/>
                </a:solidFill>
                <a:latin typeface="Calibri"/>
                <a:cs typeface="Calibri"/>
              </a:rPr>
              <a:t>u</a:t>
            </a:r>
            <a:r>
              <a:rPr sz="1200" spc="-15" dirty="0">
                <a:solidFill>
                  <a:srgbClr val="878787"/>
                </a:solidFill>
                <a:latin typeface="Calibri"/>
                <a:cs typeface="Calibri"/>
              </a:rPr>
              <a:t>i</a:t>
            </a:r>
            <a:r>
              <a:rPr sz="1200" dirty="0">
                <a:solidFill>
                  <a:srgbClr val="878787"/>
                </a:solidFill>
                <a:latin typeface="Calibri"/>
                <a:cs typeface="Calibri"/>
              </a:rPr>
              <a:t>t</a:t>
            </a:r>
            <a:endParaRPr sz="1200">
              <a:latin typeface="Calibri"/>
              <a:cs typeface="Calibri"/>
            </a:endParaRPr>
          </a:p>
          <a:p>
            <a:pPr marL="408305"/>
            <a:r>
              <a:rPr sz="1200" spc="5" dirty="0">
                <a:solidFill>
                  <a:srgbClr val="878787"/>
                </a:solidFill>
                <a:latin typeface="Calibri"/>
                <a:cs typeface="Calibri"/>
              </a:rPr>
              <a:t>U</a:t>
            </a:r>
            <a:r>
              <a:rPr sz="1200" spc="15" dirty="0">
                <a:solidFill>
                  <a:srgbClr val="878787"/>
                </a:solidFill>
                <a:latin typeface="Calibri"/>
                <a:cs typeface="Calibri"/>
              </a:rPr>
              <a:t>n</a:t>
            </a:r>
            <a:r>
              <a:rPr sz="1200" spc="10" dirty="0">
                <a:solidFill>
                  <a:srgbClr val="878787"/>
                </a:solidFill>
                <a:latin typeface="Calibri"/>
                <a:cs typeface="Calibri"/>
              </a:rPr>
              <a:t>i</a:t>
            </a:r>
            <a:r>
              <a:rPr sz="1200" dirty="0">
                <a:solidFill>
                  <a:srgbClr val="878787"/>
                </a:solidFill>
                <a:latin typeface="Calibri"/>
                <a:cs typeface="Calibri"/>
              </a:rPr>
              <a:t>t</a:t>
            </a:r>
            <a:r>
              <a:rPr sz="1200" spc="-50" dirty="0">
                <a:solidFill>
                  <a:srgbClr val="878787"/>
                </a:solidFill>
                <a:latin typeface="Calibri"/>
                <a:cs typeface="Calibri"/>
              </a:rPr>
              <a:t> </a:t>
            </a:r>
            <a:r>
              <a:rPr sz="1200" dirty="0">
                <a:solidFill>
                  <a:srgbClr val="878787"/>
                </a:solidFill>
                <a:latin typeface="Calibri"/>
                <a:cs typeface="Calibri"/>
              </a:rPr>
              <a:t>1</a:t>
            </a:r>
            <a:endParaRPr sz="1200">
              <a:latin typeface="Calibri"/>
              <a:cs typeface="Calibri"/>
            </a:endParaRPr>
          </a:p>
        </p:txBody>
      </p:sp>
      <p:sp>
        <p:nvSpPr>
          <p:cNvPr id="18" name="object 18"/>
          <p:cNvSpPr txBox="1">
            <a:spLocks noGrp="1"/>
          </p:cNvSpPr>
          <p:nvPr>
            <p:ph type="sldNum" sz="quarter" idx="4294967295"/>
          </p:nvPr>
        </p:nvSpPr>
        <p:spPr>
          <a:xfrm>
            <a:off x="1524000" y="1"/>
            <a:ext cx="0" cy="461665"/>
          </a:xfrm>
          <a:prstGeom prst="rect">
            <a:avLst/>
          </a:prstGeom>
        </p:spPr>
        <p:txBody>
          <a:bodyPr vert="horz" wrap="square" lIns="0" tIns="0" rIns="0" bIns="0" rtlCol="0">
            <a:spAutoFit/>
          </a:bodyPr>
          <a:lstStyle/>
          <a:p>
            <a:pPr marL="38100">
              <a:lnSpc>
                <a:spcPts val="1240"/>
              </a:lnSpc>
            </a:pPr>
            <a:fld id="{81D60167-4931-47E6-BA6A-407CBD079E47}" type="slidenum">
              <a:rPr dirty="0"/>
              <a:pPr marL="38100">
                <a:lnSpc>
                  <a:spcPts val="1240"/>
                </a:lnSpc>
              </a:pPr>
              <a:t>84</a:t>
            </a:fld>
            <a:endParaRPr dirty="0"/>
          </a:p>
        </p:txBody>
      </p:sp>
      <p:sp>
        <p:nvSpPr>
          <p:cNvPr id="19" name="Footer Placeholder 18"/>
          <p:cNvSpPr>
            <a:spLocks noGrp="1"/>
          </p:cNvSpPr>
          <p:nvPr>
            <p:ph type="ftr" sz="quarter" idx="4294967295"/>
          </p:nvPr>
        </p:nvSpPr>
        <p:spPr/>
        <p:txBody>
          <a:bodyPr/>
          <a:lstStyle/>
          <a:p>
            <a:r>
              <a:rPr lang="en-IN"/>
              <a:t>CMOS</a:t>
            </a:r>
          </a:p>
        </p:txBody>
      </p:sp>
      <p:sp>
        <p:nvSpPr>
          <p:cNvPr id="2" name="Date Placeholder 1"/>
          <p:cNvSpPr>
            <a:spLocks noGrp="1"/>
          </p:cNvSpPr>
          <p:nvPr>
            <p:ph type="dt" sz="half" idx="10"/>
          </p:nvPr>
        </p:nvSpPr>
        <p:spPr/>
        <p:txBody>
          <a:bodyPr/>
          <a:lstStyle/>
          <a:p>
            <a:fld id="{5A952ED6-627F-4B48-987A-6063B6C8E51C}" type="datetime1">
              <a:rPr lang="en-US" smtClean="0"/>
              <a:t>9/9/2025</a:t>
            </a:fld>
            <a:endParaRPr lang="en-IN"/>
          </a:p>
        </p:txBody>
      </p:sp>
    </p:spTree>
    <p:extLst>
      <p:ext uri="{BB962C8B-B14F-4D97-AF65-F5344CB8AC3E}">
        <p14:creationId xmlns:p14="http://schemas.microsoft.com/office/powerpoint/2010/main" val="4952361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object 8"/>
          <p:cNvGrpSpPr/>
          <p:nvPr/>
        </p:nvGrpSpPr>
        <p:grpSpPr>
          <a:xfrm>
            <a:off x="1825562" y="932497"/>
            <a:ext cx="8550275" cy="5340350"/>
            <a:chOff x="301561" y="932497"/>
            <a:chExt cx="8550275" cy="5340350"/>
          </a:xfrm>
        </p:grpSpPr>
        <p:sp>
          <p:nvSpPr>
            <p:cNvPr id="9" name="object 9"/>
            <p:cNvSpPr/>
            <p:nvPr/>
          </p:nvSpPr>
          <p:spPr>
            <a:xfrm>
              <a:off x="306324" y="937260"/>
              <a:ext cx="8540750" cy="5330825"/>
            </a:xfrm>
            <a:custGeom>
              <a:avLst/>
              <a:gdLst/>
              <a:ahLst/>
              <a:cxnLst/>
              <a:rect l="l" t="t" r="r" b="b"/>
              <a:pathLst>
                <a:path w="8540750" h="5330825">
                  <a:moveTo>
                    <a:pt x="8540242" y="0"/>
                  </a:moveTo>
                  <a:lnTo>
                    <a:pt x="0" y="0"/>
                  </a:lnTo>
                  <a:lnTo>
                    <a:pt x="0" y="5330444"/>
                  </a:lnTo>
                  <a:lnTo>
                    <a:pt x="8540242" y="5330444"/>
                  </a:lnTo>
                  <a:lnTo>
                    <a:pt x="8540242" y="0"/>
                  </a:lnTo>
                  <a:close/>
                </a:path>
              </a:pathLst>
            </a:custGeom>
            <a:solidFill>
              <a:srgbClr val="DFEBF6"/>
            </a:solidFill>
          </p:spPr>
          <p:txBody>
            <a:bodyPr wrap="square" lIns="0" tIns="0" rIns="0" bIns="0" rtlCol="0"/>
            <a:lstStyle/>
            <a:p>
              <a:endParaRPr/>
            </a:p>
          </p:txBody>
        </p:sp>
        <p:sp>
          <p:nvSpPr>
            <p:cNvPr id="10" name="object 10"/>
            <p:cNvSpPr/>
            <p:nvPr/>
          </p:nvSpPr>
          <p:spPr>
            <a:xfrm>
              <a:off x="306324" y="937260"/>
              <a:ext cx="8540750" cy="5330825"/>
            </a:xfrm>
            <a:custGeom>
              <a:avLst/>
              <a:gdLst/>
              <a:ahLst/>
              <a:cxnLst/>
              <a:rect l="l" t="t" r="r" b="b"/>
              <a:pathLst>
                <a:path w="8540750" h="5330825">
                  <a:moveTo>
                    <a:pt x="0" y="5330444"/>
                  </a:moveTo>
                  <a:lnTo>
                    <a:pt x="8540242" y="5330444"/>
                  </a:lnTo>
                  <a:lnTo>
                    <a:pt x="8540242" y="0"/>
                  </a:lnTo>
                  <a:lnTo>
                    <a:pt x="0" y="0"/>
                  </a:lnTo>
                  <a:lnTo>
                    <a:pt x="0" y="5330444"/>
                  </a:lnTo>
                  <a:close/>
                </a:path>
              </a:pathLst>
            </a:custGeom>
            <a:ln w="9144">
              <a:solidFill>
                <a:srgbClr val="000000"/>
              </a:solidFill>
            </a:ln>
          </p:spPr>
          <p:txBody>
            <a:bodyPr wrap="square" lIns="0" tIns="0" rIns="0" bIns="0" rtlCol="0"/>
            <a:lstStyle/>
            <a:p>
              <a:endParaRPr/>
            </a:p>
          </p:txBody>
        </p:sp>
        <p:sp>
          <p:nvSpPr>
            <p:cNvPr id="11" name="object 11"/>
            <p:cNvSpPr/>
            <p:nvPr/>
          </p:nvSpPr>
          <p:spPr>
            <a:xfrm>
              <a:off x="530352" y="1298448"/>
              <a:ext cx="3968750" cy="4580890"/>
            </a:xfrm>
            <a:custGeom>
              <a:avLst/>
              <a:gdLst/>
              <a:ahLst/>
              <a:cxnLst/>
              <a:rect l="l" t="t" r="r" b="b"/>
              <a:pathLst>
                <a:path w="3968750" h="4580890">
                  <a:moveTo>
                    <a:pt x="3968241" y="0"/>
                  </a:moveTo>
                  <a:lnTo>
                    <a:pt x="0" y="0"/>
                  </a:lnTo>
                  <a:lnTo>
                    <a:pt x="0" y="4580763"/>
                  </a:lnTo>
                  <a:lnTo>
                    <a:pt x="3968241" y="4580763"/>
                  </a:lnTo>
                  <a:lnTo>
                    <a:pt x="3968241" y="0"/>
                  </a:lnTo>
                  <a:close/>
                </a:path>
              </a:pathLst>
            </a:custGeom>
            <a:solidFill>
              <a:srgbClr val="A9CCEC"/>
            </a:solidFill>
          </p:spPr>
          <p:txBody>
            <a:bodyPr wrap="square" lIns="0" tIns="0" rIns="0" bIns="0" rtlCol="0"/>
            <a:lstStyle/>
            <a:p>
              <a:endParaRPr/>
            </a:p>
          </p:txBody>
        </p:sp>
        <p:sp>
          <p:nvSpPr>
            <p:cNvPr id="12" name="object 12"/>
            <p:cNvSpPr/>
            <p:nvPr/>
          </p:nvSpPr>
          <p:spPr>
            <a:xfrm>
              <a:off x="531114" y="1299210"/>
              <a:ext cx="3968750" cy="4580890"/>
            </a:xfrm>
            <a:custGeom>
              <a:avLst/>
              <a:gdLst/>
              <a:ahLst/>
              <a:cxnLst/>
              <a:rect l="l" t="t" r="r" b="b"/>
              <a:pathLst>
                <a:path w="3968750" h="4580890">
                  <a:moveTo>
                    <a:pt x="0" y="4580763"/>
                  </a:moveTo>
                  <a:lnTo>
                    <a:pt x="3968241" y="4580763"/>
                  </a:lnTo>
                  <a:lnTo>
                    <a:pt x="3968241" y="0"/>
                  </a:lnTo>
                  <a:lnTo>
                    <a:pt x="0" y="0"/>
                  </a:lnTo>
                  <a:lnTo>
                    <a:pt x="0" y="4580763"/>
                  </a:lnTo>
                  <a:close/>
                </a:path>
              </a:pathLst>
            </a:custGeom>
            <a:ln w="35052">
              <a:solidFill>
                <a:srgbClr val="214F77"/>
              </a:solidFill>
            </a:ln>
          </p:spPr>
          <p:txBody>
            <a:bodyPr wrap="square" lIns="0" tIns="0" rIns="0" bIns="0" rtlCol="0"/>
            <a:lstStyle/>
            <a:p>
              <a:endParaRPr/>
            </a:p>
          </p:txBody>
        </p:sp>
      </p:grpSp>
      <p:sp>
        <p:nvSpPr>
          <p:cNvPr id="13" name="object 13"/>
          <p:cNvSpPr txBox="1"/>
          <p:nvPr/>
        </p:nvSpPr>
        <p:spPr>
          <a:xfrm>
            <a:off x="2058010" y="1155344"/>
            <a:ext cx="3985895" cy="3244478"/>
          </a:xfrm>
          <a:prstGeom prst="rect">
            <a:avLst/>
          </a:prstGeom>
        </p:spPr>
        <p:txBody>
          <a:bodyPr vert="horz" wrap="square" lIns="0" tIns="12700" rIns="0" bIns="0" rtlCol="0">
            <a:spAutoFit/>
          </a:bodyPr>
          <a:lstStyle/>
          <a:p>
            <a:pPr marL="456565" marR="5080" indent="-456565">
              <a:lnSpc>
                <a:spcPct val="150100"/>
              </a:lnSpc>
              <a:spcBef>
                <a:spcPts val="100"/>
              </a:spcBef>
              <a:buFont typeface="Arial MT"/>
              <a:buChar char="•"/>
              <a:tabLst>
                <a:tab pos="456565" algn="l"/>
                <a:tab pos="457200" algn="l"/>
                <a:tab pos="1217295" algn="l"/>
                <a:tab pos="2177415" algn="l"/>
                <a:tab pos="3020695" algn="l"/>
                <a:tab pos="3477895" algn="l"/>
              </a:tabLst>
            </a:pPr>
            <a:r>
              <a:rPr sz="2200" spc="-315" dirty="0">
                <a:latin typeface="Times New Roman"/>
                <a:cs typeface="Times New Roman"/>
              </a:rPr>
              <a:t>W</a:t>
            </a:r>
            <a:r>
              <a:rPr sz="2200" spc="-25" dirty="0">
                <a:latin typeface="Times New Roman"/>
                <a:cs typeface="Times New Roman"/>
              </a:rPr>
              <a:t>o</a:t>
            </a:r>
            <a:r>
              <a:rPr sz="2200" spc="-20" dirty="0">
                <a:latin typeface="Times New Roman"/>
                <a:cs typeface="Times New Roman"/>
              </a:rPr>
              <a:t>r</a:t>
            </a:r>
            <a:r>
              <a:rPr sz="2200" spc="-5" dirty="0">
                <a:latin typeface="Times New Roman"/>
                <a:cs typeface="Times New Roman"/>
              </a:rPr>
              <a:t>k</a:t>
            </a:r>
            <a:r>
              <a:rPr sz="2200" dirty="0">
                <a:latin typeface="Times New Roman"/>
                <a:cs typeface="Times New Roman"/>
              </a:rPr>
              <a:t>	</a:t>
            </a:r>
            <a:r>
              <a:rPr sz="2200" spc="-25" dirty="0">
                <a:latin typeface="Times New Roman"/>
                <a:cs typeface="Times New Roman"/>
              </a:rPr>
              <a:t>ou</a:t>
            </a:r>
            <a:r>
              <a:rPr sz="2200" spc="-5" dirty="0">
                <a:latin typeface="Times New Roman"/>
                <a:cs typeface="Times New Roman"/>
              </a:rPr>
              <a:t>t</a:t>
            </a:r>
            <a:r>
              <a:rPr sz="2200" dirty="0">
                <a:latin typeface="Times New Roman"/>
                <a:cs typeface="Times New Roman"/>
              </a:rPr>
              <a:t> </a:t>
            </a:r>
            <a:r>
              <a:rPr sz="2200" spc="-140" dirty="0">
                <a:latin typeface="Times New Roman"/>
                <a:cs typeface="Times New Roman"/>
              </a:rPr>
              <a:t> </a:t>
            </a:r>
            <a:r>
              <a:rPr sz="2200" spc="20" dirty="0">
                <a:latin typeface="Times New Roman"/>
                <a:cs typeface="Times New Roman"/>
              </a:rPr>
              <a:t>t</a:t>
            </a:r>
            <a:r>
              <a:rPr sz="2200" spc="-25" dirty="0">
                <a:latin typeface="Times New Roman"/>
                <a:cs typeface="Times New Roman"/>
              </a:rPr>
              <a:t>h</a:t>
            </a:r>
            <a:r>
              <a:rPr sz="2200" spc="-5" dirty="0">
                <a:latin typeface="Times New Roman"/>
                <a:cs typeface="Times New Roman"/>
              </a:rPr>
              <a:t>e</a:t>
            </a:r>
            <a:r>
              <a:rPr sz="2200" dirty="0">
                <a:latin typeface="Times New Roman"/>
                <a:cs typeface="Times New Roman"/>
              </a:rPr>
              <a:t>	</a:t>
            </a:r>
            <a:r>
              <a:rPr sz="2200" spc="-95" dirty="0">
                <a:latin typeface="Times New Roman"/>
                <a:cs typeface="Times New Roman"/>
              </a:rPr>
              <a:t>v</a:t>
            </a:r>
            <a:r>
              <a:rPr sz="2200" spc="15" dirty="0">
                <a:latin typeface="Times New Roman"/>
                <a:cs typeface="Times New Roman"/>
              </a:rPr>
              <a:t>a</a:t>
            </a:r>
            <a:r>
              <a:rPr sz="2200" spc="20" dirty="0">
                <a:latin typeface="Times New Roman"/>
                <a:cs typeface="Times New Roman"/>
              </a:rPr>
              <a:t>l</a:t>
            </a:r>
            <a:r>
              <a:rPr sz="2200" spc="-25" dirty="0">
                <a:latin typeface="Times New Roman"/>
                <a:cs typeface="Times New Roman"/>
              </a:rPr>
              <a:t>u</a:t>
            </a:r>
            <a:r>
              <a:rPr sz="2200" spc="15" dirty="0">
                <a:latin typeface="Times New Roman"/>
                <a:cs typeface="Times New Roman"/>
              </a:rPr>
              <a:t>e</a:t>
            </a:r>
            <a:r>
              <a:rPr sz="2200" spc="-5" dirty="0">
                <a:latin typeface="Times New Roman"/>
                <a:cs typeface="Times New Roman"/>
              </a:rPr>
              <a:t>s</a:t>
            </a:r>
            <a:r>
              <a:rPr sz="2200" dirty="0">
                <a:latin typeface="Times New Roman"/>
                <a:cs typeface="Times New Roman"/>
              </a:rPr>
              <a:t>	</a:t>
            </a:r>
            <a:r>
              <a:rPr sz="2200" spc="-20" dirty="0">
                <a:latin typeface="Times New Roman"/>
                <a:cs typeface="Times New Roman"/>
              </a:rPr>
              <a:t>f</a:t>
            </a:r>
            <a:r>
              <a:rPr sz="2200" spc="-25" dirty="0">
                <a:latin typeface="Times New Roman"/>
                <a:cs typeface="Times New Roman"/>
              </a:rPr>
              <a:t>o</a:t>
            </a:r>
            <a:r>
              <a:rPr sz="2200" spc="-5" dirty="0">
                <a:latin typeface="Times New Roman"/>
                <a:cs typeface="Times New Roman"/>
              </a:rPr>
              <a:t>r</a:t>
            </a:r>
            <a:r>
              <a:rPr sz="2200" dirty="0">
                <a:latin typeface="Times New Roman"/>
                <a:cs typeface="Times New Roman"/>
              </a:rPr>
              <a:t>	</a:t>
            </a:r>
            <a:r>
              <a:rPr sz="2200" spc="-25" dirty="0">
                <a:latin typeface="Times New Roman"/>
                <a:cs typeface="Times New Roman"/>
              </a:rPr>
              <a:t>bo</a:t>
            </a:r>
            <a:r>
              <a:rPr sz="2200" spc="20" dirty="0">
                <a:latin typeface="Times New Roman"/>
                <a:cs typeface="Times New Roman"/>
              </a:rPr>
              <a:t>t</a:t>
            </a:r>
            <a:r>
              <a:rPr sz="2200" spc="-5" dirty="0">
                <a:latin typeface="Times New Roman"/>
                <a:cs typeface="Times New Roman"/>
              </a:rPr>
              <a:t>h  the</a:t>
            </a:r>
            <a:r>
              <a:rPr sz="2200" spc="-15" dirty="0">
                <a:latin typeface="Times New Roman"/>
                <a:cs typeface="Times New Roman"/>
              </a:rPr>
              <a:t> </a:t>
            </a:r>
            <a:r>
              <a:rPr sz="2200" spc="-20" dirty="0">
                <a:latin typeface="Times New Roman"/>
                <a:cs typeface="Times New Roman"/>
              </a:rPr>
              <a:t>push</a:t>
            </a:r>
            <a:r>
              <a:rPr sz="2200" dirty="0">
                <a:latin typeface="Times New Roman"/>
                <a:cs typeface="Times New Roman"/>
              </a:rPr>
              <a:t> </a:t>
            </a:r>
            <a:r>
              <a:rPr sz="2200" spc="-5" dirty="0">
                <a:latin typeface="Times New Roman"/>
                <a:cs typeface="Times New Roman"/>
              </a:rPr>
              <a:t>and</a:t>
            </a:r>
            <a:r>
              <a:rPr sz="2200" spc="10" dirty="0">
                <a:latin typeface="Times New Roman"/>
                <a:cs typeface="Times New Roman"/>
              </a:rPr>
              <a:t> </a:t>
            </a:r>
            <a:r>
              <a:rPr sz="2200" spc="-5" dirty="0">
                <a:latin typeface="Times New Roman"/>
                <a:cs typeface="Times New Roman"/>
              </a:rPr>
              <a:t>pull</a:t>
            </a:r>
            <a:r>
              <a:rPr sz="2200" spc="-45" dirty="0">
                <a:latin typeface="Times New Roman"/>
                <a:cs typeface="Times New Roman"/>
              </a:rPr>
              <a:t> </a:t>
            </a:r>
            <a:r>
              <a:rPr sz="2200" spc="-5" dirty="0">
                <a:latin typeface="Times New Roman"/>
                <a:cs typeface="Times New Roman"/>
              </a:rPr>
              <a:t>networks</a:t>
            </a:r>
            <a:endParaRPr sz="2200">
              <a:latin typeface="Times New Roman"/>
              <a:cs typeface="Times New Roman"/>
            </a:endParaRPr>
          </a:p>
          <a:p>
            <a:pPr>
              <a:lnSpc>
                <a:spcPct val="100000"/>
              </a:lnSpc>
              <a:buFont typeface="Arial MT"/>
              <a:buChar char="•"/>
            </a:pPr>
            <a:endParaRPr sz="2400">
              <a:latin typeface="Times New Roman"/>
              <a:cs typeface="Times New Roman"/>
            </a:endParaRPr>
          </a:p>
          <a:p>
            <a:pPr>
              <a:spcBef>
                <a:spcPts val="5"/>
              </a:spcBef>
              <a:buFont typeface="Arial MT"/>
              <a:buChar char="•"/>
            </a:pPr>
            <a:endParaRPr sz="2800">
              <a:latin typeface="Times New Roman"/>
              <a:cs typeface="Times New Roman"/>
            </a:endParaRPr>
          </a:p>
          <a:p>
            <a:pPr marL="456565" indent="-456565">
              <a:buFont typeface="Arial MT"/>
              <a:buChar char="•"/>
              <a:tabLst>
                <a:tab pos="456565" algn="l"/>
                <a:tab pos="457200" algn="l"/>
              </a:tabLst>
            </a:pPr>
            <a:r>
              <a:rPr sz="2200" spc="-5" dirty="0">
                <a:latin typeface="Times New Roman"/>
                <a:cs typeface="Times New Roman"/>
              </a:rPr>
              <a:t>Compare</a:t>
            </a:r>
            <a:r>
              <a:rPr sz="2200" spc="-50" dirty="0">
                <a:latin typeface="Times New Roman"/>
                <a:cs typeface="Times New Roman"/>
              </a:rPr>
              <a:t> </a:t>
            </a:r>
            <a:r>
              <a:rPr sz="2200" spc="5" dirty="0">
                <a:latin typeface="Times New Roman"/>
                <a:cs typeface="Times New Roman"/>
              </a:rPr>
              <a:t>them</a:t>
            </a:r>
            <a:endParaRPr sz="2200">
              <a:latin typeface="Times New Roman"/>
              <a:cs typeface="Times New Roman"/>
            </a:endParaRPr>
          </a:p>
          <a:p>
            <a:pPr>
              <a:lnSpc>
                <a:spcPct val="100000"/>
              </a:lnSpc>
              <a:buFont typeface="Arial MT"/>
              <a:buChar char="•"/>
            </a:pPr>
            <a:endParaRPr sz="2400">
              <a:latin typeface="Times New Roman"/>
              <a:cs typeface="Times New Roman"/>
            </a:endParaRPr>
          </a:p>
          <a:p>
            <a:pPr>
              <a:spcBef>
                <a:spcPts val="5"/>
              </a:spcBef>
              <a:buFont typeface="Arial MT"/>
              <a:buChar char="•"/>
            </a:pPr>
            <a:endParaRPr sz="2400">
              <a:latin typeface="Times New Roman"/>
              <a:cs typeface="Times New Roman"/>
            </a:endParaRPr>
          </a:p>
          <a:p>
            <a:pPr marL="456565" indent="-456565">
              <a:buFont typeface="Arial MT"/>
              <a:buChar char="•"/>
              <a:tabLst>
                <a:tab pos="456565" algn="l"/>
                <a:tab pos="457200" algn="l"/>
              </a:tabLst>
            </a:pPr>
            <a:r>
              <a:rPr sz="2200" spc="-5" dirty="0">
                <a:latin typeface="Times New Roman"/>
                <a:cs typeface="Times New Roman"/>
              </a:rPr>
              <a:t>What</a:t>
            </a:r>
            <a:r>
              <a:rPr sz="2200" spc="-40" dirty="0">
                <a:latin typeface="Times New Roman"/>
                <a:cs typeface="Times New Roman"/>
              </a:rPr>
              <a:t> </a:t>
            </a:r>
            <a:r>
              <a:rPr sz="2200" spc="10" dirty="0">
                <a:latin typeface="Times New Roman"/>
                <a:cs typeface="Times New Roman"/>
              </a:rPr>
              <a:t>is</a:t>
            </a:r>
            <a:r>
              <a:rPr sz="2200" spc="-60" dirty="0">
                <a:latin typeface="Times New Roman"/>
                <a:cs typeface="Times New Roman"/>
              </a:rPr>
              <a:t> </a:t>
            </a:r>
            <a:r>
              <a:rPr sz="2200" spc="-5" dirty="0">
                <a:latin typeface="Times New Roman"/>
                <a:cs typeface="Times New Roman"/>
              </a:rPr>
              <a:t>the</a:t>
            </a:r>
            <a:r>
              <a:rPr sz="2200" spc="-45" dirty="0">
                <a:latin typeface="Times New Roman"/>
                <a:cs typeface="Times New Roman"/>
              </a:rPr>
              <a:t> </a:t>
            </a:r>
            <a:r>
              <a:rPr sz="2200" spc="-5" dirty="0">
                <a:latin typeface="Times New Roman"/>
                <a:cs typeface="Times New Roman"/>
              </a:rPr>
              <a:t>result?</a:t>
            </a:r>
            <a:endParaRPr sz="2200">
              <a:latin typeface="Times New Roman"/>
              <a:cs typeface="Times New Roman"/>
            </a:endParaRPr>
          </a:p>
        </p:txBody>
      </p:sp>
      <p:grpSp>
        <p:nvGrpSpPr>
          <p:cNvPr id="14" name="object 14"/>
          <p:cNvGrpSpPr/>
          <p:nvPr/>
        </p:nvGrpSpPr>
        <p:grpSpPr>
          <a:xfrm>
            <a:off x="6152389" y="1281683"/>
            <a:ext cx="4003675" cy="4653280"/>
            <a:chOff x="4628388" y="1281683"/>
            <a:chExt cx="4003675" cy="4653280"/>
          </a:xfrm>
        </p:grpSpPr>
        <p:sp>
          <p:nvSpPr>
            <p:cNvPr id="15" name="object 15"/>
            <p:cNvSpPr/>
            <p:nvPr/>
          </p:nvSpPr>
          <p:spPr>
            <a:xfrm>
              <a:off x="4645152" y="1298447"/>
              <a:ext cx="3968750" cy="4617720"/>
            </a:xfrm>
            <a:custGeom>
              <a:avLst/>
              <a:gdLst/>
              <a:ahLst/>
              <a:cxnLst/>
              <a:rect l="l" t="t" r="r" b="b"/>
              <a:pathLst>
                <a:path w="3968750" h="4617720">
                  <a:moveTo>
                    <a:pt x="3968242" y="0"/>
                  </a:moveTo>
                  <a:lnTo>
                    <a:pt x="0" y="0"/>
                  </a:lnTo>
                  <a:lnTo>
                    <a:pt x="0" y="4617720"/>
                  </a:lnTo>
                  <a:lnTo>
                    <a:pt x="3968242" y="4617720"/>
                  </a:lnTo>
                  <a:lnTo>
                    <a:pt x="3968242" y="0"/>
                  </a:lnTo>
                  <a:close/>
                </a:path>
              </a:pathLst>
            </a:custGeom>
            <a:solidFill>
              <a:srgbClr val="A9CCEC"/>
            </a:solidFill>
          </p:spPr>
          <p:txBody>
            <a:bodyPr wrap="square" lIns="0" tIns="0" rIns="0" bIns="0" rtlCol="0"/>
            <a:lstStyle/>
            <a:p>
              <a:endParaRPr/>
            </a:p>
          </p:txBody>
        </p:sp>
        <p:sp>
          <p:nvSpPr>
            <p:cNvPr id="16" name="object 16"/>
            <p:cNvSpPr/>
            <p:nvPr/>
          </p:nvSpPr>
          <p:spPr>
            <a:xfrm>
              <a:off x="4645914" y="1299209"/>
              <a:ext cx="3968750" cy="4617720"/>
            </a:xfrm>
            <a:custGeom>
              <a:avLst/>
              <a:gdLst/>
              <a:ahLst/>
              <a:cxnLst/>
              <a:rect l="l" t="t" r="r" b="b"/>
              <a:pathLst>
                <a:path w="3968750" h="4617720">
                  <a:moveTo>
                    <a:pt x="0" y="4617720"/>
                  </a:moveTo>
                  <a:lnTo>
                    <a:pt x="3968241" y="4617720"/>
                  </a:lnTo>
                  <a:lnTo>
                    <a:pt x="3968241" y="0"/>
                  </a:lnTo>
                  <a:lnTo>
                    <a:pt x="0" y="0"/>
                  </a:lnTo>
                  <a:lnTo>
                    <a:pt x="0" y="4617720"/>
                  </a:lnTo>
                  <a:close/>
                </a:path>
              </a:pathLst>
            </a:custGeom>
            <a:ln w="35052">
              <a:solidFill>
                <a:srgbClr val="214F77"/>
              </a:solidFill>
            </a:ln>
          </p:spPr>
          <p:txBody>
            <a:bodyPr wrap="square" lIns="0" tIns="0" rIns="0" bIns="0" rtlCol="0"/>
            <a:lstStyle/>
            <a:p>
              <a:endParaRPr/>
            </a:p>
          </p:txBody>
        </p:sp>
        <p:pic>
          <p:nvPicPr>
            <p:cNvPr id="17" name="object 17"/>
            <p:cNvPicPr/>
            <p:nvPr/>
          </p:nvPicPr>
          <p:blipFill>
            <a:blip r:embed="rId2" cstate="print"/>
            <a:stretch>
              <a:fillRect/>
            </a:stretch>
          </p:blipFill>
          <p:spPr>
            <a:xfrm>
              <a:off x="4873752" y="1444751"/>
              <a:ext cx="3511296" cy="4270248"/>
            </a:xfrm>
            <a:prstGeom prst="rect">
              <a:avLst/>
            </a:prstGeom>
          </p:spPr>
        </p:pic>
      </p:grpSp>
      <p:sp>
        <p:nvSpPr>
          <p:cNvPr id="20" name="object 20"/>
          <p:cNvSpPr txBox="1">
            <a:spLocks noGrp="1"/>
          </p:cNvSpPr>
          <p:nvPr>
            <p:ph type="sldNum" sz="quarter" idx="4294967295"/>
          </p:nvPr>
        </p:nvSpPr>
        <p:spPr>
          <a:xfrm>
            <a:off x="1524000" y="1"/>
            <a:ext cx="0" cy="176330"/>
          </a:xfrm>
          <a:prstGeom prst="rect">
            <a:avLst/>
          </a:prstGeom>
        </p:spPr>
        <p:txBody>
          <a:bodyPr vert="horz" wrap="square" lIns="0" tIns="0" rIns="0" bIns="0" rtlCol="0">
            <a:spAutoFit/>
          </a:bodyPr>
          <a:lstStyle/>
          <a:p>
            <a:pPr marL="38100">
              <a:lnSpc>
                <a:spcPts val="1240"/>
              </a:lnSpc>
            </a:pPr>
            <a:endParaRPr dirty="0"/>
          </a:p>
        </p:txBody>
      </p:sp>
      <p:sp>
        <p:nvSpPr>
          <p:cNvPr id="22" name="object 7"/>
          <p:cNvSpPr txBox="1">
            <a:spLocks noGrp="1"/>
          </p:cNvSpPr>
          <p:nvPr>
            <p:ph type="title"/>
          </p:nvPr>
        </p:nvSpPr>
        <p:spPr>
          <a:xfrm>
            <a:off x="2639616" y="-26849"/>
            <a:ext cx="6580585" cy="690574"/>
          </a:xfrm>
          <a:prstGeom prst="rect">
            <a:avLst/>
          </a:prstGeom>
        </p:spPr>
        <p:txBody>
          <a:bodyPr vert="horz" wrap="square" lIns="0" tIns="13335" rIns="0" bIns="0" rtlCol="0" anchor="ctr">
            <a:spAutoFit/>
          </a:bodyPr>
          <a:lstStyle/>
          <a:p>
            <a:pPr marL="12700">
              <a:spcBef>
                <a:spcPts val="105"/>
              </a:spcBef>
            </a:pPr>
            <a:r>
              <a:rPr spc="10" dirty="0"/>
              <a:t>CMOS</a:t>
            </a:r>
            <a:r>
              <a:rPr spc="45" dirty="0"/>
              <a:t> </a:t>
            </a:r>
            <a:r>
              <a:rPr lang="en-US" spc="45" dirty="0"/>
              <a:t>NOR </a:t>
            </a:r>
            <a:r>
              <a:rPr spc="5" dirty="0"/>
              <a:t>Gate</a:t>
            </a:r>
            <a:r>
              <a:rPr spc="-35" dirty="0"/>
              <a:t> </a:t>
            </a:r>
            <a:r>
              <a:rPr spc="-15" dirty="0"/>
              <a:t>Design</a:t>
            </a:r>
          </a:p>
        </p:txBody>
      </p:sp>
      <p:sp>
        <p:nvSpPr>
          <p:cNvPr id="23" name="Footer Placeholder 22"/>
          <p:cNvSpPr>
            <a:spLocks noGrp="1"/>
          </p:cNvSpPr>
          <p:nvPr>
            <p:ph type="ftr" sz="quarter" idx="4294967295"/>
          </p:nvPr>
        </p:nvSpPr>
        <p:spPr/>
        <p:txBody>
          <a:bodyPr/>
          <a:lstStyle/>
          <a:p>
            <a:r>
              <a:rPr lang="en-IN"/>
              <a:t>CMOS</a:t>
            </a:r>
            <a:endParaRPr lang="en-IN" dirty="0"/>
          </a:p>
        </p:txBody>
      </p:sp>
      <p:sp>
        <p:nvSpPr>
          <p:cNvPr id="2" name="Date Placeholder 1"/>
          <p:cNvSpPr>
            <a:spLocks noGrp="1"/>
          </p:cNvSpPr>
          <p:nvPr>
            <p:ph type="dt" sz="half" idx="10"/>
          </p:nvPr>
        </p:nvSpPr>
        <p:spPr/>
        <p:txBody>
          <a:bodyPr/>
          <a:lstStyle/>
          <a:p>
            <a:fld id="{AF586E28-2F1C-48B1-ACFC-76474C76859B}" type="datetime1">
              <a:rPr lang="en-US" smtClean="0"/>
              <a:t>9/9/2025</a:t>
            </a:fld>
            <a:endParaRPr lang="en-IN"/>
          </a:p>
        </p:txBody>
      </p:sp>
    </p:spTree>
    <p:extLst>
      <p:ext uri="{BB962C8B-B14F-4D97-AF65-F5344CB8AC3E}">
        <p14:creationId xmlns:p14="http://schemas.microsoft.com/office/powerpoint/2010/main" val="423503376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D93CD6ED-CD8F-92B4-5AFF-8C05616805B5}"/>
              </a:ext>
            </a:extLst>
          </p:cNvPr>
          <p:cNvSpPr>
            <a:spLocks noGrp="1"/>
          </p:cNvSpPr>
          <p:nvPr>
            <p:ph type="dt" sz="half" idx="10"/>
          </p:nvPr>
        </p:nvSpPr>
        <p:spPr/>
        <p:txBody>
          <a:bodyPr/>
          <a:lstStyle/>
          <a:p>
            <a:fld id="{E51764B9-257A-40B2-8A9F-65019AD936B9}" type="datetime1">
              <a:rPr lang="en-US" smtClean="0"/>
              <a:t>9/9/2025</a:t>
            </a:fld>
            <a:endParaRPr lang="en-IN"/>
          </a:p>
        </p:txBody>
      </p:sp>
      <p:sp>
        <p:nvSpPr>
          <p:cNvPr id="5" name="Footer Placeholder 4">
            <a:extLst>
              <a:ext uri="{FF2B5EF4-FFF2-40B4-BE49-F238E27FC236}">
                <a16:creationId xmlns:a16="http://schemas.microsoft.com/office/drawing/2014/main" id="{D462AE6E-6940-D0EC-A3B6-BF8688ADCA2A}"/>
              </a:ext>
            </a:extLst>
          </p:cNvPr>
          <p:cNvSpPr>
            <a:spLocks noGrp="1"/>
          </p:cNvSpPr>
          <p:nvPr>
            <p:ph type="ftr" sz="quarter" idx="11"/>
          </p:nvPr>
        </p:nvSpPr>
        <p:spPr/>
        <p:txBody>
          <a:bodyPr/>
          <a:lstStyle/>
          <a:p>
            <a:r>
              <a:rPr lang="en-IN"/>
              <a:t>CMOS</a:t>
            </a:r>
          </a:p>
        </p:txBody>
      </p:sp>
      <p:sp>
        <p:nvSpPr>
          <p:cNvPr id="6" name="Slide Number Placeholder 5">
            <a:extLst>
              <a:ext uri="{FF2B5EF4-FFF2-40B4-BE49-F238E27FC236}">
                <a16:creationId xmlns:a16="http://schemas.microsoft.com/office/drawing/2014/main" id="{D6D4FCB2-DF11-B5FB-E761-18BE60864912}"/>
              </a:ext>
            </a:extLst>
          </p:cNvPr>
          <p:cNvSpPr>
            <a:spLocks noGrp="1"/>
          </p:cNvSpPr>
          <p:nvPr>
            <p:ph type="sldNum" sz="quarter" idx="12"/>
          </p:nvPr>
        </p:nvSpPr>
        <p:spPr/>
        <p:txBody>
          <a:bodyPr/>
          <a:lstStyle/>
          <a:p>
            <a:fld id="{BC2E8B6D-A843-4976-BA70-A811246CC566}" type="slidenum">
              <a:rPr lang="en-IN" smtClean="0"/>
              <a:pPr/>
              <a:t>86</a:t>
            </a:fld>
            <a:endParaRPr lang="en-IN"/>
          </a:p>
        </p:txBody>
      </p:sp>
      <p:pic>
        <p:nvPicPr>
          <p:cNvPr id="1026" name="Picture 2" descr="Draw the 2 input CMOS NOR gate using lambda rules">
            <a:extLst>
              <a:ext uri="{FF2B5EF4-FFF2-40B4-BE49-F238E27FC236}">
                <a16:creationId xmlns:a16="http://schemas.microsoft.com/office/drawing/2014/main" id="{B29B34F9-70E9-A84A-132F-8E61F69A454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109"/>
          <a:stretch>
            <a:fillRect/>
          </a:stretch>
        </p:blipFill>
        <p:spPr bwMode="auto">
          <a:xfrm>
            <a:off x="3462779" y="1913302"/>
            <a:ext cx="5567313" cy="3719160"/>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F7E18771-74CB-AFC0-141B-2A167E580282}"/>
              </a:ext>
            </a:extLst>
          </p:cNvPr>
          <p:cNvSpPr txBox="1"/>
          <p:nvPr/>
        </p:nvSpPr>
        <p:spPr>
          <a:xfrm>
            <a:off x="3503712" y="692696"/>
            <a:ext cx="6094428" cy="461665"/>
          </a:xfrm>
          <a:prstGeom prst="rect">
            <a:avLst/>
          </a:prstGeom>
          <a:noFill/>
        </p:spPr>
        <p:txBody>
          <a:bodyPr wrap="square">
            <a:spAutoFit/>
          </a:bodyPr>
          <a:lstStyle/>
          <a:p>
            <a:pPr algn="ctr"/>
            <a:r>
              <a:rPr lang="en-IN" sz="2400" b="1" spc="-10" dirty="0"/>
              <a:t>PUN</a:t>
            </a:r>
            <a:r>
              <a:rPr lang="en-IN" sz="2400" b="1" spc="95" dirty="0"/>
              <a:t> </a:t>
            </a:r>
            <a:r>
              <a:rPr lang="en-IN" sz="2400" b="1" spc="-5" dirty="0"/>
              <a:t>and</a:t>
            </a:r>
            <a:r>
              <a:rPr lang="en-IN" sz="2400" b="1" spc="-70" dirty="0"/>
              <a:t> </a:t>
            </a:r>
            <a:r>
              <a:rPr lang="en-IN" sz="2400" b="1" spc="5" dirty="0"/>
              <a:t>PDN</a:t>
            </a:r>
            <a:r>
              <a:rPr lang="en-IN" sz="2400" b="1" spc="45" dirty="0"/>
              <a:t> </a:t>
            </a:r>
            <a:r>
              <a:rPr lang="en-IN" sz="2400" b="1" spc="15" dirty="0"/>
              <a:t>CONSTRUCTION</a:t>
            </a:r>
            <a:endParaRPr lang="en-IN" sz="2400" b="1" dirty="0"/>
          </a:p>
        </p:txBody>
      </p:sp>
    </p:spTree>
    <p:extLst>
      <p:ext uri="{BB962C8B-B14F-4D97-AF65-F5344CB8AC3E}">
        <p14:creationId xmlns:p14="http://schemas.microsoft.com/office/powerpoint/2010/main" val="24943462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PSNARRATION" val="11,101819893,C:\Files\Courses\ECE663\ECE663\Lectures\Fall09\lec17_MOSFET_IV.ppc"/>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3963</TotalTime>
  <Words>4895</Words>
  <Application>Microsoft Office PowerPoint</Application>
  <PresentationFormat>Widescreen</PresentationFormat>
  <Paragraphs>555</Paragraphs>
  <Slides>86</Slides>
  <Notes>1</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86</vt:i4>
      </vt:variant>
    </vt:vector>
  </HeadingPairs>
  <TitlesOfParts>
    <vt:vector size="98" baseType="lpstr">
      <vt:lpstr>Arial</vt:lpstr>
      <vt:lpstr>Arial MT</vt:lpstr>
      <vt:lpstr>Calibri</vt:lpstr>
      <vt:lpstr>Cambria Math</vt:lpstr>
      <vt:lpstr>Comic Sans MS</vt:lpstr>
      <vt:lpstr>Courier New</vt:lpstr>
      <vt:lpstr>Google Sans</vt:lpstr>
      <vt:lpstr>Open Sans</vt:lpstr>
      <vt:lpstr>Symbol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Operation of Transistor in Active Region</vt:lpstr>
      <vt:lpstr>Operation of Transistor in Active Region</vt:lpstr>
      <vt:lpstr>Operation of Transistor in Active Region</vt:lpstr>
      <vt:lpstr>Operation of Transistor in Active Region</vt:lpstr>
      <vt:lpstr>PowerPoint Presentation</vt:lpstr>
      <vt:lpstr>PowerPoint Presentation</vt:lpstr>
      <vt:lpstr>PowerPoint Presentation</vt:lpstr>
      <vt:lpstr> Input V/I Characteristics of CB Configuration </vt:lpstr>
      <vt:lpstr>Output V/I Characteristics of CB Configuration</vt:lpstr>
      <vt:lpstr> Characteristics of CB Configuration</vt:lpstr>
      <vt:lpstr>PowerPoint Presentation</vt:lpstr>
      <vt:lpstr>PowerPoint Presentation</vt:lpstr>
      <vt:lpstr>PowerPoint Presentation</vt:lpstr>
      <vt:lpstr>Input V/I Characteristics of CE Configuration</vt:lpstr>
      <vt:lpstr>Output V/I Characteristics of CE Configuration</vt:lpstr>
      <vt:lpstr>Output V/I Characteristics of CE Configuration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MOSFET (Types)</vt:lpstr>
      <vt:lpstr>MOSFETCONSTRUCTION</vt:lpstr>
      <vt:lpstr>Modes of Operation (E-MOSFET &amp; D-MOSFET)</vt:lpstr>
      <vt:lpstr>PowerPoint Presentation</vt:lpstr>
      <vt:lpstr>PowerPoint Presentation</vt:lpstr>
      <vt:lpstr>PowerPoint Presentation</vt:lpstr>
      <vt:lpstr>n-Channel MOSFET </vt:lpstr>
      <vt:lpstr>NMOS Structure </vt:lpstr>
      <vt:lpstr>n-MOSFET Characteristics </vt:lpstr>
      <vt:lpstr>PMOS Structure </vt:lpstr>
      <vt:lpstr>PowerPoint Presentation</vt:lpstr>
      <vt:lpstr> Pinch off?</vt:lpstr>
      <vt:lpstr>PowerPoint Presentation</vt:lpstr>
      <vt:lpstr>PowerPoint Presentation</vt:lpstr>
      <vt:lpstr>PowerPoint Presentation</vt:lpstr>
      <vt:lpstr>CMOS</vt:lpstr>
      <vt:lpstr>PowerPoint Presentation</vt:lpstr>
      <vt:lpstr>PowerPoint Presentation</vt:lpstr>
      <vt:lpstr>PowerPoint Presentation</vt:lpstr>
      <vt:lpstr>VDD</vt:lpstr>
      <vt:lpstr>VDD</vt:lpstr>
      <vt:lpstr>CMOS Inverter</vt:lpstr>
      <vt:lpstr>PowerPoint Presentation</vt:lpstr>
      <vt:lpstr>CMOS NAND Gate Design</vt:lpstr>
      <vt:lpstr>PUN and PDN CONSTRUCTION</vt:lpstr>
      <vt:lpstr>CMOS NOR Gate Design</vt:lpstr>
      <vt:lpstr>CMOS NOR Gate Design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Death Battle</dc:title>
  <dc:creator>Harsh Khatter</dc:creator>
  <cp:lastModifiedBy>Sagar Aeri</cp:lastModifiedBy>
  <cp:revision>376</cp:revision>
  <dcterms:created xsi:type="dcterms:W3CDTF">2020-07-18T14:21:19Z</dcterms:created>
  <dcterms:modified xsi:type="dcterms:W3CDTF">2025-09-09T06:32:33Z</dcterms:modified>
</cp:coreProperties>
</file>