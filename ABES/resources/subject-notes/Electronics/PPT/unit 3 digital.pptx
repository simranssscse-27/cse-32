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72"/>
  </p:notesMasterIdLst>
  <p:sldIdLst>
    <p:sldId id="294" r:id="rId2"/>
    <p:sldId id="296" r:id="rId3"/>
    <p:sldId id="297" r:id="rId4"/>
    <p:sldId id="298" r:id="rId5"/>
    <p:sldId id="299" r:id="rId6"/>
    <p:sldId id="300" r:id="rId7"/>
    <p:sldId id="318" r:id="rId8"/>
    <p:sldId id="256" r:id="rId9"/>
    <p:sldId id="302" r:id="rId10"/>
    <p:sldId id="293" r:id="rId11"/>
    <p:sldId id="320" r:id="rId12"/>
    <p:sldId id="303" r:id="rId13"/>
    <p:sldId id="321" r:id="rId14"/>
    <p:sldId id="304" r:id="rId15"/>
    <p:sldId id="305" r:id="rId16"/>
    <p:sldId id="323" r:id="rId17"/>
    <p:sldId id="306" r:id="rId18"/>
    <p:sldId id="334" r:id="rId19"/>
    <p:sldId id="322" r:id="rId20"/>
    <p:sldId id="335" r:id="rId21"/>
    <p:sldId id="396" r:id="rId22"/>
    <p:sldId id="309" r:id="rId23"/>
    <p:sldId id="307" r:id="rId24"/>
    <p:sldId id="372" r:id="rId25"/>
    <p:sldId id="367" r:id="rId26"/>
    <p:sldId id="308" r:id="rId27"/>
    <p:sldId id="328" r:id="rId28"/>
    <p:sldId id="327" r:id="rId29"/>
    <p:sldId id="329" r:id="rId30"/>
    <p:sldId id="325" r:id="rId31"/>
    <p:sldId id="330" r:id="rId32"/>
    <p:sldId id="331" r:id="rId33"/>
    <p:sldId id="332" r:id="rId34"/>
    <p:sldId id="349" r:id="rId35"/>
    <p:sldId id="352" r:id="rId36"/>
    <p:sldId id="341" r:id="rId37"/>
    <p:sldId id="340" r:id="rId38"/>
    <p:sldId id="371" r:id="rId39"/>
    <p:sldId id="345" r:id="rId40"/>
    <p:sldId id="347" r:id="rId41"/>
    <p:sldId id="354" r:id="rId42"/>
    <p:sldId id="355" r:id="rId43"/>
    <p:sldId id="388" r:id="rId44"/>
    <p:sldId id="390" r:id="rId45"/>
    <p:sldId id="392" r:id="rId46"/>
    <p:sldId id="393" r:id="rId47"/>
    <p:sldId id="356" r:id="rId48"/>
    <p:sldId id="357" r:id="rId49"/>
    <p:sldId id="376" r:id="rId50"/>
    <p:sldId id="377" r:id="rId51"/>
    <p:sldId id="378" r:id="rId52"/>
    <p:sldId id="260" r:id="rId53"/>
    <p:sldId id="358" r:id="rId54"/>
    <p:sldId id="394" r:id="rId55"/>
    <p:sldId id="359" r:id="rId56"/>
    <p:sldId id="361" r:id="rId57"/>
    <p:sldId id="366" r:id="rId58"/>
    <p:sldId id="381" r:id="rId59"/>
    <p:sldId id="362" r:id="rId60"/>
    <p:sldId id="365" r:id="rId61"/>
    <p:sldId id="374" r:id="rId62"/>
    <p:sldId id="375" r:id="rId63"/>
    <p:sldId id="363" r:id="rId64"/>
    <p:sldId id="364" r:id="rId65"/>
    <p:sldId id="379" r:id="rId66"/>
    <p:sldId id="380" r:id="rId67"/>
    <p:sldId id="368" r:id="rId68"/>
    <p:sldId id="382" r:id="rId69"/>
    <p:sldId id="383" r:id="rId70"/>
    <p:sldId id="384"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66CCFF"/>
    <a:srgbClr val="33CCCC"/>
    <a:srgbClr val="009999"/>
    <a:srgbClr val="00CC99"/>
    <a:srgbClr val="00CC66"/>
    <a:srgbClr val="CCFF66"/>
    <a:srgbClr val="FF9900"/>
    <a:srgbClr val="FFCC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94660"/>
  </p:normalViewPr>
  <p:slideViewPr>
    <p:cSldViewPr snapToGrid="0">
      <p:cViewPr varScale="1">
        <p:scale>
          <a:sx n="78" d="100"/>
          <a:sy n="78" d="100"/>
        </p:scale>
        <p:origin x="101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gar Aeri" userId="bd00f59c150191bf" providerId="LiveId" clId="{7C6ED4D9-2E3B-4948-80BB-85D50CA4CACB}"/>
    <pc:docChg chg="undo redo custSel addSld delSld modSld sldOrd">
      <pc:chgData name="Sagar Aeri" userId="bd00f59c150191bf" providerId="LiveId" clId="{7C6ED4D9-2E3B-4948-80BB-85D50CA4CACB}" dt="2025-04-17T05:05:37.273" v="246" actId="1076"/>
      <pc:docMkLst>
        <pc:docMk/>
      </pc:docMkLst>
      <pc:sldChg chg="modSp mod ord">
        <pc:chgData name="Sagar Aeri" userId="bd00f59c150191bf" providerId="LiveId" clId="{7C6ED4D9-2E3B-4948-80BB-85D50CA4CACB}" dt="2025-04-15T05:41:41.231" v="162"/>
        <pc:sldMkLst>
          <pc:docMk/>
          <pc:sldMk cId="4174856233" sldId="345"/>
        </pc:sldMkLst>
      </pc:sldChg>
      <pc:sldChg chg="del">
        <pc:chgData name="Sagar Aeri" userId="bd00f59c150191bf" providerId="LiveId" clId="{7C6ED4D9-2E3B-4948-80BB-85D50CA4CACB}" dt="2025-04-15T05:41:22.843" v="157" actId="47"/>
        <pc:sldMkLst>
          <pc:docMk/>
          <pc:sldMk cId="1596933094" sldId="346"/>
        </pc:sldMkLst>
      </pc:sldChg>
      <pc:sldChg chg="addSp modSp mod">
        <pc:chgData name="Sagar Aeri" userId="bd00f59c150191bf" providerId="LiveId" clId="{7C6ED4D9-2E3B-4948-80BB-85D50CA4CACB}" dt="2025-04-15T05:28:57.947" v="25" actId="1076"/>
        <pc:sldMkLst>
          <pc:docMk/>
          <pc:sldMk cId="3869144278" sldId="355"/>
        </pc:sldMkLst>
      </pc:sldChg>
      <pc:sldChg chg="modSp mod">
        <pc:chgData name="Sagar Aeri" userId="bd00f59c150191bf" providerId="LiveId" clId="{7C6ED4D9-2E3B-4948-80BB-85D50CA4CACB}" dt="2025-04-15T05:49:47.960" v="164" actId="12385"/>
        <pc:sldMkLst>
          <pc:docMk/>
          <pc:sldMk cId="482264427" sldId="357"/>
        </pc:sldMkLst>
      </pc:sldChg>
      <pc:sldChg chg="addSp modSp mod ord">
        <pc:chgData name="Sagar Aeri" userId="bd00f59c150191bf" providerId="LiveId" clId="{7C6ED4D9-2E3B-4948-80BB-85D50CA4CACB}" dt="2025-04-15T05:41:09.794" v="156" actId="20577"/>
        <pc:sldMkLst>
          <pc:docMk/>
          <pc:sldMk cId="548617291" sldId="371"/>
        </pc:sldMkLst>
      </pc:sldChg>
      <pc:sldChg chg="modSp mod">
        <pc:chgData name="Sagar Aeri" userId="bd00f59c150191bf" providerId="LiveId" clId="{7C6ED4D9-2E3B-4948-80BB-85D50CA4CACB}" dt="2025-04-15T05:50:18.123" v="186" actId="20577"/>
        <pc:sldMkLst>
          <pc:docMk/>
          <pc:sldMk cId="127751883" sldId="377"/>
        </pc:sldMkLst>
      </pc:sldChg>
      <pc:sldChg chg="addSp modSp new mod ord">
        <pc:chgData name="Sagar Aeri" userId="bd00f59c150191bf" providerId="LiveId" clId="{7C6ED4D9-2E3B-4948-80BB-85D50CA4CACB}" dt="2025-04-16T05:59:15.441" v="197"/>
        <pc:sldMkLst>
          <pc:docMk/>
          <pc:sldMk cId="1503558267" sldId="385"/>
        </pc:sldMkLst>
      </pc:sldChg>
      <pc:sldChg chg="addSp modSp new mod ord">
        <pc:chgData name="Sagar Aeri" userId="bd00f59c150191bf" providerId="LiveId" clId="{7C6ED4D9-2E3B-4948-80BB-85D50CA4CACB}" dt="2025-04-16T05:59:17.910" v="199"/>
        <pc:sldMkLst>
          <pc:docMk/>
          <pc:sldMk cId="2267176891" sldId="386"/>
        </pc:sldMkLst>
      </pc:sldChg>
      <pc:sldChg chg="new del">
        <pc:chgData name="Sagar Aeri" userId="bd00f59c150191bf" providerId="LiveId" clId="{7C6ED4D9-2E3B-4948-80BB-85D50CA4CACB}" dt="2025-04-17T04:42:53.624" v="208" actId="47"/>
        <pc:sldMkLst>
          <pc:docMk/>
          <pc:sldMk cId="572550431" sldId="387"/>
        </pc:sldMkLst>
      </pc:sldChg>
      <pc:sldChg chg="add">
        <pc:chgData name="Sagar Aeri" userId="bd00f59c150191bf" providerId="LiveId" clId="{7C6ED4D9-2E3B-4948-80BB-85D50CA4CACB}" dt="2025-04-17T04:42:04.797" v="201"/>
        <pc:sldMkLst>
          <pc:docMk/>
          <pc:sldMk cId="1643015408" sldId="388"/>
        </pc:sldMkLst>
      </pc:sldChg>
      <pc:sldChg chg="new del">
        <pc:chgData name="Sagar Aeri" userId="bd00f59c150191bf" providerId="LiveId" clId="{7C6ED4D9-2E3B-4948-80BB-85D50CA4CACB}" dt="2025-04-17T04:42:51.562" v="207" actId="47"/>
        <pc:sldMkLst>
          <pc:docMk/>
          <pc:sldMk cId="1279773224" sldId="389"/>
        </pc:sldMkLst>
      </pc:sldChg>
      <pc:sldChg chg="add">
        <pc:chgData name="Sagar Aeri" userId="bd00f59c150191bf" providerId="LiveId" clId="{7C6ED4D9-2E3B-4948-80BB-85D50CA4CACB}" dt="2025-04-17T04:42:17.422" v="203"/>
        <pc:sldMkLst>
          <pc:docMk/>
          <pc:sldMk cId="3658791230" sldId="390"/>
        </pc:sldMkLst>
      </pc:sldChg>
      <pc:sldChg chg="new del">
        <pc:chgData name="Sagar Aeri" userId="bd00f59c150191bf" providerId="LiveId" clId="{7C6ED4D9-2E3B-4948-80BB-85D50CA4CACB}" dt="2025-04-17T04:42:49.797" v="206" actId="47"/>
        <pc:sldMkLst>
          <pc:docMk/>
          <pc:sldMk cId="502403722" sldId="391"/>
        </pc:sldMkLst>
      </pc:sldChg>
      <pc:sldChg chg="add">
        <pc:chgData name="Sagar Aeri" userId="bd00f59c150191bf" providerId="LiveId" clId="{7C6ED4D9-2E3B-4948-80BB-85D50CA4CACB}" dt="2025-04-17T04:42:46.048" v="205"/>
        <pc:sldMkLst>
          <pc:docMk/>
          <pc:sldMk cId="2818901670" sldId="392"/>
        </pc:sldMkLst>
      </pc:sldChg>
      <pc:sldChg chg="add">
        <pc:chgData name="Sagar Aeri" userId="bd00f59c150191bf" providerId="LiveId" clId="{7C6ED4D9-2E3B-4948-80BB-85D50CA4CACB}" dt="2025-04-17T04:43:10.245" v="209"/>
        <pc:sldMkLst>
          <pc:docMk/>
          <pc:sldMk cId="2670439465" sldId="393"/>
        </pc:sldMkLst>
      </pc:sldChg>
      <pc:sldChg chg="addSp modSp new del mod">
        <pc:chgData name="Sagar Aeri" userId="bd00f59c150191bf" providerId="LiveId" clId="{7C6ED4D9-2E3B-4948-80BB-85D50CA4CACB}" dt="2025-04-17T04:53:02.143" v="223" actId="47"/>
        <pc:sldMkLst>
          <pc:docMk/>
          <pc:sldMk cId="594224589" sldId="394"/>
        </pc:sldMkLst>
      </pc:sldChg>
      <pc:sldChg chg="addSp modSp new mod">
        <pc:chgData name="Sagar Aeri" userId="bd00f59c150191bf" providerId="LiveId" clId="{7C6ED4D9-2E3B-4948-80BB-85D50CA4CACB}" dt="2025-04-17T04:54:02.563" v="235" actId="1076"/>
        <pc:sldMkLst>
          <pc:docMk/>
          <pc:sldMk cId="2429012554" sldId="394"/>
        </pc:sldMkLst>
      </pc:sldChg>
      <pc:sldChg chg="addSp delSp modSp new del mod">
        <pc:chgData name="Sagar Aeri" userId="bd00f59c150191bf" providerId="LiveId" clId="{7C6ED4D9-2E3B-4948-80BB-85D50CA4CACB}" dt="2025-04-17T04:56:18.562" v="240" actId="47"/>
        <pc:sldMkLst>
          <pc:docMk/>
          <pc:sldMk cId="47881951" sldId="395"/>
        </pc:sldMkLst>
      </pc:sldChg>
      <pc:sldChg chg="addSp modSp new del mod">
        <pc:chgData name="Sagar Aeri" userId="bd00f59c150191bf" providerId="LiveId" clId="{7C6ED4D9-2E3B-4948-80BB-85D50CA4CACB}" dt="2025-04-17T04:53:06.306" v="224" actId="47"/>
        <pc:sldMkLst>
          <pc:docMk/>
          <pc:sldMk cId="2718328547" sldId="395"/>
        </pc:sldMkLst>
      </pc:sldChg>
      <pc:sldChg chg="addSp modSp new mod">
        <pc:chgData name="Sagar Aeri" userId="bd00f59c150191bf" providerId="LiveId" clId="{7C6ED4D9-2E3B-4948-80BB-85D50CA4CACB}" dt="2025-04-17T05:05:37.273" v="246" actId="1076"/>
        <pc:sldMkLst>
          <pc:docMk/>
          <pc:sldMk cId="3900236069" sldId="395"/>
        </pc:sldMkLst>
      </pc:sldChg>
    </pc:docChg>
  </pc:docChgLst>
  <pc:docChgLst>
    <pc:chgData name="Sagar Aeri" userId="bd00f59c150191bf" providerId="LiveId" clId="{E8FCB0AB-3A15-4853-B52A-C1E66AE2557E}"/>
    <pc:docChg chg="custSel addSld delSld modSld sldOrd">
      <pc:chgData name="Sagar Aeri" userId="bd00f59c150191bf" providerId="LiveId" clId="{E8FCB0AB-3A15-4853-B52A-C1E66AE2557E}" dt="2025-11-03T04:48:44.384" v="27"/>
      <pc:docMkLst>
        <pc:docMk/>
      </pc:docMkLst>
      <pc:sldChg chg="ord">
        <pc:chgData name="Sagar Aeri" userId="bd00f59c150191bf" providerId="LiveId" clId="{E8FCB0AB-3A15-4853-B52A-C1E66AE2557E}" dt="2025-11-03T04:47:34.194" v="24"/>
        <pc:sldMkLst>
          <pc:docMk/>
          <pc:sldMk cId="4265301894" sldId="311"/>
        </pc:sldMkLst>
      </pc:sldChg>
      <pc:sldChg chg="ord">
        <pc:chgData name="Sagar Aeri" userId="bd00f59c150191bf" providerId="LiveId" clId="{E8FCB0AB-3A15-4853-B52A-C1E66AE2557E}" dt="2025-11-03T04:47:34.194" v="24"/>
        <pc:sldMkLst>
          <pc:docMk/>
          <pc:sldMk cId="3339528830" sldId="314"/>
        </pc:sldMkLst>
      </pc:sldChg>
      <pc:sldChg chg="ord">
        <pc:chgData name="Sagar Aeri" userId="bd00f59c150191bf" providerId="LiveId" clId="{E8FCB0AB-3A15-4853-B52A-C1E66AE2557E}" dt="2025-11-03T04:47:34.194" v="24"/>
        <pc:sldMkLst>
          <pc:docMk/>
          <pc:sldMk cId="1470291621" sldId="315"/>
        </pc:sldMkLst>
      </pc:sldChg>
      <pc:sldChg chg="ord">
        <pc:chgData name="Sagar Aeri" userId="bd00f59c150191bf" providerId="LiveId" clId="{E8FCB0AB-3A15-4853-B52A-C1E66AE2557E}" dt="2025-11-03T04:47:34.194" v="24"/>
        <pc:sldMkLst>
          <pc:docMk/>
          <pc:sldMk cId="1384417808" sldId="316"/>
        </pc:sldMkLst>
      </pc:sldChg>
      <pc:sldChg chg="ord">
        <pc:chgData name="Sagar Aeri" userId="bd00f59c150191bf" providerId="LiveId" clId="{E8FCB0AB-3A15-4853-B52A-C1E66AE2557E}" dt="2025-11-03T04:47:34.194" v="24"/>
        <pc:sldMkLst>
          <pc:docMk/>
          <pc:sldMk cId="3290772303" sldId="317"/>
        </pc:sldMkLst>
      </pc:sldChg>
      <pc:sldChg chg="ord">
        <pc:chgData name="Sagar Aeri" userId="bd00f59c150191bf" providerId="LiveId" clId="{E8FCB0AB-3A15-4853-B52A-C1E66AE2557E}" dt="2025-11-03T04:47:34.194" v="24"/>
        <pc:sldMkLst>
          <pc:docMk/>
          <pc:sldMk cId="2001010688" sldId="319"/>
        </pc:sldMkLst>
      </pc:sldChg>
      <pc:sldChg chg="ord">
        <pc:chgData name="Sagar Aeri" userId="bd00f59c150191bf" providerId="LiveId" clId="{E8FCB0AB-3A15-4853-B52A-C1E66AE2557E}" dt="2025-11-03T04:47:34.194" v="24"/>
        <pc:sldMkLst>
          <pc:docMk/>
          <pc:sldMk cId="3686371045" sldId="324"/>
        </pc:sldMkLst>
      </pc:sldChg>
      <pc:sldChg chg="ord">
        <pc:chgData name="Sagar Aeri" userId="bd00f59c150191bf" providerId="LiveId" clId="{E8FCB0AB-3A15-4853-B52A-C1E66AE2557E}" dt="2025-11-03T04:47:34.194" v="24"/>
        <pc:sldMkLst>
          <pc:docMk/>
          <pc:sldMk cId="2379632853" sldId="326"/>
        </pc:sldMkLst>
      </pc:sldChg>
      <pc:sldChg chg="ord">
        <pc:chgData name="Sagar Aeri" userId="bd00f59c150191bf" providerId="LiveId" clId="{E8FCB0AB-3A15-4853-B52A-C1E66AE2557E}" dt="2025-11-03T04:47:34.194" v="24"/>
        <pc:sldMkLst>
          <pc:docMk/>
          <pc:sldMk cId="2404559931" sldId="336"/>
        </pc:sldMkLst>
      </pc:sldChg>
      <pc:sldChg chg="ord">
        <pc:chgData name="Sagar Aeri" userId="bd00f59c150191bf" providerId="LiveId" clId="{E8FCB0AB-3A15-4853-B52A-C1E66AE2557E}" dt="2025-11-03T04:47:34.194" v="24"/>
        <pc:sldMkLst>
          <pc:docMk/>
          <pc:sldMk cId="2805518285" sldId="337"/>
        </pc:sldMkLst>
      </pc:sldChg>
      <pc:sldChg chg="ord">
        <pc:chgData name="Sagar Aeri" userId="bd00f59c150191bf" providerId="LiveId" clId="{E8FCB0AB-3A15-4853-B52A-C1E66AE2557E}" dt="2025-11-03T04:47:34.194" v="24"/>
        <pc:sldMkLst>
          <pc:docMk/>
          <pc:sldMk cId="1041034931" sldId="338"/>
        </pc:sldMkLst>
      </pc:sldChg>
      <pc:sldChg chg="ord">
        <pc:chgData name="Sagar Aeri" userId="bd00f59c150191bf" providerId="LiveId" clId="{E8FCB0AB-3A15-4853-B52A-C1E66AE2557E}" dt="2025-11-03T04:47:34.194" v="24"/>
        <pc:sldMkLst>
          <pc:docMk/>
          <pc:sldMk cId="66920603" sldId="339"/>
        </pc:sldMkLst>
      </pc:sldChg>
      <pc:sldChg chg="ord">
        <pc:chgData name="Sagar Aeri" userId="bd00f59c150191bf" providerId="LiveId" clId="{E8FCB0AB-3A15-4853-B52A-C1E66AE2557E}" dt="2025-11-03T04:47:34.194" v="24"/>
        <pc:sldMkLst>
          <pc:docMk/>
          <pc:sldMk cId="28986853" sldId="348"/>
        </pc:sldMkLst>
      </pc:sldChg>
      <pc:sldChg chg="addSp modSp mod">
        <pc:chgData name="Sagar Aeri" userId="bd00f59c150191bf" providerId="LiveId" clId="{E8FCB0AB-3A15-4853-B52A-C1E66AE2557E}" dt="2025-11-03T04:44:00.187" v="14" actId="1076"/>
        <pc:sldMkLst>
          <pc:docMk/>
          <pc:sldMk cId="3221465026" sldId="349"/>
        </pc:sldMkLst>
        <pc:spChg chg="mod">
          <ac:chgData name="Sagar Aeri" userId="bd00f59c150191bf" providerId="LiveId" clId="{E8FCB0AB-3A15-4853-B52A-C1E66AE2557E}" dt="2025-11-03T04:43:51.064" v="11" actId="1076"/>
          <ac:spMkLst>
            <pc:docMk/>
            <pc:sldMk cId="3221465026" sldId="349"/>
            <ac:spMk id="4" creationId="{325AAD9D-F110-F892-2F58-9410B4605EE1}"/>
          </ac:spMkLst>
        </pc:spChg>
        <pc:spChg chg="mod">
          <ac:chgData name="Sagar Aeri" userId="bd00f59c150191bf" providerId="LiveId" clId="{E8FCB0AB-3A15-4853-B52A-C1E66AE2557E}" dt="2025-11-03T04:43:55.172" v="12" actId="1076"/>
          <ac:spMkLst>
            <pc:docMk/>
            <pc:sldMk cId="3221465026" sldId="349"/>
            <ac:spMk id="5" creationId="{50E34EC4-1399-E775-D1DC-18084C506746}"/>
          </ac:spMkLst>
        </pc:spChg>
        <pc:spChg chg="add mod">
          <ac:chgData name="Sagar Aeri" userId="bd00f59c150191bf" providerId="LiveId" clId="{E8FCB0AB-3A15-4853-B52A-C1E66AE2557E}" dt="2025-11-03T04:44:00.187" v="14" actId="1076"/>
          <ac:spMkLst>
            <pc:docMk/>
            <pc:sldMk cId="3221465026" sldId="349"/>
            <ac:spMk id="7" creationId="{AE083B44-ECB6-A33C-58FC-08FE0564F21A}"/>
          </ac:spMkLst>
        </pc:spChg>
        <pc:picChg chg="mod">
          <ac:chgData name="Sagar Aeri" userId="bd00f59c150191bf" providerId="LiveId" clId="{E8FCB0AB-3A15-4853-B52A-C1E66AE2557E}" dt="2025-11-03T04:43:47.205" v="10" actId="1076"/>
          <ac:picMkLst>
            <pc:docMk/>
            <pc:sldMk cId="3221465026" sldId="349"/>
            <ac:picMk id="3" creationId="{42212D0D-9394-CBEA-EAF4-B91406067AEE}"/>
          </ac:picMkLst>
        </pc:picChg>
        <pc:picChg chg="add mod">
          <ac:chgData name="Sagar Aeri" userId="bd00f59c150191bf" providerId="LiveId" clId="{E8FCB0AB-3A15-4853-B52A-C1E66AE2557E}" dt="2025-11-03T04:44:00.187" v="14" actId="1076"/>
          <ac:picMkLst>
            <pc:docMk/>
            <pc:sldMk cId="3221465026" sldId="349"/>
            <ac:picMk id="6" creationId="{6AA6387C-C547-4881-4526-A6027C364DA6}"/>
          </ac:picMkLst>
        </pc:picChg>
      </pc:sldChg>
      <pc:sldChg chg="delSp del mod">
        <pc:chgData name="Sagar Aeri" userId="bd00f59c150191bf" providerId="LiveId" clId="{E8FCB0AB-3A15-4853-B52A-C1E66AE2557E}" dt="2025-11-03T04:44:23.425" v="17" actId="47"/>
        <pc:sldMkLst>
          <pc:docMk/>
          <pc:sldMk cId="1424740413" sldId="350"/>
        </pc:sldMkLst>
        <pc:spChg chg="del">
          <ac:chgData name="Sagar Aeri" userId="bd00f59c150191bf" providerId="LiveId" clId="{E8FCB0AB-3A15-4853-B52A-C1E66AE2557E}" dt="2025-11-03T04:43:42.363" v="9" actId="21"/>
          <ac:spMkLst>
            <pc:docMk/>
            <pc:sldMk cId="1424740413" sldId="350"/>
            <ac:spMk id="2" creationId="{AE083B44-ECB6-A33C-58FC-08FE0564F21A}"/>
          </ac:spMkLst>
        </pc:spChg>
        <pc:picChg chg="del">
          <ac:chgData name="Sagar Aeri" userId="bd00f59c150191bf" providerId="LiveId" clId="{E8FCB0AB-3A15-4853-B52A-C1E66AE2557E}" dt="2025-11-03T04:43:42.363" v="9" actId="21"/>
          <ac:picMkLst>
            <pc:docMk/>
            <pc:sldMk cId="1424740413" sldId="350"/>
            <ac:picMk id="3" creationId="{6AA6387C-C547-4881-4526-A6027C364DA6}"/>
          </ac:picMkLst>
        </pc:picChg>
      </pc:sldChg>
      <pc:sldChg chg="ord">
        <pc:chgData name="Sagar Aeri" userId="bd00f59c150191bf" providerId="LiveId" clId="{E8FCB0AB-3A15-4853-B52A-C1E66AE2557E}" dt="2025-11-03T04:44:05.148" v="16"/>
        <pc:sldMkLst>
          <pc:docMk/>
          <pc:sldMk cId="2628578684" sldId="352"/>
        </pc:sldMkLst>
      </pc:sldChg>
      <pc:sldChg chg="ord">
        <pc:chgData name="Sagar Aeri" userId="bd00f59c150191bf" providerId="LiveId" clId="{E8FCB0AB-3A15-4853-B52A-C1E66AE2557E}" dt="2025-11-03T04:45:12.056" v="19"/>
        <pc:sldMkLst>
          <pc:docMk/>
          <pc:sldMk cId="2269509833" sldId="367"/>
        </pc:sldMkLst>
      </pc:sldChg>
      <pc:sldChg chg="ord">
        <pc:chgData name="Sagar Aeri" userId="bd00f59c150191bf" providerId="LiveId" clId="{E8FCB0AB-3A15-4853-B52A-C1E66AE2557E}" dt="2025-11-03T04:45:12.056" v="19"/>
        <pc:sldMkLst>
          <pc:docMk/>
          <pc:sldMk cId="1830222733" sldId="372"/>
        </pc:sldMkLst>
      </pc:sldChg>
      <pc:sldChg chg="ord">
        <pc:chgData name="Sagar Aeri" userId="bd00f59c150191bf" providerId="LiveId" clId="{E8FCB0AB-3A15-4853-B52A-C1E66AE2557E}" dt="2025-11-03T04:48:44.384" v="27"/>
        <pc:sldMkLst>
          <pc:docMk/>
          <pc:sldMk cId="2426028457" sldId="382"/>
        </pc:sldMkLst>
      </pc:sldChg>
      <pc:sldChg chg="ord">
        <pc:chgData name="Sagar Aeri" userId="bd00f59c150191bf" providerId="LiveId" clId="{E8FCB0AB-3A15-4853-B52A-C1E66AE2557E}" dt="2025-11-03T04:48:44.384" v="27"/>
        <pc:sldMkLst>
          <pc:docMk/>
          <pc:sldMk cId="1018667734" sldId="383"/>
        </pc:sldMkLst>
      </pc:sldChg>
      <pc:sldChg chg="ord">
        <pc:chgData name="Sagar Aeri" userId="bd00f59c150191bf" providerId="LiveId" clId="{E8FCB0AB-3A15-4853-B52A-C1E66AE2557E}" dt="2025-11-03T04:48:44.384" v="27"/>
        <pc:sldMkLst>
          <pc:docMk/>
          <pc:sldMk cId="556090711" sldId="384"/>
        </pc:sldMkLst>
      </pc:sldChg>
      <pc:sldChg chg="ord">
        <pc:chgData name="Sagar Aeri" userId="bd00f59c150191bf" providerId="LiveId" clId="{E8FCB0AB-3A15-4853-B52A-C1E66AE2557E}" dt="2025-11-03T04:47:34.194" v="24"/>
        <pc:sldMkLst>
          <pc:docMk/>
          <pc:sldMk cId="1503558267" sldId="385"/>
        </pc:sldMkLst>
      </pc:sldChg>
      <pc:sldChg chg="ord">
        <pc:chgData name="Sagar Aeri" userId="bd00f59c150191bf" providerId="LiveId" clId="{E8FCB0AB-3A15-4853-B52A-C1E66AE2557E}" dt="2025-11-03T04:47:34.194" v="24"/>
        <pc:sldMkLst>
          <pc:docMk/>
          <pc:sldMk cId="2267176891" sldId="386"/>
        </pc:sldMkLst>
      </pc:sldChg>
      <pc:sldChg chg="del">
        <pc:chgData name="Sagar Aeri" userId="bd00f59c150191bf" providerId="LiveId" clId="{E8FCB0AB-3A15-4853-B52A-C1E66AE2557E}" dt="2025-11-03T04:48:15.267" v="25" actId="47"/>
        <pc:sldMkLst>
          <pc:docMk/>
          <pc:sldMk cId="3900236069" sldId="395"/>
        </pc:sldMkLst>
      </pc:sldChg>
      <pc:sldChg chg="addSp modSp new mod">
        <pc:chgData name="Sagar Aeri" userId="bd00f59c150191bf" providerId="LiveId" clId="{E8FCB0AB-3A15-4853-B52A-C1E66AE2557E}" dt="2025-11-03T04:43:12.413" v="8"/>
        <pc:sldMkLst>
          <pc:docMk/>
          <pc:sldMk cId="3231542168" sldId="396"/>
        </pc:sldMkLst>
        <pc:spChg chg="add">
          <ac:chgData name="Sagar Aeri" userId="bd00f59c150191bf" providerId="LiveId" clId="{E8FCB0AB-3A15-4853-B52A-C1E66AE2557E}" dt="2025-11-03T04:42:27.206" v="1"/>
          <ac:spMkLst>
            <pc:docMk/>
            <pc:sldMk cId="3231542168" sldId="396"/>
            <ac:spMk id="2" creationId="{F4E36AE0-B91F-1294-8815-2DF9C87DBF6A}"/>
          </ac:spMkLst>
        </pc:spChg>
        <pc:picChg chg="add mod modCrop">
          <ac:chgData name="Sagar Aeri" userId="bd00f59c150191bf" providerId="LiveId" clId="{E8FCB0AB-3A15-4853-B52A-C1E66AE2557E}" dt="2025-11-03T04:43:12.413" v="8"/>
          <ac:picMkLst>
            <pc:docMk/>
            <pc:sldMk cId="3231542168" sldId="396"/>
            <ac:picMk id="3" creationId="{EEB77A27-1B72-8B48-6100-D3E82CD3936C}"/>
          </ac:picMkLst>
        </pc:picChg>
      </pc:sldChg>
      <pc:sldChg chg="new ord">
        <pc:chgData name="Sagar Aeri" userId="bd00f59c150191bf" providerId="LiveId" clId="{E8FCB0AB-3A15-4853-B52A-C1E66AE2557E}" dt="2025-11-03T04:47:34.194" v="24"/>
        <pc:sldMkLst>
          <pc:docMk/>
          <pc:sldMk cId="670901867" sldId="397"/>
        </pc:sldMkLst>
      </pc:sldChg>
    </pc:docChg>
  </pc:docChgLst>
  <pc:docChgLst>
    <pc:chgData name="Sagar Aeri" userId="bd00f59c150191bf" providerId="LiveId" clId="{C9F84956-80A8-483E-8FFE-0A51908CC7E6}"/>
    <pc:docChg chg="modSld">
      <pc:chgData name="Sagar Aeri" userId="bd00f59c150191bf" providerId="LiveId" clId="{C9F84956-80A8-483E-8FFE-0A51908CC7E6}" dt="2025-07-24T05:25:14.634" v="0" actId="1076"/>
      <pc:docMkLst>
        <pc:docMk/>
      </pc:docMkLst>
      <pc:sldChg chg="modSp mod">
        <pc:chgData name="Sagar Aeri" userId="bd00f59c150191bf" providerId="LiveId" clId="{C9F84956-80A8-483E-8FFE-0A51908CC7E6}" dt="2025-07-24T05:25:14.634" v="0" actId="1076"/>
        <pc:sldMkLst>
          <pc:docMk/>
          <pc:sldMk cId="3290772303" sldId="31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09570F-F0DC-454A-80DE-CEC7C4CE21DA}"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B2EEB78F-0AC7-48F6-8B92-B0F458982DDF}">
      <dgm:prSet custT="1"/>
      <dgm:spPr>
        <a:solidFill>
          <a:schemeClr val="accent1">
            <a:lumMod val="20000"/>
            <a:lumOff val="80000"/>
          </a:schemeClr>
        </a:solidFill>
      </dgm:spPr>
      <dgm:t>
        <a:bodyPr/>
        <a:lstStyle/>
        <a:p>
          <a:pPr algn="ctr"/>
          <a:r>
            <a:rPr lang="en-US" sz="1800" b="0" i="0" dirty="0"/>
            <a:t>Electronics is composed of physics, engineering, technology and applications. </a:t>
          </a:r>
          <a:endParaRPr lang="en-IN" sz="1800" dirty="0"/>
        </a:p>
      </dgm:t>
    </dgm:pt>
    <dgm:pt modelId="{5ACBF8B0-F2A7-47A7-BC34-A92DEEA8DB78}" type="parTrans" cxnId="{0A1E0174-4CAB-4623-AA72-608136F4C9C6}">
      <dgm:prSet/>
      <dgm:spPr/>
      <dgm:t>
        <a:bodyPr/>
        <a:lstStyle/>
        <a:p>
          <a:endParaRPr lang="en-IN"/>
        </a:p>
      </dgm:t>
    </dgm:pt>
    <dgm:pt modelId="{905DEA7A-0710-453B-BDB9-37762E0C8F49}" type="sibTrans" cxnId="{0A1E0174-4CAB-4623-AA72-608136F4C9C6}">
      <dgm:prSet/>
      <dgm:spPr/>
      <dgm:t>
        <a:bodyPr/>
        <a:lstStyle/>
        <a:p>
          <a:endParaRPr lang="en-IN"/>
        </a:p>
      </dgm:t>
    </dgm:pt>
    <dgm:pt modelId="{FC712ACE-3876-496E-8EC0-A4D6DE2D0F04}">
      <dgm:prSet custT="1"/>
      <dgm:spPr>
        <a:solidFill>
          <a:schemeClr val="accent1">
            <a:lumMod val="20000"/>
            <a:lumOff val="80000"/>
          </a:schemeClr>
        </a:solidFill>
      </dgm:spPr>
      <dgm:t>
        <a:bodyPr/>
        <a:lstStyle/>
        <a:p>
          <a:pPr algn="ctr"/>
          <a:r>
            <a:rPr lang="en-US" sz="1800" b="0" i="0" dirty="0"/>
            <a:t>The field of electronics deals with the emission, flow and control of electrons in vacuum and matter. Electronic use active devices to control electron flow by amplification and rectification. </a:t>
          </a:r>
          <a:endParaRPr lang="en-IN" sz="1800" dirty="0"/>
        </a:p>
      </dgm:t>
    </dgm:pt>
    <dgm:pt modelId="{1D785533-59B0-4533-99B8-2444D039B144}" type="parTrans" cxnId="{305F96D5-1FC4-40B0-9BFD-CC9BD5447180}">
      <dgm:prSet/>
      <dgm:spPr/>
      <dgm:t>
        <a:bodyPr/>
        <a:lstStyle/>
        <a:p>
          <a:endParaRPr lang="en-IN"/>
        </a:p>
      </dgm:t>
    </dgm:pt>
    <dgm:pt modelId="{20100729-32EB-4FB4-89FE-998981F76BEC}" type="sibTrans" cxnId="{305F96D5-1FC4-40B0-9BFD-CC9BD5447180}">
      <dgm:prSet/>
      <dgm:spPr/>
      <dgm:t>
        <a:bodyPr/>
        <a:lstStyle/>
        <a:p>
          <a:endParaRPr lang="en-IN"/>
        </a:p>
      </dgm:t>
    </dgm:pt>
    <dgm:pt modelId="{DD8AE5FD-EBE5-48A9-B061-7285B8260C6A}">
      <dgm:prSet custT="1"/>
      <dgm:spPr>
        <a:solidFill>
          <a:schemeClr val="accent1">
            <a:lumMod val="20000"/>
            <a:lumOff val="80000"/>
          </a:schemeClr>
        </a:solidFill>
      </dgm:spPr>
      <dgm:t>
        <a:bodyPr/>
        <a:lstStyle/>
        <a:p>
          <a:pPr algn="ctr"/>
          <a:r>
            <a:rPr lang="en-US" sz="1800" b="0" i="0" dirty="0"/>
            <a:t>Electronics distinguishes itself from classical electrical engineering that uses passive effects like resistance, capacitance and inductance to control current flow.</a:t>
          </a:r>
          <a:endParaRPr lang="en-IN" sz="1800" dirty="0"/>
        </a:p>
      </dgm:t>
    </dgm:pt>
    <dgm:pt modelId="{756C493D-C32F-4759-9AA4-31F99A93E735}" type="parTrans" cxnId="{01233813-648C-4257-8430-7BE2DA863D6D}">
      <dgm:prSet/>
      <dgm:spPr/>
      <dgm:t>
        <a:bodyPr/>
        <a:lstStyle/>
        <a:p>
          <a:endParaRPr lang="en-IN"/>
        </a:p>
      </dgm:t>
    </dgm:pt>
    <dgm:pt modelId="{6D63FFD7-2C56-41CA-947C-8FFC42B061E5}" type="sibTrans" cxnId="{01233813-648C-4257-8430-7BE2DA863D6D}">
      <dgm:prSet/>
      <dgm:spPr/>
      <dgm:t>
        <a:bodyPr/>
        <a:lstStyle/>
        <a:p>
          <a:endParaRPr lang="en-IN"/>
        </a:p>
      </dgm:t>
    </dgm:pt>
    <dgm:pt modelId="{A788DE64-EE18-437F-A5FC-998E29E3A7D0}" type="pres">
      <dgm:prSet presAssocID="{4F09570F-F0DC-454A-80DE-CEC7C4CE21DA}" presName="linear" presStyleCnt="0">
        <dgm:presLayoutVars>
          <dgm:animLvl val="lvl"/>
          <dgm:resizeHandles val="exact"/>
        </dgm:presLayoutVars>
      </dgm:prSet>
      <dgm:spPr/>
    </dgm:pt>
    <dgm:pt modelId="{83A3F94A-5C31-49B9-A336-A7A9B1516B13}" type="pres">
      <dgm:prSet presAssocID="{B2EEB78F-0AC7-48F6-8B92-B0F458982DDF}" presName="parentText" presStyleLbl="node1" presStyleIdx="0" presStyleCnt="3" custScaleY="110000">
        <dgm:presLayoutVars>
          <dgm:chMax val="0"/>
          <dgm:bulletEnabled val="1"/>
        </dgm:presLayoutVars>
      </dgm:prSet>
      <dgm:spPr/>
    </dgm:pt>
    <dgm:pt modelId="{69857089-2982-4842-AAD5-ACCAE9FC9D0B}" type="pres">
      <dgm:prSet presAssocID="{905DEA7A-0710-453B-BDB9-37762E0C8F49}" presName="spacer" presStyleCnt="0"/>
      <dgm:spPr/>
    </dgm:pt>
    <dgm:pt modelId="{0ACFACFF-4004-4344-900C-5AF2090D2757}" type="pres">
      <dgm:prSet presAssocID="{FC712ACE-3876-496E-8EC0-A4D6DE2D0F04}" presName="parentText" presStyleLbl="node1" presStyleIdx="1" presStyleCnt="3" custScaleY="110000">
        <dgm:presLayoutVars>
          <dgm:chMax val="0"/>
          <dgm:bulletEnabled val="1"/>
        </dgm:presLayoutVars>
      </dgm:prSet>
      <dgm:spPr/>
    </dgm:pt>
    <dgm:pt modelId="{720501E5-47C3-4866-AC2C-E309BA97D18D}" type="pres">
      <dgm:prSet presAssocID="{20100729-32EB-4FB4-89FE-998981F76BEC}" presName="spacer" presStyleCnt="0"/>
      <dgm:spPr/>
    </dgm:pt>
    <dgm:pt modelId="{8B7415CE-444A-43DC-9D79-9F58B7001B2D}" type="pres">
      <dgm:prSet presAssocID="{DD8AE5FD-EBE5-48A9-B061-7285B8260C6A}" presName="parentText" presStyleLbl="node1" presStyleIdx="2" presStyleCnt="3" custScaleY="110000">
        <dgm:presLayoutVars>
          <dgm:chMax val="0"/>
          <dgm:bulletEnabled val="1"/>
        </dgm:presLayoutVars>
      </dgm:prSet>
      <dgm:spPr/>
    </dgm:pt>
  </dgm:ptLst>
  <dgm:cxnLst>
    <dgm:cxn modelId="{E142740F-4132-4829-BE8D-AC764E048CC7}" type="presOf" srcId="{DD8AE5FD-EBE5-48A9-B061-7285B8260C6A}" destId="{8B7415CE-444A-43DC-9D79-9F58B7001B2D}" srcOrd="0" destOrd="0" presId="urn:microsoft.com/office/officeart/2005/8/layout/vList2"/>
    <dgm:cxn modelId="{01233813-648C-4257-8430-7BE2DA863D6D}" srcId="{4F09570F-F0DC-454A-80DE-CEC7C4CE21DA}" destId="{DD8AE5FD-EBE5-48A9-B061-7285B8260C6A}" srcOrd="2" destOrd="0" parTransId="{756C493D-C32F-4759-9AA4-31F99A93E735}" sibTransId="{6D63FFD7-2C56-41CA-947C-8FFC42B061E5}"/>
    <dgm:cxn modelId="{FABDDF66-D132-4CFA-9449-F843B2F2ED45}" type="presOf" srcId="{FC712ACE-3876-496E-8EC0-A4D6DE2D0F04}" destId="{0ACFACFF-4004-4344-900C-5AF2090D2757}" srcOrd="0" destOrd="0" presId="urn:microsoft.com/office/officeart/2005/8/layout/vList2"/>
    <dgm:cxn modelId="{0A1E0174-4CAB-4623-AA72-608136F4C9C6}" srcId="{4F09570F-F0DC-454A-80DE-CEC7C4CE21DA}" destId="{B2EEB78F-0AC7-48F6-8B92-B0F458982DDF}" srcOrd="0" destOrd="0" parTransId="{5ACBF8B0-F2A7-47A7-BC34-A92DEEA8DB78}" sibTransId="{905DEA7A-0710-453B-BDB9-37762E0C8F49}"/>
    <dgm:cxn modelId="{2481D9AD-CF00-4419-B9FB-110800580919}" type="presOf" srcId="{4F09570F-F0DC-454A-80DE-CEC7C4CE21DA}" destId="{A788DE64-EE18-437F-A5FC-998E29E3A7D0}" srcOrd="0" destOrd="0" presId="urn:microsoft.com/office/officeart/2005/8/layout/vList2"/>
    <dgm:cxn modelId="{1A8B3CCF-9E7D-4CB3-A847-DF1828C1282F}" type="presOf" srcId="{B2EEB78F-0AC7-48F6-8B92-B0F458982DDF}" destId="{83A3F94A-5C31-49B9-A336-A7A9B1516B13}" srcOrd="0" destOrd="0" presId="urn:microsoft.com/office/officeart/2005/8/layout/vList2"/>
    <dgm:cxn modelId="{305F96D5-1FC4-40B0-9BFD-CC9BD5447180}" srcId="{4F09570F-F0DC-454A-80DE-CEC7C4CE21DA}" destId="{FC712ACE-3876-496E-8EC0-A4D6DE2D0F04}" srcOrd="1" destOrd="0" parTransId="{1D785533-59B0-4533-99B8-2444D039B144}" sibTransId="{20100729-32EB-4FB4-89FE-998981F76BEC}"/>
    <dgm:cxn modelId="{9C3B2C3C-DD18-4AF9-8303-B198C073849E}" type="presParOf" srcId="{A788DE64-EE18-437F-A5FC-998E29E3A7D0}" destId="{83A3F94A-5C31-49B9-A336-A7A9B1516B13}" srcOrd="0" destOrd="0" presId="urn:microsoft.com/office/officeart/2005/8/layout/vList2"/>
    <dgm:cxn modelId="{CDEFA1C9-5955-49B7-94A7-09DC88C9C5FD}" type="presParOf" srcId="{A788DE64-EE18-437F-A5FC-998E29E3A7D0}" destId="{69857089-2982-4842-AAD5-ACCAE9FC9D0B}" srcOrd="1" destOrd="0" presId="urn:microsoft.com/office/officeart/2005/8/layout/vList2"/>
    <dgm:cxn modelId="{D7AA0370-C07A-451A-AEF8-29C8CB3D9729}" type="presParOf" srcId="{A788DE64-EE18-437F-A5FC-998E29E3A7D0}" destId="{0ACFACFF-4004-4344-900C-5AF2090D2757}" srcOrd="2" destOrd="0" presId="urn:microsoft.com/office/officeart/2005/8/layout/vList2"/>
    <dgm:cxn modelId="{31F5103A-9CAB-4EA1-BA73-E9C7151DEA19}" type="presParOf" srcId="{A788DE64-EE18-437F-A5FC-998E29E3A7D0}" destId="{720501E5-47C3-4866-AC2C-E309BA97D18D}" srcOrd="3" destOrd="0" presId="urn:microsoft.com/office/officeart/2005/8/layout/vList2"/>
    <dgm:cxn modelId="{18D254C2-1C9B-41EE-88EC-6EED652D1F9D}" type="presParOf" srcId="{A788DE64-EE18-437F-A5FC-998E29E3A7D0}" destId="{8B7415CE-444A-43DC-9D79-9F58B7001B2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5D26E3-1F4E-4284-A369-E22C317660C7}" type="doc">
      <dgm:prSet loTypeId="urn:diagrams.loki3.com/BracketList" loCatId="list" qsTypeId="urn:microsoft.com/office/officeart/2005/8/quickstyle/simple1" qsCatId="simple" csTypeId="urn:microsoft.com/office/officeart/2005/8/colors/accent1_4" csCatId="accent1" phldr="1"/>
      <dgm:spPr/>
      <dgm:t>
        <a:bodyPr/>
        <a:lstStyle/>
        <a:p>
          <a:endParaRPr lang="en-IN"/>
        </a:p>
      </dgm:t>
    </dgm:pt>
    <dgm:pt modelId="{BD175E0C-412F-4EC4-B9C3-257A0BCBF192}">
      <dgm:prSet phldrT="[Text]" custT="1"/>
      <dgm:spPr>
        <a:solidFill>
          <a:schemeClr val="bg2">
            <a:lumMod val="75000"/>
          </a:schemeClr>
        </a:solidFill>
      </dgm:spPr>
      <dgm:t>
        <a:bodyPr/>
        <a:lstStyle/>
        <a:p>
          <a:r>
            <a:rPr lang="en-IN" sz="2400" dirty="0">
              <a:solidFill>
                <a:schemeClr val="tx1"/>
              </a:solidFill>
            </a:rPr>
            <a:t>1</a:t>
          </a:r>
        </a:p>
      </dgm:t>
    </dgm:pt>
    <dgm:pt modelId="{D8CD0977-8D97-4E4E-8875-EEA5AD8BEA90}" type="parTrans" cxnId="{81D39BDE-ED6A-4941-B108-031F172BF611}">
      <dgm:prSet/>
      <dgm:spPr/>
      <dgm:t>
        <a:bodyPr/>
        <a:lstStyle/>
        <a:p>
          <a:endParaRPr lang="en-IN"/>
        </a:p>
      </dgm:t>
    </dgm:pt>
    <dgm:pt modelId="{C92B9A34-A5AB-4519-9073-1A94B230025E}" type="sibTrans" cxnId="{81D39BDE-ED6A-4941-B108-031F172BF611}">
      <dgm:prSet/>
      <dgm:spPr/>
      <dgm:t>
        <a:bodyPr/>
        <a:lstStyle/>
        <a:p>
          <a:endParaRPr lang="en-IN"/>
        </a:p>
      </dgm:t>
    </dgm:pt>
    <dgm:pt modelId="{329513A5-55D4-4037-99E9-FE7971C37588}">
      <dgm:prSet phldrT="[Text]" custT="1"/>
      <dgm:spPr>
        <a:solidFill>
          <a:schemeClr val="bg2">
            <a:lumMod val="75000"/>
          </a:schemeClr>
        </a:solidFill>
      </dgm:spPr>
      <dgm:t>
        <a:bodyPr/>
        <a:lstStyle/>
        <a:p>
          <a:r>
            <a:rPr lang="en-US" sz="2400" b="1" i="0" dirty="0">
              <a:solidFill>
                <a:schemeClr val="tx1"/>
              </a:solidFill>
              <a:effectLst/>
              <a:latin typeface="ui-sans-serif"/>
            </a:rPr>
            <a:t>Number Systems &amp; representation </a:t>
          </a:r>
          <a:endParaRPr lang="en-IN" sz="2400" dirty="0">
            <a:solidFill>
              <a:schemeClr val="tx1"/>
            </a:solidFill>
          </a:endParaRPr>
        </a:p>
      </dgm:t>
    </dgm:pt>
    <dgm:pt modelId="{B23C33BD-0E9F-44D9-B4A2-2FBCB4AE4D76}" type="parTrans" cxnId="{FCC989F9-1B2C-40AD-8A39-F31F1E9ABA1C}">
      <dgm:prSet/>
      <dgm:spPr/>
      <dgm:t>
        <a:bodyPr/>
        <a:lstStyle/>
        <a:p>
          <a:endParaRPr lang="en-IN"/>
        </a:p>
      </dgm:t>
    </dgm:pt>
    <dgm:pt modelId="{E9B0D891-33D2-4C74-84A2-B641E1194167}" type="sibTrans" cxnId="{FCC989F9-1B2C-40AD-8A39-F31F1E9ABA1C}">
      <dgm:prSet/>
      <dgm:spPr/>
      <dgm:t>
        <a:bodyPr/>
        <a:lstStyle/>
        <a:p>
          <a:endParaRPr lang="en-IN"/>
        </a:p>
      </dgm:t>
    </dgm:pt>
    <dgm:pt modelId="{1413004C-6CFC-4EAB-99D9-C4FEE38B9165}">
      <dgm:prSet phldrT="[Text]" custT="1"/>
      <dgm:spPr>
        <a:solidFill>
          <a:schemeClr val="accent4">
            <a:lumMod val="40000"/>
            <a:lumOff val="60000"/>
          </a:schemeClr>
        </a:solidFill>
      </dgm:spPr>
      <dgm:t>
        <a:bodyPr/>
        <a:lstStyle/>
        <a:p>
          <a:r>
            <a:rPr lang="en-IN" sz="2400" dirty="0">
              <a:solidFill>
                <a:schemeClr val="tx1"/>
              </a:solidFill>
            </a:rPr>
            <a:t>2</a:t>
          </a:r>
        </a:p>
      </dgm:t>
    </dgm:pt>
    <dgm:pt modelId="{302BEEF8-2DB5-4E2F-83C8-568B5E8489FD}" type="parTrans" cxnId="{683A6CB5-E299-4444-8CBE-77348F71A181}">
      <dgm:prSet/>
      <dgm:spPr/>
      <dgm:t>
        <a:bodyPr/>
        <a:lstStyle/>
        <a:p>
          <a:endParaRPr lang="en-IN"/>
        </a:p>
      </dgm:t>
    </dgm:pt>
    <dgm:pt modelId="{6650AA74-3D25-4382-B206-BDAB53DA2C51}" type="sibTrans" cxnId="{683A6CB5-E299-4444-8CBE-77348F71A181}">
      <dgm:prSet/>
      <dgm:spPr/>
      <dgm:t>
        <a:bodyPr/>
        <a:lstStyle/>
        <a:p>
          <a:endParaRPr lang="en-IN"/>
        </a:p>
      </dgm:t>
    </dgm:pt>
    <dgm:pt modelId="{CB60ED9B-BB21-4C7A-845D-C57CB6540A6F}">
      <dgm:prSet phldrT="[Text]" custT="1"/>
      <dgm:spPr>
        <a:solidFill>
          <a:schemeClr val="accent4">
            <a:lumMod val="40000"/>
            <a:lumOff val="60000"/>
          </a:schemeClr>
        </a:solidFill>
      </dgm:spPr>
      <dgm:t>
        <a:bodyPr/>
        <a:lstStyle/>
        <a:p>
          <a:r>
            <a:rPr lang="en-US" sz="2400" b="1" i="0" dirty="0">
              <a:solidFill>
                <a:schemeClr val="tx1"/>
              </a:solidFill>
              <a:effectLst/>
              <a:latin typeface="ui-sans-serif"/>
            </a:rPr>
            <a:t>Binary Arithmetic</a:t>
          </a:r>
          <a:endParaRPr lang="en-IN" sz="2400" dirty="0">
            <a:solidFill>
              <a:schemeClr val="tx1"/>
            </a:solidFill>
          </a:endParaRPr>
        </a:p>
      </dgm:t>
    </dgm:pt>
    <dgm:pt modelId="{786BE403-E019-4CE4-857D-635176356850}" type="parTrans" cxnId="{44F0B8DF-BF65-40D0-A005-2A07DAB22D6B}">
      <dgm:prSet/>
      <dgm:spPr/>
      <dgm:t>
        <a:bodyPr/>
        <a:lstStyle/>
        <a:p>
          <a:endParaRPr lang="en-IN"/>
        </a:p>
      </dgm:t>
    </dgm:pt>
    <dgm:pt modelId="{200DE219-E46B-4F3B-90B0-4889F7F9EC25}" type="sibTrans" cxnId="{44F0B8DF-BF65-40D0-A005-2A07DAB22D6B}">
      <dgm:prSet/>
      <dgm:spPr/>
      <dgm:t>
        <a:bodyPr/>
        <a:lstStyle/>
        <a:p>
          <a:endParaRPr lang="en-IN"/>
        </a:p>
      </dgm:t>
    </dgm:pt>
    <dgm:pt modelId="{3D286603-6E17-448A-A006-C25D1AC47ABA}">
      <dgm:prSet phldrT="[Text]" custT="1"/>
      <dgm:spPr>
        <a:solidFill>
          <a:schemeClr val="accent1">
            <a:lumMod val="40000"/>
            <a:lumOff val="60000"/>
          </a:schemeClr>
        </a:solidFill>
      </dgm:spPr>
      <dgm:t>
        <a:bodyPr/>
        <a:lstStyle/>
        <a:p>
          <a:r>
            <a:rPr lang="en-IN" sz="2400" dirty="0">
              <a:solidFill>
                <a:schemeClr val="tx1"/>
              </a:solidFill>
            </a:rPr>
            <a:t>3</a:t>
          </a:r>
        </a:p>
      </dgm:t>
    </dgm:pt>
    <dgm:pt modelId="{CD7F8567-E197-4BFF-AC1B-EE8B58511377}" type="parTrans" cxnId="{C9BD3B5E-63A7-4C07-A172-98F5C4F570D4}">
      <dgm:prSet/>
      <dgm:spPr/>
      <dgm:t>
        <a:bodyPr/>
        <a:lstStyle/>
        <a:p>
          <a:endParaRPr lang="en-IN"/>
        </a:p>
      </dgm:t>
    </dgm:pt>
    <dgm:pt modelId="{7355BB81-B852-44E2-9590-103700A7C3B4}" type="sibTrans" cxnId="{C9BD3B5E-63A7-4C07-A172-98F5C4F570D4}">
      <dgm:prSet/>
      <dgm:spPr/>
      <dgm:t>
        <a:bodyPr/>
        <a:lstStyle/>
        <a:p>
          <a:endParaRPr lang="en-IN"/>
        </a:p>
      </dgm:t>
    </dgm:pt>
    <dgm:pt modelId="{404E4BA2-100E-4BE3-BDC6-A0FB9886837C}">
      <dgm:prSet phldrT="[Text]" custT="1"/>
      <dgm:spPr>
        <a:solidFill>
          <a:schemeClr val="accent1">
            <a:lumMod val="40000"/>
            <a:lumOff val="60000"/>
          </a:schemeClr>
        </a:solidFill>
      </dgm:spPr>
      <dgm:t>
        <a:bodyPr/>
        <a:lstStyle/>
        <a:p>
          <a:r>
            <a:rPr lang="en-IN" sz="2400" b="1" i="0" dirty="0">
              <a:solidFill>
                <a:schemeClr val="tx1"/>
              </a:solidFill>
              <a:effectLst/>
              <a:latin typeface="ui-sans-serif"/>
            </a:rPr>
            <a:t>Intro to basic gates &amp; universal gates</a:t>
          </a:r>
          <a:endParaRPr lang="en-IN" sz="2400" dirty="0">
            <a:solidFill>
              <a:schemeClr val="tx1"/>
            </a:solidFill>
          </a:endParaRPr>
        </a:p>
      </dgm:t>
    </dgm:pt>
    <dgm:pt modelId="{642A087E-2AEC-4251-8A87-599AAFC0202C}" type="parTrans" cxnId="{E83CF752-5AD5-4321-A706-3CBE2B1A565F}">
      <dgm:prSet/>
      <dgm:spPr/>
      <dgm:t>
        <a:bodyPr/>
        <a:lstStyle/>
        <a:p>
          <a:endParaRPr lang="en-IN"/>
        </a:p>
      </dgm:t>
    </dgm:pt>
    <dgm:pt modelId="{03F9F584-7480-4CF3-BFB8-7D63AC43F43E}" type="sibTrans" cxnId="{E83CF752-5AD5-4321-A706-3CBE2B1A565F}">
      <dgm:prSet/>
      <dgm:spPr/>
      <dgm:t>
        <a:bodyPr/>
        <a:lstStyle/>
        <a:p>
          <a:endParaRPr lang="en-IN"/>
        </a:p>
      </dgm:t>
    </dgm:pt>
    <dgm:pt modelId="{24CDA0D0-1270-4866-83B6-85D6AD2DEDF7}">
      <dgm:prSet phldrT="[Text]" custT="1"/>
      <dgm:spPr>
        <a:solidFill>
          <a:schemeClr val="accent6">
            <a:lumMod val="40000"/>
            <a:lumOff val="60000"/>
          </a:schemeClr>
        </a:solidFill>
      </dgm:spPr>
      <dgm:t>
        <a:bodyPr/>
        <a:lstStyle/>
        <a:p>
          <a:r>
            <a:rPr lang="en-IN" sz="2400" dirty="0">
              <a:solidFill>
                <a:schemeClr val="tx1"/>
              </a:solidFill>
            </a:rPr>
            <a:t>4</a:t>
          </a:r>
        </a:p>
      </dgm:t>
    </dgm:pt>
    <dgm:pt modelId="{2595EA4A-4FBD-489C-A50B-947DF6131173}" type="parTrans" cxnId="{19AA53C0-16B7-45F2-856C-5723931240A7}">
      <dgm:prSet/>
      <dgm:spPr/>
      <dgm:t>
        <a:bodyPr/>
        <a:lstStyle/>
        <a:p>
          <a:endParaRPr lang="en-IN"/>
        </a:p>
      </dgm:t>
    </dgm:pt>
    <dgm:pt modelId="{80F30627-6D19-44F4-B47F-88697A17B09D}" type="sibTrans" cxnId="{19AA53C0-16B7-45F2-856C-5723931240A7}">
      <dgm:prSet/>
      <dgm:spPr/>
      <dgm:t>
        <a:bodyPr/>
        <a:lstStyle/>
        <a:p>
          <a:endParaRPr lang="en-IN"/>
        </a:p>
      </dgm:t>
    </dgm:pt>
    <dgm:pt modelId="{537B5632-3C99-456F-99B6-3D23C17054FC}">
      <dgm:prSet phldrT="[Text]" custT="1"/>
      <dgm:spPr>
        <a:solidFill>
          <a:schemeClr val="accent6">
            <a:lumMod val="40000"/>
            <a:lumOff val="60000"/>
          </a:schemeClr>
        </a:solidFill>
      </dgm:spPr>
      <dgm:t>
        <a:bodyPr/>
        <a:lstStyle/>
        <a:p>
          <a:r>
            <a:rPr lang="en-US" sz="2400" b="1" i="0" dirty="0">
              <a:solidFill>
                <a:schemeClr val="tx1"/>
              </a:solidFill>
              <a:effectLst/>
              <a:latin typeface="ui-sans-serif"/>
            </a:rPr>
            <a:t>Boolean algebra</a:t>
          </a:r>
          <a:endParaRPr lang="en-IN" sz="2400" dirty="0">
            <a:solidFill>
              <a:schemeClr val="tx1"/>
            </a:solidFill>
          </a:endParaRPr>
        </a:p>
      </dgm:t>
    </dgm:pt>
    <dgm:pt modelId="{61521496-8EC9-4299-A695-1FB832C60330}" type="parTrans" cxnId="{7E9D9F53-EBB8-4CAA-8B91-C8B854079E0F}">
      <dgm:prSet/>
      <dgm:spPr/>
      <dgm:t>
        <a:bodyPr/>
        <a:lstStyle/>
        <a:p>
          <a:endParaRPr lang="en-IN"/>
        </a:p>
      </dgm:t>
    </dgm:pt>
    <dgm:pt modelId="{DBD13266-F874-453F-AD98-02F791FADB82}" type="sibTrans" cxnId="{7E9D9F53-EBB8-4CAA-8B91-C8B854079E0F}">
      <dgm:prSet/>
      <dgm:spPr/>
      <dgm:t>
        <a:bodyPr/>
        <a:lstStyle/>
        <a:p>
          <a:endParaRPr lang="en-IN"/>
        </a:p>
      </dgm:t>
    </dgm:pt>
    <dgm:pt modelId="{E531BD6A-3F1D-49E0-BD62-FE80750A478B}">
      <dgm:prSet phldrT="[Text]" custT="1"/>
      <dgm:spPr>
        <a:solidFill>
          <a:srgbClr val="FCC4C4"/>
        </a:solidFill>
      </dgm:spPr>
      <dgm:t>
        <a:bodyPr/>
        <a:lstStyle/>
        <a:p>
          <a:r>
            <a:rPr lang="en-IN" sz="2400" dirty="0">
              <a:solidFill>
                <a:schemeClr val="tx1"/>
              </a:solidFill>
            </a:rPr>
            <a:t>5</a:t>
          </a:r>
        </a:p>
      </dgm:t>
    </dgm:pt>
    <dgm:pt modelId="{256E1727-F7FC-43C3-A3C1-848C098F15B3}" type="parTrans" cxnId="{DC61B195-3685-4750-BB00-5AA4810B8A36}">
      <dgm:prSet/>
      <dgm:spPr/>
      <dgm:t>
        <a:bodyPr/>
        <a:lstStyle/>
        <a:p>
          <a:endParaRPr lang="en-IN"/>
        </a:p>
      </dgm:t>
    </dgm:pt>
    <dgm:pt modelId="{7E28E1F7-7DEB-4F93-9000-382B3CEC4D43}" type="sibTrans" cxnId="{DC61B195-3685-4750-BB00-5AA4810B8A36}">
      <dgm:prSet/>
      <dgm:spPr/>
      <dgm:t>
        <a:bodyPr/>
        <a:lstStyle/>
        <a:p>
          <a:endParaRPr lang="en-IN"/>
        </a:p>
      </dgm:t>
    </dgm:pt>
    <dgm:pt modelId="{119BBCE4-AC18-4640-A6D7-84E9D9AD2340}">
      <dgm:prSet phldrT="[Text]" custT="1"/>
      <dgm:spPr>
        <a:solidFill>
          <a:srgbClr val="E2B0DA"/>
        </a:solidFill>
      </dgm:spPr>
      <dgm:t>
        <a:bodyPr/>
        <a:lstStyle/>
        <a:p>
          <a:r>
            <a:rPr lang="en-US" sz="2400" b="1" i="0" dirty="0">
              <a:solidFill>
                <a:schemeClr val="tx1"/>
              </a:solidFill>
              <a:effectLst/>
              <a:latin typeface="ui-sans-serif"/>
            </a:rPr>
            <a:t>K Maps – 6 variables </a:t>
          </a:r>
          <a:endParaRPr lang="en-IN" sz="2400" dirty="0">
            <a:solidFill>
              <a:schemeClr val="tx1"/>
            </a:solidFill>
          </a:endParaRPr>
        </a:p>
      </dgm:t>
    </dgm:pt>
    <dgm:pt modelId="{941A8428-EA0E-4083-951E-594B3A7DF1CC}" type="sibTrans" cxnId="{0A2A41B8-4237-4267-9D7C-AEE7B7631045}">
      <dgm:prSet/>
      <dgm:spPr/>
      <dgm:t>
        <a:bodyPr/>
        <a:lstStyle/>
        <a:p>
          <a:endParaRPr lang="en-IN"/>
        </a:p>
      </dgm:t>
    </dgm:pt>
    <dgm:pt modelId="{4B26870B-2245-4F9F-9749-4087D3737063}" type="parTrans" cxnId="{0A2A41B8-4237-4267-9D7C-AEE7B7631045}">
      <dgm:prSet/>
      <dgm:spPr/>
      <dgm:t>
        <a:bodyPr/>
        <a:lstStyle/>
        <a:p>
          <a:endParaRPr lang="en-IN"/>
        </a:p>
      </dgm:t>
    </dgm:pt>
    <dgm:pt modelId="{2E28794B-903C-4975-9EA4-D3E9D8704FD1}" type="pres">
      <dgm:prSet presAssocID="{815D26E3-1F4E-4284-A369-E22C317660C7}" presName="Name0" presStyleCnt="0">
        <dgm:presLayoutVars>
          <dgm:dir/>
          <dgm:animLvl val="lvl"/>
          <dgm:resizeHandles val="exact"/>
        </dgm:presLayoutVars>
      </dgm:prSet>
      <dgm:spPr/>
    </dgm:pt>
    <dgm:pt modelId="{A4BF2C1E-F3F1-4AD6-8D06-899B75A1BEE2}" type="pres">
      <dgm:prSet presAssocID="{BD175E0C-412F-4EC4-B9C3-257A0BCBF192}" presName="linNode" presStyleCnt="0"/>
      <dgm:spPr/>
    </dgm:pt>
    <dgm:pt modelId="{8C0C9B53-84E1-4073-9602-B1EB1BC9DB94}" type="pres">
      <dgm:prSet presAssocID="{BD175E0C-412F-4EC4-B9C3-257A0BCBF192}" presName="parTx" presStyleLbl="revTx" presStyleIdx="0" presStyleCnt="5" custScaleX="82645" custScaleY="82645">
        <dgm:presLayoutVars>
          <dgm:chMax val="1"/>
          <dgm:bulletEnabled val="1"/>
        </dgm:presLayoutVars>
      </dgm:prSet>
      <dgm:spPr/>
    </dgm:pt>
    <dgm:pt modelId="{5BA6A289-9131-455A-809B-32DC63C93125}" type="pres">
      <dgm:prSet presAssocID="{BD175E0C-412F-4EC4-B9C3-257A0BCBF192}" presName="bracket" presStyleLbl="parChTrans1D1" presStyleIdx="0" presStyleCnt="5"/>
      <dgm:spPr/>
    </dgm:pt>
    <dgm:pt modelId="{83260690-3805-414B-9948-537CCC0117E1}" type="pres">
      <dgm:prSet presAssocID="{BD175E0C-412F-4EC4-B9C3-257A0BCBF192}" presName="spH" presStyleCnt="0"/>
      <dgm:spPr/>
    </dgm:pt>
    <dgm:pt modelId="{C6718A59-1A09-4DF5-9D91-1E0828EABEB1}" type="pres">
      <dgm:prSet presAssocID="{BD175E0C-412F-4EC4-B9C3-257A0BCBF192}" presName="desTx" presStyleLbl="node1" presStyleIdx="0" presStyleCnt="5" custScaleX="82645" custScaleY="82645">
        <dgm:presLayoutVars>
          <dgm:bulletEnabled val="1"/>
        </dgm:presLayoutVars>
      </dgm:prSet>
      <dgm:spPr/>
    </dgm:pt>
    <dgm:pt modelId="{EBF3DC12-8CFD-4EF0-9B09-8FC0AE92118A}" type="pres">
      <dgm:prSet presAssocID="{C92B9A34-A5AB-4519-9073-1A94B230025E}" presName="spV" presStyleCnt="0"/>
      <dgm:spPr/>
    </dgm:pt>
    <dgm:pt modelId="{CEF15C06-1714-4C02-9227-89E6E3391424}" type="pres">
      <dgm:prSet presAssocID="{1413004C-6CFC-4EAB-99D9-C4FEE38B9165}" presName="linNode" presStyleCnt="0"/>
      <dgm:spPr/>
    </dgm:pt>
    <dgm:pt modelId="{777B52BF-F846-47C1-B8A3-31067BB46A1B}" type="pres">
      <dgm:prSet presAssocID="{1413004C-6CFC-4EAB-99D9-C4FEE38B9165}" presName="parTx" presStyleLbl="revTx" presStyleIdx="1" presStyleCnt="5" custScaleX="82645" custScaleY="82645">
        <dgm:presLayoutVars>
          <dgm:chMax val="1"/>
          <dgm:bulletEnabled val="1"/>
        </dgm:presLayoutVars>
      </dgm:prSet>
      <dgm:spPr/>
    </dgm:pt>
    <dgm:pt modelId="{E86B338A-B4B3-4BC9-9A70-8F64A3EC7D7C}" type="pres">
      <dgm:prSet presAssocID="{1413004C-6CFC-4EAB-99D9-C4FEE38B9165}" presName="bracket" presStyleLbl="parChTrans1D1" presStyleIdx="1" presStyleCnt="5"/>
      <dgm:spPr/>
    </dgm:pt>
    <dgm:pt modelId="{B62C65BC-D892-4FC8-AC12-95457DB189D6}" type="pres">
      <dgm:prSet presAssocID="{1413004C-6CFC-4EAB-99D9-C4FEE38B9165}" presName="spH" presStyleCnt="0"/>
      <dgm:spPr/>
    </dgm:pt>
    <dgm:pt modelId="{9875C410-F054-40C9-A885-436FCBA0538C}" type="pres">
      <dgm:prSet presAssocID="{1413004C-6CFC-4EAB-99D9-C4FEE38B9165}" presName="desTx" presStyleLbl="node1" presStyleIdx="1" presStyleCnt="5" custScaleX="82645" custScaleY="82645">
        <dgm:presLayoutVars>
          <dgm:bulletEnabled val="1"/>
        </dgm:presLayoutVars>
      </dgm:prSet>
      <dgm:spPr/>
    </dgm:pt>
    <dgm:pt modelId="{AD7FE75A-66BB-445E-B05A-21D0BFD61202}" type="pres">
      <dgm:prSet presAssocID="{6650AA74-3D25-4382-B206-BDAB53DA2C51}" presName="spV" presStyleCnt="0"/>
      <dgm:spPr/>
    </dgm:pt>
    <dgm:pt modelId="{A5BC0CE4-60AE-4CFE-BBAB-615262D63A1C}" type="pres">
      <dgm:prSet presAssocID="{3D286603-6E17-448A-A006-C25D1AC47ABA}" presName="linNode" presStyleCnt="0"/>
      <dgm:spPr/>
    </dgm:pt>
    <dgm:pt modelId="{87813B41-04C5-4FC4-B7FC-5D81DAD3F485}" type="pres">
      <dgm:prSet presAssocID="{3D286603-6E17-448A-A006-C25D1AC47ABA}" presName="parTx" presStyleLbl="revTx" presStyleIdx="2" presStyleCnt="5" custScaleX="82645" custScaleY="82645">
        <dgm:presLayoutVars>
          <dgm:chMax val="1"/>
          <dgm:bulletEnabled val="1"/>
        </dgm:presLayoutVars>
      </dgm:prSet>
      <dgm:spPr/>
    </dgm:pt>
    <dgm:pt modelId="{FEED422E-99E8-49BF-990C-F6DFF47F0FF8}" type="pres">
      <dgm:prSet presAssocID="{3D286603-6E17-448A-A006-C25D1AC47ABA}" presName="bracket" presStyleLbl="parChTrans1D1" presStyleIdx="2" presStyleCnt="5"/>
      <dgm:spPr/>
    </dgm:pt>
    <dgm:pt modelId="{18387B42-0A08-446A-9990-17EBC98EB470}" type="pres">
      <dgm:prSet presAssocID="{3D286603-6E17-448A-A006-C25D1AC47ABA}" presName="spH" presStyleCnt="0"/>
      <dgm:spPr/>
    </dgm:pt>
    <dgm:pt modelId="{55A15F30-F832-4581-8095-173251A78B8C}" type="pres">
      <dgm:prSet presAssocID="{3D286603-6E17-448A-A006-C25D1AC47ABA}" presName="desTx" presStyleLbl="node1" presStyleIdx="2" presStyleCnt="5" custScaleX="82645" custScaleY="82645">
        <dgm:presLayoutVars>
          <dgm:bulletEnabled val="1"/>
        </dgm:presLayoutVars>
      </dgm:prSet>
      <dgm:spPr/>
    </dgm:pt>
    <dgm:pt modelId="{D52EB79C-EE0C-48F3-B5E7-03185F930F6A}" type="pres">
      <dgm:prSet presAssocID="{7355BB81-B852-44E2-9590-103700A7C3B4}" presName="spV" presStyleCnt="0"/>
      <dgm:spPr/>
    </dgm:pt>
    <dgm:pt modelId="{FAF2F9B7-DA27-41C6-A681-19519C33C8F5}" type="pres">
      <dgm:prSet presAssocID="{24CDA0D0-1270-4866-83B6-85D6AD2DEDF7}" presName="linNode" presStyleCnt="0"/>
      <dgm:spPr/>
    </dgm:pt>
    <dgm:pt modelId="{279EE09D-2424-40F3-95F5-55C638B5F099}" type="pres">
      <dgm:prSet presAssocID="{24CDA0D0-1270-4866-83B6-85D6AD2DEDF7}" presName="parTx" presStyleLbl="revTx" presStyleIdx="3" presStyleCnt="5" custScaleX="82645" custScaleY="82645">
        <dgm:presLayoutVars>
          <dgm:chMax val="1"/>
          <dgm:bulletEnabled val="1"/>
        </dgm:presLayoutVars>
      </dgm:prSet>
      <dgm:spPr/>
    </dgm:pt>
    <dgm:pt modelId="{BD7C3549-5B63-485D-9282-E5FB3475CE4C}" type="pres">
      <dgm:prSet presAssocID="{24CDA0D0-1270-4866-83B6-85D6AD2DEDF7}" presName="bracket" presStyleLbl="parChTrans1D1" presStyleIdx="3" presStyleCnt="5"/>
      <dgm:spPr/>
    </dgm:pt>
    <dgm:pt modelId="{83D511AF-A4D6-4264-BB6F-E6F8D91D1925}" type="pres">
      <dgm:prSet presAssocID="{24CDA0D0-1270-4866-83B6-85D6AD2DEDF7}" presName="spH" presStyleCnt="0"/>
      <dgm:spPr/>
    </dgm:pt>
    <dgm:pt modelId="{A17BF660-8638-4004-84FD-7C0334205F14}" type="pres">
      <dgm:prSet presAssocID="{24CDA0D0-1270-4866-83B6-85D6AD2DEDF7}" presName="desTx" presStyleLbl="node1" presStyleIdx="3" presStyleCnt="5" custScaleX="82645" custScaleY="82645">
        <dgm:presLayoutVars>
          <dgm:bulletEnabled val="1"/>
        </dgm:presLayoutVars>
      </dgm:prSet>
      <dgm:spPr/>
    </dgm:pt>
    <dgm:pt modelId="{328397A2-8BBF-4C4A-9AD2-6A799DC48742}" type="pres">
      <dgm:prSet presAssocID="{80F30627-6D19-44F4-B47F-88697A17B09D}" presName="spV" presStyleCnt="0"/>
      <dgm:spPr/>
    </dgm:pt>
    <dgm:pt modelId="{1EC18A65-C54B-406D-B0D6-C8A558FEE49B}" type="pres">
      <dgm:prSet presAssocID="{E531BD6A-3F1D-49E0-BD62-FE80750A478B}" presName="linNode" presStyleCnt="0"/>
      <dgm:spPr/>
    </dgm:pt>
    <dgm:pt modelId="{28BAEA1F-3FFD-4896-A97A-B172D018F565}" type="pres">
      <dgm:prSet presAssocID="{E531BD6A-3F1D-49E0-BD62-FE80750A478B}" presName="parTx" presStyleLbl="revTx" presStyleIdx="4" presStyleCnt="5" custScaleX="82645" custScaleY="82645">
        <dgm:presLayoutVars>
          <dgm:chMax val="1"/>
          <dgm:bulletEnabled val="1"/>
        </dgm:presLayoutVars>
      </dgm:prSet>
      <dgm:spPr/>
    </dgm:pt>
    <dgm:pt modelId="{81EC6EF1-BF81-4FBA-9F42-560415132D3D}" type="pres">
      <dgm:prSet presAssocID="{E531BD6A-3F1D-49E0-BD62-FE80750A478B}" presName="bracket" presStyleLbl="parChTrans1D1" presStyleIdx="4" presStyleCnt="5"/>
      <dgm:spPr/>
    </dgm:pt>
    <dgm:pt modelId="{4E0BBEDE-EAE9-4521-9253-0379C6771B45}" type="pres">
      <dgm:prSet presAssocID="{E531BD6A-3F1D-49E0-BD62-FE80750A478B}" presName="spH" presStyleCnt="0"/>
      <dgm:spPr/>
    </dgm:pt>
    <dgm:pt modelId="{F7567D0C-D27E-4C4F-A667-23FA1BD5BDA2}" type="pres">
      <dgm:prSet presAssocID="{E531BD6A-3F1D-49E0-BD62-FE80750A478B}" presName="desTx" presStyleLbl="node1" presStyleIdx="4" presStyleCnt="5" custScaleX="82645" custScaleY="82645">
        <dgm:presLayoutVars>
          <dgm:bulletEnabled val="1"/>
        </dgm:presLayoutVars>
      </dgm:prSet>
      <dgm:spPr/>
    </dgm:pt>
  </dgm:ptLst>
  <dgm:cxnLst>
    <dgm:cxn modelId="{C9BD3B5E-63A7-4C07-A172-98F5C4F570D4}" srcId="{815D26E3-1F4E-4284-A369-E22C317660C7}" destId="{3D286603-6E17-448A-A006-C25D1AC47ABA}" srcOrd="2" destOrd="0" parTransId="{CD7F8567-E197-4BFF-AC1B-EE8B58511377}" sibTransId="{7355BB81-B852-44E2-9590-103700A7C3B4}"/>
    <dgm:cxn modelId="{ECF2BF41-BB67-4837-B387-4635B4DB0234}" type="presOf" srcId="{119BBCE4-AC18-4640-A6D7-84E9D9AD2340}" destId="{F7567D0C-D27E-4C4F-A667-23FA1BD5BDA2}" srcOrd="0" destOrd="0" presId="urn:diagrams.loki3.com/BracketList"/>
    <dgm:cxn modelId="{B1468343-6A47-4DEC-95BD-40E19FEA137D}" type="presOf" srcId="{3D286603-6E17-448A-A006-C25D1AC47ABA}" destId="{87813B41-04C5-4FC4-B7FC-5D81DAD3F485}" srcOrd="0" destOrd="0" presId="urn:diagrams.loki3.com/BracketList"/>
    <dgm:cxn modelId="{E83CF752-5AD5-4321-A706-3CBE2B1A565F}" srcId="{3D286603-6E17-448A-A006-C25D1AC47ABA}" destId="{404E4BA2-100E-4BE3-BDC6-A0FB9886837C}" srcOrd="0" destOrd="0" parTransId="{642A087E-2AEC-4251-8A87-599AAFC0202C}" sibTransId="{03F9F584-7480-4CF3-BFB8-7D63AC43F43E}"/>
    <dgm:cxn modelId="{7E9D9F53-EBB8-4CAA-8B91-C8B854079E0F}" srcId="{24CDA0D0-1270-4866-83B6-85D6AD2DEDF7}" destId="{537B5632-3C99-456F-99B6-3D23C17054FC}" srcOrd="0" destOrd="0" parTransId="{61521496-8EC9-4299-A695-1FB832C60330}" sibTransId="{DBD13266-F874-453F-AD98-02F791FADB82}"/>
    <dgm:cxn modelId="{B6F98055-B9FC-43C9-A3DB-5FD4854B53C6}" type="presOf" srcId="{E531BD6A-3F1D-49E0-BD62-FE80750A478B}" destId="{28BAEA1F-3FFD-4896-A97A-B172D018F565}" srcOrd="0" destOrd="0" presId="urn:diagrams.loki3.com/BracketList"/>
    <dgm:cxn modelId="{DC61B195-3685-4750-BB00-5AA4810B8A36}" srcId="{815D26E3-1F4E-4284-A369-E22C317660C7}" destId="{E531BD6A-3F1D-49E0-BD62-FE80750A478B}" srcOrd="4" destOrd="0" parTransId="{256E1727-F7FC-43C3-A3C1-848C098F15B3}" sibTransId="{7E28E1F7-7DEB-4F93-9000-382B3CEC4D43}"/>
    <dgm:cxn modelId="{6F9FFF96-8B13-44BC-BC37-E2551F9CECB2}" type="presOf" srcId="{537B5632-3C99-456F-99B6-3D23C17054FC}" destId="{A17BF660-8638-4004-84FD-7C0334205F14}" srcOrd="0" destOrd="0" presId="urn:diagrams.loki3.com/BracketList"/>
    <dgm:cxn modelId="{50A57DAF-6D6A-4CD5-B2E7-2B4670E769FC}" type="presOf" srcId="{BD175E0C-412F-4EC4-B9C3-257A0BCBF192}" destId="{8C0C9B53-84E1-4073-9602-B1EB1BC9DB94}" srcOrd="0" destOrd="0" presId="urn:diagrams.loki3.com/BracketList"/>
    <dgm:cxn modelId="{AF01B9B1-D690-4014-B05B-C59784567CE4}" type="presOf" srcId="{CB60ED9B-BB21-4C7A-845D-C57CB6540A6F}" destId="{9875C410-F054-40C9-A885-436FCBA0538C}" srcOrd="0" destOrd="0" presId="urn:diagrams.loki3.com/BracketList"/>
    <dgm:cxn modelId="{683A6CB5-E299-4444-8CBE-77348F71A181}" srcId="{815D26E3-1F4E-4284-A369-E22C317660C7}" destId="{1413004C-6CFC-4EAB-99D9-C4FEE38B9165}" srcOrd="1" destOrd="0" parTransId="{302BEEF8-2DB5-4E2F-83C8-568B5E8489FD}" sibTransId="{6650AA74-3D25-4382-B206-BDAB53DA2C51}"/>
    <dgm:cxn modelId="{0A2A41B8-4237-4267-9D7C-AEE7B7631045}" srcId="{E531BD6A-3F1D-49E0-BD62-FE80750A478B}" destId="{119BBCE4-AC18-4640-A6D7-84E9D9AD2340}" srcOrd="0" destOrd="0" parTransId="{4B26870B-2245-4F9F-9749-4087D3737063}" sibTransId="{941A8428-EA0E-4083-951E-594B3A7DF1CC}"/>
    <dgm:cxn modelId="{19AA53C0-16B7-45F2-856C-5723931240A7}" srcId="{815D26E3-1F4E-4284-A369-E22C317660C7}" destId="{24CDA0D0-1270-4866-83B6-85D6AD2DEDF7}" srcOrd="3" destOrd="0" parTransId="{2595EA4A-4FBD-489C-A50B-947DF6131173}" sibTransId="{80F30627-6D19-44F4-B47F-88697A17B09D}"/>
    <dgm:cxn modelId="{141201D2-C3B4-4F37-9FD0-6DD6E35F1D0D}" type="presOf" srcId="{24CDA0D0-1270-4866-83B6-85D6AD2DEDF7}" destId="{279EE09D-2424-40F3-95F5-55C638B5F099}" srcOrd="0" destOrd="0" presId="urn:diagrams.loki3.com/BracketList"/>
    <dgm:cxn modelId="{81D39BDE-ED6A-4941-B108-031F172BF611}" srcId="{815D26E3-1F4E-4284-A369-E22C317660C7}" destId="{BD175E0C-412F-4EC4-B9C3-257A0BCBF192}" srcOrd="0" destOrd="0" parTransId="{D8CD0977-8D97-4E4E-8875-EEA5AD8BEA90}" sibTransId="{C92B9A34-A5AB-4519-9073-1A94B230025E}"/>
    <dgm:cxn modelId="{44F0B8DF-BF65-40D0-A005-2A07DAB22D6B}" srcId="{1413004C-6CFC-4EAB-99D9-C4FEE38B9165}" destId="{CB60ED9B-BB21-4C7A-845D-C57CB6540A6F}" srcOrd="0" destOrd="0" parTransId="{786BE403-E019-4CE4-857D-635176356850}" sibTransId="{200DE219-E46B-4F3B-90B0-4889F7F9EC25}"/>
    <dgm:cxn modelId="{3E6485E2-D074-4C6B-B15A-3AF150644629}" type="presOf" srcId="{815D26E3-1F4E-4284-A369-E22C317660C7}" destId="{2E28794B-903C-4975-9EA4-D3E9D8704FD1}" srcOrd="0" destOrd="0" presId="urn:diagrams.loki3.com/BracketList"/>
    <dgm:cxn modelId="{806DCDEB-274C-4E8F-8C53-E86E614E33BE}" type="presOf" srcId="{404E4BA2-100E-4BE3-BDC6-A0FB9886837C}" destId="{55A15F30-F832-4581-8095-173251A78B8C}" srcOrd="0" destOrd="0" presId="urn:diagrams.loki3.com/BracketList"/>
    <dgm:cxn modelId="{19255FEC-26FC-41B2-8F0C-D7CDEEC73A3C}" type="presOf" srcId="{1413004C-6CFC-4EAB-99D9-C4FEE38B9165}" destId="{777B52BF-F846-47C1-B8A3-31067BB46A1B}" srcOrd="0" destOrd="0" presId="urn:diagrams.loki3.com/BracketList"/>
    <dgm:cxn modelId="{EB8B5CED-97E3-490F-8921-B6927C3BA48E}" type="presOf" srcId="{329513A5-55D4-4037-99E9-FE7971C37588}" destId="{C6718A59-1A09-4DF5-9D91-1E0828EABEB1}" srcOrd="0" destOrd="0" presId="urn:diagrams.loki3.com/BracketList"/>
    <dgm:cxn modelId="{FCC989F9-1B2C-40AD-8A39-F31F1E9ABA1C}" srcId="{BD175E0C-412F-4EC4-B9C3-257A0BCBF192}" destId="{329513A5-55D4-4037-99E9-FE7971C37588}" srcOrd="0" destOrd="0" parTransId="{B23C33BD-0E9F-44D9-B4A2-2FBCB4AE4D76}" sibTransId="{E9B0D891-33D2-4C74-84A2-B641E1194167}"/>
    <dgm:cxn modelId="{065A6B5F-65A9-42BC-B490-B0BFD3D29857}" type="presParOf" srcId="{2E28794B-903C-4975-9EA4-D3E9D8704FD1}" destId="{A4BF2C1E-F3F1-4AD6-8D06-899B75A1BEE2}" srcOrd="0" destOrd="0" presId="urn:diagrams.loki3.com/BracketList"/>
    <dgm:cxn modelId="{A9F35CFB-3804-473F-BBEC-573E32E23BDF}" type="presParOf" srcId="{A4BF2C1E-F3F1-4AD6-8D06-899B75A1BEE2}" destId="{8C0C9B53-84E1-4073-9602-B1EB1BC9DB94}" srcOrd="0" destOrd="0" presId="urn:diagrams.loki3.com/BracketList"/>
    <dgm:cxn modelId="{864E6AD2-AC87-46D7-8532-7298BF2BDA21}" type="presParOf" srcId="{A4BF2C1E-F3F1-4AD6-8D06-899B75A1BEE2}" destId="{5BA6A289-9131-455A-809B-32DC63C93125}" srcOrd="1" destOrd="0" presId="urn:diagrams.loki3.com/BracketList"/>
    <dgm:cxn modelId="{74933516-99E2-4DB6-B7EB-D8CA0D875065}" type="presParOf" srcId="{A4BF2C1E-F3F1-4AD6-8D06-899B75A1BEE2}" destId="{83260690-3805-414B-9948-537CCC0117E1}" srcOrd="2" destOrd="0" presId="urn:diagrams.loki3.com/BracketList"/>
    <dgm:cxn modelId="{DBCDDAE6-6FAA-47BD-9CBC-67014DA85AD3}" type="presParOf" srcId="{A4BF2C1E-F3F1-4AD6-8D06-899B75A1BEE2}" destId="{C6718A59-1A09-4DF5-9D91-1E0828EABEB1}" srcOrd="3" destOrd="0" presId="urn:diagrams.loki3.com/BracketList"/>
    <dgm:cxn modelId="{B67F8C6F-D543-4D6E-A522-E47C06F496FE}" type="presParOf" srcId="{2E28794B-903C-4975-9EA4-D3E9D8704FD1}" destId="{EBF3DC12-8CFD-4EF0-9B09-8FC0AE92118A}" srcOrd="1" destOrd="0" presId="urn:diagrams.loki3.com/BracketList"/>
    <dgm:cxn modelId="{9050F974-93CB-445D-814B-A4660CC4CE59}" type="presParOf" srcId="{2E28794B-903C-4975-9EA4-D3E9D8704FD1}" destId="{CEF15C06-1714-4C02-9227-89E6E3391424}" srcOrd="2" destOrd="0" presId="urn:diagrams.loki3.com/BracketList"/>
    <dgm:cxn modelId="{9C35F0F0-3F2C-40A7-B7A3-6730BF9D6E05}" type="presParOf" srcId="{CEF15C06-1714-4C02-9227-89E6E3391424}" destId="{777B52BF-F846-47C1-B8A3-31067BB46A1B}" srcOrd="0" destOrd="0" presId="urn:diagrams.loki3.com/BracketList"/>
    <dgm:cxn modelId="{C1B6D27B-13D0-4DBE-8165-8C0E371BE5E9}" type="presParOf" srcId="{CEF15C06-1714-4C02-9227-89E6E3391424}" destId="{E86B338A-B4B3-4BC9-9A70-8F64A3EC7D7C}" srcOrd="1" destOrd="0" presId="urn:diagrams.loki3.com/BracketList"/>
    <dgm:cxn modelId="{C5C981DD-3ABB-403A-B8F4-F41D76C432DD}" type="presParOf" srcId="{CEF15C06-1714-4C02-9227-89E6E3391424}" destId="{B62C65BC-D892-4FC8-AC12-95457DB189D6}" srcOrd="2" destOrd="0" presId="urn:diagrams.loki3.com/BracketList"/>
    <dgm:cxn modelId="{2900B2F6-7FA2-4DD5-B185-0A75A6A903FD}" type="presParOf" srcId="{CEF15C06-1714-4C02-9227-89E6E3391424}" destId="{9875C410-F054-40C9-A885-436FCBA0538C}" srcOrd="3" destOrd="0" presId="urn:diagrams.loki3.com/BracketList"/>
    <dgm:cxn modelId="{C4AB78D1-D116-47B6-9177-E7AB51A7841E}" type="presParOf" srcId="{2E28794B-903C-4975-9EA4-D3E9D8704FD1}" destId="{AD7FE75A-66BB-445E-B05A-21D0BFD61202}" srcOrd="3" destOrd="0" presId="urn:diagrams.loki3.com/BracketList"/>
    <dgm:cxn modelId="{BB7C1024-D377-4E72-8921-ADCE2C402D3E}" type="presParOf" srcId="{2E28794B-903C-4975-9EA4-D3E9D8704FD1}" destId="{A5BC0CE4-60AE-4CFE-BBAB-615262D63A1C}" srcOrd="4" destOrd="0" presId="urn:diagrams.loki3.com/BracketList"/>
    <dgm:cxn modelId="{5340ABD6-7033-4664-86DF-0BB2C0985655}" type="presParOf" srcId="{A5BC0CE4-60AE-4CFE-BBAB-615262D63A1C}" destId="{87813B41-04C5-4FC4-B7FC-5D81DAD3F485}" srcOrd="0" destOrd="0" presId="urn:diagrams.loki3.com/BracketList"/>
    <dgm:cxn modelId="{7B944B45-435A-42EB-A4B3-258D54A1B0A6}" type="presParOf" srcId="{A5BC0CE4-60AE-4CFE-BBAB-615262D63A1C}" destId="{FEED422E-99E8-49BF-990C-F6DFF47F0FF8}" srcOrd="1" destOrd="0" presId="urn:diagrams.loki3.com/BracketList"/>
    <dgm:cxn modelId="{E489B4FB-25F7-464F-BDE8-8CB39D7E6F3C}" type="presParOf" srcId="{A5BC0CE4-60AE-4CFE-BBAB-615262D63A1C}" destId="{18387B42-0A08-446A-9990-17EBC98EB470}" srcOrd="2" destOrd="0" presId="urn:diagrams.loki3.com/BracketList"/>
    <dgm:cxn modelId="{80316CCD-9D88-4F18-8280-1F503598906A}" type="presParOf" srcId="{A5BC0CE4-60AE-4CFE-BBAB-615262D63A1C}" destId="{55A15F30-F832-4581-8095-173251A78B8C}" srcOrd="3" destOrd="0" presId="urn:diagrams.loki3.com/BracketList"/>
    <dgm:cxn modelId="{82780EDC-1017-4F62-8001-E901E9DB00AF}" type="presParOf" srcId="{2E28794B-903C-4975-9EA4-D3E9D8704FD1}" destId="{D52EB79C-EE0C-48F3-B5E7-03185F930F6A}" srcOrd="5" destOrd="0" presId="urn:diagrams.loki3.com/BracketList"/>
    <dgm:cxn modelId="{133001F9-C3C2-4312-9F60-0C3B74E5E7CC}" type="presParOf" srcId="{2E28794B-903C-4975-9EA4-D3E9D8704FD1}" destId="{FAF2F9B7-DA27-41C6-A681-19519C33C8F5}" srcOrd="6" destOrd="0" presId="urn:diagrams.loki3.com/BracketList"/>
    <dgm:cxn modelId="{3CF2CEB6-356B-4BDD-9897-412394CB1D88}" type="presParOf" srcId="{FAF2F9B7-DA27-41C6-A681-19519C33C8F5}" destId="{279EE09D-2424-40F3-95F5-55C638B5F099}" srcOrd="0" destOrd="0" presId="urn:diagrams.loki3.com/BracketList"/>
    <dgm:cxn modelId="{F230F0FE-6E6F-47C3-ADDA-F91F5307E83C}" type="presParOf" srcId="{FAF2F9B7-DA27-41C6-A681-19519C33C8F5}" destId="{BD7C3549-5B63-485D-9282-E5FB3475CE4C}" srcOrd="1" destOrd="0" presId="urn:diagrams.loki3.com/BracketList"/>
    <dgm:cxn modelId="{98424280-2661-4CD2-BC06-64B5D245DB2F}" type="presParOf" srcId="{FAF2F9B7-DA27-41C6-A681-19519C33C8F5}" destId="{83D511AF-A4D6-4264-BB6F-E6F8D91D1925}" srcOrd="2" destOrd="0" presId="urn:diagrams.loki3.com/BracketList"/>
    <dgm:cxn modelId="{191AB080-D1E3-40B8-AFF1-EE3B8E1ABC86}" type="presParOf" srcId="{FAF2F9B7-DA27-41C6-A681-19519C33C8F5}" destId="{A17BF660-8638-4004-84FD-7C0334205F14}" srcOrd="3" destOrd="0" presId="urn:diagrams.loki3.com/BracketList"/>
    <dgm:cxn modelId="{CDB2E4EC-C3EB-4922-91E8-6F4B74B21F77}" type="presParOf" srcId="{2E28794B-903C-4975-9EA4-D3E9D8704FD1}" destId="{328397A2-8BBF-4C4A-9AD2-6A799DC48742}" srcOrd="7" destOrd="0" presId="urn:diagrams.loki3.com/BracketList"/>
    <dgm:cxn modelId="{5E164A75-540F-410D-B3F1-6E458B7C0E5B}" type="presParOf" srcId="{2E28794B-903C-4975-9EA4-D3E9D8704FD1}" destId="{1EC18A65-C54B-406D-B0D6-C8A558FEE49B}" srcOrd="8" destOrd="0" presId="urn:diagrams.loki3.com/BracketList"/>
    <dgm:cxn modelId="{3F838E25-757C-4C95-8FD7-5A3687E7D657}" type="presParOf" srcId="{1EC18A65-C54B-406D-B0D6-C8A558FEE49B}" destId="{28BAEA1F-3FFD-4896-A97A-B172D018F565}" srcOrd="0" destOrd="0" presId="urn:diagrams.loki3.com/BracketList"/>
    <dgm:cxn modelId="{B4EF9B35-D7F2-4917-AC20-48E34E96A480}" type="presParOf" srcId="{1EC18A65-C54B-406D-B0D6-C8A558FEE49B}" destId="{81EC6EF1-BF81-4FBA-9F42-560415132D3D}" srcOrd="1" destOrd="0" presId="urn:diagrams.loki3.com/BracketList"/>
    <dgm:cxn modelId="{DE82E39C-CA74-4013-82CE-B449C3CFE7AC}" type="presParOf" srcId="{1EC18A65-C54B-406D-B0D6-C8A558FEE49B}" destId="{4E0BBEDE-EAE9-4521-9253-0379C6771B45}" srcOrd="2" destOrd="0" presId="urn:diagrams.loki3.com/BracketList"/>
    <dgm:cxn modelId="{2BCECA27-5BF4-454E-B157-3394F804432B}" type="presParOf" srcId="{1EC18A65-C54B-406D-B0D6-C8A558FEE49B}" destId="{F7567D0C-D27E-4C4F-A667-23FA1BD5BDA2}"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995E80-6927-48A4-B4ED-C97359A6B0FC}" type="doc">
      <dgm:prSet loTypeId="urn:microsoft.com/office/officeart/2008/layout/LinedList" loCatId="hierarchy" qsTypeId="urn:microsoft.com/office/officeart/2005/8/quickstyle/simple1" qsCatId="simple" csTypeId="urn:microsoft.com/office/officeart/2005/8/colors/accent0_2" csCatId="mainScheme" phldr="1"/>
      <dgm:spPr/>
      <dgm:t>
        <a:bodyPr/>
        <a:lstStyle/>
        <a:p>
          <a:endParaRPr lang="en-IN"/>
        </a:p>
      </dgm:t>
    </dgm:pt>
    <dgm:pt modelId="{E53E48CA-FAD4-4810-8303-A414CA446C2D}">
      <dgm:prSet/>
      <dgm:spPr/>
      <dgm:t>
        <a:bodyPr/>
        <a:lstStyle/>
        <a:p>
          <a:r>
            <a:rPr lang="en-US" b="0" i="0" dirty="0"/>
            <a:t>Decimal number system (Base- 10, </a:t>
          </a:r>
          <a:r>
            <a:rPr lang="en-IN" b="0" i="0" dirty="0"/>
            <a:t>0,1,2,3,4,5,6,7,8 and 9 </a:t>
          </a:r>
          <a:r>
            <a:rPr lang="en-US" b="0" i="0" dirty="0"/>
            <a:t>). </a:t>
          </a:r>
          <a:r>
            <a:rPr lang="en-IN" b="0" i="0" dirty="0"/>
            <a:t>723</a:t>
          </a:r>
          <a:r>
            <a:rPr lang="en-IN" b="0" i="0" baseline="-25000" dirty="0"/>
            <a:t>10</a:t>
          </a:r>
          <a:r>
            <a:rPr lang="en-IN" b="0" i="0" dirty="0"/>
            <a:t>, 32</a:t>
          </a:r>
          <a:r>
            <a:rPr lang="en-IN" b="0" i="0" baseline="-25000" dirty="0"/>
            <a:t>10</a:t>
          </a:r>
          <a:r>
            <a:rPr lang="en-IN" b="0" i="0" dirty="0"/>
            <a:t>, and 4257</a:t>
          </a:r>
          <a:r>
            <a:rPr lang="en-IN" b="0" i="0" baseline="-25000" dirty="0"/>
            <a:t>10</a:t>
          </a:r>
          <a:endParaRPr lang="en-IN" dirty="0"/>
        </a:p>
      </dgm:t>
    </dgm:pt>
    <dgm:pt modelId="{78CD2CED-E6F6-4485-8F64-E90196A78EEF}" type="parTrans" cxnId="{E7E4CA46-32F8-4C83-9E05-EB48A7197570}">
      <dgm:prSet/>
      <dgm:spPr/>
      <dgm:t>
        <a:bodyPr/>
        <a:lstStyle/>
        <a:p>
          <a:endParaRPr lang="en-IN"/>
        </a:p>
      </dgm:t>
    </dgm:pt>
    <dgm:pt modelId="{2B88FB35-5960-4BFC-8C3A-67ABFDC03FA0}" type="sibTrans" cxnId="{E7E4CA46-32F8-4C83-9E05-EB48A7197570}">
      <dgm:prSet/>
      <dgm:spPr/>
      <dgm:t>
        <a:bodyPr/>
        <a:lstStyle/>
        <a:p>
          <a:endParaRPr lang="en-IN"/>
        </a:p>
      </dgm:t>
    </dgm:pt>
    <dgm:pt modelId="{DD7E5FC9-188E-45F3-81B7-87C7C7C9FF0D}">
      <dgm:prSet/>
      <dgm:spPr/>
      <dgm:t>
        <a:bodyPr/>
        <a:lstStyle/>
        <a:p>
          <a:r>
            <a:rPr lang="en-US" b="0" i="0" dirty="0"/>
            <a:t>Octal number system (Base-8, </a:t>
          </a:r>
          <a:r>
            <a:rPr lang="en-IN" b="0" i="0" dirty="0"/>
            <a:t>0,1,2,3,4,5,6 and 7</a:t>
          </a:r>
          <a:r>
            <a:rPr lang="en-US" b="0" i="0" dirty="0"/>
            <a:t>). For example, 35</a:t>
          </a:r>
          <a:r>
            <a:rPr lang="en-US" b="0" i="0" baseline="-25000" dirty="0"/>
            <a:t>8</a:t>
          </a:r>
          <a:r>
            <a:rPr lang="en-US" b="0" i="0" dirty="0"/>
            <a:t>, 23</a:t>
          </a:r>
          <a:r>
            <a:rPr lang="en-US" b="0" i="0" baseline="-25000" dirty="0"/>
            <a:t>8</a:t>
          </a:r>
          <a:r>
            <a:rPr lang="en-US" b="0" i="0" dirty="0"/>
            <a:t>, and 141</a:t>
          </a:r>
          <a:r>
            <a:rPr lang="en-US" b="0" i="0" baseline="-25000" dirty="0"/>
            <a:t>8</a:t>
          </a:r>
          <a:endParaRPr lang="en-IN" dirty="0"/>
        </a:p>
      </dgm:t>
    </dgm:pt>
    <dgm:pt modelId="{A2180F2C-912F-4F84-80A4-1A8E3D1CA7C9}" type="parTrans" cxnId="{2B18A418-377C-4CE0-93D2-8A0B376801C9}">
      <dgm:prSet/>
      <dgm:spPr/>
      <dgm:t>
        <a:bodyPr/>
        <a:lstStyle/>
        <a:p>
          <a:endParaRPr lang="en-IN"/>
        </a:p>
      </dgm:t>
    </dgm:pt>
    <dgm:pt modelId="{173AFE78-6A74-4F52-8DC1-61D60A5958C7}" type="sibTrans" cxnId="{2B18A418-377C-4CE0-93D2-8A0B376801C9}">
      <dgm:prSet/>
      <dgm:spPr/>
      <dgm:t>
        <a:bodyPr/>
        <a:lstStyle/>
        <a:p>
          <a:endParaRPr lang="en-IN"/>
        </a:p>
      </dgm:t>
    </dgm:pt>
    <dgm:pt modelId="{DF2FFCA1-03E7-4AFE-AF80-3459159A072B}">
      <dgm:prSet/>
      <dgm:spPr/>
      <dgm:t>
        <a:bodyPr/>
        <a:lstStyle/>
        <a:p>
          <a:r>
            <a:rPr lang="en-US" b="0" i="0" dirty="0"/>
            <a:t>Hexadecimal number system (Base- 16, </a:t>
          </a:r>
          <a:r>
            <a:rPr lang="en-IN" b="0" i="0" dirty="0"/>
            <a:t>0,1,2,3,4,5,6,7,8,9 and A,B,C,D,E,F</a:t>
          </a:r>
          <a:r>
            <a:rPr lang="en-US" b="0" i="0" dirty="0"/>
            <a:t>). For example, 7B3</a:t>
          </a:r>
          <a:r>
            <a:rPr lang="en-US" b="0" i="0" baseline="-25000" dirty="0"/>
            <a:t>16</a:t>
          </a:r>
          <a:r>
            <a:rPr lang="en-US" b="0" i="0" dirty="0"/>
            <a:t>, 6F</a:t>
          </a:r>
          <a:r>
            <a:rPr lang="en-US" b="0" i="0" baseline="-25000" dirty="0"/>
            <a:t>16</a:t>
          </a:r>
          <a:r>
            <a:rPr lang="en-US" b="0" i="0" dirty="0"/>
            <a:t>, and 4B2A</a:t>
          </a:r>
          <a:r>
            <a:rPr lang="en-US" b="0" i="0" baseline="-25000" dirty="0"/>
            <a:t>16</a:t>
          </a:r>
          <a:endParaRPr lang="en-IN" dirty="0"/>
        </a:p>
      </dgm:t>
    </dgm:pt>
    <dgm:pt modelId="{B21830C3-A72E-4426-BACC-3112C7A410DD}" type="parTrans" cxnId="{096C9FD5-330E-450B-9D99-E60BEFB1660C}">
      <dgm:prSet/>
      <dgm:spPr/>
      <dgm:t>
        <a:bodyPr/>
        <a:lstStyle/>
        <a:p>
          <a:endParaRPr lang="en-IN"/>
        </a:p>
      </dgm:t>
    </dgm:pt>
    <dgm:pt modelId="{BBD6A24B-CC82-4F5E-9FD7-54B722CB192A}" type="sibTrans" cxnId="{096C9FD5-330E-450B-9D99-E60BEFB1660C}">
      <dgm:prSet/>
      <dgm:spPr/>
      <dgm:t>
        <a:bodyPr/>
        <a:lstStyle/>
        <a:p>
          <a:endParaRPr lang="en-IN"/>
        </a:p>
      </dgm:t>
    </dgm:pt>
    <dgm:pt modelId="{1BFD994F-D635-47F0-BFA7-AD4232C1FDF2}">
      <dgm:prSet/>
      <dgm:spPr/>
      <dgm:t>
        <a:bodyPr/>
        <a:lstStyle/>
        <a:p>
          <a:r>
            <a:rPr lang="en-US" b="0" i="0" dirty="0"/>
            <a:t>Binary number system (Base- 2, </a:t>
          </a:r>
          <a:r>
            <a:rPr lang="en-IN" b="0" i="0" dirty="0"/>
            <a:t>0 and 1)</a:t>
          </a:r>
          <a:r>
            <a:rPr lang="en-US" b="0" i="0" dirty="0"/>
            <a:t>. For example: 10001</a:t>
          </a:r>
          <a:r>
            <a:rPr lang="en-US" b="0" i="0" baseline="-25000" dirty="0"/>
            <a:t>2</a:t>
          </a:r>
          <a:r>
            <a:rPr lang="en-US" b="0" i="0" dirty="0"/>
            <a:t>, 111101</a:t>
          </a:r>
          <a:r>
            <a:rPr lang="en-US" b="0" i="0" baseline="-25000" dirty="0"/>
            <a:t>2</a:t>
          </a:r>
          <a:r>
            <a:rPr lang="en-US" b="0" i="0" dirty="0"/>
            <a:t>, 1010101</a:t>
          </a:r>
          <a:r>
            <a:rPr lang="en-US" b="0" i="0" baseline="-25000" dirty="0"/>
            <a:t>2</a:t>
          </a:r>
          <a:endParaRPr lang="en-IN" dirty="0"/>
        </a:p>
      </dgm:t>
    </dgm:pt>
    <dgm:pt modelId="{77B77676-CDC8-4E2C-BF19-109A1632321E}" type="parTrans" cxnId="{E6288E17-02B8-4427-BD29-1B101DAF1446}">
      <dgm:prSet/>
      <dgm:spPr/>
      <dgm:t>
        <a:bodyPr/>
        <a:lstStyle/>
        <a:p>
          <a:endParaRPr lang="en-IN"/>
        </a:p>
      </dgm:t>
    </dgm:pt>
    <dgm:pt modelId="{9BED78EA-3098-4EFA-BBA9-19FFF7787966}" type="sibTrans" cxnId="{E6288E17-02B8-4427-BD29-1B101DAF1446}">
      <dgm:prSet/>
      <dgm:spPr/>
      <dgm:t>
        <a:bodyPr/>
        <a:lstStyle/>
        <a:p>
          <a:endParaRPr lang="en-IN"/>
        </a:p>
      </dgm:t>
    </dgm:pt>
    <dgm:pt modelId="{13CFA1CD-8696-450A-ACB6-6DD62E8F391D}" type="pres">
      <dgm:prSet presAssocID="{5C995E80-6927-48A4-B4ED-C97359A6B0FC}" presName="vert0" presStyleCnt="0">
        <dgm:presLayoutVars>
          <dgm:dir/>
          <dgm:animOne val="branch"/>
          <dgm:animLvl val="lvl"/>
        </dgm:presLayoutVars>
      </dgm:prSet>
      <dgm:spPr/>
    </dgm:pt>
    <dgm:pt modelId="{A30046E8-76DD-4A31-8E33-C3FB79F85E64}" type="pres">
      <dgm:prSet presAssocID="{1BFD994F-D635-47F0-BFA7-AD4232C1FDF2}" presName="thickLine" presStyleLbl="alignNode1" presStyleIdx="0" presStyleCnt="4"/>
      <dgm:spPr/>
    </dgm:pt>
    <dgm:pt modelId="{83C5D0C0-96ED-4038-9A7E-9BFF1F17E72F}" type="pres">
      <dgm:prSet presAssocID="{1BFD994F-D635-47F0-BFA7-AD4232C1FDF2}" presName="horz1" presStyleCnt="0"/>
      <dgm:spPr/>
    </dgm:pt>
    <dgm:pt modelId="{D729CD17-C60D-408B-9479-125BB40F2084}" type="pres">
      <dgm:prSet presAssocID="{1BFD994F-D635-47F0-BFA7-AD4232C1FDF2}" presName="tx1" presStyleLbl="revTx" presStyleIdx="0" presStyleCnt="4"/>
      <dgm:spPr/>
    </dgm:pt>
    <dgm:pt modelId="{2D510F3D-AE34-48B3-AB37-CC10A21CBDD0}" type="pres">
      <dgm:prSet presAssocID="{1BFD994F-D635-47F0-BFA7-AD4232C1FDF2}" presName="vert1" presStyleCnt="0"/>
      <dgm:spPr/>
    </dgm:pt>
    <dgm:pt modelId="{64CD4001-9C3F-45B4-9C36-0FAF6C44E8E1}" type="pres">
      <dgm:prSet presAssocID="{E53E48CA-FAD4-4810-8303-A414CA446C2D}" presName="thickLine" presStyleLbl="alignNode1" presStyleIdx="1" presStyleCnt="4"/>
      <dgm:spPr/>
    </dgm:pt>
    <dgm:pt modelId="{2F3E989D-427B-44EA-A091-9C1ECC550322}" type="pres">
      <dgm:prSet presAssocID="{E53E48CA-FAD4-4810-8303-A414CA446C2D}" presName="horz1" presStyleCnt="0"/>
      <dgm:spPr/>
    </dgm:pt>
    <dgm:pt modelId="{06B098F9-C8B3-4080-9C01-E67EDFCEB54A}" type="pres">
      <dgm:prSet presAssocID="{E53E48CA-FAD4-4810-8303-A414CA446C2D}" presName="tx1" presStyleLbl="revTx" presStyleIdx="1" presStyleCnt="4"/>
      <dgm:spPr/>
    </dgm:pt>
    <dgm:pt modelId="{DE4E15A7-C893-4660-90E3-4054BA53E2B1}" type="pres">
      <dgm:prSet presAssocID="{E53E48CA-FAD4-4810-8303-A414CA446C2D}" presName="vert1" presStyleCnt="0"/>
      <dgm:spPr/>
    </dgm:pt>
    <dgm:pt modelId="{6E7EAA98-F843-40DA-A43C-AE836A29557D}" type="pres">
      <dgm:prSet presAssocID="{DD7E5FC9-188E-45F3-81B7-87C7C7C9FF0D}" presName="thickLine" presStyleLbl="alignNode1" presStyleIdx="2" presStyleCnt="4"/>
      <dgm:spPr/>
    </dgm:pt>
    <dgm:pt modelId="{EB930F94-E7FA-4402-ACE4-B39066392573}" type="pres">
      <dgm:prSet presAssocID="{DD7E5FC9-188E-45F3-81B7-87C7C7C9FF0D}" presName="horz1" presStyleCnt="0"/>
      <dgm:spPr/>
    </dgm:pt>
    <dgm:pt modelId="{6E8821E4-F0FA-47E6-B32A-48E6F99BAF27}" type="pres">
      <dgm:prSet presAssocID="{DD7E5FC9-188E-45F3-81B7-87C7C7C9FF0D}" presName="tx1" presStyleLbl="revTx" presStyleIdx="2" presStyleCnt="4"/>
      <dgm:spPr/>
    </dgm:pt>
    <dgm:pt modelId="{C9446DD5-E9BE-473C-BD2E-08551A62FDC2}" type="pres">
      <dgm:prSet presAssocID="{DD7E5FC9-188E-45F3-81B7-87C7C7C9FF0D}" presName="vert1" presStyleCnt="0"/>
      <dgm:spPr/>
    </dgm:pt>
    <dgm:pt modelId="{8C913A7A-A123-4035-99B6-CF9363B99BEB}" type="pres">
      <dgm:prSet presAssocID="{DF2FFCA1-03E7-4AFE-AF80-3459159A072B}" presName="thickLine" presStyleLbl="alignNode1" presStyleIdx="3" presStyleCnt="4"/>
      <dgm:spPr/>
    </dgm:pt>
    <dgm:pt modelId="{588A39EC-55D1-4E05-BED3-866537568C4F}" type="pres">
      <dgm:prSet presAssocID="{DF2FFCA1-03E7-4AFE-AF80-3459159A072B}" presName="horz1" presStyleCnt="0"/>
      <dgm:spPr/>
    </dgm:pt>
    <dgm:pt modelId="{12BAB1FC-39D7-4701-9800-0B9E30CB8EB8}" type="pres">
      <dgm:prSet presAssocID="{DF2FFCA1-03E7-4AFE-AF80-3459159A072B}" presName="tx1" presStyleLbl="revTx" presStyleIdx="3" presStyleCnt="4"/>
      <dgm:spPr/>
    </dgm:pt>
    <dgm:pt modelId="{BA21C18E-5278-40FA-949E-E93D910494B1}" type="pres">
      <dgm:prSet presAssocID="{DF2FFCA1-03E7-4AFE-AF80-3459159A072B}" presName="vert1" presStyleCnt="0"/>
      <dgm:spPr/>
    </dgm:pt>
  </dgm:ptLst>
  <dgm:cxnLst>
    <dgm:cxn modelId="{50BE8B0C-288F-40D7-ADED-8323E210AFBE}" type="presOf" srcId="{1BFD994F-D635-47F0-BFA7-AD4232C1FDF2}" destId="{D729CD17-C60D-408B-9479-125BB40F2084}" srcOrd="0" destOrd="0" presId="urn:microsoft.com/office/officeart/2008/layout/LinedList"/>
    <dgm:cxn modelId="{E6288E17-02B8-4427-BD29-1B101DAF1446}" srcId="{5C995E80-6927-48A4-B4ED-C97359A6B0FC}" destId="{1BFD994F-D635-47F0-BFA7-AD4232C1FDF2}" srcOrd="0" destOrd="0" parTransId="{77B77676-CDC8-4E2C-BF19-109A1632321E}" sibTransId="{9BED78EA-3098-4EFA-BBA9-19FFF7787966}"/>
    <dgm:cxn modelId="{2B18A418-377C-4CE0-93D2-8A0B376801C9}" srcId="{5C995E80-6927-48A4-B4ED-C97359A6B0FC}" destId="{DD7E5FC9-188E-45F3-81B7-87C7C7C9FF0D}" srcOrd="2" destOrd="0" parTransId="{A2180F2C-912F-4F84-80A4-1A8E3D1CA7C9}" sibTransId="{173AFE78-6A74-4F52-8DC1-61D60A5958C7}"/>
    <dgm:cxn modelId="{ADA80F1B-32ED-4A96-98DE-4BA1121C0A44}" type="presOf" srcId="{E53E48CA-FAD4-4810-8303-A414CA446C2D}" destId="{06B098F9-C8B3-4080-9C01-E67EDFCEB54A}" srcOrd="0" destOrd="0" presId="urn:microsoft.com/office/officeart/2008/layout/LinedList"/>
    <dgm:cxn modelId="{E7E4CA46-32F8-4C83-9E05-EB48A7197570}" srcId="{5C995E80-6927-48A4-B4ED-C97359A6B0FC}" destId="{E53E48CA-FAD4-4810-8303-A414CA446C2D}" srcOrd="1" destOrd="0" parTransId="{78CD2CED-E6F6-4485-8F64-E90196A78EEF}" sibTransId="{2B88FB35-5960-4BFC-8C3A-67ABFDC03FA0}"/>
    <dgm:cxn modelId="{8C3C8E71-42A4-4C97-A623-96281BED460A}" type="presOf" srcId="{DD7E5FC9-188E-45F3-81B7-87C7C7C9FF0D}" destId="{6E8821E4-F0FA-47E6-B32A-48E6F99BAF27}" srcOrd="0" destOrd="0" presId="urn:microsoft.com/office/officeart/2008/layout/LinedList"/>
    <dgm:cxn modelId="{E096A38B-3B1F-40E8-82D7-574582E46291}" type="presOf" srcId="{DF2FFCA1-03E7-4AFE-AF80-3459159A072B}" destId="{12BAB1FC-39D7-4701-9800-0B9E30CB8EB8}" srcOrd="0" destOrd="0" presId="urn:microsoft.com/office/officeart/2008/layout/LinedList"/>
    <dgm:cxn modelId="{5C0D94C4-F6E6-4E07-8F4E-70EF4D976DB4}" type="presOf" srcId="{5C995E80-6927-48A4-B4ED-C97359A6B0FC}" destId="{13CFA1CD-8696-450A-ACB6-6DD62E8F391D}" srcOrd="0" destOrd="0" presId="urn:microsoft.com/office/officeart/2008/layout/LinedList"/>
    <dgm:cxn modelId="{096C9FD5-330E-450B-9D99-E60BEFB1660C}" srcId="{5C995E80-6927-48A4-B4ED-C97359A6B0FC}" destId="{DF2FFCA1-03E7-4AFE-AF80-3459159A072B}" srcOrd="3" destOrd="0" parTransId="{B21830C3-A72E-4426-BACC-3112C7A410DD}" sibTransId="{BBD6A24B-CC82-4F5E-9FD7-54B722CB192A}"/>
    <dgm:cxn modelId="{9EDD7DB9-4C7B-414D-97B9-0BE739D8FCDD}" type="presParOf" srcId="{13CFA1CD-8696-450A-ACB6-6DD62E8F391D}" destId="{A30046E8-76DD-4A31-8E33-C3FB79F85E64}" srcOrd="0" destOrd="0" presId="urn:microsoft.com/office/officeart/2008/layout/LinedList"/>
    <dgm:cxn modelId="{00BF8E8C-8B8B-4525-AB99-05FF31411F7B}" type="presParOf" srcId="{13CFA1CD-8696-450A-ACB6-6DD62E8F391D}" destId="{83C5D0C0-96ED-4038-9A7E-9BFF1F17E72F}" srcOrd="1" destOrd="0" presId="urn:microsoft.com/office/officeart/2008/layout/LinedList"/>
    <dgm:cxn modelId="{C037D3A2-891D-4610-897F-4BEA8F1FBD94}" type="presParOf" srcId="{83C5D0C0-96ED-4038-9A7E-9BFF1F17E72F}" destId="{D729CD17-C60D-408B-9479-125BB40F2084}" srcOrd="0" destOrd="0" presId="urn:microsoft.com/office/officeart/2008/layout/LinedList"/>
    <dgm:cxn modelId="{95787642-F8D2-4260-A241-8B0CEDEAE5F1}" type="presParOf" srcId="{83C5D0C0-96ED-4038-9A7E-9BFF1F17E72F}" destId="{2D510F3D-AE34-48B3-AB37-CC10A21CBDD0}" srcOrd="1" destOrd="0" presId="urn:microsoft.com/office/officeart/2008/layout/LinedList"/>
    <dgm:cxn modelId="{59B826A6-FFAB-4162-8FBC-F6619676A444}" type="presParOf" srcId="{13CFA1CD-8696-450A-ACB6-6DD62E8F391D}" destId="{64CD4001-9C3F-45B4-9C36-0FAF6C44E8E1}" srcOrd="2" destOrd="0" presId="urn:microsoft.com/office/officeart/2008/layout/LinedList"/>
    <dgm:cxn modelId="{CF6B25A7-02A7-4D6A-BC9F-EAA3716EFC31}" type="presParOf" srcId="{13CFA1CD-8696-450A-ACB6-6DD62E8F391D}" destId="{2F3E989D-427B-44EA-A091-9C1ECC550322}" srcOrd="3" destOrd="0" presId="urn:microsoft.com/office/officeart/2008/layout/LinedList"/>
    <dgm:cxn modelId="{751C73DE-3BD0-4352-BC4F-DD7FB3E8CE2C}" type="presParOf" srcId="{2F3E989D-427B-44EA-A091-9C1ECC550322}" destId="{06B098F9-C8B3-4080-9C01-E67EDFCEB54A}" srcOrd="0" destOrd="0" presId="urn:microsoft.com/office/officeart/2008/layout/LinedList"/>
    <dgm:cxn modelId="{C21A3B28-D108-4AE1-9B6C-B4F3250BFFB9}" type="presParOf" srcId="{2F3E989D-427B-44EA-A091-9C1ECC550322}" destId="{DE4E15A7-C893-4660-90E3-4054BA53E2B1}" srcOrd="1" destOrd="0" presId="urn:microsoft.com/office/officeart/2008/layout/LinedList"/>
    <dgm:cxn modelId="{8EC8C949-44EE-4CC6-B818-29F22EB570C5}" type="presParOf" srcId="{13CFA1CD-8696-450A-ACB6-6DD62E8F391D}" destId="{6E7EAA98-F843-40DA-A43C-AE836A29557D}" srcOrd="4" destOrd="0" presId="urn:microsoft.com/office/officeart/2008/layout/LinedList"/>
    <dgm:cxn modelId="{C9FAC262-13F1-4037-9E36-A4F1408A4000}" type="presParOf" srcId="{13CFA1CD-8696-450A-ACB6-6DD62E8F391D}" destId="{EB930F94-E7FA-4402-ACE4-B39066392573}" srcOrd="5" destOrd="0" presId="urn:microsoft.com/office/officeart/2008/layout/LinedList"/>
    <dgm:cxn modelId="{CF64A9F2-F32B-47C2-A998-6C7A7B110758}" type="presParOf" srcId="{EB930F94-E7FA-4402-ACE4-B39066392573}" destId="{6E8821E4-F0FA-47E6-B32A-48E6F99BAF27}" srcOrd="0" destOrd="0" presId="urn:microsoft.com/office/officeart/2008/layout/LinedList"/>
    <dgm:cxn modelId="{381A3774-91F6-43BD-9C45-ADC6841D4F73}" type="presParOf" srcId="{EB930F94-E7FA-4402-ACE4-B39066392573}" destId="{C9446DD5-E9BE-473C-BD2E-08551A62FDC2}" srcOrd="1" destOrd="0" presId="urn:microsoft.com/office/officeart/2008/layout/LinedList"/>
    <dgm:cxn modelId="{854F19F0-4364-498F-B58B-789CD85709B4}" type="presParOf" srcId="{13CFA1CD-8696-450A-ACB6-6DD62E8F391D}" destId="{8C913A7A-A123-4035-99B6-CF9363B99BEB}" srcOrd="6" destOrd="0" presId="urn:microsoft.com/office/officeart/2008/layout/LinedList"/>
    <dgm:cxn modelId="{9DF615F7-13C9-41F1-AADB-06A07FB43C88}" type="presParOf" srcId="{13CFA1CD-8696-450A-ACB6-6DD62E8F391D}" destId="{588A39EC-55D1-4E05-BED3-866537568C4F}" srcOrd="7" destOrd="0" presId="urn:microsoft.com/office/officeart/2008/layout/LinedList"/>
    <dgm:cxn modelId="{FB1DF2DE-8BFB-4C4A-8054-D2A1613C3F80}" type="presParOf" srcId="{588A39EC-55D1-4E05-BED3-866537568C4F}" destId="{12BAB1FC-39D7-4701-9800-0B9E30CB8EB8}" srcOrd="0" destOrd="0" presId="urn:microsoft.com/office/officeart/2008/layout/LinedList"/>
    <dgm:cxn modelId="{A6DFF81D-5A61-40F3-AA97-32491691A186}" type="presParOf" srcId="{588A39EC-55D1-4E05-BED3-866537568C4F}" destId="{BA21C18E-5278-40FA-949E-E93D910494B1}" srcOrd="1" destOrd="0" presId="urn:microsoft.com/office/officeart/2008/layout/LinedList"/>
  </dgm:cxnLst>
  <dgm:bg>
    <a:solidFill>
      <a:schemeClr val="accent1">
        <a:lumMod val="20000"/>
        <a:lumOff val="80000"/>
      </a:schemeClr>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3F94A-5C31-49B9-A336-A7A9B1516B13}">
      <dsp:nvSpPr>
        <dsp:cNvPr id="0" name=""/>
        <dsp:cNvSpPr/>
      </dsp:nvSpPr>
      <dsp:spPr>
        <a:xfrm>
          <a:off x="0" y="266009"/>
          <a:ext cx="7069394" cy="842901"/>
        </a:xfrm>
        <a:prstGeom prst="roundRect">
          <a:avLst/>
        </a:prstGeom>
        <a:solidFill>
          <a:schemeClr val="accent1">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Electronics is composed of physics, engineering, technology and applications. </a:t>
          </a:r>
          <a:endParaRPr lang="en-IN" sz="1800" kern="1200" dirty="0"/>
        </a:p>
      </dsp:txBody>
      <dsp:txXfrm>
        <a:off x="41147" y="307156"/>
        <a:ext cx="6987100" cy="760607"/>
      </dsp:txXfrm>
    </dsp:sp>
    <dsp:sp modelId="{0ACFACFF-4004-4344-900C-5AF2090D2757}">
      <dsp:nvSpPr>
        <dsp:cNvPr id="0" name=""/>
        <dsp:cNvSpPr/>
      </dsp:nvSpPr>
      <dsp:spPr>
        <a:xfrm>
          <a:off x="0" y="1122213"/>
          <a:ext cx="7069394" cy="842901"/>
        </a:xfrm>
        <a:prstGeom prst="roundRect">
          <a:avLst/>
        </a:prstGeom>
        <a:solidFill>
          <a:schemeClr val="accent1">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The field of electronics deals with the emission, flow and control of electrons in vacuum and matter. Electronic use active devices to control electron flow by amplification and rectification. </a:t>
          </a:r>
          <a:endParaRPr lang="en-IN" sz="1800" kern="1200" dirty="0"/>
        </a:p>
      </dsp:txBody>
      <dsp:txXfrm>
        <a:off x="41147" y="1163360"/>
        <a:ext cx="6987100" cy="760607"/>
      </dsp:txXfrm>
    </dsp:sp>
    <dsp:sp modelId="{8B7415CE-444A-43DC-9D79-9F58B7001B2D}">
      <dsp:nvSpPr>
        <dsp:cNvPr id="0" name=""/>
        <dsp:cNvSpPr/>
      </dsp:nvSpPr>
      <dsp:spPr>
        <a:xfrm>
          <a:off x="0" y="1978418"/>
          <a:ext cx="7069394" cy="842901"/>
        </a:xfrm>
        <a:prstGeom prst="roundRect">
          <a:avLst/>
        </a:prstGeom>
        <a:solidFill>
          <a:schemeClr val="accent1">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Electronics distinguishes itself from classical electrical engineering that uses passive effects like resistance, capacitance and inductance to control current flow.</a:t>
          </a:r>
          <a:endParaRPr lang="en-IN" sz="1800" kern="1200" dirty="0"/>
        </a:p>
      </dsp:txBody>
      <dsp:txXfrm>
        <a:off x="41147" y="2019565"/>
        <a:ext cx="6987100" cy="7606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0C9B53-84E1-4073-9602-B1EB1BC9DB94}">
      <dsp:nvSpPr>
        <dsp:cNvPr id="0" name=""/>
        <dsp:cNvSpPr/>
      </dsp:nvSpPr>
      <dsp:spPr>
        <a:xfrm>
          <a:off x="655935" y="125186"/>
          <a:ext cx="1679346" cy="769094"/>
        </a:xfrm>
        <a:prstGeom prst="rect">
          <a:avLst/>
        </a:prstGeom>
        <a:solidFill>
          <a:schemeClr val="bg2">
            <a:lumMod val="75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IN" sz="2400" kern="1200" dirty="0">
              <a:solidFill>
                <a:schemeClr val="tx1"/>
              </a:solidFill>
            </a:rPr>
            <a:t>1</a:t>
          </a:r>
        </a:p>
      </dsp:txBody>
      <dsp:txXfrm>
        <a:off x="655935" y="125186"/>
        <a:ext cx="1679346" cy="769094"/>
      </dsp:txXfrm>
    </dsp:sp>
    <dsp:sp modelId="{5BA6A289-9131-455A-809B-32DC63C93125}">
      <dsp:nvSpPr>
        <dsp:cNvPr id="0" name=""/>
        <dsp:cNvSpPr/>
      </dsp:nvSpPr>
      <dsp:spPr>
        <a:xfrm>
          <a:off x="2335282" y="44433"/>
          <a:ext cx="406400" cy="930600"/>
        </a:xfrm>
        <a:prstGeom prst="leftBrace">
          <a:avLst>
            <a:gd name="adj1" fmla="val 35000"/>
            <a:gd name="adj2" fmla="val 50000"/>
          </a:avLst>
        </a:pr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718A59-1A09-4DF5-9D91-1E0828EABEB1}">
      <dsp:nvSpPr>
        <dsp:cNvPr id="0" name=""/>
        <dsp:cNvSpPr/>
      </dsp:nvSpPr>
      <dsp:spPr>
        <a:xfrm>
          <a:off x="2904242" y="125186"/>
          <a:ext cx="4567822" cy="769094"/>
        </a:xfrm>
        <a:prstGeom prst="rect">
          <a:avLst/>
        </a:prstGeom>
        <a:solidFill>
          <a:schemeClr val="bg2">
            <a:lumMod val="75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228600" lvl="1" indent="-228600" algn="l" defTabSz="1066800">
            <a:lnSpc>
              <a:spcPct val="90000"/>
            </a:lnSpc>
            <a:spcBef>
              <a:spcPct val="0"/>
            </a:spcBef>
            <a:spcAft>
              <a:spcPct val="15000"/>
            </a:spcAft>
            <a:buChar char="•"/>
          </a:pPr>
          <a:r>
            <a:rPr lang="en-US" sz="2400" b="1" i="0" kern="1200" dirty="0">
              <a:solidFill>
                <a:schemeClr val="tx1"/>
              </a:solidFill>
              <a:effectLst/>
              <a:latin typeface="ui-sans-serif"/>
            </a:rPr>
            <a:t>Number Systems &amp; representation </a:t>
          </a:r>
          <a:endParaRPr lang="en-IN" sz="2400" kern="1200" dirty="0">
            <a:solidFill>
              <a:schemeClr val="tx1"/>
            </a:solidFill>
          </a:endParaRPr>
        </a:p>
      </dsp:txBody>
      <dsp:txXfrm>
        <a:off x="2904242" y="125186"/>
        <a:ext cx="4567822" cy="769094"/>
      </dsp:txXfrm>
    </dsp:sp>
    <dsp:sp modelId="{777B52BF-F846-47C1-B8A3-31067BB46A1B}">
      <dsp:nvSpPr>
        <dsp:cNvPr id="0" name=""/>
        <dsp:cNvSpPr/>
      </dsp:nvSpPr>
      <dsp:spPr>
        <a:xfrm>
          <a:off x="655935" y="1224986"/>
          <a:ext cx="1679346" cy="769094"/>
        </a:xfrm>
        <a:prstGeom prst="rect">
          <a:avLst/>
        </a:prstGeom>
        <a:solidFill>
          <a:schemeClr val="accent4">
            <a:lumMod val="40000"/>
            <a:lumOff val="6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IN" sz="2400" kern="1200" dirty="0">
              <a:solidFill>
                <a:schemeClr val="tx1"/>
              </a:solidFill>
            </a:rPr>
            <a:t>2</a:t>
          </a:r>
        </a:p>
      </dsp:txBody>
      <dsp:txXfrm>
        <a:off x="655935" y="1224986"/>
        <a:ext cx="1679346" cy="769094"/>
      </dsp:txXfrm>
    </dsp:sp>
    <dsp:sp modelId="{E86B338A-B4B3-4BC9-9A70-8F64A3EC7D7C}">
      <dsp:nvSpPr>
        <dsp:cNvPr id="0" name=""/>
        <dsp:cNvSpPr/>
      </dsp:nvSpPr>
      <dsp:spPr>
        <a:xfrm>
          <a:off x="2335282" y="1144233"/>
          <a:ext cx="406400" cy="930600"/>
        </a:xfrm>
        <a:prstGeom prst="leftBrace">
          <a:avLst>
            <a:gd name="adj1" fmla="val 35000"/>
            <a:gd name="adj2" fmla="val 50000"/>
          </a:avLst>
        </a:pr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875C410-F054-40C9-A885-436FCBA0538C}">
      <dsp:nvSpPr>
        <dsp:cNvPr id="0" name=""/>
        <dsp:cNvSpPr/>
      </dsp:nvSpPr>
      <dsp:spPr>
        <a:xfrm>
          <a:off x="2904242" y="1224986"/>
          <a:ext cx="4567822" cy="769094"/>
        </a:xfrm>
        <a:prstGeom prst="rect">
          <a:avLst/>
        </a:prstGeom>
        <a:solidFill>
          <a:schemeClr val="accent4">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228600" lvl="1" indent="-228600" algn="l" defTabSz="1066800">
            <a:lnSpc>
              <a:spcPct val="90000"/>
            </a:lnSpc>
            <a:spcBef>
              <a:spcPct val="0"/>
            </a:spcBef>
            <a:spcAft>
              <a:spcPct val="15000"/>
            </a:spcAft>
            <a:buChar char="•"/>
          </a:pPr>
          <a:r>
            <a:rPr lang="en-US" sz="2400" b="1" i="0" kern="1200" dirty="0">
              <a:solidFill>
                <a:schemeClr val="tx1"/>
              </a:solidFill>
              <a:effectLst/>
              <a:latin typeface="ui-sans-serif"/>
            </a:rPr>
            <a:t>Binary Arithmetic</a:t>
          </a:r>
          <a:endParaRPr lang="en-IN" sz="2400" kern="1200" dirty="0">
            <a:solidFill>
              <a:schemeClr val="tx1"/>
            </a:solidFill>
          </a:endParaRPr>
        </a:p>
      </dsp:txBody>
      <dsp:txXfrm>
        <a:off x="2904242" y="1224986"/>
        <a:ext cx="4567822" cy="769094"/>
      </dsp:txXfrm>
    </dsp:sp>
    <dsp:sp modelId="{87813B41-04C5-4FC4-B7FC-5D81DAD3F485}">
      <dsp:nvSpPr>
        <dsp:cNvPr id="0" name=""/>
        <dsp:cNvSpPr/>
      </dsp:nvSpPr>
      <dsp:spPr>
        <a:xfrm>
          <a:off x="655935" y="2324786"/>
          <a:ext cx="1679346" cy="769094"/>
        </a:xfrm>
        <a:prstGeom prst="rect">
          <a:avLst/>
        </a:prstGeom>
        <a:solidFill>
          <a:schemeClr val="accent1">
            <a:lumMod val="40000"/>
            <a:lumOff val="6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IN" sz="2400" kern="1200" dirty="0">
              <a:solidFill>
                <a:schemeClr val="tx1"/>
              </a:solidFill>
            </a:rPr>
            <a:t>3</a:t>
          </a:r>
        </a:p>
      </dsp:txBody>
      <dsp:txXfrm>
        <a:off x="655935" y="2324786"/>
        <a:ext cx="1679346" cy="769094"/>
      </dsp:txXfrm>
    </dsp:sp>
    <dsp:sp modelId="{FEED422E-99E8-49BF-990C-F6DFF47F0FF8}">
      <dsp:nvSpPr>
        <dsp:cNvPr id="0" name=""/>
        <dsp:cNvSpPr/>
      </dsp:nvSpPr>
      <dsp:spPr>
        <a:xfrm>
          <a:off x="2335282" y="2244033"/>
          <a:ext cx="406400" cy="930600"/>
        </a:xfrm>
        <a:prstGeom prst="leftBrace">
          <a:avLst>
            <a:gd name="adj1" fmla="val 35000"/>
            <a:gd name="adj2" fmla="val 50000"/>
          </a:avLst>
        </a:pr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A15F30-F832-4581-8095-173251A78B8C}">
      <dsp:nvSpPr>
        <dsp:cNvPr id="0" name=""/>
        <dsp:cNvSpPr/>
      </dsp:nvSpPr>
      <dsp:spPr>
        <a:xfrm>
          <a:off x="2904242" y="2324786"/>
          <a:ext cx="4567822" cy="769094"/>
        </a:xfrm>
        <a:prstGeom prst="rect">
          <a:avLst/>
        </a:prstGeom>
        <a:solidFill>
          <a:schemeClr val="accent1">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228600" lvl="1" indent="-228600" algn="l" defTabSz="1066800">
            <a:lnSpc>
              <a:spcPct val="90000"/>
            </a:lnSpc>
            <a:spcBef>
              <a:spcPct val="0"/>
            </a:spcBef>
            <a:spcAft>
              <a:spcPct val="15000"/>
            </a:spcAft>
            <a:buChar char="•"/>
          </a:pPr>
          <a:r>
            <a:rPr lang="en-IN" sz="2400" b="1" i="0" kern="1200" dirty="0">
              <a:solidFill>
                <a:schemeClr val="tx1"/>
              </a:solidFill>
              <a:effectLst/>
              <a:latin typeface="ui-sans-serif"/>
            </a:rPr>
            <a:t>Intro to basic gates &amp; universal gates</a:t>
          </a:r>
          <a:endParaRPr lang="en-IN" sz="2400" kern="1200" dirty="0">
            <a:solidFill>
              <a:schemeClr val="tx1"/>
            </a:solidFill>
          </a:endParaRPr>
        </a:p>
      </dsp:txBody>
      <dsp:txXfrm>
        <a:off x="2904242" y="2324786"/>
        <a:ext cx="4567822" cy="769094"/>
      </dsp:txXfrm>
    </dsp:sp>
    <dsp:sp modelId="{279EE09D-2424-40F3-95F5-55C638B5F099}">
      <dsp:nvSpPr>
        <dsp:cNvPr id="0" name=""/>
        <dsp:cNvSpPr/>
      </dsp:nvSpPr>
      <dsp:spPr>
        <a:xfrm>
          <a:off x="655935" y="3424586"/>
          <a:ext cx="1679346" cy="769094"/>
        </a:xfrm>
        <a:prstGeom prst="rect">
          <a:avLst/>
        </a:prstGeom>
        <a:solidFill>
          <a:schemeClr val="accent6">
            <a:lumMod val="40000"/>
            <a:lumOff val="60000"/>
          </a:schemeClr>
        </a:solidFill>
        <a:ln>
          <a:noFill/>
        </a:ln>
        <a:effectLst/>
      </dsp:spPr>
      <dsp:style>
        <a:lnRef idx="0">
          <a:scrgbClr r="0" g="0" b="0"/>
        </a:lnRef>
        <a:fillRef idx="0">
          <a:scrgbClr r="0" g="0" b="0"/>
        </a:fillRef>
        <a:effectRef idx="0">
          <a:scrgbClr r="0" g="0" b="0"/>
        </a:effectRef>
        <a:fontRef idx="minor"/>
      </dsp:style>
      <ds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IN" sz="2400" kern="1200" dirty="0">
              <a:solidFill>
                <a:schemeClr val="tx1"/>
              </a:solidFill>
            </a:rPr>
            <a:t>4</a:t>
          </a:r>
        </a:p>
      </dsp:txBody>
      <dsp:txXfrm>
        <a:off x="655935" y="3424586"/>
        <a:ext cx="1679346" cy="769094"/>
      </dsp:txXfrm>
    </dsp:sp>
    <dsp:sp modelId="{BD7C3549-5B63-485D-9282-E5FB3475CE4C}">
      <dsp:nvSpPr>
        <dsp:cNvPr id="0" name=""/>
        <dsp:cNvSpPr/>
      </dsp:nvSpPr>
      <dsp:spPr>
        <a:xfrm>
          <a:off x="2335282" y="3343833"/>
          <a:ext cx="406400" cy="930600"/>
        </a:xfrm>
        <a:prstGeom prst="leftBrace">
          <a:avLst>
            <a:gd name="adj1" fmla="val 35000"/>
            <a:gd name="adj2" fmla="val 50000"/>
          </a:avLst>
        </a:pr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7BF660-8638-4004-84FD-7C0334205F14}">
      <dsp:nvSpPr>
        <dsp:cNvPr id="0" name=""/>
        <dsp:cNvSpPr/>
      </dsp:nvSpPr>
      <dsp:spPr>
        <a:xfrm>
          <a:off x="2904242" y="3424586"/>
          <a:ext cx="4567822" cy="769094"/>
        </a:xfrm>
        <a:prstGeom prst="rect">
          <a:avLst/>
        </a:prstGeom>
        <a:solidFill>
          <a:schemeClr val="accent6">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228600" lvl="1" indent="-228600" algn="l" defTabSz="1066800">
            <a:lnSpc>
              <a:spcPct val="90000"/>
            </a:lnSpc>
            <a:spcBef>
              <a:spcPct val="0"/>
            </a:spcBef>
            <a:spcAft>
              <a:spcPct val="15000"/>
            </a:spcAft>
            <a:buChar char="•"/>
          </a:pPr>
          <a:r>
            <a:rPr lang="en-US" sz="2400" b="1" i="0" kern="1200" dirty="0">
              <a:solidFill>
                <a:schemeClr val="tx1"/>
              </a:solidFill>
              <a:effectLst/>
              <a:latin typeface="ui-sans-serif"/>
            </a:rPr>
            <a:t>Boolean algebra</a:t>
          </a:r>
          <a:endParaRPr lang="en-IN" sz="2400" kern="1200" dirty="0">
            <a:solidFill>
              <a:schemeClr val="tx1"/>
            </a:solidFill>
          </a:endParaRPr>
        </a:p>
      </dsp:txBody>
      <dsp:txXfrm>
        <a:off x="2904242" y="3424586"/>
        <a:ext cx="4567822" cy="769094"/>
      </dsp:txXfrm>
    </dsp:sp>
    <dsp:sp modelId="{28BAEA1F-3FFD-4896-A97A-B172D018F565}">
      <dsp:nvSpPr>
        <dsp:cNvPr id="0" name=""/>
        <dsp:cNvSpPr/>
      </dsp:nvSpPr>
      <dsp:spPr>
        <a:xfrm>
          <a:off x="655935" y="4524386"/>
          <a:ext cx="1679346" cy="769094"/>
        </a:xfrm>
        <a:prstGeom prst="rect">
          <a:avLst/>
        </a:prstGeom>
        <a:solidFill>
          <a:srgbClr val="FCC4C4"/>
        </a:solidFill>
        <a:ln>
          <a:noFill/>
        </a:ln>
        <a:effectLst/>
      </dsp:spPr>
      <dsp:style>
        <a:lnRef idx="0">
          <a:scrgbClr r="0" g="0" b="0"/>
        </a:lnRef>
        <a:fillRef idx="0">
          <a:scrgbClr r="0" g="0" b="0"/>
        </a:fillRef>
        <a:effectRef idx="0">
          <a:scrgbClr r="0" g="0" b="0"/>
        </a:effectRef>
        <a:fontRef idx="minor"/>
      </dsp:style>
      <dsp:txBody>
        <a:bodyPr spcFirstLastPara="0" vert="horz" wrap="square" lIns="170688" tIns="60960" rIns="170688" bIns="60960" numCol="1" spcCol="1270" anchor="ctr" anchorCtr="0">
          <a:noAutofit/>
        </a:bodyPr>
        <a:lstStyle/>
        <a:p>
          <a:pPr marL="0" lvl="0" indent="0" algn="r" defTabSz="1066800">
            <a:lnSpc>
              <a:spcPct val="90000"/>
            </a:lnSpc>
            <a:spcBef>
              <a:spcPct val="0"/>
            </a:spcBef>
            <a:spcAft>
              <a:spcPct val="35000"/>
            </a:spcAft>
            <a:buNone/>
          </a:pPr>
          <a:r>
            <a:rPr lang="en-IN" sz="2400" kern="1200" dirty="0">
              <a:solidFill>
                <a:schemeClr val="tx1"/>
              </a:solidFill>
            </a:rPr>
            <a:t>5</a:t>
          </a:r>
        </a:p>
      </dsp:txBody>
      <dsp:txXfrm>
        <a:off x="655935" y="4524386"/>
        <a:ext cx="1679346" cy="769094"/>
      </dsp:txXfrm>
    </dsp:sp>
    <dsp:sp modelId="{81EC6EF1-BF81-4FBA-9F42-560415132D3D}">
      <dsp:nvSpPr>
        <dsp:cNvPr id="0" name=""/>
        <dsp:cNvSpPr/>
      </dsp:nvSpPr>
      <dsp:spPr>
        <a:xfrm>
          <a:off x="2335282" y="4443633"/>
          <a:ext cx="406400" cy="930600"/>
        </a:xfrm>
        <a:prstGeom prst="leftBrace">
          <a:avLst>
            <a:gd name="adj1" fmla="val 35000"/>
            <a:gd name="adj2" fmla="val 50000"/>
          </a:avLst>
        </a:pr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567D0C-D27E-4C4F-A667-23FA1BD5BDA2}">
      <dsp:nvSpPr>
        <dsp:cNvPr id="0" name=""/>
        <dsp:cNvSpPr/>
      </dsp:nvSpPr>
      <dsp:spPr>
        <a:xfrm>
          <a:off x="2904242" y="4524386"/>
          <a:ext cx="4567822" cy="769094"/>
        </a:xfrm>
        <a:prstGeom prst="rect">
          <a:avLst/>
        </a:prstGeom>
        <a:solidFill>
          <a:srgbClr val="E2B0DA"/>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228600" lvl="1" indent="-228600" algn="l" defTabSz="1066800">
            <a:lnSpc>
              <a:spcPct val="90000"/>
            </a:lnSpc>
            <a:spcBef>
              <a:spcPct val="0"/>
            </a:spcBef>
            <a:spcAft>
              <a:spcPct val="15000"/>
            </a:spcAft>
            <a:buChar char="•"/>
          </a:pPr>
          <a:r>
            <a:rPr lang="en-US" sz="2400" b="1" i="0" kern="1200" dirty="0">
              <a:solidFill>
                <a:schemeClr val="tx1"/>
              </a:solidFill>
              <a:effectLst/>
              <a:latin typeface="ui-sans-serif"/>
            </a:rPr>
            <a:t>K Maps – 6 variables </a:t>
          </a:r>
          <a:endParaRPr lang="en-IN" sz="2400" kern="1200" dirty="0">
            <a:solidFill>
              <a:schemeClr val="tx1"/>
            </a:solidFill>
          </a:endParaRPr>
        </a:p>
      </dsp:txBody>
      <dsp:txXfrm>
        <a:off x="2904242" y="4524386"/>
        <a:ext cx="4567822" cy="7690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0046E8-76DD-4A31-8E33-C3FB79F85E64}">
      <dsp:nvSpPr>
        <dsp:cNvPr id="0" name=""/>
        <dsp:cNvSpPr/>
      </dsp:nvSpPr>
      <dsp:spPr>
        <a:xfrm>
          <a:off x="0" y="0"/>
          <a:ext cx="11248103" cy="0"/>
        </a:xfrm>
        <a:prstGeom prst="line">
          <a:avLst/>
        </a:prstGeom>
        <a:solidFill>
          <a:schemeClr val="lt1">
            <a:hueOff val="0"/>
            <a:satOff val="0"/>
            <a:lumOff val="0"/>
            <a:alphaOff val="0"/>
          </a:schemeClr>
        </a:solidFill>
        <a:ln w="15875"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29CD17-C60D-408B-9479-125BB40F2084}">
      <dsp:nvSpPr>
        <dsp:cNvPr id="0" name=""/>
        <dsp:cNvSpPr/>
      </dsp:nvSpPr>
      <dsp:spPr>
        <a:xfrm>
          <a:off x="0" y="0"/>
          <a:ext cx="11248103" cy="784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Binary number system (Base- 2, </a:t>
          </a:r>
          <a:r>
            <a:rPr lang="en-IN" sz="2200" b="0" i="0" kern="1200" dirty="0"/>
            <a:t>0 and 1)</a:t>
          </a:r>
          <a:r>
            <a:rPr lang="en-US" sz="2200" b="0" i="0" kern="1200" dirty="0"/>
            <a:t>. For example: 10001</a:t>
          </a:r>
          <a:r>
            <a:rPr lang="en-US" sz="2200" b="0" i="0" kern="1200" baseline="-25000" dirty="0"/>
            <a:t>2</a:t>
          </a:r>
          <a:r>
            <a:rPr lang="en-US" sz="2200" b="0" i="0" kern="1200" dirty="0"/>
            <a:t>, 111101</a:t>
          </a:r>
          <a:r>
            <a:rPr lang="en-US" sz="2200" b="0" i="0" kern="1200" baseline="-25000" dirty="0"/>
            <a:t>2</a:t>
          </a:r>
          <a:r>
            <a:rPr lang="en-US" sz="2200" b="0" i="0" kern="1200" dirty="0"/>
            <a:t>, 1010101</a:t>
          </a:r>
          <a:r>
            <a:rPr lang="en-US" sz="2200" b="0" i="0" kern="1200" baseline="-25000" dirty="0"/>
            <a:t>2</a:t>
          </a:r>
          <a:endParaRPr lang="en-IN" sz="2200" kern="1200" dirty="0"/>
        </a:p>
      </dsp:txBody>
      <dsp:txXfrm>
        <a:off x="0" y="0"/>
        <a:ext cx="11248103" cy="784122"/>
      </dsp:txXfrm>
    </dsp:sp>
    <dsp:sp modelId="{64CD4001-9C3F-45B4-9C36-0FAF6C44E8E1}">
      <dsp:nvSpPr>
        <dsp:cNvPr id="0" name=""/>
        <dsp:cNvSpPr/>
      </dsp:nvSpPr>
      <dsp:spPr>
        <a:xfrm>
          <a:off x="0" y="784122"/>
          <a:ext cx="11248103" cy="0"/>
        </a:xfrm>
        <a:prstGeom prst="line">
          <a:avLst/>
        </a:prstGeom>
        <a:solidFill>
          <a:schemeClr val="lt1">
            <a:hueOff val="0"/>
            <a:satOff val="0"/>
            <a:lumOff val="0"/>
            <a:alphaOff val="0"/>
          </a:schemeClr>
        </a:solidFill>
        <a:ln w="15875"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B098F9-C8B3-4080-9C01-E67EDFCEB54A}">
      <dsp:nvSpPr>
        <dsp:cNvPr id="0" name=""/>
        <dsp:cNvSpPr/>
      </dsp:nvSpPr>
      <dsp:spPr>
        <a:xfrm>
          <a:off x="0" y="784122"/>
          <a:ext cx="11248103" cy="784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Decimal number system (Base- 10, </a:t>
          </a:r>
          <a:r>
            <a:rPr lang="en-IN" sz="2200" b="0" i="0" kern="1200" dirty="0"/>
            <a:t>0,1,2,3,4,5,6,7,8 and 9 </a:t>
          </a:r>
          <a:r>
            <a:rPr lang="en-US" sz="2200" b="0" i="0" kern="1200" dirty="0"/>
            <a:t>). </a:t>
          </a:r>
          <a:r>
            <a:rPr lang="en-IN" sz="2200" b="0" i="0" kern="1200" dirty="0"/>
            <a:t>723</a:t>
          </a:r>
          <a:r>
            <a:rPr lang="en-IN" sz="2200" b="0" i="0" kern="1200" baseline="-25000" dirty="0"/>
            <a:t>10</a:t>
          </a:r>
          <a:r>
            <a:rPr lang="en-IN" sz="2200" b="0" i="0" kern="1200" dirty="0"/>
            <a:t>, 32</a:t>
          </a:r>
          <a:r>
            <a:rPr lang="en-IN" sz="2200" b="0" i="0" kern="1200" baseline="-25000" dirty="0"/>
            <a:t>10</a:t>
          </a:r>
          <a:r>
            <a:rPr lang="en-IN" sz="2200" b="0" i="0" kern="1200" dirty="0"/>
            <a:t>, and 4257</a:t>
          </a:r>
          <a:r>
            <a:rPr lang="en-IN" sz="2200" b="0" i="0" kern="1200" baseline="-25000" dirty="0"/>
            <a:t>10</a:t>
          </a:r>
          <a:endParaRPr lang="en-IN" sz="2200" kern="1200" dirty="0"/>
        </a:p>
      </dsp:txBody>
      <dsp:txXfrm>
        <a:off x="0" y="784122"/>
        <a:ext cx="11248103" cy="784122"/>
      </dsp:txXfrm>
    </dsp:sp>
    <dsp:sp modelId="{6E7EAA98-F843-40DA-A43C-AE836A29557D}">
      <dsp:nvSpPr>
        <dsp:cNvPr id="0" name=""/>
        <dsp:cNvSpPr/>
      </dsp:nvSpPr>
      <dsp:spPr>
        <a:xfrm>
          <a:off x="0" y="1568244"/>
          <a:ext cx="11248103" cy="0"/>
        </a:xfrm>
        <a:prstGeom prst="line">
          <a:avLst/>
        </a:prstGeom>
        <a:solidFill>
          <a:schemeClr val="lt1">
            <a:hueOff val="0"/>
            <a:satOff val="0"/>
            <a:lumOff val="0"/>
            <a:alphaOff val="0"/>
          </a:schemeClr>
        </a:solidFill>
        <a:ln w="15875"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8821E4-F0FA-47E6-B32A-48E6F99BAF27}">
      <dsp:nvSpPr>
        <dsp:cNvPr id="0" name=""/>
        <dsp:cNvSpPr/>
      </dsp:nvSpPr>
      <dsp:spPr>
        <a:xfrm>
          <a:off x="0" y="1568245"/>
          <a:ext cx="11248103" cy="784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Octal number system (Base-8, </a:t>
          </a:r>
          <a:r>
            <a:rPr lang="en-IN" sz="2200" b="0" i="0" kern="1200" dirty="0"/>
            <a:t>0,1,2,3,4,5,6 and 7</a:t>
          </a:r>
          <a:r>
            <a:rPr lang="en-US" sz="2200" b="0" i="0" kern="1200" dirty="0"/>
            <a:t>). For example, 35</a:t>
          </a:r>
          <a:r>
            <a:rPr lang="en-US" sz="2200" b="0" i="0" kern="1200" baseline="-25000" dirty="0"/>
            <a:t>8</a:t>
          </a:r>
          <a:r>
            <a:rPr lang="en-US" sz="2200" b="0" i="0" kern="1200" dirty="0"/>
            <a:t>, 23</a:t>
          </a:r>
          <a:r>
            <a:rPr lang="en-US" sz="2200" b="0" i="0" kern="1200" baseline="-25000" dirty="0"/>
            <a:t>8</a:t>
          </a:r>
          <a:r>
            <a:rPr lang="en-US" sz="2200" b="0" i="0" kern="1200" dirty="0"/>
            <a:t>, and 141</a:t>
          </a:r>
          <a:r>
            <a:rPr lang="en-US" sz="2200" b="0" i="0" kern="1200" baseline="-25000" dirty="0"/>
            <a:t>8</a:t>
          </a:r>
          <a:endParaRPr lang="en-IN" sz="2200" kern="1200" dirty="0"/>
        </a:p>
      </dsp:txBody>
      <dsp:txXfrm>
        <a:off x="0" y="1568245"/>
        <a:ext cx="11248103" cy="784122"/>
      </dsp:txXfrm>
    </dsp:sp>
    <dsp:sp modelId="{8C913A7A-A123-4035-99B6-CF9363B99BEB}">
      <dsp:nvSpPr>
        <dsp:cNvPr id="0" name=""/>
        <dsp:cNvSpPr/>
      </dsp:nvSpPr>
      <dsp:spPr>
        <a:xfrm>
          <a:off x="0" y="2352367"/>
          <a:ext cx="11248103" cy="0"/>
        </a:xfrm>
        <a:prstGeom prst="line">
          <a:avLst/>
        </a:prstGeom>
        <a:solidFill>
          <a:schemeClr val="lt1">
            <a:hueOff val="0"/>
            <a:satOff val="0"/>
            <a:lumOff val="0"/>
            <a:alphaOff val="0"/>
          </a:schemeClr>
        </a:solidFill>
        <a:ln w="15875"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BAB1FC-39D7-4701-9800-0B9E30CB8EB8}">
      <dsp:nvSpPr>
        <dsp:cNvPr id="0" name=""/>
        <dsp:cNvSpPr/>
      </dsp:nvSpPr>
      <dsp:spPr>
        <a:xfrm>
          <a:off x="0" y="2352367"/>
          <a:ext cx="11248103" cy="784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Hexadecimal number system (Base- 16, </a:t>
          </a:r>
          <a:r>
            <a:rPr lang="en-IN" sz="2200" b="0" i="0" kern="1200" dirty="0"/>
            <a:t>0,1,2,3,4,5,6,7,8,9 and A,B,C,D,E,F</a:t>
          </a:r>
          <a:r>
            <a:rPr lang="en-US" sz="2200" b="0" i="0" kern="1200" dirty="0"/>
            <a:t>). For example, 7B3</a:t>
          </a:r>
          <a:r>
            <a:rPr lang="en-US" sz="2200" b="0" i="0" kern="1200" baseline="-25000" dirty="0"/>
            <a:t>16</a:t>
          </a:r>
          <a:r>
            <a:rPr lang="en-US" sz="2200" b="0" i="0" kern="1200" dirty="0"/>
            <a:t>, 6F</a:t>
          </a:r>
          <a:r>
            <a:rPr lang="en-US" sz="2200" b="0" i="0" kern="1200" baseline="-25000" dirty="0"/>
            <a:t>16</a:t>
          </a:r>
          <a:r>
            <a:rPr lang="en-US" sz="2200" b="0" i="0" kern="1200" dirty="0"/>
            <a:t>, and 4B2A</a:t>
          </a:r>
          <a:r>
            <a:rPr lang="en-US" sz="2200" b="0" i="0" kern="1200" baseline="-25000" dirty="0"/>
            <a:t>16</a:t>
          </a:r>
          <a:endParaRPr lang="en-IN" sz="2200" kern="1200" dirty="0"/>
        </a:p>
      </dsp:txBody>
      <dsp:txXfrm>
        <a:off x="0" y="2352367"/>
        <a:ext cx="11248103" cy="78412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B569D9-0141-43CF-BEF1-2E836BAD846F}" type="datetimeFigureOut">
              <a:rPr lang="en-IN" smtClean="0"/>
              <a:t>16-12-2025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C1AA77-981D-46FF-9E50-E94BC71C48E0}" type="slidenum">
              <a:rPr lang="en-IN" smtClean="0"/>
              <a:t>‹#›</a:t>
            </a:fld>
            <a:endParaRPr lang="en-IN"/>
          </a:p>
        </p:txBody>
      </p:sp>
    </p:spTree>
    <p:extLst>
      <p:ext uri="{BB962C8B-B14F-4D97-AF65-F5344CB8AC3E}">
        <p14:creationId xmlns:p14="http://schemas.microsoft.com/office/powerpoint/2010/main" val="1025957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B8F32D-D8B6-4B9E-9CBF-DCAC30B7B93D}"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553ECD-7F6D-420D-93CA-D8D15EB427A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6640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8F32D-D8B6-4B9E-9CBF-DCAC30B7B93D}"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788367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B8F32D-D8B6-4B9E-9CBF-DCAC30B7B93D}"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553ECD-7F6D-420D-93CA-D8D15EB427A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691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B8F32D-D8B6-4B9E-9CBF-DCAC30B7B93D}"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539985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B8F32D-D8B6-4B9E-9CBF-DCAC30B7B93D}"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2777129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B8F32D-D8B6-4B9E-9CBF-DCAC30B7B93D}"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541822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1B8F32D-D8B6-4B9E-9CBF-DCAC30B7B93D}" type="datetimeFigureOut">
              <a:rPr lang="en-US" smtClean="0"/>
              <a:t>12/16/2025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887595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1B8F32D-D8B6-4B9E-9CBF-DCAC30B7B93D}" type="datetimeFigureOut">
              <a:rPr lang="en-US" smtClean="0"/>
              <a:t>12/16/2025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0553ECD-7F6D-420D-93CA-D8D15EB427AC}" type="slidenum">
              <a:rPr lang="en-US" smtClean="0"/>
              <a:t>‹#›</a:t>
            </a:fld>
            <a:endParaRPr lang="en-US"/>
          </a:p>
        </p:txBody>
      </p:sp>
    </p:spTree>
    <p:extLst>
      <p:ext uri="{BB962C8B-B14F-4D97-AF65-F5344CB8AC3E}">
        <p14:creationId xmlns:p14="http://schemas.microsoft.com/office/powerpoint/2010/main" val="844482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B8F32D-D8B6-4B9E-9CBF-DCAC30B7B93D}"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8831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8F32D-D8B6-4B9E-9CBF-DCAC30B7B93D}"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2590546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B8F32D-D8B6-4B9E-9CBF-DCAC30B7B93D}"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178662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1B8F32D-D8B6-4B9E-9CBF-DCAC30B7B93D}" type="datetimeFigureOut">
              <a:rPr lang="en-US" smtClean="0"/>
              <a:pPr/>
              <a:t>12/16/2025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0553ECD-7F6D-420D-93CA-D8D15EB427AC}"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0381453"/>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jpe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microsoft.com/office/2007/relationships/hdphoto" Target="../media/hdphoto2.wdp"/></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microsoft.com/office/2007/relationships/hdphoto" Target="../media/hdphoto3.wdp"/><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microsoft.com/office/2007/relationships/hdphoto" Target="../media/hdphoto4.wdp"/><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microsoft.com/office/2007/relationships/hdphoto" Target="../media/hdphoto5.wdp"/></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microsoft.com/office/2007/relationships/hdphoto" Target="../media/hdphoto6.wdp"/></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microsoft.com/office/2007/relationships/hdphoto" Target="../media/hdphoto7.wdp"/></Relationships>
</file>

<file path=ppt/slides/_rels/slide3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7.xml"/><Relationship Id="rId4" Type="http://schemas.openxmlformats.org/officeDocument/2006/relationships/image" Target="../media/image35.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6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B89B2-2475-503F-BE21-AD5F0875164F}"/>
              </a:ext>
            </a:extLst>
          </p:cNvPr>
          <p:cNvSpPr>
            <a:spLocks noGrp="1"/>
          </p:cNvSpPr>
          <p:nvPr>
            <p:ph type="ctrTitle"/>
          </p:nvPr>
        </p:nvSpPr>
        <p:spPr>
          <a:xfrm>
            <a:off x="1954775" y="1533833"/>
            <a:ext cx="8282449" cy="2369574"/>
          </a:xfr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a:normAutofit fontScale="90000"/>
          </a:bodyPr>
          <a:lstStyle/>
          <a:p>
            <a:pPr marL="2009140" marR="1600200" algn="ctr">
              <a:lnSpc>
                <a:spcPct val="98000"/>
              </a:lnSpc>
              <a:spcBef>
                <a:spcPts val="10"/>
              </a:spcBef>
              <a:spcAft>
                <a:spcPts val="0"/>
              </a:spcAft>
              <a:tabLst>
                <a:tab pos="3237865" algn="l"/>
                <a:tab pos="4405630" algn="l"/>
              </a:tabLst>
            </a:pPr>
            <a:br>
              <a:rPr lang="en-US" sz="2400" b="1" dirty="0">
                <a:effectLst/>
                <a:latin typeface="Times New Roman" panose="02020603050405020304" pitchFamily="18" charset="0"/>
                <a:ea typeface="Times New Roman" panose="02020603050405020304" pitchFamily="18" charset="0"/>
              </a:rPr>
            </a:br>
            <a:br>
              <a:rPr lang="en-US" sz="2400" b="1" dirty="0">
                <a:effectLst/>
                <a:latin typeface="Times New Roman" panose="02020603050405020304" pitchFamily="18" charset="0"/>
                <a:ea typeface="Times New Roman" panose="02020603050405020304" pitchFamily="18" charset="0"/>
              </a:rPr>
            </a:br>
            <a:br>
              <a:rPr lang="en-IN" sz="2400" b="1" dirty="0">
                <a:effectLst/>
                <a:latin typeface="Times New Roman" panose="02020603050405020304" pitchFamily="18" charset="0"/>
                <a:ea typeface="Times New Roman" panose="02020603050405020304" pitchFamily="18" charset="0"/>
              </a:rPr>
            </a:br>
            <a:r>
              <a:rPr lang="en-US" sz="2400" b="1" spc="-26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Course</a:t>
            </a:r>
            <a:r>
              <a:rPr lang="en-US" sz="2400" b="1" spc="-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Name:</a:t>
            </a:r>
            <a:r>
              <a:rPr lang="en-US" sz="2400" b="1" spc="2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Fundamental</a:t>
            </a:r>
            <a:r>
              <a:rPr lang="en-US" sz="2400" b="1" spc="-1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of</a:t>
            </a:r>
            <a:r>
              <a:rPr lang="en-US" sz="2400" b="1" spc="-25"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Electronics</a:t>
            </a:r>
            <a:r>
              <a:rPr lang="en-US" sz="2400" b="1" spc="10" dirty="0">
                <a:effectLst/>
                <a:latin typeface="Times New Roman" panose="02020603050405020304" pitchFamily="18" charset="0"/>
                <a:ea typeface="Times New Roman" panose="02020603050405020304" pitchFamily="18" charset="0"/>
              </a:rPr>
              <a:t> </a:t>
            </a:r>
            <a:r>
              <a:rPr lang="en-US" sz="2400" b="1" dirty="0">
                <a:effectLst/>
                <a:latin typeface="Times New Roman" panose="02020603050405020304" pitchFamily="18" charset="0"/>
                <a:ea typeface="Times New Roman" panose="02020603050405020304" pitchFamily="18" charset="0"/>
              </a:rPr>
              <a:t>Engineering</a:t>
            </a:r>
            <a:br>
              <a:rPr lang="en-IN" sz="2400" b="1" dirty="0">
                <a:effectLst/>
                <a:latin typeface="Times New Roman" panose="02020603050405020304" pitchFamily="18" charset="0"/>
                <a:ea typeface="Times New Roman" panose="02020603050405020304" pitchFamily="18" charset="0"/>
              </a:rPr>
            </a:br>
            <a:r>
              <a:rPr lang="en-US" sz="2400" b="1" dirty="0">
                <a:effectLst/>
                <a:latin typeface="Times New Roman" panose="02020603050405020304" pitchFamily="18" charset="0"/>
                <a:ea typeface="Times New Roman" panose="02020603050405020304" pitchFamily="18" charset="0"/>
              </a:rPr>
              <a:t> </a:t>
            </a:r>
            <a:br>
              <a:rPr lang="en-IN" sz="2400" dirty="0">
                <a:effectLst/>
                <a:latin typeface="Times New Roman" panose="02020603050405020304" pitchFamily="18" charset="0"/>
                <a:ea typeface="Times New Roman" panose="02020603050405020304" pitchFamily="18" charset="0"/>
              </a:rPr>
            </a:br>
            <a:endParaRPr lang="en-IN" sz="4800" dirty="0"/>
          </a:p>
        </p:txBody>
      </p:sp>
      <p:sp>
        <p:nvSpPr>
          <p:cNvPr id="3" name="Subtitle 2">
            <a:extLst>
              <a:ext uri="{FF2B5EF4-FFF2-40B4-BE49-F238E27FC236}">
                <a16:creationId xmlns:a16="http://schemas.microsoft.com/office/drawing/2014/main" id="{E7E1A491-510E-0FBC-182D-CCE794445D40}"/>
              </a:ext>
            </a:extLst>
          </p:cNvPr>
          <p:cNvSpPr>
            <a:spLocks noGrp="1"/>
          </p:cNvSpPr>
          <p:nvPr>
            <p:ph type="subTitle" idx="1"/>
          </p:nvPr>
        </p:nvSpPr>
        <p:spPr/>
        <p:txBody>
          <a:bodyPr>
            <a:normAutofit/>
          </a:bodyPr>
          <a:lstStyle/>
          <a:p>
            <a:pPr algn="ctr"/>
            <a:r>
              <a:rPr lang="en-US" b="1" dirty="0">
                <a:latin typeface="+mn-lt"/>
              </a:rPr>
              <a:t>By Dr Shivani Sharma</a:t>
            </a:r>
            <a:endParaRPr lang="en-IN" b="1" dirty="0">
              <a:latin typeface="+mn-lt"/>
            </a:endParaRPr>
          </a:p>
        </p:txBody>
      </p:sp>
    </p:spTree>
    <p:extLst>
      <p:ext uri="{BB962C8B-B14F-4D97-AF65-F5344CB8AC3E}">
        <p14:creationId xmlns:p14="http://schemas.microsoft.com/office/powerpoint/2010/main" val="252637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B7EEBD-4E56-94A9-EC93-5FC7D75C3F9F}"/>
              </a:ext>
            </a:extLst>
          </p:cNvPr>
          <p:cNvSpPr txBox="1"/>
          <p:nvPr/>
        </p:nvSpPr>
        <p:spPr>
          <a:xfrm>
            <a:off x="2286000" y="1179871"/>
            <a:ext cx="7620000" cy="421653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IN" sz="2400" b="1" i="0" u="none" strike="noStrike" baseline="0" dirty="0">
                <a:latin typeface="Calibri,Bold"/>
              </a:rPr>
              <a:t>Text Books:</a:t>
            </a:r>
          </a:p>
          <a:p>
            <a:pPr algn="l"/>
            <a:endParaRPr lang="en-IN" sz="2400" b="1" i="0" u="none" strike="noStrike" baseline="0" dirty="0">
              <a:latin typeface="Calibri,Bold"/>
            </a:endParaRPr>
          </a:p>
          <a:p>
            <a:pPr algn="l"/>
            <a:endParaRPr lang="en-IN" sz="2000" b="1" i="0" u="none" strike="noStrike" baseline="0" dirty="0">
              <a:latin typeface="Calibri,Bold"/>
            </a:endParaRPr>
          </a:p>
          <a:p>
            <a:pPr algn="just"/>
            <a:r>
              <a:rPr lang="en-US" sz="2000" b="0" i="0" u="none" strike="noStrike" baseline="0" dirty="0">
                <a:latin typeface="Times-Roman"/>
              </a:rPr>
              <a:t>1. </a:t>
            </a:r>
            <a:r>
              <a:rPr lang="en-US" sz="2000" b="0" i="0" u="none" strike="noStrike" baseline="0" dirty="0">
                <a:latin typeface="Calibri" panose="020F0502020204030204" pitchFamily="34" charset="0"/>
              </a:rPr>
              <a:t>Robert L. </a:t>
            </a:r>
            <a:r>
              <a:rPr lang="en-US" sz="2000" b="0" i="0" u="none" strike="noStrike" baseline="0" dirty="0" err="1">
                <a:latin typeface="Calibri" panose="020F0502020204030204" pitchFamily="34" charset="0"/>
              </a:rPr>
              <a:t>Boylestand</a:t>
            </a:r>
            <a:r>
              <a:rPr lang="en-US" sz="2000" b="0" i="0" u="none" strike="noStrike" baseline="0" dirty="0">
                <a:latin typeface="Calibri" panose="020F0502020204030204" pitchFamily="34" charset="0"/>
              </a:rPr>
              <a:t> / Louis </a:t>
            </a:r>
            <a:r>
              <a:rPr lang="en-US" sz="2000" b="0" i="0" u="none" strike="noStrike" baseline="0" dirty="0" err="1">
                <a:latin typeface="Calibri" panose="020F0502020204030204" pitchFamily="34" charset="0"/>
              </a:rPr>
              <a:t>Nashelsky</a:t>
            </a:r>
            <a:r>
              <a:rPr lang="en-US" sz="2000" b="0" i="0" u="none" strike="noStrike" baseline="0" dirty="0">
                <a:latin typeface="Calibri" panose="020F0502020204030204" pitchFamily="34" charset="0"/>
              </a:rPr>
              <a:t> “Electronic Devices and Circuit Theory”, Pearson</a:t>
            </a:r>
          </a:p>
          <a:p>
            <a:pPr algn="just"/>
            <a:r>
              <a:rPr lang="en-IN" sz="2000" b="0" i="0" u="none" strike="noStrike" baseline="0" dirty="0">
                <a:latin typeface="Calibri" panose="020F0502020204030204" pitchFamily="34" charset="0"/>
              </a:rPr>
              <a:t>Education.</a:t>
            </a:r>
          </a:p>
          <a:p>
            <a:pPr algn="just"/>
            <a:endParaRPr lang="en-IN" sz="2000" b="0" i="0" u="none" strike="noStrike" baseline="0" dirty="0">
              <a:latin typeface="Calibri" panose="020F0502020204030204" pitchFamily="34" charset="0"/>
            </a:endParaRPr>
          </a:p>
          <a:p>
            <a:pPr algn="just"/>
            <a:r>
              <a:rPr lang="en-US" sz="2000" b="0" i="0" u="none" strike="noStrike" baseline="0" dirty="0">
                <a:latin typeface="Times-Roman"/>
              </a:rPr>
              <a:t>2. </a:t>
            </a:r>
            <a:r>
              <a:rPr lang="en-US" sz="2000" b="0" i="0" u="none" strike="noStrike" baseline="0" dirty="0">
                <a:latin typeface="Calibri" panose="020F0502020204030204" pitchFamily="34" charset="0"/>
              </a:rPr>
              <a:t>George Kennedy, “Electronic Communication Systems”, </a:t>
            </a:r>
            <a:r>
              <a:rPr lang="en-US" sz="2000" b="0" i="0" u="none" strike="noStrike" baseline="0" dirty="0" err="1">
                <a:latin typeface="Calibri" panose="020F0502020204030204" pitchFamily="34" charset="0"/>
              </a:rPr>
              <a:t>McGrawPublication</a:t>
            </a:r>
            <a:endParaRPr lang="en-US" sz="2000" b="0" i="0" u="none" strike="noStrike" baseline="0" dirty="0">
              <a:latin typeface="Calibri" panose="020F0502020204030204" pitchFamily="34" charset="0"/>
            </a:endParaRPr>
          </a:p>
          <a:p>
            <a:pPr algn="just"/>
            <a:endParaRPr lang="en-US" sz="2000" b="0" i="0" u="none" strike="noStrike" baseline="0" dirty="0">
              <a:latin typeface="Calibri" panose="020F0502020204030204" pitchFamily="34" charset="0"/>
            </a:endParaRPr>
          </a:p>
          <a:p>
            <a:pPr algn="just"/>
            <a:r>
              <a:rPr lang="en-US" sz="2000" b="0" i="0" u="none" strike="noStrike" baseline="0" dirty="0">
                <a:latin typeface="Times-Roman"/>
              </a:rPr>
              <a:t>3.</a:t>
            </a:r>
            <a:r>
              <a:rPr lang="en-IN" sz="2000" b="0" i="0" u="none" strike="noStrike" baseline="0" dirty="0">
                <a:latin typeface="Times-Roman"/>
              </a:rPr>
              <a:t> </a:t>
            </a:r>
            <a:r>
              <a:rPr lang="en-IN" sz="2000" b="0" i="0" u="none" strike="noStrike" baseline="0" dirty="0">
                <a:latin typeface="Calibri" panose="020F0502020204030204" pitchFamily="34" charset="0"/>
              </a:rPr>
              <a:t>Jacob Millman, C.C. </a:t>
            </a:r>
            <a:r>
              <a:rPr lang="en-IN" sz="2000" b="0" i="0" u="none" strike="noStrike" baseline="0" dirty="0" err="1">
                <a:latin typeface="Calibri" panose="020F0502020204030204" pitchFamily="34" charset="0"/>
              </a:rPr>
              <a:t>Halkias</a:t>
            </a:r>
            <a:r>
              <a:rPr lang="en-IN" sz="2000" b="0" i="0" u="none" strike="noStrike" baseline="0" dirty="0">
                <a:latin typeface="Calibri" panose="020F0502020204030204" pitchFamily="34" charset="0"/>
              </a:rPr>
              <a:t>, </a:t>
            </a:r>
            <a:r>
              <a:rPr lang="en-IN" sz="2000" b="0" i="0" u="none" strike="noStrike" baseline="0" dirty="0" err="1">
                <a:latin typeface="Calibri" panose="020F0502020204030204" pitchFamily="34" charset="0"/>
              </a:rPr>
              <a:t>StayabrataJit</a:t>
            </a:r>
            <a:r>
              <a:rPr lang="en-IN" sz="2000" b="0" i="0" u="none" strike="noStrike" baseline="0" dirty="0">
                <a:latin typeface="Calibri" panose="020F0502020204030204" pitchFamily="34" charset="0"/>
              </a:rPr>
              <a:t>, “Electronic Devices and Circuits”, </a:t>
            </a:r>
            <a:r>
              <a:rPr lang="en-IN" sz="2000" b="0" i="0" u="none" strike="noStrike" baseline="0" dirty="0" err="1">
                <a:latin typeface="Calibri" panose="020F0502020204030204" pitchFamily="34" charset="0"/>
              </a:rPr>
              <a:t>McGrawHill</a:t>
            </a:r>
            <a:r>
              <a:rPr lang="en-IN" sz="2000" b="0" i="0" u="none" strike="noStrike" baseline="0" dirty="0">
                <a:latin typeface="Calibri" panose="020F0502020204030204" pitchFamily="34" charset="0"/>
              </a:rPr>
              <a:t>.</a:t>
            </a:r>
          </a:p>
          <a:p>
            <a:pPr algn="l"/>
            <a:endParaRPr lang="en-IN" sz="2000" b="1" dirty="0"/>
          </a:p>
        </p:txBody>
      </p:sp>
    </p:spTree>
    <p:extLst>
      <p:ext uri="{BB962C8B-B14F-4D97-AF65-F5344CB8AC3E}">
        <p14:creationId xmlns:p14="http://schemas.microsoft.com/office/powerpoint/2010/main" val="271017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83174C-05D3-0D33-8695-C034BACEB97D}"/>
              </a:ext>
            </a:extLst>
          </p:cNvPr>
          <p:cNvPicPr>
            <a:picLocks noChangeAspect="1"/>
          </p:cNvPicPr>
          <p:nvPr/>
        </p:nvPicPr>
        <p:blipFill rotWithShape="1">
          <a:blip r:embed="rId2"/>
          <a:srcRect l="742"/>
          <a:stretch/>
        </p:blipFill>
        <p:spPr>
          <a:xfrm>
            <a:off x="2147617" y="1163832"/>
            <a:ext cx="7896765" cy="4017767"/>
          </a:xfrm>
          <a:prstGeom prst="rect">
            <a:avLst/>
          </a:prstGeom>
          <a:ln w="19050">
            <a:solidFill>
              <a:schemeClr val="bg2">
                <a:lumMod val="90000"/>
              </a:schemeClr>
            </a:solidFill>
          </a:ln>
        </p:spPr>
      </p:pic>
    </p:spTree>
    <p:extLst>
      <p:ext uri="{BB962C8B-B14F-4D97-AF65-F5344CB8AC3E}">
        <p14:creationId xmlns:p14="http://schemas.microsoft.com/office/powerpoint/2010/main" val="90945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B12B27-464B-2F53-3150-D9E13D2183E5}"/>
              </a:ext>
            </a:extLst>
          </p:cNvPr>
          <p:cNvPicPr>
            <a:picLocks noChangeAspect="1"/>
          </p:cNvPicPr>
          <p:nvPr/>
        </p:nvPicPr>
        <p:blipFill>
          <a:blip r:embed="rId2"/>
          <a:stretch>
            <a:fillRect/>
          </a:stretch>
        </p:blipFill>
        <p:spPr>
          <a:xfrm>
            <a:off x="2219837" y="719461"/>
            <a:ext cx="7602589" cy="4725172"/>
          </a:xfrm>
          <a:prstGeom prst="rect">
            <a:avLst/>
          </a:prstGeom>
          <a:ln w="19050">
            <a:solidFill>
              <a:schemeClr val="bg2">
                <a:lumMod val="90000"/>
              </a:schemeClr>
            </a:solidFill>
          </a:ln>
        </p:spPr>
      </p:pic>
    </p:spTree>
    <p:extLst>
      <p:ext uri="{BB962C8B-B14F-4D97-AF65-F5344CB8AC3E}">
        <p14:creationId xmlns:p14="http://schemas.microsoft.com/office/powerpoint/2010/main" val="856793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96BE9EFD-82D0-BBF8-655B-E5801A8B3CC7}"/>
              </a:ext>
            </a:extLst>
          </p:cNvPr>
          <p:cNvGraphicFramePr/>
          <p:nvPr>
            <p:extLst>
              <p:ext uri="{D42A27DB-BD31-4B8C-83A1-F6EECF244321}">
                <p14:modId xmlns:p14="http://schemas.microsoft.com/office/powerpoint/2010/main" val="3569666308"/>
              </p:ext>
            </p:extLst>
          </p:nvPr>
        </p:nvGraphicFramePr>
        <p:xfrm>
          <a:off x="4689987" y="1514168"/>
          <a:ext cx="7069394" cy="30873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Electronic Engineering (BEng) - Undergraduate, University of York">
            <a:extLst>
              <a:ext uri="{FF2B5EF4-FFF2-40B4-BE49-F238E27FC236}">
                <a16:creationId xmlns:a16="http://schemas.microsoft.com/office/drawing/2014/main" id="{D9361B07-6B7E-8DF4-0726-ED59F977755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1839" y="1774770"/>
            <a:ext cx="4092677" cy="25083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5E16A71-AA94-BE99-AE25-EAA144CD77B3}"/>
              </a:ext>
            </a:extLst>
          </p:cNvPr>
          <p:cNvSpPr txBox="1"/>
          <p:nvPr/>
        </p:nvSpPr>
        <p:spPr>
          <a:xfrm>
            <a:off x="3048000" y="641245"/>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i="0" dirty="0">
                <a:solidFill>
                  <a:srgbClr val="000000"/>
                </a:solidFill>
                <a:effectLst/>
                <a:highlight>
                  <a:srgbClr val="FFFFFF"/>
                </a:highlight>
                <a:latin typeface="Open Sans" panose="020F0502020204030204" pitchFamily="34" charset="0"/>
              </a:rPr>
              <a:t>Introduction to Electronics</a:t>
            </a:r>
          </a:p>
        </p:txBody>
      </p:sp>
    </p:spTree>
    <p:extLst>
      <p:ext uri="{BB962C8B-B14F-4D97-AF65-F5344CB8AC3E}">
        <p14:creationId xmlns:p14="http://schemas.microsoft.com/office/powerpoint/2010/main" val="1515598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0889FD0-A775-635F-F82F-858D183933A6}"/>
              </a:ext>
            </a:extLst>
          </p:cNvPr>
          <p:cNvSpPr txBox="1"/>
          <p:nvPr/>
        </p:nvSpPr>
        <p:spPr>
          <a:xfrm>
            <a:off x="806246" y="1544621"/>
            <a:ext cx="10825315" cy="4154984"/>
          </a:xfrm>
          <a:prstGeom prst="rect">
            <a:avLst/>
          </a:prstGeom>
          <a:noFill/>
        </p:spPr>
        <p:txBody>
          <a:bodyPr wrap="square">
            <a:spAutoFit/>
          </a:bodyPr>
          <a:lstStyle/>
          <a:p>
            <a:pPr algn="just"/>
            <a:r>
              <a:rPr lang="en-US" sz="2400" b="1" dirty="0"/>
              <a:t>Definition:</a:t>
            </a:r>
            <a:r>
              <a:rPr lang="en-US" sz="2400" dirty="0"/>
              <a:t> Electronics Engineering is a branch of engineering that deals with the design, development, and application of electronic devices and circuits. It encompasses a range of technologies involving semiconductors, transistors, and integrated circuits.</a:t>
            </a:r>
          </a:p>
          <a:p>
            <a:pPr algn="just"/>
            <a:endParaRPr lang="en-US" sz="2400" dirty="0"/>
          </a:p>
          <a:p>
            <a:pPr algn="just"/>
            <a:r>
              <a:rPr lang="en-US" sz="2400" b="1" dirty="0"/>
              <a:t>Importance:</a:t>
            </a:r>
          </a:p>
          <a:p>
            <a:pPr algn="just"/>
            <a:endParaRPr lang="en-US" sz="2400" dirty="0"/>
          </a:p>
          <a:p>
            <a:pPr algn="just">
              <a:buFont typeface="Arial" panose="020B0604020202020204" pitchFamily="34" charset="0"/>
              <a:buChar char="•"/>
            </a:pPr>
            <a:r>
              <a:rPr lang="en-US" sz="2400" b="1" dirty="0"/>
              <a:t>Everyday Life:</a:t>
            </a:r>
            <a:r>
              <a:rPr lang="en-US" sz="2400" dirty="0"/>
              <a:t> Powers household appliances, smartphones, computers.</a:t>
            </a:r>
          </a:p>
          <a:p>
            <a:pPr algn="just">
              <a:buFont typeface="Arial" panose="020B0604020202020204" pitchFamily="34" charset="0"/>
              <a:buChar char="•"/>
            </a:pPr>
            <a:r>
              <a:rPr lang="en-US" sz="2400" b="1" dirty="0"/>
              <a:t>Industrial Applications:</a:t>
            </a:r>
            <a:r>
              <a:rPr lang="en-US" sz="2400" dirty="0"/>
              <a:t> Automation, control systems.</a:t>
            </a:r>
          </a:p>
          <a:p>
            <a:pPr algn="just">
              <a:buFont typeface="Arial" panose="020B0604020202020204" pitchFamily="34" charset="0"/>
              <a:buChar char="•"/>
            </a:pPr>
            <a:r>
              <a:rPr lang="en-US" sz="2400" b="1" dirty="0"/>
              <a:t>Communication:</a:t>
            </a:r>
            <a:r>
              <a:rPr lang="en-US" sz="2400" dirty="0"/>
              <a:t> Telecommunication systems, internet infrastructure.</a:t>
            </a:r>
          </a:p>
          <a:p>
            <a:pPr algn="just">
              <a:buFont typeface="Arial" panose="020B0604020202020204" pitchFamily="34" charset="0"/>
              <a:buChar char="•"/>
            </a:pPr>
            <a:r>
              <a:rPr lang="en-US" sz="2400" b="1" dirty="0"/>
              <a:t>Healthcare:</a:t>
            </a:r>
            <a:r>
              <a:rPr lang="en-US" sz="2400" dirty="0"/>
              <a:t> Medical devices and diagnostics</a:t>
            </a:r>
          </a:p>
        </p:txBody>
      </p:sp>
      <p:sp>
        <p:nvSpPr>
          <p:cNvPr id="9" name="TextBox 8">
            <a:extLst>
              <a:ext uri="{FF2B5EF4-FFF2-40B4-BE49-F238E27FC236}">
                <a16:creationId xmlns:a16="http://schemas.microsoft.com/office/drawing/2014/main" id="{37EFCBB8-CECE-B5B7-84F3-642F821304D5}"/>
              </a:ext>
            </a:extLst>
          </p:cNvPr>
          <p:cNvSpPr txBox="1"/>
          <p:nvPr/>
        </p:nvSpPr>
        <p:spPr>
          <a:xfrm>
            <a:off x="2910349" y="552753"/>
            <a:ext cx="6096000" cy="40011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000" b="1" dirty="0"/>
              <a:t>Introduction to Electronics Engineering</a:t>
            </a:r>
          </a:p>
        </p:txBody>
      </p:sp>
    </p:spTree>
    <p:extLst>
      <p:ext uri="{BB962C8B-B14F-4D97-AF65-F5344CB8AC3E}">
        <p14:creationId xmlns:p14="http://schemas.microsoft.com/office/powerpoint/2010/main" val="524352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3730544-0501-676C-AB14-4B341D089C62}"/>
              </a:ext>
            </a:extLst>
          </p:cNvPr>
          <p:cNvSpPr txBox="1"/>
          <p:nvPr/>
        </p:nvSpPr>
        <p:spPr>
          <a:xfrm>
            <a:off x="245806" y="533722"/>
            <a:ext cx="11375923" cy="5632311"/>
          </a:xfrm>
          <a:prstGeom prst="rect">
            <a:avLst/>
          </a:prstGeom>
          <a:noFill/>
        </p:spPr>
        <p:txBody>
          <a:bodyPr wrap="square">
            <a:spAutoFit/>
          </a:bodyPr>
          <a:lstStyle/>
          <a:p>
            <a:pPr algn="just"/>
            <a:r>
              <a:rPr lang="en-US" sz="2000" b="1" dirty="0"/>
              <a:t>1. Internet of Things (IoT): </a:t>
            </a:r>
            <a:r>
              <a:rPr lang="en-US" sz="2000" dirty="0"/>
              <a:t>IoT connects everyday devices to the internet, allowing them to collect, exchange, and act on data.</a:t>
            </a:r>
          </a:p>
          <a:p>
            <a:pPr algn="just">
              <a:buFont typeface="Arial" panose="020B0604020202020204" pitchFamily="34" charset="0"/>
              <a:buChar char="•"/>
            </a:pPr>
            <a:r>
              <a:rPr lang="en-US" sz="2000" b="1" dirty="0"/>
              <a:t>Applications</a:t>
            </a:r>
            <a:r>
              <a:rPr lang="en-US" sz="2000" dirty="0"/>
              <a:t>: Smart homes, industrial automation (IIoT), healthcare (wearable devices), agriculture, and smart cities.</a:t>
            </a:r>
          </a:p>
          <a:p>
            <a:pPr algn="just">
              <a:buFont typeface="Arial" panose="020B0604020202020204" pitchFamily="34" charset="0"/>
              <a:buChar char="•"/>
            </a:pPr>
            <a:r>
              <a:rPr lang="en-US" sz="2000" b="1" dirty="0"/>
              <a:t>Key Technologies</a:t>
            </a:r>
            <a:r>
              <a:rPr lang="en-US" sz="2000" dirty="0"/>
              <a:t>: Low-power sensors, microcontrollers, wireless communication (e.g., 5G, Wi-Fi 6), edge computing.</a:t>
            </a:r>
          </a:p>
          <a:p>
            <a:pPr algn="just">
              <a:buFont typeface="Arial" panose="020B0604020202020204" pitchFamily="34" charset="0"/>
              <a:buChar char="•"/>
            </a:pPr>
            <a:endParaRPr lang="en-US" sz="2000" dirty="0"/>
          </a:p>
          <a:p>
            <a:pPr algn="just"/>
            <a:r>
              <a:rPr lang="en-US" sz="2000" b="1" dirty="0"/>
              <a:t>2. 5G Technology: </a:t>
            </a:r>
            <a:r>
              <a:rPr lang="en-US" sz="2000" dirty="0"/>
              <a:t>5G is the next-generation cellular network technology offering faster speeds, lower latency, and greater capacity than 4G.</a:t>
            </a:r>
          </a:p>
          <a:p>
            <a:pPr algn="just">
              <a:buFont typeface="Arial" panose="020B0604020202020204" pitchFamily="34" charset="0"/>
              <a:buChar char="•"/>
            </a:pPr>
            <a:r>
              <a:rPr lang="en-US" sz="2000" b="1" dirty="0"/>
              <a:t>Application Areas</a:t>
            </a:r>
            <a:r>
              <a:rPr lang="en-US" sz="2000" dirty="0"/>
              <a:t>: Telecommunications, smart cities, autonomous driving, industrial automation, remote healthcare.</a:t>
            </a:r>
          </a:p>
          <a:p>
            <a:pPr algn="just"/>
            <a:endParaRPr lang="en-US" sz="2000" dirty="0"/>
          </a:p>
          <a:p>
            <a:pPr algn="just"/>
            <a:r>
              <a:rPr lang="en-US" sz="2000" b="1" dirty="0"/>
              <a:t>3. Wearable Electronics: </a:t>
            </a:r>
            <a:r>
              <a:rPr lang="en-US" sz="2000" dirty="0"/>
              <a:t>The growing trend of wearable devices for fitness, healthcare, and entertainment.</a:t>
            </a:r>
          </a:p>
          <a:p>
            <a:pPr algn="just">
              <a:buFont typeface="Arial" panose="020B0604020202020204" pitchFamily="34" charset="0"/>
              <a:buChar char="•"/>
            </a:pPr>
            <a:r>
              <a:rPr lang="en-US" sz="2000" b="1" dirty="0"/>
              <a:t>Examples</a:t>
            </a:r>
            <a:r>
              <a:rPr lang="en-US" sz="2000" dirty="0"/>
              <a:t>: Smartwatches, fitness trackers, smart glasses, health monitors (ECG, heart rate, SpO2).</a:t>
            </a:r>
          </a:p>
          <a:p>
            <a:pPr algn="just">
              <a:buFont typeface="Arial" panose="020B0604020202020204" pitchFamily="34" charset="0"/>
              <a:buChar char="•"/>
            </a:pPr>
            <a:endParaRPr lang="en-US" sz="2000" dirty="0"/>
          </a:p>
          <a:p>
            <a:r>
              <a:rPr lang="en-US" sz="2000" b="1" dirty="0"/>
              <a:t>4. Integrated Circuits and Microelectronics:	</a:t>
            </a:r>
            <a:endParaRPr lang="en-US" sz="2000" dirty="0"/>
          </a:p>
          <a:p>
            <a:pPr lvl="1">
              <a:buFont typeface="Arial" panose="020B0604020202020204" pitchFamily="34" charset="0"/>
              <a:buChar char="•"/>
            </a:pPr>
            <a:r>
              <a:rPr lang="en-US" sz="2000" b="1" dirty="0"/>
              <a:t>Advancements:</a:t>
            </a:r>
            <a:r>
              <a:rPr lang="en-US" sz="2000" dirty="0"/>
              <a:t> Smaller, more powerful chips.</a:t>
            </a:r>
          </a:p>
          <a:p>
            <a:pPr lvl="1">
              <a:buFont typeface="Arial" panose="020B0604020202020204" pitchFamily="34" charset="0"/>
              <a:buChar char="•"/>
            </a:pPr>
            <a:r>
              <a:rPr lang="en-US" sz="2000" b="1" dirty="0"/>
              <a:t>Applications:</a:t>
            </a:r>
            <a:r>
              <a:rPr lang="en-US" sz="2000" dirty="0"/>
              <a:t> Smartphones, wearables.</a:t>
            </a:r>
          </a:p>
        </p:txBody>
      </p:sp>
      <p:sp>
        <p:nvSpPr>
          <p:cNvPr id="8" name="TextBox 7">
            <a:extLst>
              <a:ext uri="{FF2B5EF4-FFF2-40B4-BE49-F238E27FC236}">
                <a16:creationId xmlns:a16="http://schemas.microsoft.com/office/drawing/2014/main" id="{9CD75E4B-ED11-2EBD-B7F1-E5E31307BE16}"/>
              </a:ext>
            </a:extLst>
          </p:cNvPr>
          <p:cNvSpPr txBox="1"/>
          <p:nvPr/>
        </p:nvSpPr>
        <p:spPr>
          <a:xfrm>
            <a:off x="2812026" y="107191"/>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Emerging Trends and Future Directions</a:t>
            </a:r>
          </a:p>
        </p:txBody>
      </p:sp>
    </p:spTree>
    <p:extLst>
      <p:ext uri="{BB962C8B-B14F-4D97-AF65-F5344CB8AC3E}">
        <p14:creationId xmlns:p14="http://schemas.microsoft.com/office/powerpoint/2010/main" val="2887395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A4881B-AAEF-9543-3573-5B75920A15E7}"/>
              </a:ext>
            </a:extLst>
          </p:cNvPr>
          <p:cNvPicPr>
            <a:picLocks noChangeAspect="1"/>
          </p:cNvPicPr>
          <p:nvPr/>
        </p:nvPicPr>
        <p:blipFill rotWithShape="1">
          <a:blip r:embed="rId2">
            <a:alphaModFix amt="40000"/>
          </a:blip>
          <a:srcRect t="24982" r="-1" b="-1"/>
          <a:stretch/>
        </p:blipFill>
        <p:spPr>
          <a:xfrm>
            <a:off x="3068" y="-185047"/>
            <a:ext cx="12188932" cy="6857990"/>
          </a:xfrm>
          <a:prstGeom prst="rect">
            <a:avLst/>
          </a:prstGeom>
        </p:spPr>
      </p:pic>
      <p:sp>
        <p:nvSpPr>
          <p:cNvPr id="2" name="Title 1">
            <a:extLst>
              <a:ext uri="{FF2B5EF4-FFF2-40B4-BE49-F238E27FC236}">
                <a16:creationId xmlns:a16="http://schemas.microsoft.com/office/drawing/2014/main" id="{5865BD14-1989-8CE8-170F-7A0997CAB1E7}"/>
              </a:ext>
            </a:extLst>
          </p:cNvPr>
          <p:cNvSpPr>
            <a:spLocks noGrp="1"/>
          </p:cNvSpPr>
          <p:nvPr>
            <p:ph type="ctrTitle"/>
          </p:nvPr>
        </p:nvSpPr>
        <p:spPr>
          <a:xfrm>
            <a:off x="2077299" y="264191"/>
            <a:ext cx="7801429" cy="679505"/>
          </a:xfrm>
          <a:prstGeom prst="roundRect">
            <a:avLst/>
          </a:prstGeom>
          <a:solidFill>
            <a:schemeClr val="bg1"/>
          </a:solidFill>
          <a:ln>
            <a:solidFill>
              <a:schemeClr val="bg1"/>
            </a:solidFill>
          </a:ln>
        </p:spPr>
        <p:txBody>
          <a:bodyPr anchor="t">
            <a:noAutofit/>
          </a:bodyPr>
          <a:lstStyle/>
          <a:p>
            <a:pPr algn="ctr"/>
            <a:r>
              <a:rPr lang="en-US" sz="4000" b="1" dirty="0">
                <a:solidFill>
                  <a:srgbClr val="404041"/>
                </a:solidFill>
                <a:highlight>
                  <a:srgbClr val="FFFFFF"/>
                </a:highlight>
                <a:latin typeface="Ruda"/>
              </a:rPr>
              <a:t>UNIT – 4 DIGITAL ELECTRONICS</a:t>
            </a:r>
            <a:endParaRPr lang="en-IN" sz="14900" b="1" dirty="0">
              <a:solidFill>
                <a:srgbClr val="FFFFFF"/>
              </a:solidFill>
            </a:endParaRPr>
          </a:p>
        </p:txBody>
      </p:sp>
      <p:pic>
        <p:nvPicPr>
          <p:cNvPr id="1026" name="Picture 2" descr="Digital Logic | Udemy">
            <a:extLst>
              <a:ext uri="{FF2B5EF4-FFF2-40B4-BE49-F238E27FC236}">
                <a16:creationId xmlns:a16="http://schemas.microsoft.com/office/drawing/2014/main" id="{D77395E9-DC3E-D573-B13F-0B0910DAE5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6094" y="2739538"/>
            <a:ext cx="5917402" cy="332952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256582D-3828-35AD-9E3E-4155866EDB1C}"/>
              </a:ext>
            </a:extLst>
          </p:cNvPr>
          <p:cNvSpPr txBox="1"/>
          <p:nvPr/>
        </p:nvSpPr>
        <p:spPr>
          <a:xfrm>
            <a:off x="787389" y="1571681"/>
            <a:ext cx="10854812" cy="10156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US" sz="2000" dirty="0"/>
              <a:t>Digital electronics is a field of electronics that deals with digital signals, where data is represented in discrete levels or states, usually as binary values (0s and 1s). Unlike analog electronics, which uses continuous signals, digital electronics operates on digital signals that have distinct high and low states.</a:t>
            </a:r>
            <a:endParaRPr lang="en-IN" sz="2000" dirty="0"/>
          </a:p>
        </p:txBody>
      </p:sp>
    </p:spTree>
    <p:extLst>
      <p:ext uri="{BB962C8B-B14F-4D97-AF65-F5344CB8AC3E}">
        <p14:creationId xmlns:p14="http://schemas.microsoft.com/office/powerpoint/2010/main" val="2608463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50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CF1B3FD-88DC-3C53-3644-2C98A6A868EE}"/>
              </a:ext>
            </a:extLst>
          </p:cNvPr>
          <p:cNvGraphicFramePr/>
          <p:nvPr>
            <p:extLst>
              <p:ext uri="{D42A27DB-BD31-4B8C-83A1-F6EECF244321}">
                <p14:modId xmlns:p14="http://schemas.microsoft.com/office/powerpoint/2010/main" val="3769574044"/>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D232BF14-AAE4-53D0-D8B1-D9E49B8D2AA5}"/>
              </a:ext>
            </a:extLst>
          </p:cNvPr>
          <p:cNvSpPr txBox="1"/>
          <p:nvPr/>
        </p:nvSpPr>
        <p:spPr>
          <a:xfrm>
            <a:off x="2198914" y="157316"/>
            <a:ext cx="7630886" cy="461665"/>
          </a:xfrm>
          <a:prstGeom prst="rect">
            <a:avLst/>
          </a:prstGeom>
          <a:solidFill>
            <a:schemeClr val="bg2"/>
          </a:solidFill>
          <a:ln>
            <a:solidFill>
              <a:schemeClr val="tx1"/>
            </a:solidFill>
          </a:ln>
        </p:spPr>
        <p:txBody>
          <a:bodyPr wrap="square">
            <a:spAutoFit/>
          </a:bodyPr>
          <a:lstStyle/>
          <a:p>
            <a:pPr lvl="0" algn="ctr"/>
            <a:r>
              <a:rPr lang="en-US" sz="2400" b="1" i="0" dirty="0">
                <a:solidFill>
                  <a:schemeClr val="tx1"/>
                </a:solidFill>
                <a:effectLst/>
                <a:latin typeface="ui-sans-serif"/>
              </a:rPr>
              <a:t>TOPICS TO BE DISCUSSED</a:t>
            </a:r>
            <a:endParaRPr lang="en-IN" sz="2400" dirty="0">
              <a:solidFill>
                <a:schemeClr val="tx1"/>
              </a:solidFill>
            </a:endParaRPr>
          </a:p>
        </p:txBody>
      </p:sp>
    </p:spTree>
    <p:extLst>
      <p:ext uri="{BB962C8B-B14F-4D97-AF65-F5344CB8AC3E}">
        <p14:creationId xmlns:p14="http://schemas.microsoft.com/office/powerpoint/2010/main" val="856661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250"/>
                                  </p:stCondLst>
                                  <p:childTnLst>
                                    <p:set>
                                      <p:cBhvr>
                                        <p:cTn id="6" dur="1" fill="hold">
                                          <p:stCondLst>
                                            <p:cond delay="0"/>
                                          </p:stCondLst>
                                        </p:cTn>
                                        <p:tgtEl>
                                          <p:spTgt spid="2">
                                            <p:graphicEl>
                                              <a:dgm id="{5BA6A289-9131-455A-809B-32DC63C93125}"/>
                                            </p:graphicEl>
                                          </p:spTgt>
                                        </p:tgtEl>
                                        <p:attrNameLst>
                                          <p:attrName>style.visibility</p:attrName>
                                        </p:attrNameLst>
                                      </p:cBhvr>
                                      <p:to>
                                        <p:strVal val="visible"/>
                                      </p:to>
                                    </p:set>
                                    <p:anim calcmode="lin" valueType="num">
                                      <p:cBhvr additive="base">
                                        <p:cTn id="7" dur="500" fill="hold"/>
                                        <p:tgtEl>
                                          <p:spTgt spid="2">
                                            <p:graphicEl>
                                              <a:dgm id="{5BA6A289-9131-455A-809B-32DC63C9312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graphicEl>
                                              <a:dgm id="{5BA6A289-9131-455A-809B-32DC63C93125}"/>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250"/>
                                  </p:stCondLst>
                                  <p:childTnLst>
                                    <p:set>
                                      <p:cBhvr>
                                        <p:cTn id="10" dur="1" fill="hold">
                                          <p:stCondLst>
                                            <p:cond delay="0"/>
                                          </p:stCondLst>
                                        </p:cTn>
                                        <p:tgtEl>
                                          <p:spTgt spid="2">
                                            <p:graphicEl>
                                              <a:dgm id="{8C0C9B53-84E1-4073-9602-B1EB1BC9DB94}"/>
                                            </p:graphicEl>
                                          </p:spTgt>
                                        </p:tgtEl>
                                        <p:attrNameLst>
                                          <p:attrName>style.visibility</p:attrName>
                                        </p:attrNameLst>
                                      </p:cBhvr>
                                      <p:to>
                                        <p:strVal val="visible"/>
                                      </p:to>
                                    </p:set>
                                    <p:anim calcmode="lin" valueType="num">
                                      <p:cBhvr additive="base">
                                        <p:cTn id="11" dur="500" fill="hold"/>
                                        <p:tgtEl>
                                          <p:spTgt spid="2">
                                            <p:graphicEl>
                                              <a:dgm id="{8C0C9B53-84E1-4073-9602-B1EB1BC9DB94}"/>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graphicEl>
                                              <a:dgm id="{8C0C9B53-84E1-4073-9602-B1EB1BC9DB94}"/>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250"/>
                                  </p:stCondLst>
                                  <p:childTnLst>
                                    <p:set>
                                      <p:cBhvr>
                                        <p:cTn id="16" dur="1" fill="hold">
                                          <p:stCondLst>
                                            <p:cond delay="0"/>
                                          </p:stCondLst>
                                        </p:cTn>
                                        <p:tgtEl>
                                          <p:spTgt spid="2">
                                            <p:graphicEl>
                                              <a:dgm id="{C6718A59-1A09-4DF5-9D91-1E0828EABEB1}"/>
                                            </p:graphicEl>
                                          </p:spTgt>
                                        </p:tgtEl>
                                        <p:attrNameLst>
                                          <p:attrName>style.visibility</p:attrName>
                                        </p:attrNameLst>
                                      </p:cBhvr>
                                      <p:to>
                                        <p:strVal val="visible"/>
                                      </p:to>
                                    </p:set>
                                    <p:anim calcmode="lin" valueType="num">
                                      <p:cBhvr additive="base">
                                        <p:cTn id="17" dur="500" fill="hold"/>
                                        <p:tgtEl>
                                          <p:spTgt spid="2">
                                            <p:graphicEl>
                                              <a:dgm id="{C6718A59-1A09-4DF5-9D91-1E0828EABEB1}"/>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graphicEl>
                                              <a:dgm id="{C6718A59-1A09-4DF5-9D91-1E0828EABEB1}"/>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250"/>
                                  </p:stCondLst>
                                  <p:childTnLst>
                                    <p:set>
                                      <p:cBhvr>
                                        <p:cTn id="22" dur="1" fill="hold">
                                          <p:stCondLst>
                                            <p:cond delay="0"/>
                                          </p:stCondLst>
                                        </p:cTn>
                                        <p:tgtEl>
                                          <p:spTgt spid="2">
                                            <p:graphicEl>
                                              <a:dgm id="{E86B338A-B4B3-4BC9-9A70-8F64A3EC7D7C}"/>
                                            </p:graphicEl>
                                          </p:spTgt>
                                        </p:tgtEl>
                                        <p:attrNameLst>
                                          <p:attrName>style.visibility</p:attrName>
                                        </p:attrNameLst>
                                      </p:cBhvr>
                                      <p:to>
                                        <p:strVal val="visible"/>
                                      </p:to>
                                    </p:set>
                                    <p:anim calcmode="lin" valueType="num">
                                      <p:cBhvr additive="base">
                                        <p:cTn id="23" dur="500" fill="hold"/>
                                        <p:tgtEl>
                                          <p:spTgt spid="2">
                                            <p:graphicEl>
                                              <a:dgm id="{E86B338A-B4B3-4BC9-9A70-8F64A3EC7D7C}"/>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graphicEl>
                                              <a:dgm id="{E86B338A-B4B3-4BC9-9A70-8F64A3EC7D7C}"/>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250"/>
                                  </p:stCondLst>
                                  <p:childTnLst>
                                    <p:set>
                                      <p:cBhvr>
                                        <p:cTn id="26" dur="1" fill="hold">
                                          <p:stCondLst>
                                            <p:cond delay="0"/>
                                          </p:stCondLst>
                                        </p:cTn>
                                        <p:tgtEl>
                                          <p:spTgt spid="2">
                                            <p:graphicEl>
                                              <a:dgm id="{777B52BF-F846-47C1-B8A3-31067BB46A1B}"/>
                                            </p:graphicEl>
                                          </p:spTgt>
                                        </p:tgtEl>
                                        <p:attrNameLst>
                                          <p:attrName>style.visibility</p:attrName>
                                        </p:attrNameLst>
                                      </p:cBhvr>
                                      <p:to>
                                        <p:strVal val="visible"/>
                                      </p:to>
                                    </p:set>
                                    <p:anim calcmode="lin" valueType="num">
                                      <p:cBhvr additive="base">
                                        <p:cTn id="27" dur="500" fill="hold"/>
                                        <p:tgtEl>
                                          <p:spTgt spid="2">
                                            <p:graphicEl>
                                              <a:dgm id="{777B52BF-F846-47C1-B8A3-31067BB46A1B}"/>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graphicEl>
                                              <a:dgm id="{777B52BF-F846-47C1-B8A3-31067BB46A1B}"/>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250"/>
                                  </p:stCondLst>
                                  <p:childTnLst>
                                    <p:set>
                                      <p:cBhvr>
                                        <p:cTn id="32" dur="1" fill="hold">
                                          <p:stCondLst>
                                            <p:cond delay="0"/>
                                          </p:stCondLst>
                                        </p:cTn>
                                        <p:tgtEl>
                                          <p:spTgt spid="2">
                                            <p:graphicEl>
                                              <a:dgm id="{9875C410-F054-40C9-A885-436FCBA0538C}"/>
                                            </p:graphicEl>
                                          </p:spTgt>
                                        </p:tgtEl>
                                        <p:attrNameLst>
                                          <p:attrName>style.visibility</p:attrName>
                                        </p:attrNameLst>
                                      </p:cBhvr>
                                      <p:to>
                                        <p:strVal val="visible"/>
                                      </p:to>
                                    </p:set>
                                    <p:anim calcmode="lin" valueType="num">
                                      <p:cBhvr additive="base">
                                        <p:cTn id="33" dur="500" fill="hold"/>
                                        <p:tgtEl>
                                          <p:spTgt spid="2">
                                            <p:graphicEl>
                                              <a:dgm id="{9875C410-F054-40C9-A885-436FCBA0538C}"/>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graphicEl>
                                              <a:dgm id="{9875C410-F054-40C9-A885-436FCBA0538C}"/>
                                            </p:graphic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250"/>
                                  </p:stCondLst>
                                  <p:childTnLst>
                                    <p:set>
                                      <p:cBhvr>
                                        <p:cTn id="38" dur="1" fill="hold">
                                          <p:stCondLst>
                                            <p:cond delay="0"/>
                                          </p:stCondLst>
                                        </p:cTn>
                                        <p:tgtEl>
                                          <p:spTgt spid="2">
                                            <p:graphicEl>
                                              <a:dgm id="{FEED422E-99E8-49BF-990C-F6DFF47F0FF8}"/>
                                            </p:graphicEl>
                                          </p:spTgt>
                                        </p:tgtEl>
                                        <p:attrNameLst>
                                          <p:attrName>style.visibility</p:attrName>
                                        </p:attrNameLst>
                                      </p:cBhvr>
                                      <p:to>
                                        <p:strVal val="visible"/>
                                      </p:to>
                                    </p:set>
                                    <p:anim calcmode="lin" valueType="num">
                                      <p:cBhvr additive="base">
                                        <p:cTn id="39" dur="500" fill="hold"/>
                                        <p:tgtEl>
                                          <p:spTgt spid="2">
                                            <p:graphicEl>
                                              <a:dgm id="{FEED422E-99E8-49BF-990C-F6DFF47F0FF8}"/>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2">
                                            <p:graphicEl>
                                              <a:dgm id="{FEED422E-99E8-49BF-990C-F6DFF47F0FF8}"/>
                                            </p:graphic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250"/>
                                  </p:stCondLst>
                                  <p:childTnLst>
                                    <p:set>
                                      <p:cBhvr>
                                        <p:cTn id="42" dur="1" fill="hold">
                                          <p:stCondLst>
                                            <p:cond delay="0"/>
                                          </p:stCondLst>
                                        </p:cTn>
                                        <p:tgtEl>
                                          <p:spTgt spid="2">
                                            <p:graphicEl>
                                              <a:dgm id="{87813B41-04C5-4FC4-B7FC-5D81DAD3F485}"/>
                                            </p:graphicEl>
                                          </p:spTgt>
                                        </p:tgtEl>
                                        <p:attrNameLst>
                                          <p:attrName>style.visibility</p:attrName>
                                        </p:attrNameLst>
                                      </p:cBhvr>
                                      <p:to>
                                        <p:strVal val="visible"/>
                                      </p:to>
                                    </p:set>
                                    <p:anim calcmode="lin" valueType="num">
                                      <p:cBhvr additive="base">
                                        <p:cTn id="43" dur="500" fill="hold"/>
                                        <p:tgtEl>
                                          <p:spTgt spid="2">
                                            <p:graphicEl>
                                              <a:dgm id="{87813B41-04C5-4FC4-B7FC-5D81DAD3F48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graphicEl>
                                              <a:dgm id="{87813B41-04C5-4FC4-B7FC-5D81DAD3F485}"/>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250"/>
                                  </p:stCondLst>
                                  <p:childTnLst>
                                    <p:set>
                                      <p:cBhvr>
                                        <p:cTn id="48" dur="1" fill="hold">
                                          <p:stCondLst>
                                            <p:cond delay="0"/>
                                          </p:stCondLst>
                                        </p:cTn>
                                        <p:tgtEl>
                                          <p:spTgt spid="2">
                                            <p:graphicEl>
                                              <a:dgm id="{55A15F30-F832-4581-8095-173251A78B8C}"/>
                                            </p:graphicEl>
                                          </p:spTgt>
                                        </p:tgtEl>
                                        <p:attrNameLst>
                                          <p:attrName>style.visibility</p:attrName>
                                        </p:attrNameLst>
                                      </p:cBhvr>
                                      <p:to>
                                        <p:strVal val="visible"/>
                                      </p:to>
                                    </p:set>
                                    <p:anim calcmode="lin" valueType="num">
                                      <p:cBhvr additive="base">
                                        <p:cTn id="49" dur="500" fill="hold"/>
                                        <p:tgtEl>
                                          <p:spTgt spid="2">
                                            <p:graphicEl>
                                              <a:dgm id="{55A15F30-F832-4581-8095-173251A78B8C}"/>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graphicEl>
                                              <a:dgm id="{55A15F30-F832-4581-8095-173251A78B8C}"/>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250"/>
                                  </p:stCondLst>
                                  <p:childTnLst>
                                    <p:set>
                                      <p:cBhvr>
                                        <p:cTn id="54" dur="1" fill="hold">
                                          <p:stCondLst>
                                            <p:cond delay="0"/>
                                          </p:stCondLst>
                                        </p:cTn>
                                        <p:tgtEl>
                                          <p:spTgt spid="2">
                                            <p:graphicEl>
                                              <a:dgm id="{BD7C3549-5B63-485D-9282-E5FB3475CE4C}"/>
                                            </p:graphicEl>
                                          </p:spTgt>
                                        </p:tgtEl>
                                        <p:attrNameLst>
                                          <p:attrName>style.visibility</p:attrName>
                                        </p:attrNameLst>
                                      </p:cBhvr>
                                      <p:to>
                                        <p:strVal val="visible"/>
                                      </p:to>
                                    </p:set>
                                    <p:anim calcmode="lin" valueType="num">
                                      <p:cBhvr additive="base">
                                        <p:cTn id="55" dur="500" fill="hold"/>
                                        <p:tgtEl>
                                          <p:spTgt spid="2">
                                            <p:graphicEl>
                                              <a:dgm id="{BD7C3549-5B63-485D-9282-E5FB3475CE4C}"/>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graphicEl>
                                              <a:dgm id="{BD7C3549-5B63-485D-9282-E5FB3475CE4C}"/>
                                            </p:graphic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250"/>
                                  </p:stCondLst>
                                  <p:childTnLst>
                                    <p:set>
                                      <p:cBhvr>
                                        <p:cTn id="58" dur="1" fill="hold">
                                          <p:stCondLst>
                                            <p:cond delay="0"/>
                                          </p:stCondLst>
                                        </p:cTn>
                                        <p:tgtEl>
                                          <p:spTgt spid="2">
                                            <p:graphicEl>
                                              <a:dgm id="{279EE09D-2424-40F3-95F5-55C638B5F099}"/>
                                            </p:graphicEl>
                                          </p:spTgt>
                                        </p:tgtEl>
                                        <p:attrNameLst>
                                          <p:attrName>style.visibility</p:attrName>
                                        </p:attrNameLst>
                                      </p:cBhvr>
                                      <p:to>
                                        <p:strVal val="visible"/>
                                      </p:to>
                                    </p:set>
                                    <p:anim calcmode="lin" valueType="num">
                                      <p:cBhvr additive="base">
                                        <p:cTn id="59" dur="500" fill="hold"/>
                                        <p:tgtEl>
                                          <p:spTgt spid="2">
                                            <p:graphicEl>
                                              <a:dgm id="{279EE09D-2424-40F3-95F5-55C638B5F099}"/>
                                            </p:graphicEl>
                                          </p:spTgt>
                                        </p:tgtEl>
                                        <p:attrNameLst>
                                          <p:attrName>ppt_x</p:attrName>
                                        </p:attrNameLst>
                                      </p:cBhvr>
                                      <p:tavLst>
                                        <p:tav tm="0">
                                          <p:val>
                                            <p:strVal val="#ppt_x"/>
                                          </p:val>
                                        </p:tav>
                                        <p:tav tm="100000">
                                          <p:val>
                                            <p:strVal val="#ppt_x"/>
                                          </p:val>
                                        </p:tav>
                                      </p:tavLst>
                                    </p:anim>
                                    <p:anim calcmode="lin" valueType="num">
                                      <p:cBhvr additive="base">
                                        <p:cTn id="60" dur="500" fill="hold"/>
                                        <p:tgtEl>
                                          <p:spTgt spid="2">
                                            <p:graphicEl>
                                              <a:dgm id="{279EE09D-2424-40F3-95F5-55C638B5F099}"/>
                                            </p:graphic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250"/>
                                  </p:stCondLst>
                                  <p:childTnLst>
                                    <p:set>
                                      <p:cBhvr>
                                        <p:cTn id="64" dur="1" fill="hold">
                                          <p:stCondLst>
                                            <p:cond delay="0"/>
                                          </p:stCondLst>
                                        </p:cTn>
                                        <p:tgtEl>
                                          <p:spTgt spid="2">
                                            <p:graphicEl>
                                              <a:dgm id="{A17BF660-8638-4004-84FD-7C0334205F14}"/>
                                            </p:graphicEl>
                                          </p:spTgt>
                                        </p:tgtEl>
                                        <p:attrNameLst>
                                          <p:attrName>style.visibility</p:attrName>
                                        </p:attrNameLst>
                                      </p:cBhvr>
                                      <p:to>
                                        <p:strVal val="visible"/>
                                      </p:to>
                                    </p:set>
                                    <p:anim calcmode="lin" valueType="num">
                                      <p:cBhvr additive="base">
                                        <p:cTn id="65" dur="500" fill="hold"/>
                                        <p:tgtEl>
                                          <p:spTgt spid="2">
                                            <p:graphicEl>
                                              <a:dgm id="{A17BF660-8638-4004-84FD-7C0334205F14}"/>
                                            </p:graphicEl>
                                          </p:spTgt>
                                        </p:tgtEl>
                                        <p:attrNameLst>
                                          <p:attrName>ppt_x</p:attrName>
                                        </p:attrNameLst>
                                      </p:cBhvr>
                                      <p:tavLst>
                                        <p:tav tm="0">
                                          <p:val>
                                            <p:strVal val="#ppt_x"/>
                                          </p:val>
                                        </p:tav>
                                        <p:tav tm="100000">
                                          <p:val>
                                            <p:strVal val="#ppt_x"/>
                                          </p:val>
                                        </p:tav>
                                      </p:tavLst>
                                    </p:anim>
                                    <p:anim calcmode="lin" valueType="num">
                                      <p:cBhvr additive="base">
                                        <p:cTn id="66" dur="500" fill="hold"/>
                                        <p:tgtEl>
                                          <p:spTgt spid="2">
                                            <p:graphicEl>
                                              <a:dgm id="{A17BF660-8638-4004-84FD-7C0334205F14}"/>
                                            </p:graphic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250"/>
                                  </p:stCondLst>
                                  <p:childTnLst>
                                    <p:set>
                                      <p:cBhvr>
                                        <p:cTn id="70" dur="1" fill="hold">
                                          <p:stCondLst>
                                            <p:cond delay="0"/>
                                          </p:stCondLst>
                                        </p:cTn>
                                        <p:tgtEl>
                                          <p:spTgt spid="2">
                                            <p:graphicEl>
                                              <a:dgm id="{81EC6EF1-BF81-4FBA-9F42-560415132D3D}"/>
                                            </p:graphicEl>
                                          </p:spTgt>
                                        </p:tgtEl>
                                        <p:attrNameLst>
                                          <p:attrName>style.visibility</p:attrName>
                                        </p:attrNameLst>
                                      </p:cBhvr>
                                      <p:to>
                                        <p:strVal val="visible"/>
                                      </p:to>
                                    </p:set>
                                    <p:anim calcmode="lin" valueType="num">
                                      <p:cBhvr additive="base">
                                        <p:cTn id="71" dur="500" fill="hold"/>
                                        <p:tgtEl>
                                          <p:spTgt spid="2">
                                            <p:graphicEl>
                                              <a:dgm id="{81EC6EF1-BF81-4FBA-9F42-560415132D3D}"/>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2">
                                            <p:graphicEl>
                                              <a:dgm id="{81EC6EF1-BF81-4FBA-9F42-560415132D3D}"/>
                                            </p:graphic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250"/>
                                  </p:stCondLst>
                                  <p:childTnLst>
                                    <p:set>
                                      <p:cBhvr>
                                        <p:cTn id="74" dur="1" fill="hold">
                                          <p:stCondLst>
                                            <p:cond delay="0"/>
                                          </p:stCondLst>
                                        </p:cTn>
                                        <p:tgtEl>
                                          <p:spTgt spid="2">
                                            <p:graphicEl>
                                              <a:dgm id="{28BAEA1F-3FFD-4896-A97A-B172D018F565}"/>
                                            </p:graphicEl>
                                          </p:spTgt>
                                        </p:tgtEl>
                                        <p:attrNameLst>
                                          <p:attrName>style.visibility</p:attrName>
                                        </p:attrNameLst>
                                      </p:cBhvr>
                                      <p:to>
                                        <p:strVal val="visible"/>
                                      </p:to>
                                    </p:set>
                                    <p:anim calcmode="lin" valueType="num">
                                      <p:cBhvr additive="base">
                                        <p:cTn id="75" dur="500" fill="hold"/>
                                        <p:tgtEl>
                                          <p:spTgt spid="2">
                                            <p:graphicEl>
                                              <a:dgm id="{28BAEA1F-3FFD-4896-A97A-B172D018F565}"/>
                                            </p:graphicEl>
                                          </p:spTgt>
                                        </p:tgtEl>
                                        <p:attrNameLst>
                                          <p:attrName>ppt_x</p:attrName>
                                        </p:attrNameLst>
                                      </p:cBhvr>
                                      <p:tavLst>
                                        <p:tav tm="0">
                                          <p:val>
                                            <p:strVal val="#ppt_x"/>
                                          </p:val>
                                        </p:tav>
                                        <p:tav tm="100000">
                                          <p:val>
                                            <p:strVal val="#ppt_x"/>
                                          </p:val>
                                        </p:tav>
                                      </p:tavLst>
                                    </p:anim>
                                    <p:anim calcmode="lin" valueType="num">
                                      <p:cBhvr additive="base">
                                        <p:cTn id="76" dur="500" fill="hold"/>
                                        <p:tgtEl>
                                          <p:spTgt spid="2">
                                            <p:graphicEl>
                                              <a:dgm id="{28BAEA1F-3FFD-4896-A97A-B172D018F565}"/>
                                            </p:graphicEl>
                                          </p:spTgt>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grpId="0" nodeType="clickEffect">
                                  <p:stCondLst>
                                    <p:cond delay="250"/>
                                  </p:stCondLst>
                                  <p:childTnLst>
                                    <p:set>
                                      <p:cBhvr>
                                        <p:cTn id="80" dur="1" fill="hold">
                                          <p:stCondLst>
                                            <p:cond delay="0"/>
                                          </p:stCondLst>
                                        </p:cTn>
                                        <p:tgtEl>
                                          <p:spTgt spid="2">
                                            <p:graphicEl>
                                              <a:dgm id="{F7567D0C-D27E-4C4F-A667-23FA1BD5BDA2}"/>
                                            </p:graphicEl>
                                          </p:spTgt>
                                        </p:tgtEl>
                                        <p:attrNameLst>
                                          <p:attrName>style.visibility</p:attrName>
                                        </p:attrNameLst>
                                      </p:cBhvr>
                                      <p:to>
                                        <p:strVal val="visible"/>
                                      </p:to>
                                    </p:set>
                                    <p:anim calcmode="lin" valueType="num">
                                      <p:cBhvr additive="base">
                                        <p:cTn id="81" dur="500" fill="hold"/>
                                        <p:tgtEl>
                                          <p:spTgt spid="2">
                                            <p:graphicEl>
                                              <a:dgm id="{F7567D0C-D27E-4C4F-A667-23FA1BD5BDA2}"/>
                                            </p:graphicEl>
                                          </p:spTgt>
                                        </p:tgtEl>
                                        <p:attrNameLst>
                                          <p:attrName>ppt_x</p:attrName>
                                        </p:attrNameLst>
                                      </p:cBhvr>
                                      <p:tavLst>
                                        <p:tav tm="0">
                                          <p:val>
                                            <p:strVal val="#ppt_x"/>
                                          </p:val>
                                        </p:tav>
                                        <p:tav tm="100000">
                                          <p:val>
                                            <p:strVal val="#ppt_x"/>
                                          </p:val>
                                        </p:tav>
                                      </p:tavLst>
                                    </p:anim>
                                    <p:anim calcmode="lin" valueType="num">
                                      <p:cBhvr additive="base">
                                        <p:cTn id="82" dur="500" fill="hold"/>
                                        <p:tgtEl>
                                          <p:spTgt spid="2">
                                            <p:graphicEl>
                                              <a:dgm id="{F7567D0C-D27E-4C4F-A667-23FA1BD5BDA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Table 20">
            <a:extLst>
              <a:ext uri="{FF2B5EF4-FFF2-40B4-BE49-F238E27FC236}">
                <a16:creationId xmlns:a16="http://schemas.microsoft.com/office/drawing/2014/main" id="{AB5DE59B-8EC4-9917-4A0E-AF03732DC572}"/>
              </a:ext>
            </a:extLst>
          </p:cNvPr>
          <p:cNvGraphicFramePr>
            <a:graphicFrameLocks noGrp="1"/>
          </p:cNvGraphicFramePr>
          <p:nvPr>
            <p:extLst>
              <p:ext uri="{D42A27DB-BD31-4B8C-83A1-F6EECF244321}">
                <p14:modId xmlns:p14="http://schemas.microsoft.com/office/powerpoint/2010/main" val="4077150249"/>
              </p:ext>
            </p:extLst>
          </p:nvPr>
        </p:nvGraphicFramePr>
        <p:xfrm>
          <a:off x="747250" y="127819"/>
          <a:ext cx="10992465" cy="6233160"/>
        </p:xfrm>
        <a:graphic>
          <a:graphicData uri="http://schemas.openxmlformats.org/drawingml/2006/table">
            <a:tbl>
              <a:tblPr firstRow="1" bandRow="1">
                <a:tableStyleId>{21E4AEA4-8DFA-4A89-87EB-49C32662AFE0}</a:tableStyleId>
              </a:tblPr>
              <a:tblGrid>
                <a:gridCol w="2071341">
                  <a:extLst>
                    <a:ext uri="{9D8B030D-6E8A-4147-A177-3AD203B41FA5}">
                      <a16:colId xmlns:a16="http://schemas.microsoft.com/office/drawing/2014/main" val="3913706824"/>
                    </a:ext>
                  </a:extLst>
                </a:gridCol>
                <a:gridCol w="4747678">
                  <a:extLst>
                    <a:ext uri="{9D8B030D-6E8A-4147-A177-3AD203B41FA5}">
                      <a16:colId xmlns:a16="http://schemas.microsoft.com/office/drawing/2014/main" val="1146430970"/>
                    </a:ext>
                  </a:extLst>
                </a:gridCol>
                <a:gridCol w="4173446">
                  <a:extLst>
                    <a:ext uri="{9D8B030D-6E8A-4147-A177-3AD203B41FA5}">
                      <a16:colId xmlns:a16="http://schemas.microsoft.com/office/drawing/2014/main" val="1604818776"/>
                    </a:ext>
                  </a:extLst>
                </a:gridCol>
              </a:tblGrid>
              <a:tr h="370840">
                <a:tc>
                  <a:txBody>
                    <a:bodyPr/>
                    <a:lstStyle/>
                    <a:p>
                      <a:pPr algn="ctr"/>
                      <a:r>
                        <a:rPr lang="en-IN" sz="1400"/>
                        <a:t>Feature</a:t>
                      </a:r>
                    </a:p>
                  </a:txBody>
                  <a:tcPr anchor="ctr"/>
                </a:tc>
                <a:tc>
                  <a:txBody>
                    <a:bodyPr/>
                    <a:lstStyle/>
                    <a:p>
                      <a:pPr algn="ctr"/>
                      <a:r>
                        <a:rPr lang="en-IN" sz="1400"/>
                        <a:t>Digital Electronics</a:t>
                      </a:r>
                    </a:p>
                  </a:txBody>
                  <a:tcPr anchor="ctr"/>
                </a:tc>
                <a:tc>
                  <a:txBody>
                    <a:bodyPr/>
                    <a:lstStyle/>
                    <a:p>
                      <a:pPr algn="ctr"/>
                      <a:r>
                        <a:rPr lang="en-IN" sz="1400"/>
                        <a:t>Analog Electronics</a:t>
                      </a:r>
                    </a:p>
                  </a:txBody>
                  <a:tcPr anchor="ctr"/>
                </a:tc>
                <a:extLst>
                  <a:ext uri="{0D108BD9-81ED-4DB2-BD59-A6C34878D82A}">
                    <a16:rowId xmlns:a16="http://schemas.microsoft.com/office/drawing/2014/main" val="1651936459"/>
                  </a:ext>
                </a:extLst>
              </a:tr>
              <a:tr h="370840">
                <a:tc>
                  <a:txBody>
                    <a:bodyPr/>
                    <a:lstStyle/>
                    <a:p>
                      <a:pPr algn="ctr"/>
                      <a:r>
                        <a:rPr lang="en-IN" sz="1800" b="1" dirty="0"/>
                        <a:t>Signal Type</a:t>
                      </a:r>
                      <a:endParaRPr lang="en-IN" sz="1800" dirty="0"/>
                    </a:p>
                  </a:txBody>
                  <a:tcPr anchor="ctr"/>
                </a:tc>
                <a:tc>
                  <a:txBody>
                    <a:bodyPr/>
                    <a:lstStyle/>
                    <a:p>
                      <a:pPr algn="ctr"/>
                      <a:r>
                        <a:rPr lang="en-US" sz="1800"/>
                        <a:t>Discrete (binary: 0 and 1)</a:t>
                      </a:r>
                    </a:p>
                  </a:txBody>
                  <a:tcPr anchor="ctr"/>
                </a:tc>
                <a:tc>
                  <a:txBody>
                    <a:bodyPr/>
                    <a:lstStyle/>
                    <a:p>
                      <a:pPr algn="ctr"/>
                      <a:r>
                        <a:rPr lang="en-US" sz="1800" dirty="0"/>
                        <a:t>Continuous (varies smoothly over a range)</a:t>
                      </a:r>
                      <a:r>
                        <a:rPr lang="en-IN" sz="1800" dirty="0"/>
                        <a:t> (voltages, currents)</a:t>
                      </a:r>
                      <a:endParaRPr lang="en-US" sz="1800" dirty="0"/>
                    </a:p>
                  </a:txBody>
                  <a:tcPr anchor="ctr"/>
                </a:tc>
                <a:extLst>
                  <a:ext uri="{0D108BD9-81ED-4DB2-BD59-A6C34878D82A}">
                    <a16:rowId xmlns:a16="http://schemas.microsoft.com/office/drawing/2014/main" val="1333280573"/>
                  </a:ext>
                </a:extLst>
              </a:tr>
              <a:tr h="370840">
                <a:tc>
                  <a:txBody>
                    <a:bodyPr/>
                    <a:lstStyle/>
                    <a:p>
                      <a:pPr algn="ctr"/>
                      <a:r>
                        <a:rPr lang="en-IN" sz="1800" b="1" dirty="0"/>
                        <a:t>Noise Susceptibility</a:t>
                      </a:r>
                      <a:endParaRPr lang="en-IN" sz="1800" dirty="0"/>
                    </a:p>
                  </a:txBody>
                  <a:tcPr anchor="ctr"/>
                </a:tc>
                <a:tc>
                  <a:txBody>
                    <a:bodyPr/>
                    <a:lstStyle/>
                    <a:p>
                      <a:pPr algn="ctr"/>
                      <a:r>
                        <a:rPr lang="en-US" sz="1800"/>
                        <a:t>Less susceptible to noise and signal degradation</a:t>
                      </a:r>
                    </a:p>
                  </a:txBody>
                  <a:tcPr anchor="ctr"/>
                </a:tc>
                <a:tc>
                  <a:txBody>
                    <a:bodyPr/>
                    <a:lstStyle/>
                    <a:p>
                      <a:pPr algn="ctr"/>
                      <a:r>
                        <a:rPr lang="en-US" sz="1800" dirty="0"/>
                        <a:t>More susceptible to noise and distortion</a:t>
                      </a:r>
                    </a:p>
                  </a:txBody>
                  <a:tcPr anchor="ctr"/>
                </a:tc>
                <a:extLst>
                  <a:ext uri="{0D108BD9-81ED-4DB2-BD59-A6C34878D82A}">
                    <a16:rowId xmlns:a16="http://schemas.microsoft.com/office/drawing/2014/main" val="1909847943"/>
                  </a:ext>
                </a:extLst>
              </a:tr>
              <a:tr h="370840">
                <a:tc>
                  <a:txBody>
                    <a:bodyPr/>
                    <a:lstStyle/>
                    <a:p>
                      <a:pPr algn="ctr"/>
                      <a:r>
                        <a:rPr lang="en-IN" sz="1800" b="1" dirty="0"/>
                        <a:t>Circuit Components</a:t>
                      </a:r>
                      <a:endParaRPr lang="en-IN" sz="1800" dirty="0"/>
                    </a:p>
                  </a:txBody>
                  <a:tcPr anchor="ctr"/>
                </a:tc>
                <a:tc>
                  <a:txBody>
                    <a:bodyPr/>
                    <a:lstStyle/>
                    <a:p>
                      <a:pPr algn="ctr"/>
                      <a:r>
                        <a:rPr lang="en-IN" sz="1800"/>
                        <a:t>Logic gates, flip-flops, microprocessors</a:t>
                      </a:r>
                    </a:p>
                  </a:txBody>
                  <a:tcPr anchor="ctr"/>
                </a:tc>
                <a:tc>
                  <a:txBody>
                    <a:bodyPr/>
                    <a:lstStyle/>
                    <a:p>
                      <a:pPr algn="ctr"/>
                      <a:r>
                        <a:rPr lang="en-IN" sz="1800" dirty="0"/>
                        <a:t>Resistors, capacitors, inductors, transistors</a:t>
                      </a:r>
                    </a:p>
                  </a:txBody>
                  <a:tcPr anchor="ctr"/>
                </a:tc>
                <a:extLst>
                  <a:ext uri="{0D108BD9-81ED-4DB2-BD59-A6C34878D82A}">
                    <a16:rowId xmlns:a16="http://schemas.microsoft.com/office/drawing/2014/main" val="162969049"/>
                  </a:ext>
                </a:extLst>
              </a:tr>
              <a:tr h="370840">
                <a:tc>
                  <a:txBody>
                    <a:bodyPr/>
                    <a:lstStyle/>
                    <a:p>
                      <a:pPr algn="ctr"/>
                      <a:r>
                        <a:rPr lang="en-IN" sz="1800" b="1"/>
                        <a:t>Complexity</a:t>
                      </a:r>
                      <a:endParaRPr lang="en-IN" sz="1800"/>
                    </a:p>
                  </a:txBody>
                  <a:tcPr anchor="ctr"/>
                </a:tc>
                <a:tc>
                  <a:txBody>
                    <a:bodyPr/>
                    <a:lstStyle/>
                    <a:p>
                      <a:pPr algn="ctr"/>
                      <a:r>
                        <a:rPr lang="en-US" sz="1800" dirty="0"/>
                        <a:t>Higher design complexity, easier to scale</a:t>
                      </a:r>
                    </a:p>
                  </a:txBody>
                  <a:tcPr anchor="ctr"/>
                </a:tc>
                <a:tc>
                  <a:txBody>
                    <a:bodyPr/>
                    <a:lstStyle/>
                    <a:p>
                      <a:pPr algn="ctr"/>
                      <a:r>
                        <a:rPr lang="en-US" sz="1800"/>
                        <a:t>Simpler circuits but harder to scale for complex functions</a:t>
                      </a:r>
                    </a:p>
                  </a:txBody>
                  <a:tcPr anchor="ctr"/>
                </a:tc>
                <a:extLst>
                  <a:ext uri="{0D108BD9-81ED-4DB2-BD59-A6C34878D82A}">
                    <a16:rowId xmlns:a16="http://schemas.microsoft.com/office/drawing/2014/main" val="3888563262"/>
                  </a:ext>
                </a:extLst>
              </a:tr>
              <a:tr h="370840">
                <a:tc>
                  <a:txBody>
                    <a:bodyPr/>
                    <a:lstStyle/>
                    <a:p>
                      <a:pPr algn="ctr"/>
                      <a:r>
                        <a:rPr lang="en-IN" sz="1800" b="1"/>
                        <a:t>Processing Speed</a:t>
                      </a:r>
                      <a:endParaRPr lang="en-IN" sz="1800"/>
                    </a:p>
                  </a:txBody>
                  <a:tcPr anchor="ctr"/>
                </a:tc>
                <a:tc>
                  <a:txBody>
                    <a:bodyPr/>
                    <a:lstStyle/>
                    <a:p>
                      <a:pPr algn="ctr"/>
                      <a:r>
                        <a:rPr lang="en-US" sz="1800" dirty="0"/>
                        <a:t>Generally faster for complex operations</a:t>
                      </a:r>
                    </a:p>
                  </a:txBody>
                  <a:tcPr anchor="ctr"/>
                </a:tc>
                <a:tc>
                  <a:txBody>
                    <a:bodyPr/>
                    <a:lstStyle/>
                    <a:p>
                      <a:pPr algn="ctr"/>
                      <a:r>
                        <a:rPr lang="en-US" sz="1800"/>
                        <a:t>Slower due to continuous signal processing</a:t>
                      </a:r>
                    </a:p>
                  </a:txBody>
                  <a:tcPr anchor="ctr"/>
                </a:tc>
                <a:extLst>
                  <a:ext uri="{0D108BD9-81ED-4DB2-BD59-A6C34878D82A}">
                    <a16:rowId xmlns:a16="http://schemas.microsoft.com/office/drawing/2014/main" val="204068694"/>
                  </a:ext>
                </a:extLst>
              </a:tr>
              <a:tr h="370840">
                <a:tc>
                  <a:txBody>
                    <a:bodyPr/>
                    <a:lstStyle/>
                    <a:p>
                      <a:pPr algn="ctr"/>
                      <a:r>
                        <a:rPr lang="en-IN" sz="1800" b="1" dirty="0"/>
                        <a:t>Power Consumption</a:t>
                      </a:r>
                      <a:endParaRPr lang="en-IN" sz="1800" dirty="0"/>
                    </a:p>
                  </a:txBody>
                  <a:tcPr anchor="ctr"/>
                </a:tc>
                <a:tc>
                  <a:txBody>
                    <a:bodyPr/>
                    <a:lstStyle/>
                    <a:p>
                      <a:pPr algn="ctr"/>
                      <a:r>
                        <a:rPr lang="en-US" sz="1800"/>
                        <a:t>Generally lower in idle state, but may vary depending on usage</a:t>
                      </a:r>
                    </a:p>
                  </a:txBody>
                  <a:tcPr anchor="ctr"/>
                </a:tc>
                <a:tc>
                  <a:txBody>
                    <a:bodyPr/>
                    <a:lstStyle/>
                    <a:p>
                      <a:pPr algn="ctr"/>
                      <a:r>
                        <a:rPr lang="en-US" sz="1800" dirty="0"/>
                        <a:t>Typically higher, continuous power usage</a:t>
                      </a:r>
                    </a:p>
                  </a:txBody>
                  <a:tcPr anchor="ctr"/>
                </a:tc>
                <a:extLst>
                  <a:ext uri="{0D108BD9-81ED-4DB2-BD59-A6C34878D82A}">
                    <a16:rowId xmlns:a16="http://schemas.microsoft.com/office/drawing/2014/main" val="1411271337"/>
                  </a:ext>
                </a:extLst>
              </a:tr>
              <a:tr h="370840">
                <a:tc>
                  <a:txBody>
                    <a:bodyPr/>
                    <a:lstStyle/>
                    <a:p>
                      <a:pPr algn="ctr"/>
                      <a:r>
                        <a:rPr lang="en-IN" sz="1800" b="1"/>
                        <a:t>Applications</a:t>
                      </a:r>
                      <a:endParaRPr lang="en-IN" sz="1800"/>
                    </a:p>
                  </a:txBody>
                  <a:tcPr anchor="ctr"/>
                </a:tc>
                <a:tc>
                  <a:txBody>
                    <a:bodyPr/>
                    <a:lstStyle/>
                    <a:p>
                      <a:pPr algn="ctr"/>
                      <a:r>
                        <a:rPr lang="en-IN" sz="1800"/>
                        <a:t>Computers, digital watches, smartphones, digital communication</a:t>
                      </a:r>
                    </a:p>
                  </a:txBody>
                  <a:tcPr anchor="ctr"/>
                </a:tc>
                <a:tc>
                  <a:txBody>
                    <a:bodyPr/>
                    <a:lstStyle/>
                    <a:p>
                      <a:pPr algn="ctr"/>
                      <a:r>
                        <a:rPr lang="en-IN" sz="1800"/>
                        <a:t>Audio amplifiers, radio transmitters, analog sensors</a:t>
                      </a:r>
                    </a:p>
                  </a:txBody>
                  <a:tcPr anchor="ctr"/>
                </a:tc>
                <a:extLst>
                  <a:ext uri="{0D108BD9-81ED-4DB2-BD59-A6C34878D82A}">
                    <a16:rowId xmlns:a16="http://schemas.microsoft.com/office/drawing/2014/main" val="748198977"/>
                  </a:ext>
                </a:extLst>
              </a:tr>
              <a:tr h="370840">
                <a:tc>
                  <a:txBody>
                    <a:bodyPr/>
                    <a:lstStyle/>
                    <a:p>
                      <a:pPr algn="ctr"/>
                      <a:r>
                        <a:rPr lang="en-IN" sz="1800" b="1" dirty="0"/>
                        <a:t>Design Flexibility</a:t>
                      </a:r>
                      <a:endParaRPr lang="en-IN" sz="1800" dirty="0"/>
                    </a:p>
                  </a:txBody>
                  <a:tcPr anchor="ctr"/>
                </a:tc>
                <a:tc>
                  <a:txBody>
                    <a:bodyPr/>
                    <a:lstStyle/>
                    <a:p>
                      <a:pPr algn="ctr"/>
                      <a:r>
                        <a:rPr lang="en-US" sz="1800"/>
                        <a:t>Highly flexible, easy to replicate and modify</a:t>
                      </a:r>
                    </a:p>
                  </a:txBody>
                  <a:tcPr anchor="ctr"/>
                </a:tc>
                <a:tc>
                  <a:txBody>
                    <a:bodyPr/>
                    <a:lstStyle/>
                    <a:p>
                      <a:pPr algn="ctr"/>
                      <a:r>
                        <a:rPr lang="en-US" sz="1800" dirty="0"/>
                        <a:t>Less flexible, harder to replicate without distortion</a:t>
                      </a:r>
                    </a:p>
                  </a:txBody>
                  <a:tcPr anchor="ctr"/>
                </a:tc>
                <a:extLst>
                  <a:ext uri="{0D108BD9-81ED-4DB2-BD59-A6C34878D82A}">
                    <a16:rowId xmlns:a16="http://schemas.microsoft.com/office/drawing/2014/main" val="3604113891"/>
                  </a:ext>
                </a:extLst>
              </a:tr>
              <a:tr h="370840">
                <a:tc>
                  <a:txBody>
                    <a:bodyPr/>
                    <a:lstStyle/>
                    <a:p>
                      <a:pPr algn="ctr"/>
                      <a:r>
                        <a:rPr lang="en-IN" sz="1800" b="1"/>
                        <a:t>Conversion</a:t>
                      </a:r>
                      <a:endParaRPr lang="en-IN" sz="1800"/>
                    </a:p>
                  </a:txBody>
                  <a:tcPr anchor="ctr"/>
                </a:tc>
                <a:tc>
                  <a:txBody>
                    <a:bodyPr/>
                    <a:lstStyle/>
                    <a:p>
                      <a:pPr algn="ctr"/>
                      <a:r>
                        <a:rPr lang="en-US" sz="1800"/>
                        <a:t>Requires Analog-to-Digital (ADC) and Digital-to-Analog Converters (DAC)</a:t>
                      </a:r>
                    </a:p>
                  </a:txBody>
                  <a:tcPr anchor="ctr"/>
                </a:tc>
                <a:tc>
                  <a:txBody>
                    <a:bodyPr/>
                    <a:lstStyle/>
                    <a:p>
                      <a:pPr algn="ctr"/>
                      <a:r>
                        <a:rPr lang="en-US" sz="1800" dirty="0"/>
                        <a:t>Direct processing without conversion needed</a:t>
                      </a:r>
                    </a:p>
                  </a:txBody>
                  <a:tcPr anchor="ctr"/>
                </a:tc>
                <a:extLst>
                  <a:ext uri="{0D108BD9-81ED-4DB2-BD59-A6C34878D82A}">
                    <a16:rowId xmlns:a16="http://schemas.microsoft.com/office/drawing/2014/main" val="1306781130"/>
                  </a:ext>
                </a:extLst>
              </a:tr>
              <a:tr h="370840">
                <a:tc>
                  <a:txBody>
                    <a:bodyPr/>
                    <a:lstStyle/>
                    <a:p>
                      <a:pPr algn="ctr"/>
                      <a:r>
                        <a:rPr lang="en-IN" sz="1800" b="1"/>
                        <a:t>Cost</a:t>
                      </a:r>
                      <a:endParaRPr lang="en-IN" sz="1800"/>
                    </a:p>
                  </a:txBody>
                  <a:tcPr anchor="ctr"/>
                </a:tc>
                <a:tc>
                  <a:txBody>
                    <a:bodyPr/>
                    <a:lstStyle/>
                    <a:p>
                      <a:pPr algn="ctr"/>
                      <a:r>
                        <a:rPr lang="en-US" sz="1800"/>
                        <a:t>Generally lower for large-scale production</a:t>
                      </a:r>
                    </a:p>
                  </a:txBody>
                  <a:tcPr anchor="ctr"/>
                </a:tc>
                <a:tc>
                  <a:txBody>
                    <a:bodyPr/>
                    <a:lstStyle/>
                    <a:p>
                      <a:pPr algn="ctr"/>
                      <a:r>
                        <a:rPr lang="en-US" sz="1800" dirty="0"/>
                        <a:t>Can be higher for high-precision component</a:t>
                      </a:r>
                    </a:p>
                  </a:txBody>
                  <a:tcPr anchor="ctr"/>
                </a:tc>
                <a:extLst>
                  <a:ext uri="{0D108BD9-81ED-4DB2-BD59-A6C34878D82A}">
                    <a16:rowId xmlns:a16="http://schemas.microsoft.com/office/drawing/2014/main" val="3639540897"/>
                  </a:ext>
                </a:extLst>
              </a:tr>
            </a:tbl>
          </a:graphicData>
        </a:graphic>
      </p:graphicFrame>
    </p:spTree>
    <p:extLst>
      <p:ext uri="{BB962C8B-B14F-4D97-AF65-F5344CB8AC3E}">
        <p14:creationId xmlns:p14="http://schemas.microsoft.com/office/powerpoint/2010/main" val="1459463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76501FA3-E7DC-9A0D-40F4-45B0B4107FF1}"/>
              </a:ext>
            </a:extLst>
          </p:cNvPr>
          <p:cNvGraphicFramePr/>
          <p:nvPr>
            <p:extLst>
              <p:ext uri="{D42A27DB-BD31-4B8C-83A1-F6EECF244321}">
                <p14:modId xmlns:p14="http://schemas.microsoft.com/office/powerpoint/2010/main" val="642277029"/>
              </p:ext>
            </p:extLst>
          </p:nvPr>
        </p:nvGraphicFramePr>
        <p:xfrm>
          <a:off x="766916" y="2546555"/>
          <a:ext cx="11248103" cy="31364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5A19AF3B-9650-12D8-3571-680976DB20D1}"/>
              </a:ext>
            </a:extLst>
          </p:cNvPr>
          <p:cNvSpPr txBox="1"/>
          <p:nvPr/>
        </p:nvSpPr>
        <p:spPr>
          <a:xfrm>
            <a:off x="2930013" y="710069"/>
            <a:ext cx="6096000"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b="1" i="0" dirty="0">
                <a:solidFill>
                  <a:srgbClr val="444444"/>
                </a:solidFill>
                <a:effectLst/>
                <a:latin typeface="Poppins" panose="00000500000000000000" pitchFamily="2" charset="0"/>
              </a:rPr>
              <a:t>Types of Number Systems</a:t>
            </a:r>
          </a:p>
        </p:txBody>
      </p:sp>
      <p:sp>
        <p:nvSpPr>
          <p:cNvPr id="6" name="TextBox 5">
            <a:extLst>
              <a:ext uri="{FF2B5EF4-FFF2-40B4-BE49-F238E27FC236}">
                <a16:creationId xmlns:a16="http://schemas.microsoft.com/office/drawing/2014/main" id="{F41B815B-99D4-5573-B974-37643AC7443A}"/>
              </a:ext>
            </a:extLst>
          </p:cNvPr>
          <p:cNvSpPr txBox="1"/>
          <p:nvPr/>
        </p:nvSpPr>
        <p:spPr>
          <a:xfrm>
            <a:off x="963560" y="1535130"/>
            <a:ext cx="10874478" cy="646331"/>
          </a:xfrm>
          <a:prstGeom prst="rect">
            <a:avLst/>
          </a:prstGeom>
          <a:noFill/>
        </p:spPr>
        <p:txBody>
          <a:bodyPr wrap="square">
            <a:spAutoFit/>
          </a:bodyPr>
          <a:lstStyle/>
          <a:p>
            <a:pPr algn="just"/>
            <a:r>
              <a:rPr lang="en-US" b="0" i="0" dirty="0">
                <a:effectLst/>
                <a:latin typeface="Poppins" panose="00000500000000000000" pitchFamily="2" charset="0"/>
              </a:rPr>
              <a:t>There are various types of number systems in mathematics. The four most common number system types are:</a:t>
            </a:r>
          </a:p>
        </p:txBody>
      </p:sp>
    </p:spTree>
    <p:extLst>
      <p:ext uri="{BB962C8B-B14F-4D97-AF65-F5344CB8AC3E}">
        <p14:creationId xmlns:p14="http://schemas.microsoft.com/office/powerpoint/2010/main" val="1160038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6E6290-B512-512C-F0B9-8AD415884B3C}"/>
              </a:ext>
            </a:extLst>
          </p:cNvPr>
          <p:cNvSpPr txBox="1"/>
          <p:nvPr/>
        </p:nvSpPr>
        <p:spPr>
          <a:xfrm>
            <a:off x="2861187" y="474095"/>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algn="ctr"/>
            <a:r>
              <a:rPr lang="en-US" sz="1800" b="1" i="0" dirty="0">
                <a:solidFill>
                  <a:schemeClr val="tx1"/>
                </a:solidFill>
                <a:effectLst/>
                <a:latin typeface="ui-sans-serif"/>
              </a:rPr>
              <a:t>Number Systems &amp; representation </a:t>
            </a:r>
            <a:endParaRPr lang="en-IN" sz="1800" dirty="0">
              <a:solidFill>
                <a:schemeClr val="tx1"/>
              </a:solidFill>
            </a:endParaRPr>
          </a:p>
        </p:txBody>
      </p:sp>
      <p:pic>
        <p:nvPicPr>
          <p:cNvPr id="4" name="Picture 3">
            <a:extLst>
              <a:ext uri="{FF2B5EF4-FFF2-40B4-BE49-F238E27FC236}">
                <a16:creationId xmlns:a16="http://schemas.microsoft.com/office/drawing/2014/main" id="{51AFD60A-A2E3-C45B-0091-3FD9C16C2979}"/>
              </a:ext>
            </a:extLst>
          </p:cNvPr>
          <p:cNvPicPr>
            <a:picLocks noChangeAspect="1"/>
          </p:cNvPicPr>
          <p:nvPr/>
        </p:nvPicPr>
        <p:blipFill>
          <a:blip r:embed="rId2"/>
          <a:srcRect t="21694"/>
          <a:stretch/>
        </p:blipFill>
        <p:spPr>
          <a:xfrm>
            <a:off x="687620" y="1425677"/>
            <a:ext cx="10578570" cy="3736258"/>
          </a:xfrm>
          <a:prstGeom prst="rect">
            <a:avLst/>
          </a:prstGeom>
        </p:spPr>
      </p:pic>
    </p:spTree>
    <p:extLst>
      <p:ext uri="{BB962C8B-B14F-4D97-AF65-F5344CB8AC3E}">
        <p14:creationId xmlns:p14="http://schemas.microsoft.com/office/powerpoint/2010/main" val="332693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613B16-44AC-5533-30A7-79EA161CF08B}"/>
              </a:ext>
            </a:extLst>
          </p:cNvPr>
          <p:cNvPicPr>
            <a:picLocks noChangeAspect="1"/>
          </p:cNvPicPr>
          <p:nvPr/>
        </p:nvPicPr>
        <p:blipFill>
          <a:blip r:embed="rId2"/>
          <a:stretch>
            <a:fillRect/>
          </a:stretch>
        </p:blipFill>
        <p:spPr>
          <a:xfrm>
            <a:off x="2963235" y="2018538"/>
            <a:ext cx="6049219" cy="4315427"/>
          </a:xfrm>
          <a:prstGeom prst="rect">
            <a:avLst/>
          </a:prstGeom>
        </p:spPr>
      </p:pic>
      <p:sp>
        <p:nvSpPr>
          <p:cNvPr id="4" name="TextBox 3">
            <a:extLst>
              <a:ext uri="{FF2B5EF4-FFF2-40B4-BE49-F238E27FC236}">
                <a16:creationId xmlns:a16="http://schemas.microsoft.com/office/drawing/2014/main" id="{C68E4DED-643D-D8D1-D1DB-13DF5A69A837}"/>
              </a:ext>
            </a:extLst>
          </p:cNvPr>
          <p:cNvSpPr txBox="1"/>
          <p:nvPr/>
        </p:nvSpPr>
        <p:spPr>
          <a:xfrm>
            <a:off x="2753033" y="375773"/>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sz="1800" b="1" i="0" u="none" strike="noStrike" baseline="0" dirty="0">
                <a:solidFill>
                  <a:srgbClr val="000000"/>
                </a:solidFill>
              </a:rPr>
              <a:t>Any other number system to Decimal Conversion </a:t>
            </a:r>
            <a:endParaRPr lang="en-IN" b="1" dirty="0"/>
          </a:p>
        </p:txBody>
      </p:sp>
      <p:sp>
        <p:nvSpPr>
          <p:cNvPr id="5" name="TextBox 4">
            <a:extLst>
              <a:ext uri="{FF2B5EF4-FFF2-40B4-BE49-F238E27FC236}">
                <a16:creationId xmlns:a16="http://schemas.microsoft.com/office/drawing/2014/main" id="{825E53AF-9F14-84C9-165E-2879B9D9072A}"/>
              </a:ext>
            </a:extLst>
          </p:cNvPr>
          <p:cNvSpPr txBox="1"/>
          <p:nvPr/>
        </p:nvSpPr>
        <p:spPr>
          <a:xfrm>
            <a:off x="1356853" y="1339334"/>
            <a:ext cx="6096000" cy="369332"/>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sz="1800" i="0" u="none" strike="noStrike" baseline="0" dirty="0">
                <a:solidFill>
                  <a:srgbClr val="000000"/>
                </a:solidFill>
              </a:rPr>
              <a:t>Here Binary no. system, therefore, base is 2 </a:t>
            </a:r>
            <a:endParaRPr lang="en-IN" dirty="0"/>
          </a:p>
        </p:txBody>
      </p:sp>
    </p:spTree>
    <p:extLst>
      <p:ext uri="{BB962C8B-B14F-4D97-AF65-F5344CB8AC3E}">
        <p14:creationId xmlns:p14="http://schemas.microsoft.com/office/powerpoint/2010/main" val="1326360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726BB9-F77E-4348-557D-63C6A9EF88A6}"/>
              </a:ext>
            </a:extLst>
          </p:cNvPr>
          <p:cNvSpPr txBox="1"/>
          <p:nvPr/>
        </p:nvSpPr>
        <p:spPr>
          <a:xfrm>
            <a:off x="2821859" y="503592"/>
            <a:ext cx="6096000" cy="83099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sz="2400" b="1" i="0" u="none" strike="noStrike" baseline="0" dirty="0">
                <a:solidFill>
                  <a:srgbClr val="000000"/>
                </a:solidFill>
              </a:rPr>
              <a:t>Any other number system to Decimal Conversion </a:t>
            </a:r>
            <a:endParaRPr lang="en-IN" sz="2400" b="1" dirty="0"/>
          </a:p>
        </p:txBody>
      </p:sp>
      <p:sp>
        <p:nvSpPr>
          <p:cNvPr id="5" name="TextBox 4">
            <a:extLst>
              <a:ext uri="{FF2B5EF4-FFF2-40B4-BE49-F238E27FC236}">
                <a16:creationId xmlns:a16="http://schemas.microsoft.com/office/drawing/2014/main" id="{B3BE5C4D-1B20-A1AF-5B68-5C0914F5B133}"/>
              </a:ext>
            </a:extLst>
          </p:cNvPr>
          <p:cNvSpPr txBox="1"/>
          <p:nvPr/>
        </p:nvSpPr>
        <p:spPr>
          <a:xfrm>
            <a:off x="1705898" y="2136338"/>
            <a:ext cx="8327922" cy="2031325"/>
          </a:xfrm>
          <a:prstGeom prst="rect">
            <a:avLst/>
          </a:prstGeom>
          <a:noFill/>
        </p:spPr>
        <p:txBody>
          <a:bodyPr wrap="square">
            <a:spAutoFit/>
          </a:bodyPr>
          <a:lstStyle/>
          <a:p>
            <a:r>
              <a:rPr lang="en-IN" sz="1800" b="1" i="0" u="none" strike="noStrike" baseline="0" dirty="0">
                <a:solidFill>
                  <a:srgbClr val="000000"/>
                </a:solidFill>
                <a:latin typeface="Times New Roman" panose="02020603050405020304" pitchFamily="18" charset="0"/>
              </a:rPr>
              <a:t>Examples: </a:t>
            </a:r>
          </a:p>
          <a:p>
            <a:endParaRPr lang="en-IN" sz="1800" b="0" i="0" u="none" strike="noStrike" baseline="0" dirty="0">
              <a:solidFill>
                <a:srgbClr val="000000"/>
              </a:solidFill>
              <a:latin typeface="Times New Roman" panose="02020603050405020304" pitchFamily="18" charset="0"/>
            </a:endParaRPr>
          </a:p>
          <a:p>
            <a:r>
              <a:rPr lang="en-US" sz="1800" b="1" i="0" u="none" strike="noStrike" baseline="0" dirty="0">
                <a:solidFill>
                  <a:srgbClr val="000000"/>
                </a:solidFill>
                <a:latin typeface="Times New Roman" panose="02020603050405020304" pitchFamily="18" charset="0"/>
              </a:rPr>
              <a:t>1. Convert binary (10101)</a:t>
            </a:r>
            <a:r>
              <a:rPr lang="en-US" sz="1100" b="1" i="0" u="none" strike="noStrike" baseline="0" dirty="0">
                <a:solidFill>
                  <a:srgbClr val="000000"/>
                </a:solidFill>
                <a:latin typeface="Times New Roman" panose="02020603050405020304" pitchFamily="18" charset="0"/>
              </a:rPr>
              <a:t>2 </a:t>
            </a:r>
            <a:r>
              <a:rPr lang="en-US" sz="1800" b="1" i="0" u="none" strike="noStrike" baseline="0" dirty="0">
                <a:solidFill>
                  <a:srgbClr val="000000"/>
                </a:solidFill>
                <a:latin typeface="Times New Roman" panose="02020603050405020304" pitchFamily="18" charset="0"/>
              </a:rPr>
              <a:t>to decimal. </a:t>
            </a:r>
          </a:p>
          <a:p>
            <a:endParaRPr lang="en-IN" sz="1800" b="0" i="0" u="none" strike="noStrike" baseline="0" dirty="0">
              <a:solidFill>
                <a:srgbClr val="000000"/>
              </a:solidFill>
              <a:latin typeface="Times New Roman" panose="02020603050405020304" pitchFamily="18" charset="0"/>
            </a:endParaRPr>
          </a:p>
          <a:p>
            <a:endParaRPr lang="en-US" dirty="0">
              <a:solidFill>
                <a:srgbClr val="000000"/>
              </a:solidFill>
              <a:latin typeface="Times New Roman" panose="02020603050405020304" pitchFamily="18" charset="0"/>
            </a:endParaRPr>
          </a:p>
          <a:p>
            <a:pPr algn="l"/>
            <a:endParaRPr lang="en-IN" sz="1800" b="0" i="0" u="none" strike="noStrike" baseline="0" dirty="0">
              <a:solidFill>
                <a:srgbClr val="000000"/>
              </a:solidFill>
              <a:latin typeface="Times New Roman" panose="02020603050405020304" pitchFamily="18" charset="0"/>
            </a:endParaRPr>
          </a:p>
          <a:p>
            <a:r>
              <a:rPr lang="en-US" sz="1800" b="1" i="0" u="none" strike="noStrike" baseline="0" dirty="0">
                <a:solidFill>
                  <a:srgbClr val="000000"/>
                </a:solidFill>
                <a:latin typeface="Times New Roman" panose="02020603050405020304" pitchFamily="18" charset="0"/>
              </a:rPr>
              <a:t>2. Convert binary (10110.001)</a:t>
            </a:r>
            <a:r>
              <a:rPr kumimoji="0" lang="en-IN" sz="1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mn-cs"/>
              </a:rPr>
              <a:t>2</a:t>
            </a:r>
            <a:r>
              <a:rPr lang="en-US" sz="1800" b="1" i="0" u="none" strike="noStrike" baseline="0" dirty="0">
                <a:solidFill>
                  <a:srgbClr val="000000"/>
                </a:solidFill>
                <a:latin typeface="Times New Roman" panose="02020603050405020304" pitchFamily="18" charset="0"/>
              </a:rPr>
              <a:t> to decimal. </a:t>
            </a:r>
          </a:p>
        </p:txBody>
      </p:sp>
    </p:spTree>
    <p:extLst>
      <p:ext uri="{BB962C8B-B14F-4D97-AF65-F5344CB8AC3E}">
        <p14:creationId xmlns:p14="http://schemas.microsoft.com/office/powerpoint/2010/main" val="4148558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154E6D-A380-48EC-12C9-6A6AFA3BCFC5}"/>
              </a:ext>
            </a:extLst>
          </p:cNvPr>
          <p:cNvSpPr txBox="1"/>
          <p:nvPr/>
        </p:nvSpPr>
        <p:spPr>
          <a:xfrm>
            <a:off x="855406" y="1052107"/>
            <a:ext cx="11090788" cy="2499210"/>
          </a:xfrm>
          <a:prstGeom prst="rect">
            <a:avLst/>
          </a:prstGeom>
          <a:noFill/>
        </p:spPr>
        <p:txBody>
          <a:bodyPr wrap="square">
            <a:spAutoFit/>
          </a:bodyPr>
          <a:lstStyle/>
          <a:p>
            <a:r>
              <a:rPr lang="en-US" sz="2000" b="0" i="0" u="none" strike="noStrike" baseline="0" dirty="0">
                <a:solidFill>
                  <a:srgbClr val="000000"/>
                </a:solidFill>
                <a:latin typeface="Times New Roman" panose="02020603050405020304" pitchFamily="18" charset="0"/>
              </a:rPr>
              <a:t>For converting decimal to </a:t>
            </a:r>
            <a:r>
              <a:rPr lang="en-US" sz="2000" dirty="0">
                <a:solidFill>
                  <a:srgbClr val="000000"/>
                </a:solidFill>
                <a:latin typeface="Times New Roman" panose="02020603050405020304" pitchFamily="18" charset="0"/>
              </a:rPr>
              <a:t>any other system</a:t>
            </a:r>
            <a:r>
              <a:rPr lang="en-US" sz="2000" b="0" i="0" u="none" strike="noStrike" baseline="0" dirty="0">
                <a:solidFill>
                  <a:srgbClr val="000000"/>
                </a:solidFill>
                <a:latin typeface="Times New Roman" panose="02020603050405020304" pitchFamily="18" charset="0"/>
              </a:rPr>
              <a:t>, there are two steps required to perform, which are as follows: </a:t>
            </a:r>
          </a:p>
          <a:p>
            <a:endParaRPr lang="en-US" sz="2000" b="0" i="0" u="none" strike="noStrike" baseline="0" dirty="0">
              <a:solidFill>
                <a:srgbClr val="000000"/>
              </a:solidFill>
              <a:latin typeface="Times New Roman" panose="02020603050405020304" pitchFamily="18" charset="0"/>
            </a:endParaRPr>
          </a:p>
          <a:p>
            <a:pPr marL="285750" indent="-285750">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Divide the given number by 2. </a:t>
            </a:r>
          </a:p>
          <a:p>
            <a:pPr marL="285750" indent="-285750">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Get the integer quotient for the next iteration. </a:t>
            </a:r>
          </a:p>
          <a:p>
            <a:pPr marL="285750" indent="-285750">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Get the remainder for the digit. </a:t>
            </a:r>
          </a:p>
          <a:p>
            <a:pPr marL="285750" indent="-285750">
              <a:lnSpc>
                <a:spcPct val="150000"/>
              </a:lnSpc>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Repeat the steps until the quotient is equal to 0 or indivisible no. </a:t>
            </a:r>
          </a:p>
        </p:txBody>
      </p:sp>
      <p:sp>
        <p:nvSpPr>
          <p:cNvPr id="5" name="TextBox 4">
            <a:extLst>
              <a:ext uri="{FF2B5EF4-FFF2-40B4-BE49-F238E27FC236}">
                <a16:creationId xmlns:a16="http://schemas.microsoft.com/office/drawing/2014/main" id="{A88279B6-54D1-090D-EA34-306B37189520}"/>
              </a:ext>
            </a:extLst>
          </p:cNvPr>
          <p:cNvSpPr txBox="1"/>
          <p:nvPr/>
        </p:nvSpPr>
        <p:spPr>
          <a:xfrm>
            <a:off x="2782529" y="434767"/>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sz="1800" b="1" i="0" u="none" strike="noStrike" baseline="0" dirty="0">
                <a:solidFill>
                  <a:srgbClr val="000000"/>
                </a:solidFill>
                <a:latin typeface="Times New Roman" panose="02020603050405020304" pitchFamily="18" charset="0"/>
              </a:rPr>
              <a:t>Decimal to Other </a:t>
            </a:r>
            <a:r>
              <a:rPr lang="en-IN" b="1" dirty="0">
                <a:solidFill>
                  <a:srgbClr val="000000"/>
                </a:solidFill>
                <a:latin typeface="Times New Roman" panose="02020603050405020304" pitchFamily="18" charset="0"/>
              </a:rPr>
              <a:t>number system</a:t>
            </a:r>
            <a:endParaRPr lang="en-IN" sz="1800" b="0" i="0" u="none" strike="noStrike" baseline="0" dirty="0">
              <a:solidFill>
                <a:srgbClr val="000000"/>
              </a:solidFill>
              <a:latin typeface="Times New Roman" panose="02020603050405020304" pitchFamily="18" charset="0"/>
            </a:endParaRPr>
          </a:p>
        </p:txBody>
      </p:sp>
      <p:sp>
        <p:nvSpPr>
          <p:cNvPr id="7" name="TextBox 6">
            <a:extLst>
              <a:ext uri="{FF2B5EF4-FFF2-40B4-BE49-F238E27FC236}">
                <a16:creationId xmlns:a16="http://schemas.microsoft.com/office/drawing/2014/main" id="{0BCD6304-043A-12E9-2B47-3C6873B5C443}"/>
              </a:ext>
            </a:extLst>
          </p:cNvPr>
          <p:cNvSpPr txBox="1"/>
          <p:nvPr/>
        </p:nvSpPr>
        <p:spPr>
          <a:xfrm>
            <a:off x="2177845" y="3520987"/>
            <a:ext cx="7836309" cy="2862322"/>
          </a:xfrm>
          <a:prstGeom prst="rect">
            <a:avLst/>
          </a:prstGeom>
          <a:noFill/>
        </p:spPr>
        <p:txBody>
          <a:bodyPr wrap="square">
            <a:spAutoFit/>
          </a:bodyPr>
          <a:lstStyle/>
          <a:p>
            <a:r>
              <a:rPr lang="en-IN" sz="2000" b="1" i="0" u="none" strike="noStrike" baseline="0" dirty="0">
                <a:solidFill>
                  <a:srgbClr val="000000"/>
                </a:solidFill>
                <a:latin typeface="Times New Roman" panose="02020603050405020304" pitchFamily="18" charset="0"/>
              </a:rPr>
              <a:t>Examples: </a:t>
            </a:r>
            <a:endParaRPr lang="en-IN" sz="2000" b="0" i="0" u="none" strike="noStrike" baseline="0" dirty="0">
              <a:solidFill>
                <a:srgbClr val="000000"/>
              </a:solidFill>
              <a:latin typeface="Times New Roman" panose="02020603050405020304" pitchFamily="18" charset="0"/>
            </a:endParaRPr>
          </a:p>
          <a:p>
            <a:r>
              <a:rPr lang="en-IN" sz="2000" b="0" i="0" u="none" strike="noStrike" baseline="0" dirty="0">
                <a:solidFill>
                  <a:srgbClr val="000000"/>
                </a:solidFill>
                <a:latin typeface="Times New Roman" panose="02020603050405020304" pitchFamily="18" charset="0"/>
              </a:rPr>
              <a:t>Convert (13)</a:t>
            </a:r>
            <a:r>
              <a:rPr lang="en-IN" sz="1200" b="0" i="0" u="none" strike="noStrike" baseline="0" dirty="0">
                <a:solidFill>
                  <a:srgbClr val="000000"/>
                </a:solidFill>
                <a:latin typeface="Times New Roman" panose="02020603050405020304" pitchFamily="18" charset="0"/>
              </a:rPr>
              <a:t>10 </a:t>
            </a:r>
            <a:r>
              <a:rPr lang="en-IN" sz="2000" b="0" i="0" u="none" strike="noStrike" baseline="0" dirty="0">
                <a:solidFill>
                  <a:srgbClr val="000000"/>
                </a:solidFill>
                <a:latin typeface="Times New Roman" panose="02020603050405020304" pitchFamily="18" charset="0"/>
              </a:rPr>
              <a:t>to binary: </a:t>
            </a:r>
          </a:p>
          <a:p>
            <a:endParaRPr lang="en-IN" sz="2000" b="0" i="0" u="none" strike="noStrike" baseline="0" dirty="0">
              <a:solidFill>
                <a:srgbClr val="000000"/>
              </a:solidFill>
              <a:latin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rPr>
              <a:t>Division by 2 </a:t>
            </a:r>
            <a:r>
              <a:rPr lang="en-IN" sz="2000" b="0" i="0" u="none" strike="noStrike" baseline="0" dirty="0">
                <a:solidFill>
                  <a:srgbClr val="000000"/>
                </a:solidFill>
                <a:latin typeface="Times New Roman" panose="02020603050405020304" pitchFamily="18" charset="0"/>
              </a:rPr>
              <a:t>			</a:t>
            </a:r>
            <a:r>
              <a:rPr lang="en-IN" sz="2000" b="1" i="0" u="none" strike="noStrike" baseline="0" dirty="0">
                <a:solidFill>
                  <a:srgbClr val="000000"/>
                </a:solidFill>
                <a:latin typeface="Times New Roman" panose="02020603050405020304" pitchFamily="18" charset="0"/>
              </a:rPr>
              <a:t>Quotient </a:t>
            </a:r>
            <a:r>
              <a:rPr lang="en-IN" sz="2000" b="0" i="0" u="none" strike="noStrike" baseline="0" dirty="0">
                <a:solidFill>
                  <a:srgbClr val="000000"/>
                </a:solidFill>
                <a:latin typeface="Times New Roman" panose="02020603050405020304" pitchFamily="18" charset="0"/>
              </a:rPr>
              <a:t>	</a:t>
            </a:r>
            <a:r>
              <a:rPr lang="en-IN" sz="2000" b="1" i="0" u="none" strike="noStrike" baseline="0" dirty="0">
                <a:solidFill>
                  <a:srgbClr val="000000"/>
                </a:solidFill>
                <a:latin typeface="Times New Roman" panose="02020603050405020304" pitchFamily="18" charset="0"/>
              </a:rPr>
              <a:t>Remainder </a:t>
            </a:r>
            <a:r>
              <a:rPr lang="en-IN" sz="2000" b="0" i="0" u="none" strike="noStrike" baseline="0" dirty="0">
                <a:solidFill>
                  <a:srgbClr val="000000"/>
                </a:solidFill>
                <a:latin typeface="Times New Roman" panose="02020603050405020304" pitchFamily="18" charset="0"/>
              </a:rPr>
              <a:t>	</a:t>
            </a:r>
          </a:p>
          <a:p>
            <a:r>
              <a:rPr lang="en-IN" sz="2000" b="0" i="0" u="none" strike="noStrike" baseline="0" dirty="0">
                <a:solidFill>
                  <a:srgbClr val="000000"/>
                </a:solidFill>
                <a:latin typeface="Times New Roman" panose="02020603050405020304" pitchFamily="18" charset="0"/>
              </a:rPr>
              <a:t>13/2 					6 		1(LSB) 	</a:t>
            </a:r>
          </a:p>
          <a:p>
            <a:r>
              <a:rPr lang="en-IN" sz="2000" b="0" i="0" u="none" strike="noStrike" baseline="0" dirty="0">
                <a:solidFill>
                  <a:srgbClr val="000000"/>
                </a:solidFill>
                <a:latin typeface="Times New Roman" panose="02020603050405020304" pitchFamily="18" charset="0"/>
              </a:rPr>
              <a:t>6/2 						3 		0 	</a:t>
            </a:r>
          </a:p>
          <a:p>
            <a:r>
              <a:rPr lang="en-IN" sz="2000" b="0" i="0" u="none" strike="noStrike" baseline="0" dirty="0">
                <a:solidFill>
                  <a:srgbClr val="000000"/>
                </a:solidFill>
                <a:latin typeface="Times New Roman" panose="02020603050405020304" pitchFamily="18" charset="0"/>
              </a:rPr>
              <a:t>3/2 						1 	</a:t>
            </a:r>
            <a:r>
              <a:rPr lang="en-IN" sz="2000" dirty="0">
                <a:solidFill>
                  <a:srgbClr val="000000"/>
                </a:solidFill>
                <a:latin typeface="Times New Roman" panose="02020603050405020304" pitchFamily="18" charset="0"/>
              </a:rPr>
              <a:t>	</a:t>
            </a:r>
            <a:r>
              <a:rPr lang="en-IN" sz="2000" b="0" i="0" u="none" strike="noStrike" baseline="0" dirty="0">
                <a:solidFill>
                  <a:srgbClr val="000000"/>
                </a:solidFill>
                <a:latin typeface="Times New Roman" panose="02020603050405020304" pitchFamily="18" charset="0"/>
              </a:rPr>
              <a:t>1 	</a:t>
            </a:r>
          </a:p>
          <a:p>
            <a:r>
              <a:rPr lang="en-IN" sz="2000" b="0" i="0" u="none" strike="noStrike" baseline="0" dirty="0">
                <a:solidFill>
                  <a:srgbClr val="000000"/>
                </a:solidFill>
                <a:latin typeface="Times New Roman" panose="02020603050405020304" pitchFamily="18" charset="0"/>
              </a:rPr>
              <a:t>						</a:t>
            </a:r>
            <a:r>
              <a:rPr lang="en-IN" sz="2000" dirty="0">
                <a:solidFill>
                  <a:srgbClr val="000000"/>
                </a:solidFill>
                <a:latin typeface="Times New Roman" panose="02020603050405020304" pitchFamily="18" charset="0"/>
              </a:rPr>
              <a:t>1</a:t>
            </a:r>
            <a:r>
              <a:rPr lang="en-IN" sz="2000" b="0" i="0" u="none" strike="noStrike" baseline="0" dirty="0">
                <a:solidFill>
                  <a:srgbClr val="000000"/>
                </a:solidFill>
                <a:latin typeface="Times New Roman" panose="02020603050405020304" pitchFamily="18" charset="0"/>
              </a:rPr>
              <a:t> 		1	</a:t>
            </a:r>
          </a:p>
          <a:p>
            <a:r>
              <a:rPr lang="en-IN" sz="2000" b="1" i="0" u="none" strike="noStrike" baseline="0" dirty="0">
                <a:solidFill>
                  <a:srgbClr val="000000"/>
                </a:solidFill>
                <a:latin typeface="Times New Roman" panose="02020603050405020304" pitchFamily="18" charset="0"/>
              </a:rPr>
              <a:t>So, (13)10 = (1101)2 </a:t>
            </a:r>
            <a:endParaRPr lang="en-IN" sz="2000" b="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742718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72564B-4491-A579-C88A-86E3E1576271}"/>
              </a:ext>
            </a:extLst>
          </p:cNvPr>
          <p:cNvPicPr>
            <a:picLocks noChangeAspect="1"/>
          </p:cNvPicPr>
          <p:nvPr/>
        </p:nvPicPr>
        <p:blipFill>
          <a:blip r:embed="rId2"/>
          <a:stretch>
            <a:fillRect/>
          </a:stretch>
        </p:blipFill>
        <p:spPr>
          <a:xfrm>
            <a:off x="3576286" y="1390365"/>
            <a:ext cx="5039428" cy="4077269"/>
          </a:xfrm>
          <a:prstGeom prst="rect">
            <a:avLst/>
          </a:prstGeom>
        </p:spPr>
      </p:pic>
      <p:sp>
        <p:nvSpPr>
          <p:cNvPr id="4" name="TextBox 3">
            <a:extLst>
              <a:ext uri="{FF2B5EF4-FFF2-40B4-BE49-F238E27FC236}">
                <a16:creationId xmlns:a16="http://schemas.microsoft.com/office/drawing/2014/main" id="{50804E68-5EB4-CFFB-917F-B0D0D6DC529A}"/>
              </a:ext>
            </a:extLst>
          </p:cNvPr>
          <p:cNvSpPr txBox="1"/>
          <p:nvPr/>
        </p:nvSpPr>
        <p:spPr>
          <a:xfrm>
            <a:off x="2782529" y="434767"/>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sz="1800" b="1" i="0" u="none" strike="noStrike" baseline="0" dirty="0">
                <a:solidFill>
                  <a:srgbClr val="000000"/>
                </a:solidFill>
                <a:latin typeface="Times New Roman" panose="02020603050405020304" pitchFamily="18" charset="0"/>
              </a:rPr>
              <a:t>Decimal to Other </a:t>
            </a:r>
            <a:r>
              <a:rPr lang="en-IN" b="1" dirty="0">
                <a:solidFill>
                  <a:srgbClr val="000000"/>
                </a:solidFill>
                <a:latin typeface="Times New Roman" panose="02020603050405020304" pitchFamily="18" charset="0"/>
              </a:rPr>
              <a:t>number system</a:t>
            </a:r>
            <a:endParaRPr lang="en-IN" sz="1800" b="0" i="0" u="none" strike="noStrike" baseline="0" dirty="0">
              <a:solidFill>
                <a:srgbClr val="000000"/>
              </a:solidFill>
              <a:latin typeface="Times New Roman" panose="02020603050405020304" pitchFamily="18" charset="0"/>
            </a:endParaRPr>
          </a:p>
        </p:txBody>
      </p:sp>
      <p:sp>
        <p:nvSpPr>
          <p:cNvPr id="6" name="TextBox 5">
            <a:extLst>
              <a:ext uri="{FF2B5EF4-FFF2-40B4-BE49-F238E27FC236}">
                <a16:creationId xmlns:a16="http://schemas.microsoft.com/office/drawing/2014/main" id="{318CF31B-444B-CA98-2F26-FAE4CA2D295F}"/>
              </a:ext>
            </a:extLst>
          </p:cNvPr>
          <p:cNvSpPr txBox="1"/>
          <p:nvPr/>
        </p:nvSpPr>
        <p:spPr>
          <a:xfrm>
            <a:off x="1111046" y="1113192"/>
            <a:ext cx="6096000" cy="369332"/>
          </a:xfrm>
          <a:prstGeom prst="rect">
            <a:avLst/>
          </a:prstGeom>
          <a:noFill/>
        </p:spPr>
        <p:txBody>
          <a:bodyPr wrap="square">
            <a:spAutoFit/>
          </a:bodyPr>
          <a:lstStyle/>
          <a:p>
            <a:pPr algn="ctr"/>
            <a:r>
              <a:rPr lang="en-IN" sz="1800" b="1" i="0" u="none" strike="noStrike" baseline="0" dirty="0">
                <a:solidFill>
                  <a:srgbClr val="000000"/>
                </a:solidFill>
              </a:rPr>
              <a:t>Decimal to Octal</a:t>
            </a:r>
            <a:endParaRPr lang="en-IN" b="1" dirty="0"/>
          </a:p>
        </p:txBody>
      </p:sp>
    </p:spTree>
    <p:extLst>
      <p:ext uri="{BB962C8B-B14F-4D97-AF65-F5344CB8AC3E}">
        <p14:creationId xmlns:p14="http://schemas.microsoft.com/office/powerpoint/2010/main" val="1376406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213CEA8F-2B1C-3424-1DE9-F76D7E9B02B3}"/>
              </a:ext>
            </a:extLst>
          </p:cNvPr>
          <p:cNvSpPr txBox="1"/>
          <p:nvPr/>
        </p:nvSpPr>
        <p:spPr>
          <a:xfrm>
            <a:off x="855405" y="756379"/>
            <a:ext cx="5938685" cy="4770537"/>
          </a:xfrm>
          <a:prstGeom prst="rect">
            <a:avLst/>
          </a:prstGeom>
          <a:noFill/>
        </p:spPr>
        <p:txBody>
          <a:bodyPr wrap="square">
            <a:spAutoFit/>
          </a:bodyPr>
          <a:lstStyle/>
          <a:p>
            <a:pPr algn="l"/>
            <a:endParaRPr lang="en-IN" sz="2400" b="0" i="0" u="none" strike="noStrike" baseline="0" dirty="0">
              <a:solidFill>
                <a:srgbClr val="000000"/>
              </a:solidFill>
              <a:latin typeface="Times New Roman" panose="02020603050405020304" pitchFamily="18" charset="0"/>
            </a:endParaRPr>
          </a:p>
          <a:p>
            <a:r>
              <a:rPr lang="en-IN" sz="2000" b="0" i="0" u="none" strike="noStrike" baseline="0" dirty="0">
                <a:solidFill>
                  <a:srgbClr val="000000"/>
                </a:solidFill>
                <a:latin typeface="Times New Roman" panose="02020603050405020304" pitchFamily="18" charset="0"/>
              </a:rPr>
              <a:t>Convert (152.25)</a:t>
            </a:r>
            <a:r>
              <a:rPr lang="en-IN" sz="1200" b="0" i="0" u="none" strike="noStrike" baseline="0" dirty="0">
                <a:solidFill>
                  <a:srgbClr val="000000"/>
                </a:solidFill>
                <a:latin typeface="Times New Roman" panose="02020603050405020304" pitchFamily="18" charset="0"/>
              </a:rPr>
              <a:t>10 </a:t>
            </a:r>
            <a:r>
              <a:rPr lang="en-IN" sz="2000" b="0" i="0" u="none" strike="noStrike" baseline="0" dirty="0">
                <a:solidFill>
                  <a:srgbClr val="000000"/>
                </a:solidFill>
                <a:latin typeface="Times New Roman" panose="02020603050405020304" pitchFamily="18" charset="0"/>
              </a:rPr>
              <a:t>to binary </a:t>
            </a:r>
          </a:p>
          <a:p>
            <a:r>
              <a:rPr lang="en-IN" sz="2000" b="1" i="0" u="none" strike="noStrike" baseline="0" dirty="0">
                <a:solidFill>
                  <a:srgbClr val="000000"/>
                </a:solidFill>
                <a:latin typeface="Times New Roman" panose="02020603050405020304" pitchFamily="18" charset="0"/>
              </a:rPr>
              <a:t>Solution: </a:t>
            </a:r>
            <a:endParaRPr lang="en-IN" sz="2000" b="0" i="0" u="none" strike="noStrike" baseline="0" dirty="0">
              <a:solidFill>
                <a:srgbClr val="000000"/>
              </a:solidFill>
              <a:latin typeface="Times New Roman" panose="02020603050405020304" pitchFamily="18" charset="0"/>
            </a:endParaRPr>
          </a:p>
          <a:p>
            <a:r>
              <a:rPr lang="en-US" sz="2000" b="1" i="0" u="none" strike="noStrike" baseline="0" dirty="0">
                <a:solidFill>
                  <a:srgbClr val="000000"/>
                </a:solidFill>
                <a:latin typeface="Times New Roman" panose="02020603050405020304" pitchFamily="18" charset="0"/>
              </a:rPr>
              <a:t>Step 1: </a:t>
            </a:r>
            <a:r>
              <a:rPr lang="en-US" sz="2000" b="0" i="0" u="none" strike="noStrike" baseline="0" dirty="0">
                <a:solidFill>
                  <a:srgbClr val="000000"/>
                </a:solidFill>
                <a:latin typeface="Times New Roman" panose="02020603050405020304" pitchFamily="18" charset="0"/>
              </a:rPr>
              <a:t>Divide the number 152 and its successive quotients with base 2. </a:t>
            </a:r>
          </a:p>
          <a:p>
            <a:endParaRPr lang="en-US" sz="2000" dirty="0">
              <a:solidFill>
                <a:srgbClr val="000000"/>
              </a:solidFill>
              <a:latin typeface="Times New Roman" panose="02020603050405020304" pitchFamily="18" charset="0"/>
            </a:endParaRPr>
          </a:p>
          <a:p>
            <a:r>
              <a:rPr lang="en-US" sz="2000" b="1" i="0" u="none" strike="noStrike" baseline="0" dirty="0">
                <a:solidFill>
                  <a:srgbClr val="000000"/>
                </a:solidFill>
                <a:latin typeface="Times New Roman" panose="02020603050405020304" pitchFamily="18" charset="0"/>
              </a:rPr>
              <a:t>Divide by 2 </a:t>
            </a:r>
            <a:r>
              <a:rPr lang="en-US" sz="2000" b="0" i="0" u="none" strike="noStrike" baseline="0" dirty="0">
                <a:solidFill>
                  <a:srgbClr val="000000"/>
                </a:solidFill>
                <a:latin typeface="Times New Roman" panose="02020603050405020304" pitchFamily="18" charset="0"/>
              </a:rPr>
              <a:t>	</a:t>
            </a:r>
            <a:r>
              <a:rPr lang="en-US" sz="2000" b="1" i="0" u="none" strike="noStrike" baseline="0" dirty="0">
                <a:solidFill>
                  <a:srgbClr val="000000"/>
                </a:solidFill>
                <a:latin typeface="Times New Roman" panose="02020603050405020304" pitchFamily="18" charset="0"/>
              </a:rPr>
              <a:t>Quotient </a:t>
            </a:r>
            <a:r>
              <a:rPr lang="en-US" sz="2000" b="0" i="0" u="none" strike="noStrike" baseline="0" dirty="0">
                <a:solidFill>
                  <a:srgbClr val="000000"/>
                </a:solidFill>
                <a:latin typeface="Times New Roman" panose="02020603050405020304" pitchFamily="18" charset="0"/>
              </a:rPr>
              <a:t>	</a:t>
            </a:r>
            <a:r>
              <a:rPr lang="en-US" sz="2000" b="1" i="0" u="none" strike="noStrike" baseline="0" dirty="0">
                <a:solidFill>
                  <a:srgbClr val="000000"/>
                </a:solidFill>
                <a:latin typeface="Times New Roman" panose="02020603050405020304" pitchFamily="18" charset="0"/>
              </a:rPr>
              <a:t>Remainder </a:t>
            </a:r>
            <a:r>
              <a:rPr lang="en-US" sz="2000" b="0" i="0" u="none" strike="noStrike" baseline="0" dirty="0">
                <a:solidFill>
                  <a:srgbClr val="000000"/>
                </a:solidFill>
                <a:latin typeface="Times New Roman" panose="02020603050405020304" pitchFamily="18" charset="0"/>
              </a:rPr>
              <a:t>	</a:t>
            </a:r>
          </a:p>
          <a:p>
            <a:r>
              <a:rPr lang="en-IN" sz="2000" b="0" i="0" u="none" strike="noStrike" baseline="0" dirty="0">
                <a:solidFill>
                  <a:srgbClr val="000000"/>
                </a:solidFill>
                <a:latin typeface="Times New Roman" panose="02020603050405020304" pitchFamily="18" charset="0"/>
              </a:rPr>
              <a:t>152/2 			76 			0 (LSB) 	</a:t>
            </a:r>
          </a:p>
          <a:p>
            <a:r>
              <a:rPr lang="en-IN" sz="2000" b="0" i="0" u="none" strike="noStrike" baseline="0" dirty="0">
                <a:solidFill>
                  <a:srgbClr val="000000"/>
                </a:solidFill>
                <a:latin typeface="Times New Roman" panose="02020603050405020304" pitchFamily="18" charset="0"/>
              </a:rPr>
              <a:t>76/2 			38 			0 	</a:t>
            </a:r>
          </a:p>
          <a:p>
            <a:r>
              <a:rPr lang="en-IN" sz="2000" b="0" i="0" u="none" strike="noStrike" baseline="0" dirty="0">
                <a:solidFill>
                  <a:srgbClr val="000000"/>
                </a:solidFill>
                <a:latin typeface="Times New Roman" panose="02020603050405020304" pitchFamily="18" charset="0"/>
              </a:rPr>
              <a:t>38/2 			19 			0 	</a:t>
            </a:r>
          </a:p>
          <a:p>
            <a:r>
              <a:rPr lang="en-IN" sz="2000" b="0" i="0" u="none" strike="noStrike" baseline="0" dirty="0">
                <a:solidFill>
                  <a:srgbClr val="000000"/>
                </a:solidFill>
                <a:latin typeface="Times New Roman" panose="02020603050405020304" pitchFamily="18" charset="0"/>
              </a:rPr>
              <a:t>19/2 			9 			1 	</a:t>
            </a:r>
          </a:p>
          <a:p>
            <a:r>
              <a:rPr lang="en-IN" sz="2000" b="0" i="0" u="none" strike="noStrike" baseline="0" dirty="0">
                <a:solidFill>
                  <a:srgbClr val="000000"/>
                </a:solidFill>
                <a:latin typeface="Times New Roman" panose="02020603050405020304" pitchFamily="18" charset="0"/>
              </a:rPr>
              <a:t>9/2 	4 			1 	</a:t>
            </a:r>
          </a:p>
          <a:p>
            <a:r>
              <a:rPr lang="en-IN" sz="2000" b="0" i="0" u="none" strike="noStrike" baseline="0" dirty="0">
                <a:solidFill>
                  <a:srgbClr val="000000"/>
                </a:solidFill>
                <a:latin typeface="Times New Roman" panose="02020603050405020304" pitchFamily="18" charset="0"/>
              </a:rPr>
              <a:t>4/2 	2 			0 	</a:t>
            </a:r>
          </a:p>
          <a:p>
            <a:r>
              <a:rPr lang="en-IN" sz="2000" b="0" i="0" u="none" strike="noStrike" baseline="0" dirty="0">
                <a:solidFill>
                  <a:srgbClr val="000000"/>
                </a:solidFill>
                <a:latin typeface="Times New Roman" panose="02020603050405020304" pitchFamily="18" charset="0"/>
              </a:rPr>
              <a:t>2/2 	1 			0 	</a:t>
            </a:r>
          </a:p>
          <a:p>
            <a:r>
              <a:rPr lang="en-IN" sz="2000" b="0" i="0" u="none" strike="noStrike" baseline="0" dirty="0">
                <a:solidFill>
                  <a:srgbClr val="000000"/>
                </a:solidFill>
                <a:latin typeface="Times New Roman" panose="02020603050405020304" pitchFamily="18" charset="0"/>
              </a:rPr>
              <a:t>	</a:t>
            </a:r>
          </a:p>
        </p:txBody>
      </p:sp>
      <p:sp>
        <p:nvSpPr>
          <p:cNvPr id="11" name="TextBox 10">
            <a:extLst>
              <a:ext uri="{FF2B5EF4-FFF2-40B4-BE49-F238E27FC236}">
                <a16:creationId xmlns:a16="http://schemas.microsoft.com/office/drawing/2014/main" id="{20420BBB-96E9-2AD2-5822-C3EA53685DBF}"/>
              </a:ext>
            </a:extLst>
          </p:cNvPr>
          <p:cNvSpPr txBox="1"/>
          <p:nvPr/>
        </p:nvSpPr>
        <p:spPr>
          <a:xfrm>
            <a:off x="6971070" y="962317"/>
            <a:ext cx="4798143" cy="3046988"/>
          </a:xfrm>
          <a:prstGeom prst="rect">
            <a:avLst/>
          </a:prstGeom>
          <a:noFill/>
        </p:spPr>
        <p:txBody>
          <a:bodyPr wrap="square">
            <a:spAutoFit/>
          </a:bodyPr>
          <a:lstStyle/>
          <a:p>
            <a:r>
              <a:rPr lang="en-IN" sz="2000" b="0" i="0" u="none" strike="noStrike" baseline="0" dirty="0">
                <a:solidFill>
                  <a:srgbClr val="000000"/>
                </a:solidFill>
                <a:latin typeface="Times New Roman" panose="02020603050405020304" pitchFamily="18" charset="0"/>
              </a:rPr>
              <a:t>(152)</a:t>
            </a:r>
            <a:r>
              <a:rPr lang="en-IN" sz="1200" b="0" i="0" u="none" strike="noStrike" baseline="0" dirty="0">
                <a:solidFill>
                  <a:srgbClr val="000000"/>
                </a:solidFill>
                <a:latin typeface="Times New Roman" panose="02020603050405020304" pitchFamily="18" charset="0"/>
              </a:rPr>
              <a:t>10</a:t>
            </a:r>
            <a:r>
              <a:rPr lang="en-IN" sz="2000" b="0" i="0" u="none" strike="noStrike" baseline="0" dirty="0">
                <a:solidFill>
                  <a:srgbClr val="000000"/>
                </a:solidFill>
                <a:latin typeface="Times New Roman" panose="02020603050405020304" pitchFamily="18" charset="0"/>
              </a:rPr>
              <a:t>=(10011000)</a:t>
            </a:r>
            <a:r>
              <a:rPr lang="en-IN" sz="1200" b="0" i="0" u="none" strike="noStrike" baseline="0" dirty="0">
                <a:solidFill>
                  <a:srgbClr val="000000"/>
                </a:solidFill>
                <a:latin typeface="Times New Roman" panose="02020603050405020304" pitchFamily="18" charset="0"/>
              </a:rPr>
              <a:t>2 </a:t>
            </a:r>
          </a:p>
          <a:p>
            <a:endParaRPr lang="en-IN" sz="1200" dirty="0">
              <a:solidFill>
                <a:srgbClr val="000000"/>
              </a:solidFill>
              <a:latin typeface="Times New Roman" panose="02020603050405020304" pitchFamily="18" charset="0"/>
            </a:endParaRPr>
          </a:p>
          <a:p>
            <a:r>
              <a:rPr lang="en-US" sz="2000" b="1" i="0" u="none" strike="noStrike" baseline="0" dirty="0">
                <a:solidFill>
                  <a:srgbClr val="000000"/>
                </a:solidFill>
                <a:latin typeface="Times New Roman" panose="02020603050405020304" pitchFamily="18" charset="0"/>
              </a:rPr>
              <a:t>Step 2: </a:t>
            </a:r>
            <a:r>
              <a:rPr lang="en-US" sz="2000" b="0" i="0" u="none" strike="noStrike" baseline="0" dirty="0">
                <a:solidFill>
                  <a:srgbClr val="000000"/>
                </a:solidFill>
                <a:latin typeface="Times New Roman" panose="02020603050405020304" pitchFamily="18" charset="0"/>
              </a:rPr>
              <a:t>Now, perform the multiplication of 0.25 and successive fraction with base 2. </a:t>
            </a:r>
          </a:p>
          <a:p>
            <a:endParaRPr lang="en-US" sz="2000" dirty="0">
              <a:solidFill>
                <a:srgbClr val="000000"/>
              </a:solidFill>
              <a:latin typeface="Times New Roman" panose="02020603050405020304" pitchFamily="18" charset="0"/>
            </a:endParaRPr>
          </a:p>
          <a:p>
            <a:endParaRPr lang="en-US" sz="2000" b="0" i="0" u="none" strike="noStrike" baseline="0" dirty="0">
              <a:solidFill>
                <a:srgbClr val="000000"/>
              </a:solidFill>
              <a:latin typeface="Times New Roman" panose="02020603050405020304" pitchFamily="18" charset="0"/>
            </a:endParaRPr>
          </a:p>
          <a:p>
            <a:endParaRPr lang="en-US" sz="2000" b="0" i="0" u="none" strike="noStrike" baseline="0" dirty="0">
              <a:solidFill>
                <a:srgbClr val="000000"/>
              </a:solidFill>
              <a:latin typeface="Times New Roman" panose="02020603050405020304" pitchFamily="18" charset="0"/>
            </a:endParaRPr>
          </a:p>
          <a:p>
            <a:r>
              <a:rPr lang="en-US" sz="2000" b="0" i="0" u="none" strike="noStrike" baseline="0" dirty="0">
                <a:solidFill>
                  <a:srgbClr val="000000"/>
                </a:solidFill>
                <a:latin typeface="Times New Roman" panose="02020603050405020304" pitchFamily="18" charset="0"/>
              </a:rPr>
              <a:t>	</a:t>
            </a:r>
          </a:p>
          <a:p>
            <a:r>
              <a:rPr lang="en-IN" sz="2000" b="0" i="0" u="none" strike="noStrike" baseline="0" dirty="0">
                <a:solidFill>
                  <a:srgbClr val="000000"/>
                </a:solidFill>
                <a:latin typeface="Times New Roman" panose="02020603050405020304" pitchFamily="18" charset="0"/>
              </a:rPr>
              <a:t>0.25×2 		0.5	 		0 	</a:t>
            </a:r>
          </a:p>
          <a:p>
            <a:r>
              <a:rPr lang="en-IN" sz="2000" b="0" i="0" u="none" strike="noStrike" baseline="0" dirty="0">
                <a:solidFill>
                  <a:srgbClr val="000000"/>
                </a:solidFill>
                <a:latin typeface="Times New Roman" panose="02020603050405020304" pitchFamily="18" charset="0"/>
              </a:rPr>
              <a:t>0.50×2 		1 			1 	</a:t>
            </a:r>
          </a:p>
        </p:txBody>
      </p:sp>
      <p:sp>
        <p:nvSpPr>
          <p:cNvPr id="13" name="TextBox 12">
            <a:extLst>
              <a:ext uri="{FF2B5EF4-FFF2-40B4-BE49-F238E27FC236}">
                <a16:creationId xmlns:a16="http://schemas.microsoft.com/office/drawing/2014/main" id="{5D960633-0F2B-00B9-9931-C8CD08276738}"/>
              </a:ext>
            </a:extLst>
          </p:cNvPr>
          <p:cNvSpPr txBox="1"/>
          <p:nvPr/>
        </p:nvSpPr>
        <p:spPr>
          <a:xfrm>
            <a:off x="4680155" y="5249352"/>
            <a:ext cx="609600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IN" sz="1800" b="0" i="0" u="none" strike="noStrike" baseline="0" dirty="0">
                <a:solidFill>
                  <a:srgbClr val="000000"/>
                </a:solidFill>
                <a:latin typeface="Times New Roman" panose="02020603050405020304" pitchFamily="18" charset="0"/>
              </a:rPr>
              <a:t>(0.25)</a:t>
            </a:r>
            <a:r>
              <a:rPr lang="en-IN" sz="1100" b="0" i="0" u="none" strike="noStrike" baseline="0" dirty="0">
                <a:solidFill>
                  <a:srgbClr val="000000"/>
                </a:solidFill>
                <a:latin typeface="Times New Roman" panose="02020603050405020304" pitchFamily="18" charset="0"/>
              </a:rPr>
              <a:t>10</a:t>
            </a:r>
            <a:r>
              <a:rPr lang="en-IN" sz="1800" b="0" i="0" u="none" strike="noStrike" baseline="0" dirty="0">
                <a:solidFill>
                  <a:srgbClr val="000000"/>
                </a:solidFill>
                <a:latin typeface="Times New Roman" panose="02020603050405020304" pitchFamily="18" charset="0"/>
              </a:rPr>
              <a:t>=(.01)</a:t>
            </a:r>
            <a:r>
              <a:rPr lang="en-IN" sz="1100" b="0" i="0" u="none" strike="noStrike" baseline="0" dirty="0">
                <a:solidFill>
                  <a:srgbClr val="000000"/>
                </a:solidFill>
                <a:latin typeface="Times New Roman" panose="02020603050405020304" pitchFamily="18" charset="0"/>
              </a:rPr>
              <a:t>2 </a:t>
            </a:r>
          </a:p>
          <a:p>
            <a:pPr algn="ctr"/>
            <a:r>
              <a:rPr lang="en-IN" sz="1800" b="1" i="0" u="none" strike="noStrike" baseline="0" dirty="0">
                <a:solidFill>
                  <a:srgbClr val="000000"/>
                </a:solidFill>
                <a:latin typeface="Times New Roman" panose="02020603050405020304" pitchFamily="18" charset="0"/>
              </a:rPr>
              <a:t>So, (152.25)</a:t>
            </a:r>
            <a:r>
              <a:rPr lang="en-IN" sz="1100" b="1" i="0" u="none" strike="noStrike" baseline="0" dirty="0">
                <a:solidFill>
                  <a:srgbClr val="000000"/>
                </a:solidFill>
                <a:latin typeface="Times New Roman" panose="02020603050405020304" pitchFamily="18" charset="0"/>
              </a:rPr>
              <a:t>10 </a:t>
            </a:r>
            <a:r>
              <a:rPr lang="en-IN" sz="1800" b="1" i="0" u="none" strike="noStrike" baseline="0" dirty="0">
                <a:solidFill>
                  <a:srgbClr val="000000"/>
                </a:solidFill>
                <a:latin typeface="Times New Roman" panose="02020603050405020304" pitchFamily="18" charset="0"/>
              </a:rPr>
              <a:t>= (10011000.01)</a:t>
            </a:r>
            <a:r>
              <a:rPr lang="en-IN" sz="1100" b="1" i="0" u="none" strike="noStrike" baseline="0" dirty="0">
                <a:solidFill>
                  <a:srgbClr val="000000"/>
                </a:solidFill>
                <a:latin typeface="Times New Roman" panose="02020603050405020304" pitchFamily="18" charset="0"/>
              </a:rPr>
              <a:t>2 </a:t>
            </a:r>
            <a:endParaRPr lang="en-IN" dirty="0"/>
          </a:p>
        </p:txBody>
      </p:sp>
      <p:sp>
        <p:nvSpPr>
          <p:cNvPr id="3" name="TextBox 2">
            <a:extLst>
              <a:ext uri="{FF2B5EF4-FFF2-40B4-BE49-F238E27FC236}">
                <a16:creationId xmlns:a16="http://schemas.microsoft.com/office/drawing/2014/main" id="{75F818C0-2489-C010-0167-8AD184DFBBF9}"/>
              </a:ext>
            </a:extLst>
          </p:cNvPr>
          <p:cNvSpPr txBox="1"/>
          <p:nvPr/>
        </p:nvSpPr>
        <p:spPr>
          <a:xfrm>
            <a:off x="2015612" y="6397631"/>
            <a:ext cx="8288593" cy="369332"/>
          </a:xfrm>
          <a:prstGeom prst="rect">
            <a:avLst/>
          </a:prstGeom>
          <a:solidFill>
            <a:schemeClr val="tx2">
              <a:lumMod val="75000"/>
            </a:schemeClr>
          </a:solidFill>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1800" b="0" i="0" u="none" strike="noStrike" baseline="0" dirty="0">
                <a:solidFill>
                  <a:schemeClr val="bg1"/>
                </a:solidFill>
                <a:latin typeface="Times New Roman" panose="02020603050405020304" pitchFamily="18" charset="0"/>
              </a:rPr>
              <a:t>NOTE: When we get the whole no. in result then we stop the multiplication.</a:t>
            </a:r>
            <a:endParaRPr lang="en-IN" dirty="0">
              <a:solidFill>
                <a:schemeClr val="bg1"/>
              </a:solidFill>
            </a:endParaRPr>
          </a:p>
        </p:txBody>
      </p:sp>
    </p:spTree>
    <p:extLst>
      <p:ext uri="{BB962C8B-B14F-4D97-AF65-F5344CB8AC3E}">
        <p14:creationId xmlns:p14="http://schemas.microsoft.com/office/powerpoint/2010/main" val="3016610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08B254-30DE-36ED-D055-6B9D5763A205}"/>
              </a:ext>
            </a:extLst>
          </p:cNvPr>
          <p:cNvSpPr txBox="1"/>
          <p:nvPr/>
        </p:nvSpPr>
        <p:spPr>
          <a:xfrm>
            <a:off x="1317520" y="78659"/>
            <a:ext cx="10097729" cy="624786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r>
              <a:rPr lang="en-US" sz="2000" b="1" i="0" dirty="0">
                <a:solidFill>
                  <a:srgbClr val="363639"/>
                </a:solidFill>
                <a:effectLst/>
                <a:latin typeface="-apple-system"/>
              </a:rPr>
              <a:t>Example 1:</a:t>
            </a:r>
            <a:r>
              <a:rPr lang="en-US" sz="2000" b="0" i="0" dirty="0">
                <a:solidFill>
                  <a:srgbClr val="363639"/>
                </a:solidFill>
                <a:effectLst/>
                <a:latin typeface="-apple-system"/>
              </a:rPr>
              <a:t> Find the binary fraction equivalent of 0.125</a:t>
            </a:r>
            <a:r>
              <a:rPr lang="en-US" sz="2000" b="0" i="0" baseline="-25000" dirty="0">
                <a:solidFill>
                  <a:srgbClr val="363639"/>
                </a:solidFill>
                <a:effectLst/>
                <a:latin typeface="-apple-system"/>
              </a:rPr>
              <a:t>10</a:t>
            </a:r>
            <a:endParaRPr lang="en-US" sz="2000" b="0" i="0" dirty="0">
              <a:solidFill>
                <a:srgbClr val="363639"/>
              </a:solidFill>
              <a:effectLst/>
              <a:latin typeface="-apple-system"/>
            </a:endParaRPr>
          </a:p>
          <a:p>
            <a:pPr algn="l"/>
            <a:endParaRPr lang="en-US" sz="2000" b="0" i="0" dirty="0">
              <a:solidFill>
                <a:srgbClr val="363639"/>
              </a:solidFill>
              <a:effectLst/>
              <a:latin typeface="-apple-system"/>
            </a:endParaRPr>
          </a:p>
          <a:p>
            <a:pPr algn="l"/>
            <a:r>
              <a:rPr lang="en-US" sz="2000" b="0" i="0" dirty="0">
                <a:solidFill>
                  <a:srgbClr val="363639"/>
                </a:solidFill>
                <a:effectLst/>
                <a:latin typeface="-apple-system"/>
              </a:rPr>
              <a:t>We multiply 0.125 by 2 and take the integer part</a:t>
            </a:r>
          </a:p>
          <a:p>
            <a:pPr algn="l"/>
            <a:r>
              <a:rPr lang="en-US" sz="2000" b="0" i="0" dirty="0">
                <a:solidFill>
                  <a:srgbClr val="363639"/>
                </a:solidFill>
                <a:effectLst/>
                <a:latin typeface="-apple-system"/>
              </a:rPr>
              <a:t>0.125 x 2 = 0.250</a:t>
            </a:r>
          </a:p>
          <a:p>
            <a:pPr algn="l"/>
            <a:r>
              <a:rPr lang="en-US" sz="2000" b="0" i="0" dirty="0">
                <a:solidFill>
                  <a:srgbClr val="363639"/>
                </a:solidFill>
                <a:effectLst/>
                <a:latin typeface="-apple-system"/>
              </a:rPr>
              <a:t>Integer part = 0, Fractional part = 0.250</a:t>
            </a:r>
          </a:p>
          <a:p>
            <a:pPr algn="l"/>
            <a:r>
              <a:rPr lang="en-US" sz="2000" b="0" i="0" dirty="0">
                <a:solidFill>
                  <a:srgbClr val="363639"/>
                </a:solidFill>
                <a:effectLst/>
                <a:latin typeface="-apple-system"/>
              </a:rPr>
              <a:t>0.125 × 2 = 0 + 0.25 </a:t>
            </a:r>
          </a:p>
          <a:p>
            <a:pPr algn="l"/>
            <a:r>
              <a:rPr lang="en-US" sz="2000" b="0" i="0" dirty="0">
                <a:solidFill>
                  <a:srgbClr val="363639"/>
                </a:solidFill>
                <a:effectLst/>
                <a:latin typeface="-apple-system"/>
              </a:rPr>
              <a:t>0.250 × 2 = 0 + 0.5  </a:t>
            </a:r>
          </a:p>
          <a:p>
            <a:pPr algn="l"/>
            <a:r>
              <a:rPr lang="en-US" sz="2000" b="0" i="0" dirty="0">
                <a:solidFill>
                  <a:srgbClr val="363639"/>
                </a:solidFill>
                <a:effectLst/>
                <a:latin typeface="-apple-system"/>
              </a:rPr>
              <a:t>0.500 × 2 = 1   </a:t>
            </a:r>
          </a:p>
          <a:p>
            <a:pPr algn="l"/>
            <a:endParaRPr lang="en-US" sz="2000" dirty="0">
              <a:solidFill>
                <a:srgbClr val="363639"/>
              </a:solidFill>
              <a:latin typeface="-apple-system"/>
            </a:endParaRPr>
          </a:p>
          <a:p>
            <a:pPr algn="l"/>
            <a:r>
              <a:rPr lang="en-US" sz="2000" b="0" i="0" dirty="0">
                <a:solidFill>
                  <a:srgbClr val="212529"/>
                </a:solidFill>
                <a:effectLst/>
                <a:latin typeface="system-ui"/>
              </a:rPr>
              <a:t>The calculated integer part are as followed.</a:t>
            </a:r>
            <a:br>
              <a:rPr lang="en-US" sz="2000" dirty="0"/>
            </a:br>
            <a:r>
              <a:rPr lang="en-US" sz="2000" b="0" i="0" dirty="0">
                <a:solidFill>
                  <a:srgbClr val="212529"/>
                </a:solidFill>
                <a:effectLst/>
                <a:latin typeface="system-ui"/>
              </a:rPr>
              <a:t>Step 1: 0</a:t>
            </a:r>
            <a:br>
              <a:rPr lang="en-US" sz="2000" dirty="0"/>
            </a:br>
            <a:r>
              <a:rPr lang="en-US" sz="2000" b="0" i="0" dirty="0">
                <a:solidFill>
                  <a:srgbClr val="212529"/>
                </a:solidFill>
                <a:effectLst/>
                <a:latin typeface="system-ui"/>
              </a:rPr>
              <a:t>Step 2: 0</a:t>
            </a:r>
            <a:br>
              <a:rPr lang="en-US" sz="2000" dirty="0"/>
            </a:br>
            <a:r>
              <a:rPr lang="en-US" sz="2000" b="0" i="0" dirty="0">
                <a:solidFill>
                  <a:srgbClr val="212529"/>
                </a:solidFill>
                <a:effectLst/>
                <a:latin typeface="system-ui"/>
              </a:rPr>
              <a:t>Step 3: 1</a:t>
            </a:r>
            <a:endParaRPr lang="en-US" sz="2000" dirty="0">
              <a:solidFill>
                <a:srgbClr val="363639"/>
              </a:solidFill>
              <a:latin typeface="-apple-system"/>
            </a:endParaRPr>
          </a:p>
          <a:p>
            <a:pPr algn="l"/>
            <a:r>
              <a:rPr lang="en-US" sz="2000" b="0" i="0" dirty="0">
                <a:solidFill>
                  <a:srgbClr val="363639"/>
                </a:solidFill>
                <a:effectLst/>
                <a:latin typeface="-apple-system"/>
              </a:rPr>
              <a:t>Thus the binary equivalent of 0.125₁₀ is 0.001.</a:t>
            </a:r>
          </a:p>
          <a:p>
            <a:pPr algn="l"/>
            <a:endParaRPr lang="en-US" sz="2000" b="0" i="0" dirty="0">
              <a:solidFill>
                <a:srgbClr val="363639"/>
              </a:solidFill>
              <a:effectLst/>
              <a:latin typeface="-apple-system"/>
            </a:endParaRPr>
          </a:p>
          <a:p>
            <a:pPr algn="l"/>
            <a:r>
              <a:rPr lang="en-US" sz="2000" b="1" i="0" dirty="0">
                <a:solidFill>
                  <a:srgbClr val="363639"/>
                </a:solidFill>
                <a:effectLst/>
                <a:latin typeface="-apple-system"/>
              </a:rPr>
              <a:t>Example 2:</a:t>
            </a:r>
            <a:r>
              <a:rPr lang="en-US" sz="2000" b="0" i="0" dirty="0">
                <a:solidFill>
                  <a:srgbClr val="363639"/>
                </a:solidFill>
                <a:effectLst/>
                <a:latin typeface="-apple-system"/>
              </a:rPr>
              <a:t> 0.6875</a:t>
            </a:r>
            <a:r>
              <a:rPr lang="en-US" sz="2000" b="0" i="0" baseline="-25000" dirty="0">
                <a:solidFill>
                  <a:srgbClr val="363639"/>
                </a:solidFill>
                <a:effectLst/>
                <a:latin typeface="-apple-system"/>
              </a:rPr>
              <a:t>10</a:t>
            </a:r>
            <a:r>
              <a:rPr lang="en-US" sz="2000" b="0" i="0" dirty="0">
                <a:solidFill>
                  <a:srgbClr val="363639"/>
                </a:solidFill>
                <a:effectLst/>
                <a:latin typeface="-apple-system"/>
              </a:rPr>
              <a:t> = 1011</a:t>
            </a:r>
            <a:r>
              <a:rPr lang="en-US" sz="2000" b="0" i="0" baseline="-25000" dirty="0">
                <a:solidFill>
                  <a:srgbClr val="363639"/>
                </a:solidFill>
                <a:effectLst/>
                <a:latin typeface="-apple-system"/>
              </a:rPr>
              <a:t>2</a:t>
            </a:r>
            <a:endParaRPr lang="en-US" sz="2000" b="0" i="0" dirty="0">
              <a:solidFill>
                <a:srgbClr val="363639"/>
              </a:solidFill>
              <a:effectLst/>
              <a:latin typeface="-apple-system"/>
            </a:endParaRPr>
          </a:p>
          <a:p>
            <a:pPr algn="l"/>
            <a:r>
              <a:rPr lang="en-US" sz="2000" b="0" i="0" dirty="0">
                <a:solidFill>
                  <a:srgbClr val="363639"/>
                </a:solidFill>
                <a:effectLst/>
                <a:latin typeface="-apple-system"/>
              </a:rPr>
              <a:t>0.6875 × 2 = 1 + 0.375</a:t>
            </a:r>
          </a:p>
          <a:p>
            <a:pPr algn="l"/>
            <a:r>
              <a:rPr lang="en-US" sz="2000" b="0" i="0" dirty="0">
                <a:solidFill>
                  <a:srgbClr val="363639"/>
                </a:solidFill>
                <a:effectLst/>
                <a:latin typeface="-apple-system"/>
              </a:rPr>
              <a:t>0.3750 × 2 = 0 + 0.75</a:t>
            </a:r>
          </a:p>
          <a:p>
            <a:pPr algn="l"/>
            <a:r>
              <a:rPr lang="en-US" sz="2000" b="0" i="0" dirty="0">
                <a:solidFill>
                  <a:srgbClr val="363639"/>
                </a:solidFill>
                <a:effectLst/>
                <a:latin typeface="-apple-system"/>
              </a:rPr>
              <a:t>    0.75 × 2 = 1 + 0.5</a:t>
            </a:r>
          </a:p>
          <a:p>
            <a:pPr algn="l"/>
            <a:r>
              <a:rPr lang="en-US" sz="2000" b="0" i="0" dirty="0">
                <a:solidFill>
                  <a:srgbClr val="363639"/>
                </a:solidFill>
                <a:effectLst/>
                <a:latin typeface="-apple-system"/>
              </a:rPr>
              <a:t>    0.50 × 2 = 1 + 0</a:t>
            </a:r>
          </a:p>
        </p:txBody>
      </p:sp>
    </p:spTree>
    <p:extLst>
      <p:ext uri="{BB962C8B-B14F-4D97-AF65-F5344CB8AC3E}">
        <p14:creationId xmlns:p14="http://schemas.microsoft.com/office/powerpoint/2010/main" val="929877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ED6DA4-FD84-795A-F5F8-2DE82601D6F8}"/>
              </a:ext>
            </a:extLst>
          </p:cNvPr>
          <p:cNvSpPr txBox="1"/>
          <p:nvPr/>
        </p:nvSpPr>
        <p:spPr>
          <a:xfrm>
            <a:off x="1081549" y="973393"/>
            <a:ext cx="10028902" cy="3785652"/>
          </a:xfrm>
          <a:prstGeom prst="rect">
            <a:avLst/>
          </a:prstGeom>
          <a:noFill/>
        </p:spPr>
        <p:txBody>
          <a:bodyPr wrap="square">
            <a:spAutoFit/>
          </a:bodyPr>
          <a:lstStyle/>
          <a:p>
            <a:pPr algn="l"/>
            <a:r>
              <a:rPr lang="en-US" sz="2000" b="1" i="0" dirty="0">
                <a:effectLst/>
                <a:latin typeface="Times New Roman" panose="02020603050405020304" pitchFamily="18" charset="0"/>
                <a:cs typeface="Times New Roman" panose="02020603050405020304" pitchFamily="18" charset="0"/>
              </a:rPr>
              <a:t>Example 1:</a:t>
            </a:r>
            <a:endParaRPr lang="en-US" sz="2000" b="0" i="0" dirty="0">
              <a:effectLst/>
              <a:latin typeface="Times New Roman" panose="02020603050405020304" pitchFamily="18" charset="0"/>
              <a:cs typeface="Times New Roman" panose="02020603050405020304" pitchFamily="18" charset="0"/>
            </a:endParaRPr>
          </a:p>
          <a:p>
            <a:pPr algn="l"/>
            <a:r>
              <a:rPr lang="en-US" sz="2000" b="0" i="0" dirty="0">
                <a:effectLst/>
                <a:latin typeface="Times New Roman" panose="02020603050405020304" pitchFamily="18" charset="0"/>
                <a:cs typeface="Times New Roman" panose="02020603050405020304" pitchFamily="18" charset="0"/>
              </a:rPr>
              <a:t>Convert (1056)</a:t>
            </a:r>
            <a:r>
              <a:rPr lang="en-US" sz="2000" b="0" i="0" baseline="-25000" dirty="0">
                <a:effectLst/>
                <a:latin typeface="Times New Roman" panose="02020603050405020304" pitchFamily="18" charset="0"/>
                <a:cs typeface="Times New Roman" panose="02020603050405020304" pitchFamily="18" charset="0"/>
              </a:rPr>
              <a:t>16</a:t>
            </a:r>
            <a:r>
              <a:rPr lang="en-US" sz="2000" b="0" i="0" dirty="0">
                <a:effectLst/>
                <a:latin typeface="Times New Roman" panose="02020603050405020304" pitchFamily="18" charset="0"/>
                <a:cs typeface="Times New Roman" panose="02020603050405020304" pitchFamily="18" charset="0"/>
              </a:rPr>
              <a:t> to an octal number.</a:t>
            </a:r>
          </a:p>
          <a:p>
            <a:pPr algn="l"/>
            <a:r>
              <a:rPr lang="en-US" sz="2000" b="1" i="0" dirty="0">
                <a:effectLst/>
                <a:latin typeface="Times New Roman" panose="02020603050405020304" pitchFamily="18" charset="0"/>
                <a:cs typeface="Times New Roman" panose="02020603050405020304" pitchFamily="18" charset="0"/>
              </a:rPr>
              <a:t>Solution:</a:t>
            </a:r>
          </a:p>
          <a:p>
            <a:pPr algn="l"/>
            <a:endParaRPr lang="en-US" sz="2000" b="0" i="0" dirty="0">
              <a:effectLst/>
              <a:latin typeface="Times New Roman" panose="02020603050405020304" pitchFamily="18" charset="0"/>
              <a:cs typeface="Times New Roman" panose="02020603050405020304" pitchFamily="18" charset="0"/>
            </a:endParaRPr>
          </a:p>
          <a:p>
            <a:pPr algn="l"/>
            <a:r>
              <a:rPr lang="en-US" sz="2000" b="0" i="0" dirty="0">
                <a:effectLst/>
                <a:latin typeface="Times New Roman" panose="02020603050405020304" pitchFamily="18" charset="0"/>
                <a:cs typeface="Times New Roman" panose="02020603050405020304" pitchFamily="18" charset="0"/>
              </a:rPr>
              <a:t>Given, 1056</a:t>
            </a:r>
            <a:r>
              <a:rPr lang="en-US" sz="2000" b="0" i="0" baseline="-25000" dirty="0">
                <a:effectLst/>
                <a:latin typeface="Times New Roman" panose="02020603050405020304" pitchFamily="18" charset="0"/>
                <a:cs typeface="Times New Roman" panose="02020603050405020304" pitchFamily="18" charset="0"/>
              </a:rPr>
              <a:t>16</a:t>
            </a:r>
            <a:r>
              <a:rPr lang="en-US" sz="2000" b="0" i="0" dirty="0">
                <a:effectLst/>
                <a:latin typeface="Times New Roman" panose="02020603050405020304" pitchFamily="18" charset="0"/>
                <a:cs typeface="Times New Roman" panose="02020603050405020304" pitchFamily="18" charset="0"/>
              </a:rPr>
              <a:t> is a hex number.</a:t>
            </a:r>
          </a:p>
          <a:p>
            <a:pPr algn="l"/>
            <a:r>
              <a:rPr lang="en-US" sz="2000" b="0" i="0" dirty="0">
                <a:effectLst/>
                <a:latin typeface="Times New Roman" panose="02020603050405020304" pitchFamily="18" charset="0"/>
                <a:cs typeface="Times New Roman" panose="02020603050405020304" pitchFamily="18" charset="0"/>
              </a:rPr>
              <a:t>First we need to convert the given hexadecimal number into decimal number</a:t>
            </a:r>
          </a:p>
          <a:p>
            <a:pPr algn="l"/>
            <a:r>
              <a:rPr lang="en-US" sz="2000" b="0" i="0" dirty="0">
                <a:effectLst/>
                <a:latin typeface="Times New Roman" panose="02020603050405020304" pitchFamily="18" charset="0"/>
                <a:cs typeface="Times New Roman" panose="02020603050405020304" pitchFamily="18" charset="0"/>
              </a:rPr>
              <a:t>(1056)</a:t>
            </a:r>
            <a:r>
              <a:rPr lang="en-US" sz="2000" b="0" i="0" baseline="-25000" dirty="0">
                <a:effectLst/>
                <a:latin typeface="Times New Roman" panose="02020603050405020304" pitchFamily="18" charset="0"/>
                <a:cs typeface="Times New Roman" panose="02020603050405020304" pitchFamily="18" charset="0"/>
              </a:rPr>
              <a:t>16</a:t>
            </a:r>
            <a:endParaRPr lang="en-US" sz="2000" b="0" i="0" dirty="0">
              <a:effectLst/>
              <a:latin typeface="Times New Roman" panose="02020603050405020304" pitchFamily="18" charset="0"/>
              <a:cs typeface="Times New Roman" panose="02020603050405020304" pitchFamily="18" charset="0"/>
            </a:endParaRPr>
          </a:p>
          <a:p>
            <a:pPr algn="l"/>
            <a:r>
              <a:rPr lang="en-US" sz="2000" b="0" i="0" dirty="0">
                <a:effectLst/>
                <a:latin typeface="Times New Roman" panose="02020603050405020304" pitchFamily="18" charset="0"/>
                <a:cs typeface="Times New Roman" panose="02020603050405020304" pitchFamily="18" charset="0"/>
              </a:rPr>
              <a:t>= 1 × 16</a:t>
            </a:r>
            <a:r>
              <a:rPr lang="en-US" sz="2000" b="0" i="0" baseline="30000" dirty="0">
                <a:effectLst/>
                <a:latin typeface="Times New Roman" panose="02020603050405020304" pitchFamily="18" charset="0"/>
                <a:cs typeface="Times New Roman" panose="02020603050405020304" pitchFamily="18" charset="0"/>
              </a:rPr>
              <a:t>3</a:t>
            </a:r>
            <a:r>
              <a:rPr lang="en-US" sz="2000" b="0" i="0" dirty="0">
                <a:effectLst/>
                <a:latin typeface="Times New Roman" panose="02020603050405020304" pitchFamily="18" charset="0"/>
                <a:cs typeface="Times New Roman" panose="02020603050405020304" pitchFamily="18" charset="0"/>
              </a:rPr>
              <a:t> + 0 × 16</a:t>
            </a:r>
            <a:r>
              <a:rPr lang="en-US" sz="2000" b="0" i="0" baseline="30000" dirty="0">
                <a:effectLst/>
                <a:latin typeface="Times New Roman" panose="02020603050405020304" pitchFamily="18" charset="0"/>
                <a:cs typeface="Times New Roman" panose="02020603050405020304" pitchFamily="18" charset="0"/>
              </a:rPr>
              <a:t>2</a:t>
            </a:r>
            <a:r>
              <a:rPr lang="en-US" sz="2000" b="0" i="0" dirty="0">
                <a:effectLst/>
                <a:latin typeface="Times New Roman" panose="02020603050405020304" pitchFamily="18" charset="0"/>
                <a:cs typeface="Times New Roman" panose="02020603050405020304" pitchFamily="18" charset="0"/>
              </a:rPr>
              <a:t> + 5 × 16</a:t>
            </a:r>
            <a:r>
              <a:rPr lang="en-US" sz="2000" b="0" i="0" baseline="30000" dirty="0">
                <a:effectLst/>
                <a:latin typeface="Times New Roman" panose="02020603050405020304" pitchFamily="18" charset="0"/>
                <a:cs typeface="Times New Roman" panose="02020603050405020304" pitchFamily="18" charset="0"/>
              </a:rPr>
              <a:t>1</a:t>
            </a:r>
            <a:r>
              <a:rPr lang="en-US" sz="2000" b="0" i="0" dirty="0">
                <a:effectLst/>
                <a:latin typeface="Times New Roman" panose="02020603050405020304" pitchFamily="18" charset="0"/>
                <a:cs typeface="Times New Roman" panose="02020603050405020304" pitchFamily="18" charset="0"/>
              </a:rPr>
              <a:t> + 6 × 160</a:t>
            </a:r>
          </a:p>
          <a:p>
            <a:pPr algn="l"/>
            <a:r>
              <a:rPr lang="en-US" sz="2000" b="0" i="0" dirty="0">
                <a:effectLst/>
                <a:latin typeface="Times New Roman" panose="02020603050405020304" pitchFamily="18" charset="0"/>
                <a:cs typeface="Times New Roman" panose="02020603050405020304" pitchFamily="18" charset="0"/>
              </a:rPr>
              <a:t>= 4096 + 0 + 80 + 6</a:t>
            </a:r>
          </a:p>
          <a:p>
            <a:pPr algn="l"/>
            <a:r>
              <a:rPr lang="en-US" sz="2000" b="0" i="0" dirty="0">
                <a:effectLst/>
                <a:latin typeface="Times New Roman" panose="02020603050405020304" pitchFamily="18" charset="0"/>
                <a:cs typeface="Times New Roman" panose="02020603050405020304" pitchFamily="18" charset="0"/>
              </a:rPr>
              <a:t>= (4182)</a:t>
            </a:r>
            <a:r>
              <a:rPr lang="en-US" sz="2000" b="0" i="0" baseline="-25000" dirty="0">
                <a:effectLst/>
                <a:latin typeface="Times New Roman" panose="02020603050405020304" pitchFamily="18" charset="0"/>
                <a:cs typeface="Times New Roman" panose="02020603050405020304" pitchFamily="18" charset="0"/>
              </a:rPr>
              <a:t>10</a:t>
            </a:r>
            <a:endParaRPr lang="en-US" sz="2000" b="0" i="0" dirty="0">
              <a:effectLst/>
              <a:latin typeface="Times New Roman" panose="02020603050405020304" pitchFamily="18" charset="0"/>
              <a:cs typeface="Times New Roman" panose="02020603050405020304" pitchFamily="18" charset="0"/>
            </a:endParaRPr>
          </a:p>
          <a:p>
            <a:pPr algn="l"/>
            <a:r>
              <a:rPr lang="en-US" sz="2000" b="0" i="0" dirty="0">
                <a:effectLst/>
                <a:latin typeface="Times New Roman" panose="02020603050405020304" pitchFamily="18" charset="0"/>
                <a:cs typeface="Times New Roman" panose="02020603050405020304" pitchFamily="18" charset="0"/>
              </a:rPr>
              <a:t>Now we will convert this decimal number to the required octal number by repetitively dividing by 8.</a:t>
            </a:r>
          </a:p>
        </p:txBody>
      </p:sp>
      <p:sp>
        <p:nvSpPr>
          <p:cNvPr id="5" name="TextBox 4">
            <a:extLst>
              <a:ext uri="{FF2B5EF4-FFF2-40B4-BE49-F238E27FC236}">
                <a16:creationId xmlns:a16="http://schemas.microsoft.com/office/drawing/2014/main" id="{74334758-0C01-E83C-31F5-CB843B114E51}"/>
              </a:ext>
            </a:extLst>
          </p:cNvPr>
          <p:cNvSpPr txBox="1"/>
          <p:nvPr/>
        </p:nvSpPr>
        <p:spPr>
          <a:xfrm>
            <a:off x="1081549" y="4774020"/>
            <a:ext cx="10982632" cy="923330"/>
          </a:xfrm>
          <a:prstGeom prst="rect">
            <a:avLst/>
          </a:prstGeom>
          <a:noFill/>
        </p:spPr>
        <p:txBody>
          <a:bodyPr wrap="square">
            <a:spAutoFit/>
          </a:bodyPr>
          <a:lstStyle/>
          <a:p>
            <a:pPr algn="l"/>
            <a:r>
              <a:rPr lang="en-US" b="1" i="0" dirty="0">
                <a:effectLst/>
                <a:latin typeface="Times New Roman" panose="02020603050405020304" pitchFamily="18" charset="0"/>
                <a:cs typeface="Times New Roman" panose="02020603050405020304" pitchFamily="18" charset="0"/>
              </a:rPr>
              <a:t>Therefore, taking the value of the remainder from bottom to top, we get;</a:t>
            </a:r>
          </a:p>
          <a:p>
            <a:pPr algn="l"/>
            <a:r>
              <a:rPr lang="en-US" b="1" i="0" dirty="0">
                <a:effectLst/>
                <a:latin typeface="Times New Roman" panose="02020603050405020304" pitchFamily="18" charset="0"/>
                <a:cs typeface="Times New Roman" panose="02020603050405020304" pitchFamily="18" charset="0"/>
              </a:rPr>
              <a:t>(4182)</a:t>
            </a:r>
            <a:r>
              <a:rPr lang="en-US" b="1" i="0" baseline="-25000" dirty="0">
                <a:effectLst/>
                <a:latin typeface="Times New Roman" panose="02020603050405020304" pitchFamily="18" charset="0"/>
                <a:cs typeface="Times New Roman" panose="02020603050405020304" pitchFamily="18" charset="0"/>
              </a:rPr>
              <a:t>10</a:t>
            </a:r>
            <a:r>
              <a:rPr lang="en-US" b="1" i="0" dirty="0">
                <a:effectLst/>
                <a:latin typeface="Times New Roman" panose="02020603050405020304" pitchFamily="18" charset="0"/>
                <a:cs typeface="Times New Roman" panose="02020603050405020304" pitchFamily="18" charset="0"/>
              </a:rPr>
              <a:t> = (10126)</a:t>
            </a:r>
            <a:r>
              <a:rPr lang="en-US" b="1" i="0" baseline="-25000" dirty="0">
                <a:effectLst/>
                <a:latin typeface="Times New Roman" panose="02020603050405020304" pitchFamily="18" charset="0"/>
                <a:cs typeface="Times New Roman" panose="02020603050405020304" pitchFamily="18" charset="0"/>
              </a:rPr>
              <a:t>8</a:t>
            </a:r>
            <a:endParaRPr lang="en-US" b="1" i="0" dirty="0">
              <a:effectLst/>
              <a:latin typeface="Times New Roman" panose="02020603050405020304" pitchFamily="18" charset="0"/>
              <a:cs typeface="Times New Roman" panose="02020603050405020304" pitchFamily="18" charset="0"/>
            </a:endParaRPr>
          </a:p>
          <a:p>
            <a:pPr algn="l"/>
            <a:r>
              <a:rPr lang="en-US" b="1" i="0" dirty="0">
                <a:effectLst/>
                <a:latin typeface="Times New Roman" panose="02020603050405020304" pitchFamily="18" charset="0"/>
                <a:cs typeface="Times New Roman" panose="02020603050405020304" pitchFamily="18" charset="0"/>
              </a:rPr>
              <a:t>(1056)</a:t>
            </a:r>
            <a:r>
              <a:rPr lang="en-US" b="1" i="0" baseline="-25000" dirty="0">
                <a:effectLst/>
                <a:latin typeface="Times New Roman" panose="02020603050405020304" pitchFamily="18" charset="0"/>
                <a:cs typeface="Times New Roman" panose="02020603050405020304" pitchFamily="18" charset="0"/>
              </a:rPr>
              <a:t>16</a:t>
            </a:r>
            <a:r>
              <a:rPr lang="en-US" b="1" i="0" dirty="0">
                <a:effectLst/>
                <a:latin typeface="Times New Roman" panose="02020603050405020304" pitchFamily="18" charset="0"/>
                <a:cs typeface="Times New Roman" panose="02020603050405020304" pitchFamily="18" charset="0"/>
              </a:rPr>
              <a:t> = (10126)</a:t>
            </a:r>
            <a:r>
              <a:rPr lang="en-US" b="1" i="0" baseline="-25000" dirty="0">
                <a:effectLst/>
                <a:latin typeface="Times New Roman" panose="02020603050405020304" pitchFamily="18" charset="0"/>
                <a:cs typeface="Times New Roman" panose="02020603050405020304" pitchFamily="18" charset="0"/>
              </a:rPr>
              <a:t>8</a:t>
            </a:r>
            <a:endParaRPr lang="en-US" b="1" i="0" dirty="0">
              <a:effectLst/>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C5865A8-DA0A-CCBE-664D-D6320C35FB4A}"/>
              </a:ext>
            </a:extLst>
          </p:cNvPr>
          <p:cNvSpPr txBox="1"/>
          <p:nvPr/>
        </p:nvSpPr>
        <p:spPr>
          <a:xfrm>
            <a:off x="2890684" y="233090"/>
            <a:ext cx="609600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IN" sz="1800" b="1" i="0" u="none" strike="noStrike" baseline="0" dirty="0">
                <a:solidFill>
                  <a:srgbClr val="000000"/>
                </a:solidFill>
                <a:latin typeface="Times New Roman" panose="02020603050405020304" pitchFamily="18" charset="0"/>
              </a:rPr>
              <a:t>Other Number system to Other </a:t>
            </a:r>
            <a:r>
              <a:rPr lang="en-IN" b="1" dirty="0">
                <a:solidFill>
                  <a:srgbClr val="000000"/>
                </a:solidFill>
                <a:latin typeface="Times New Roman" panose="02020603050405020304" pitchFamily="18" charset="0"/>
              </a:rPr>
              <a:t>number system </a:t>
            </a:r>
            <a:endParaRPr lang="en-IN" sz="1800" b="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46091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7868C1-BE1B-5224-81F3-6A816B01AF24}"/>
              </a:ext>
            </a:extLst>
          </p:cNvPr>
          <p:cNvSpPr txBox="1"/>
          <p:nvPr/>
        </p:nvSpPr>
        <p:spPr>
          <a:xfrm>
            <a:off x="845573" y="1278333"/>
            <a:ext cx="9684775" cy="3139321"/>
          </a:xfrm>
          <a:prstGeom prst="rect">
            <a:avLst/>
          </a:prstGeom>
          <a:noFill/>
        </p:spPr>
        <p:txBody>
          <a:bodyPr wrap="square">
            <a:spAutoFit/>
          </a:bodyPr>
          <a:lstStyle/>
          <a:p>
            <a:pPr algn="l"/>
            <a:r>
              <a:rPr lang="en-US" b="1" i="0" dirty="0">
                <a:effectLst/>
                <a:latin typeface="Poppins" panose="00000500000000000000" pitchFamily="2" charset="0"/>
              </a:rPr>
              <a:t>Q.1: Convert 41</a:t>
            </a:r>
            <a:r>
              <a:rPr lang="en-US" b="1" i="0" baseline="-25000" dirty="0">
                <a:effectLst/>
                <a:latin typeface="Poppins" panose="00000500000000000000" pitchFamily="2" charset="0"/>
              </a:rPr>
              <a:t>8</a:t>
            </a:r>
            <a:r>
              <a:rPr lang="en-US" b="1" i="0" dirty="0">
                <a:effectLst/>
                <a:latin typeface="Poppins" panose="00000500000000000000" pitchFamily="2" charset="0"/>
              </a:rPr>
              <a:t> to a binary number.</a:t>
            </a:r>
          </a:p>
          <a:p>
            <a:pPr algn="l"/>
            <a:endParaRPr lang="en-US" b="0" i="0" dirty="0">
              <a:effectLst/>
              <a:latin typeface="Poppins" panose="00000500000000000000" pitchFamily="2" charset="0"/>
            </a:endParaRPr>
          </a:p>
          <a:p>
            <a:pPr algn="l"/>
            <a:r>
              <a:rPr lang="en-US" b="0" i="0" dirty="0">
                <a:effectLst/>
                <a:latin typeface="Poppins" panose="00000500000000000000" pitchFamily="2" charset="0"/>
              </a:rPr>
              <a:t>Solution: </a:t>
            </a:r>
          </a:p>
          <a:p>
            <a:pPr algn="l"/>
            <a:endParaRPr lang="en-US" dirty="0">
              <a:latin typeface="Poppins" panose="00000500000000000000" pitchFamily="2" charset="0"/>
            </a:endParaRPr>
          </a:p>
          <a:p>
            <a:pPr algn="l"/>
            <a:r>
              <a:rPr lang="en-US" dirty="0">
                <a:latin typeface="Poppins" panose="00000500000000000000" pitchFamily="2" charset="0"/>
              </a:rPr>
              <a:t>STEP 1: </a:t>
            </a:r>
            <a:r>
              <a:rPr lang="en-US" b="0" i="0" dirty="0">
                <a:effectLst/>
                <a:latin typeface="Poppins" panose="00000500000000000000" pitchFamily="2" charset="0"/>
              </a:rPr>
              <a:t>Given number is 41</a:t>
            </a:r>
            <a:r>
              <a:rPr lang="en-US" b="0" i="0" baseline="-25000" dirty="0">
                <a:effectLst/>
                <a:latin typeface="Poppins" panose="00000500000000000000" pitchFamily="2" charset="0"/>
              </a:rPr>
              <a:t>8</a:t>
            </a:r>
            <a:endParaRPr lang="en-US" b="0" i="0" dirty="0">
              <a:effectLst/>
              <a:latin typeface="Poppins" panose="00000500000000000000" pitchFamily="2" charset="0"/>
            </a:endParaRPr>
          </a:p>
          <a:p>
            <a:pPr algn="l"/>
            <a:r>
              <a:rPr lang="en-US" b="0" i="0" dirty="0">
                <a:effectLst/>
                <a:latin typeface="Poppins" panose="00000500000000000000" pitchFamily="2" charset="0"/>
              </a:rPr>
              <a:t>41</a:t>
            </a:r>
            <a:r>
              <a:rPr lang="en-US" b="0" i="0" baseline="-25000" dirty="0">
                <a:effectLst/>
                <a:latin typeface="Poppins" panose="00000500000000000000" pitchFamily="2" charset="0"/>
              </a:rPr>
              <a:t>8</a:t>
            </a:r>
            <a:r>
              <a:rPr lang="en-US" b="0" i="0" dirty="0">
                <a:effectLst/>
                <a:latin typeface="Poppins" panose="00000500000000000000" pitchFamily="2" charset="0"/>
              </a:rPr>
              <a:t> = (4 * 8</a:t>
            </a:r>
            <a:r>
              <a:rPr lang="en-US" b="0" i="0" baseline="30000" dirty="0">
                <a:effectLst/>
                <a:latin typeface="Poppins" panose="00000500000000000000" pitchFamily="2" charset="0"/>
              </a:rPr>
              <a:t>1</a:t>
            </a:r>
            <a:r>
              <a:rPr lang="en-US" b="0" i="0" dirty="0">
                <a:effectLst/>
                <a:latin typeface="Poppins" panose="00000500000000000000" pitchFamily="2" charset="0"/>
              </a:rPr>
              <a:t>) + (1 * 8</a:t>
            </a:r>
            <a:r>
              <a:rPr lang="en-US" b="0" i="0" baseline="30000" dirty="0">
                <a:effectLst/>
                <a:latin typeface="Poppins" panose="00000500000000000000" pitchFamily="2" charset="0"/>
              </a:rPr>
              <a:t>0</a:t>
            </a:r>
            <a:r>
              <a:rPr lang="en-US" b="0" i="0" dirty="0">
                <a:effectLst/>
                <a:latin typeface="Poppins" panose="00000500000000000000" pitchFamily="2" charset="0"/>
              </a:rPr>
              <a:t>)</a:t>
            </a:r>
          </a:p>
          <a:p>
            <a:pPr algn="l"/>
            <a:r>
              <a:rPr lang="en-US" b="0" i="0" dirty="0">
                <a:effectLst/>
                <a:latin typeface="Poppins" panose="00000500000000000000" pitchFamily="2" charset="0"/>
              </a:rPr>
              <a:t>= 4 * 8 + 1 * 1</a:t>
            </a:r>
          </a:p>
          <a:p>
            <a:pPr algn="l"/>
            <a:r>
              <a:rPr lang="en-US" b="0" i="0" dirty="0">
                <a:effectLst/>
                <a:latin typeface="Poppins" panose="00000500000000000000" pitchFamily="2" charset="0"/>
              </a:rPr>
              <a:t>= 32+1</a:t>
            </a:r>
          </a:p>
          <a:p>
            <a:pPr algn="l"/>
            <a:r>
              <a:rPr lang="en-US" b="0" i="0" dirty="0">
                <a:effectLst/>
                <a:latin typeface="Poppins" panose="00000500000000000000" pitchFamily="2" charset="0"/>
              </a:rPr>
              <a:t>= 33(Decimal number)</a:t>
            </a:r>
          </a:p>
          <a:p>
            <a:pPr algn="l"/>
            <a:endParaRPr lang="en-US" dirty="0">
              <a:latin typeface="Poppins" panose="00000500000000000000" pitchFamily="2" charset="0"/>
            </a:endParaRPr>
          </a:p>
          <a:p>
            <a:pPr algn="l"/>
            <a:endParaRPr lang="en-US" b="0" i="0" dirty="0">
              <a:effectLst/>
              <a:latin typeface="Poppins" panose="00000500000000000000" pitchFamily="2" charset="0"/>
            </a:endParaRPr>
          </a:p>
        </p:txBody>
      </p:sp>
      <p:sp>
        <p:nvSpPr>
          <p:cNvPr id="9" name="TextBox 8">
            <a:extLst>
              <a:ext uri="{FF2B5EF4-FFF2-40B4-BE49-F238E27FC236}">
                <a16:creationId xmlns:a16="http://schemas.microsoft.com/office/drawing/2014/main" id="{B453CA4F-4C1F-D5A1-A246-D97943AD94BA}"/>
              </a:ext>
            </a:extLst>
          </p:cNvPr>
          <p:cNvSpPr txBox="1"/>
          <p:nvPr/>
        </p:nvSpPr>
        <p:spPr>
          <a:xfrm>
            <a:off x="5614218" y="673789"/>
            <a:ext cx="6228734" cy="3785652"/>
          </a:xfrm>
          <a:prstGeom prst="rect">
            <a:avLst/>
          </a:prstGeom>
          <a:noFill/>
        </p:spPr>
        <p:txBody>
          <a:bodyPr wrap="square">
            <a:spAutoFit/>
          </a:bodyPr>
          <a:lstStyle/>
          <a:p>
            <a:endParaRPr lang="en-US" sz="2000" dirty="0"/>
          </a:p>
          <a:p>
            <a:endParaRPr lang="en-US" sz="2000" dirty="0"/>
          </a:p>
          <a:p>
            <a:r>
              <a:rPr lang="en-US" sz="2000" dirty="0"/>
              <a:t>STEP 2: </a:t>
            </a:r>
          </a:p>
          <a:p>
            <a:r>
              <a:rPr lang="en-US" sz="2000" dirty="0"/>
              <a:t>33 / 2	16	1</a:t>
            </a:r>
          </a:p>
          <a:p>
            <a:r>
              <a:rPr lang="en-US" sz="2000" dirty="0"/>
              <a:t>16 / 2	8	0</a:t>
            </a:r>
          </a:p>
          <a:p>
            <a:r>
              <a:rPr lang="en-US" sz="2000" dirty="0"/>
              <a:t>8 / 2 	4	0</a:t>
            </a:r>
          </a:p>
          <a:p>
            <a:r>
              <a:rPr lang="en-US" sz="2000" dirty="0"/>
              <a:t>4 / 2 	2	0</a:t>
            </a:r>
          </a:p>
          <a:p>
            <a:r>
              <a:rPr lang="en-US" sz="2000" dirty="0"/>
              <a:t>2 / 2 	1	0</a:t>
            </a:r>
          </a:p>
          <a:p>
            <a:r>
              <a:rPr lang="en-US" sz="2000" dirty="0"/>
              <a:t>1 / 2 	0	1</a:t>
            </a:r>
          </a:p>
          <a:p>
            <a:r>
              <a:rPr lang="en-US" sz="2000" dirty="0"/>
              <a:t>Therefore, the equivalent binary number is 100001.</a:t>
            </a:r>
          </a:p>
          <a:p>
            <a:endParaRPr lang="en-US" sz="2000" dirty="0"/>
          </a:p>
          <a:p>
            <a:r>
              <a:rPr lang="en-US" sz="2000" dirty="0"/>
              <a:t>Hence, </a:t>
            </a:r>
            <a:r>
              <a:rPr lang="en-US" sz="2000" b="0" i="0" dirty="0">
                <a:effectLst/>
                <a:latin typeface="Poppins" panose="00000500000000000000" pitchFamily="2" charset="0"/>
              </a:rPr>
              <a:t>41</a:t>
            </a:r>
            <a:r>
              <a:rPr lang="en-US" sz="2000" b="0" i="0" baseline="-25000" dirty="0">
                <a:effectLst/>
                <a:latin typeface="Poppins" panose="00000500000000000000" pitchFamily="2" charset="0"/>
              </a:rPr>
              <a:t>8</a:t>
            </a:r>
            <a:r>
              <a:rPr lang="en-US" sz="2000" b="0" i="0" dirty="0">
                <a:effectLst/>
                <a:latin typeface="Poppins" panose="00000500000000000000" pitchFamily="2" charset="0"/>
              </a:rPr>
              <a:t> </a:t>
            </a:r>
            <a:r>
              <a:rPr lang="en-US" sz="2000" dirty="0"/>
              <a:t> = 100001</a:t>
            </a:r>
            <a:r>
              <a:rPr lang="en-US" sz="2000" baseline="-25000" dirty="0">
                <a:latin typeface="Poppins" panose="00000500000000000000" pitchFamily="2" charset="0"/>
              </a:rPr>
              <a:t>2</a:t>
            </a:r>
            <a:r>
              <a:rPr lang="en-US" sz="2000" b="0" i="0" dirty="0">
                <a:effectLst/>
                <a:latin typeface="Poppins" panose="00000500000000000000" pitchFamily="2" charset="0"/>
              </a:rPr>
              <a:t> </a:t>
            </a:r>
            <a:endParaRPr lang="en-IN" sz="2000" dirty="0"/>
          </a:p>
        </p:txBody>
      </p:sp>
    </p:spTree>
    <p:extLst>
      <p:ext uri="{BB962C8B-B14F-4D97-AF65-F5344CB8AC3E}">
        <p14:creationId xmlns:p14="http://schemas.microsoft.com/office/powerpoint/2010/main" val="100846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B77A27-1B72-8B48-6100-D3E82CD3936C}"/>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Lst>
          </a:blip>
          <a:srcRect t="5507" b="14203"/>
          <a:stretch>
            <a:fillRect/>
          </a:stretch>
        </p:blipFill>
        <p:spPr>
          <a:xfrm>
            <a:off x="3517150" y="119270"/>
            <a:ext cx="4652815" cy="6152980"/>
          </a:xfrm>
          <a:prstGeom prst="rect">
            <a:avLst/>
          </a:prstGeom>
        </p:spPr>
      </p:pic>
    </p:spTree>
    <p:extLst>
      <p:ext uri="{BB962C8B-B14F-4D97-AF65-F5344CB8AC3E}">
        <p14:creationId xmlns:p14="http://schemas.microsoft.com/office/powerpoint/2010/main" val="3231542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155643-2309-3593-D68E-8DC3AF59EB64}"/>
              </a:ext>
            </a:extLst>
          </p:cNvPr>
          <p:cNvSpPr txBox="1"/>
          <p:nvPr/>
        </p:nvSpPr>
        <p:spPr>
          <a:xfrm>
            <a:off x="1386350" y="1228397"/>
            <a:ext cx="3637936" cy="4401205"/>
          </a:xfrm>
          <a:prstGeom prst="rect">
            <a:avLst/>
          </a:prstGeom>
          <a:noFill/>
        </p:spPr>
        <p:txBody>
          <a:bodyPr wrap="square">
            <a:spAutoFit/>
          </a:bodyPr>
          <a:lstStyle/>
          <a:p>
            <a:r>
              <a:rPr lang="en-IN" sz="2000" b="1" i="0" u="none" strike="noStrike" baseline="0" dirty="0">
                <a:solidFill>
                  <a:srgbClr val="000000"/>
                </a:solidFill>
                <a:latin typeface="Times New Roman" panose="02020603050405020304" pitchFamily="18" charset="0"/>
              </a:rPr>
              <a:t>Logic Addition</a:t>
            </a:r>
            <a:endParaRPr lang="en-US" sz="2000" b="0" i="0" u="none" strike="noStrike" baseline="0" dirty="0">
              <a:solidFill>
                <a:srgbClr val="000000"/>
              </a:solidFill>
              <a:latin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rPr>
              <a:t>0 + 0 =0 			</a:t>
            </a:r>
            <a:endParaRPr lang="en-IN" sz="2000" b="0" i="0" u="none" strike="noStrike" baseline="0" dirty="0">
              <a:solidFill>
                <a:srgbClr val="000000"/>
              </a:solidFill>
              <a:latin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rPr>
              <a:t>0 + 1 =1 </a:t>
            </a:r>
            <a:endParaRPr lang="en-IN" sz="2000" b="0" i="0" u="none" strike="noStrike" baseline="0" dirty="0">
              <a:solidFill>
                <a:srgbClr val="000000"/>
              </a:solidFill>
              <a:latin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rPr>
              <a:t>1 + 0 =1 </a:t>
            </a:r>
            <a:endParaRPr lang="en-IN" sz="2000" b="0" i="0" u="none" strike="noStrike" baseline="0" dirty="0">
              <a:solidFill>
                <a:srgbClr val="000000"/>
              </a:solidFill>
              <a:latin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rPr>
              <a:t>1 + 1 =0  Carry 1 </a:t>
            </a:r>
            <a:endParaRPr lang="en-IN" sz="2000" b="1" dirty="0">
              <a:solidFill>
                <a:srgbClr val="000000"/>
              </a:solidFill>
              <a:latin typeface="Times New Roman" panose="02020603050405020304" pitchFamily="18" charset="0"/>
            </a:endParaRPr>
          </a:p>
          <a:p>
            <a:endParaRPr lang="en-IN" sz="2000" b="1" i="0" u="none" strike="noStrike" baseline="0" dirty="0">
              <a:solidFill>
                <a:srgbClr val="000000"/>
              </a:solidFill>
              <a:latin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rPr>
              <a:t>Logic Subtraction</a:t>
            </a:r>
            <a:endParaRPr lang="en-IN" sz="2000" b="0" i="0" u="none" strike="noStrike" baseline="0" dirty="0">
              <a:solidFill>
                <a:srgbClr val="000000"/>
              </a:solidFill>
              <a:latin typeface="Times New Roman" panose="02020603050405020304" pitchFamily="18" charset="0"/>
            </a:endParaRPr>
          </a:p>
          <a:p>
            <a:endParaRPr lang="en-IN" sz="2000" b="1" dirty="0">
              <a:solidFill>
                <a:srgbClr val="000000"/>
              </a:solidFill>
              <a:latin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rPr>
              <a:t>0 - 0 =0 </a:t>
            </a:r>
            <a:endParaRPr lang="en-IN" sz="2000" b="0" i="0" u="none" strike="noStrike" baseline="0" dirty="0">
              <a:solidFill>
                <a:srgbClr val="000000"/>
              </a:solidFill>
              <a:latin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rPr>
              <a:t>0 - 1 =1  Borrow 1</a:t>
            </a:r>
            <a:endParaRPr lang="en-IN" sz="2000" b="0" i="0" u="none" strike="noStrike" baseline="0" dirty="0">
              <a:solidFill>
                <a:srgbClr val="000000"/>
              </a:solidFill>
              <a:latin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rPr>
              <a:t>1 - 0 =1 </a:t>
            </a:r>
            <a:endParaRPr lang="en-IN" sz="2000" b="0" i="0" u="none" strike="noStrike" baseline="0" dirty="0">
              <a:solidFill>
                <a:srgbClr val="000000"/>
              </a:solidFill>
              <a:latin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rPr>
              <a:t>1 - 1 =0</a:t>
            </a:r>
            <a:endParaRPr lang="en-IN" sz="2000" b="0" i="0" u="none" strike="noStrike" baseline="0" dirty="0">
              <a:solidFill>
                <a:srgbClr val="000000"/>
              </a:solidFill>
              <a:latin typeface="Times New Roman" panose="02020603050405020304" pitchFamily="18" charset="0"/>
            </a:endParaRPr>
          </a:p>
          <a:p>
            <a:endParaRPr lang="en-IN" sz="2000" b="0" i="0" u="none" strike="noStrike" baseline="0" dirty="0">
              <a:solidFill>
                <a:srgbClr val="000000"/>
              </a:solidFill>
              <a:latin typeface="Times New Roman" panose="02020603050405020304" pitchFamily="18" charset="0"/>
            </a:endParaRPr>
          </a:p>
          <a:p>
            <a:endParaRPr lang="en-IN" sz="2000" dirty="0"/>
          </a:p>
        </p:txBody>
      </p:sp>
      <p:sp>
        <p:nvSpPr>
          <p:cNvPr id="5" name="TextBox 4">
            <a:extLst>
              <a:ext uri="{FF2B5EF4-FFF2-40B4-BE49-F238E27FC236}">
                <a16:creationId xmlns:a16="http://schemas.microsoft.com/office/drawing/2014/main" id="{5C55960E-BB4C-D9BA-90EF-622BAE341651}"/>
              </a:ext>
            </a:extLst>
          </p:cNvPr>
          <p:cNvSpPr txBox="1"/>
          <p:nvPr/>
        </p:nvSpPr>
        <p:spPr>
          <a:xfrm>
            <a:off x="6567949" y="1150375"/>
            <a:ext cx="6096000" cy="4062651"/>
          </a:xfrm>
          <a:prstGeom prst="rect">
            <a:avLst/>
          </a:prstGeom>
          <a:noFill/>
        </p:spPr>
        <p:txBody>
          <a:bodyPr wrap="square">
            <a:spAutoFit/>
          </a:bodyPr>
          <a:lstStyle/>
          <a:p>
            <a:r>
              <a:rPr lang="en-IN" sz="2000" b="1" i="0" u="none" strike="noStrike" baseline="0" dirty="0">
                <a:solidFill>
                  <a:srgbClr val="000000"/>
                </a:solidFill>
                <a:latin typeface="Times New Roman" panose="02020603050405020304" pitchFamily="18" charset="0"/>
                <a:cs typeface="Times New Roman" panose="02020603050405020304" pitchFamily="18" charset="0"/>
              </a:rPr>
              <a:t>Logical Multiplication </a:t>
            </a:r>
          </a:p>
          <a:p>
            <a:endParaRPr lang="en-IN" sz="2000" b="1"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cs typeface="Times New Roman" panose="02020603050405020304" pitchFamily="18" charset="0"/>
              </a:rPr>
              <a:t>0.0 = 0 </a:t>
            </a:r>
          </a:p>
          <a:p>
            <a:r>
              <a:rPr lang="en-IN" sz="2000" b="1" i="0" u="none" strike="noStrike" baseline="0" dirty="0">
                <a:solidFill>
                  <a:srgbClr val="000000"/>
                </a:solidFill>
                <a:latin typeface="Times New Roman" panose="02020603050405020304" pitchFamily="18" charset="0"/>
                <a:cs typeface="Times New Roman" panose="02020603050405020304" pitchFamily="18" charset="0"/>
              </a:rPr>
              <a:t>0.1 = 0 </a:t>
            </a:r>
          </a:p>
          <a:p>
            <a:r>
              <a:rPr lang="en-IN" sz="2000" b="1" i="0" u="none" strike="noStrike" baseline="0" dirty="0">
                <a:solidFill>
                  <a:srgbClr val="000000"/>
                </a:solidFill>
                <a:latin typeface="Times New Roman" panose="02020603050405020304" pitchFamily="18" charset="0"/>
                <a:cs typeface="Times New Roman" panose="02020603050405020304" pitchFamily="18" charset="0"/>
              </a:rPr>
              <a:t>1.0 = 0 </a:t>
            </a:r>
          </a:p>
          <a:p>
            <a:r>
              <a:rPr lang="en-IN" sz="2000" b="1" i="0" u="none" strike="noStrike" baseline="0" dirty="0">
                <a:solidFill>
                  <a:srgbClr val="000000"/>
                </a:solidFill>
                <a:latin typeface="Times New Roman" panose="02020603050405020304" pitchFamily="18" charset="0"/>
                <a:cs typeface="Times New Roman" panose="02020603050405020304" pitchFamily="18" charset="0"/>
              </a:rPr>
              <a:t>1.1 = 1 </a:t>
            </a:r>
          </a:p>
          <a:p>
            <a:pPr algn="l"/>
            <a:endParaRPr lang="en-US" sz="2000" b="1" i="0" dirty="0">
              <a:solidFill>
                <a:srgbClr val="444444"/>
              </a:solidFill>
              <a:effectLst/>
              <a:latin typeface="Times New Roman" panose="02020603050405020304" pitchFamily="18" charset="0"/>
              <a:cs typeface="Times New Roman" panose="02020603050405020304" pitchFamily="18" charset="0"/>
            </a:endParaRPr>
          </a:p>
          <a:p>
            <a:r>
              <a:rPr lang="en-IN" sz="2000" b="1" i="0" u="none" strike="noStrike" baseline="0" dirty="0">
                <a:solidFill>
                  <a:srgbClr val="000000"/>
                </a:solidFill>
                <a:latin typeface="Times New Roman" panose="02020603050405020304" pitchFamily="18" charset="0"/>
                <a:cs typeface="Times New Roman" panose="02020603050405020304" pitchFamily="18" charset="0"/>
              </a:rPr>
              <a:t>Logical Division </a:t>
            </a:r>
          </a:p>
          <a:p>
            <a:pPr algn="l"/>
            <a:endParaRPr lang="en-US" sz="2000" b="1" i="0" dirty="0">
              <a:solidFill>
                <a:srgbClr val="444444"/>
              </a:solidFill>
              <a:effectLst/>
              <a:latin typeface="Times New Roman" panose="02020603050405020304" pitchFamily="18" charset="0"/>
              <a:cs typeface="Times New Roman" panose="02020603050405020304" pitchFamily="18" charset="0"/>
            </a:endParaRPr>
          </a:p>
          <a:p>
            <a:pPr algn="l"/>
            <a:r>
              <a:rPr lang="en-US" sz="2000" b="1" i="0" dirty="0">
                <a:solidFill>
                  <a:srgbClr val="444444"/>
                </a:solidFill>
                <a:effectLst/>
                <a:latin typeface="Times New Roman" panose="02020603050405020304" pitchFamily="18" charset="0"/>
                <a:cs typeface="Times New Roman" panose="02020603050405020304" pitchFamily="18" charset="0"/>
              </a:rPr>
              <a:t>1÷1 = 1</a:t>
            </a:r>
          </a:p>
          <a:p>
            <a:pPr algn="l"/>
            <a:r>
              <a:rPr lang="en-US" sz="2000" b="1" i="0" dirty="0">
                <a:solidFill>
                  <a:srgbClr val="444444"/>
                </a:solidFill>
                <a:effectLst/>
                <a:latin typeface="Times New Roman" panose="02020603050405020304" pitchFamily="18" charset="0"/>
                <a:cs typeface="Times New Roman" panose="02020603050405020304" pitchFamily="18" charset="0"/>
              </a:rPr>
              <a:t>1÷0 = ND/ Meaningless</a:t>
            </a:r>
          </a:p>
          <a:p>
            <a:pPr algn="l"/>
            <a:r>
              <a:rPr lang="en-US" sz="2000" b="1" i="0" dirty="0">
                <a:solidFill>
                  <a:srgbClr val="444444"/>
                </a:solidFill>
                <a:effectLst/>
                <a:latin typeface="Times New Roman" panose="02020603050405020304" pitchFamily="18" charset="0"/>
                <a:cs typeface="Times New Roman" panose="02020603050405020304" pitchFamily="18" charset="0"/>
              </a:rPr>
              <a:t>0÷1 = 0</a:t>
            </a:r>
          </a:p>
          <a:p>
            <a:pPr algn="l"/>
            <a:r>
              <a:rPr lang="en-US" sz="2000" b="1" i="0" dirty="0">
                <a:solidFill>
                  <a:srgbClr val="444444"/>
                </a:solidFill>
                <a:effectLst/>
                <a:latin typeface="Times New Roman" panose="02020603050405020304" pitchFamily="18" charset="0"/>
                <a:cs typeface="Times New Roman" panose="02020603050405020304" pitchFamily="18" charset="0"/>
              </a:rPr>
              <a:t>0÷0 = N/D Meaningless</a:t>
            </a:r>
          </a:p>
        </p:txBody>
      </p:sp>
      <p:sp>
        <p:nvSpPr>
          <p:cNvPr id="4" name="TextBox 3">
            <a:extLst>
              <a:ext uri="{FF2B5EF4-FFF2-40B4-BE49-F238E27FC236}">
                <a16:creationId xmlns:a16="http://schemas.microsoft.com/office/drawing/2014/main" id="{CB07BC81-6195-D1BD-016A-FE4D69562215}"/>
              </a:ext>
            </a:extLst>
          </p:cNvPr>
          <p:cNvSpPr txBox="1"/>
          <p:nvPr/>
        </p:nvSpPr>
        <p:spPr>
          <a:xfrm>
            <a:off x="2561303" y="267618"/>
            <a:ext cx="6400800"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400" b="1" dirty="0"/>
              <a:t>Binary Arithmetic</a:t>
            </a:r>
            <a:endParaRPr lang="en-IN" sz="2400" b="1" dirty="0"/>
          </a:p>
        </p:txBody>
      </p:sp>
    </p:spTree>
    <p:extLst>
      <p:ext uri="{BB962C8B-B14F-4D97-AF65-F5344CB8AC3E}">
        <p14:creationId xmlns:p14="http://schemas.microsoft.com/office/powerpoint/2010/main" val="1926348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BD8496-A6DD-7E8D-49E5-8D25D8B98DF0}"/>
              </a:ext>
            </a:extLst>
          </p:cNvPr>
          <p:cNvSpPr txBox="1"/>
          <p:nvPr/>
        </p:nvSpPr>
        <p:spPr>
          <a:xfrm>
            <a:off x="2792361" y="316779"/>
            <a:ext cx="7325032"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i="0" u="none" strike="noStrike" baseline="0" dirty="0">
                <a:solidFill>
                  <a:srgbClr val="000000"/>
                </a:solidFill>
                <a:latin typeface="Times New Roman" panose="02020603050405020304" pitchFamily="18" charset="0"/>
              </a:rPr>
              <a:t> Binary Subtraction using Complements (1s &amp; 2s) </a:t>
            </a:r>
            <a:endParaRPr lang="en-IN" sz="2400" dirty="0"/>
          </a:p>
        </p:txBody>
      </p:sp>
      <p:sp>
        <p:nvSpPr>
          <p:cNvPr id="5" name="TextBox 4">
            <a:extLst>
              <a:ext uri="{FF2B5EF4-FFF2-40B4-BE49-F238E27FC236}">
                <a16:creationId xmlns:a16="http://schemas.microsoft.com/office/drawing/2014/main" id="{391F146A-1A17-7FEF-48A9-677A468289DC}"/>
              </a:ext>
            </a:extLst>
          </p:cNvPr>
          <p:cNvSpPr txBox="1"/>
          <p:nvPr/>
        </p:nvSpPr>
        <p:spPr>
          <a:xfrm>
            <a:off x="648929" y="1179870"/>
            <a:ext cx="10609005" cy="3484095"/>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1's Complement</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1's Complement can be obtained by simply altering 1s to 0s and 0s to 1s. For eg, 1's Complement of (1001) is (0110).</a:t>
            </a:r>
          </a:p>
          <a:p>
            <a:pPr algn="just">
              <a:lnSpc>
                <a:spcPct val="150000"/>
              </a:lnSpc>
            </a:pPr>
            <a:endParaRPr lang="en-US" sz="2000" b="0" i="0" dirty="0">
              <a:solidFill>
                <a:srgbClr val="444444"/>
              </a:solidFill>
              <a:effectLst/>
              <a:latin typeface="Times New Roman" panose="02020603050405020304" pitchFamily="18" charset="0"/>
              <a:cs typeface="Times New Roman" panose="02020603050405020304" pitchFamily="18" charset="0"/>
            </a:endParaRPr>
          </a:p>
          <a:p>
            <a:pPr algn="just">
              <a:lnSpc>
                <a:spcPct val="150000"/>
              </a:lnSpc>
            </a:pPr>
            <a:r>
              <a:rPr lang="en-US" sz="2000" b="1" i="0" dirty="0">
                <a:solidFill>
                  <a:srgbClr val="444444"/>
                </a:solidFill>
                <a:effectLst/>
                <a:latin typeface="Times New Roman" panose="02020603050405020304" pitchFamily="18" charset="0"/>
                <a:cs typeface="Times New Roman" panose="02020603050405020304" pitchFamily="18" charset="0"/>
              </a:rPr>
              <a:t>Procedures for Binary Subtraction by 1’s Complement</a:t>
            </a:r>
          </a:p>
          <a:p>
            <a:pPr algn="just">
              <a:lnSpc>
                <a:spcPct val="150000"/>
              </a:lnSpc>
              <a:buFont typeface="Arial" panose="020B0604020202020204" pitchFamily="34" charset="0"/>
              <a:buChar char="•"/>
            </a:pPr>
            <a:r>
              <a:rPr lang="en-US" sz="2000" b="0" i="0" dirty="0">
                <a:solidFill>
                  <a:srgbClr val="444444"/>
                </a:solidFill>
                <a:effectLst/>
                <a:latin typeface="Times New Roman" panose="02020603050405020304" pitchFamily="18" charset="0"/>
                <a:cs typeface="Times New Roman" panose="02020603050405020304" pitchFamily="18" charset="0"/>
              </a:rPr>
              <a:t>Write the 1’s complement of the subtrahend</a:t>
            </a:r>
          </a:p>
          <a:p>
            <a:pPr algn="just">
              <a:lnSpc>
                <a:spcPct val="150000"/>
              </a:lnSpc>
              <a:buFont typeface="Arial" panose="020B0604020202020204" pitchFamily="34" charset="0"/>
              <a:buChar char="•"/>
            </a:pPr>
            <a:r>
              <a:rPr lang="en-US" sz="2000" b="0" i="0" dirty="0">
                <a:solidFill>
                  <a:srgbClr val="444444"/>
                </a:solidFill>
                <a:effectLst/>
                <a:latin typeface="Times New Roman" panose="02020603050405020304" pitchFamily="18" charset="0"/>
                <a:cs typeface="Times New Roman" panose="02020603050405020304" pitchFamily="18" charset="0"/>
              </a:rPr>
              <a:t>Then add the 1’s complement subtrahend with the minuend</a:t>
            </a:r>
          </a:p>
          <a:p>
            <a:pPr algn="just">
              <a:lnSpc>
                <a:spcPct val="150000"/>
              </a:lnSpc>
              <a:buFont typeface="Arial" panose="020B0604020202020204" pitchFamily="34" charset="0"/>
              <a:buChar char="•"/>
            </a:pPr>
            <a:r>
              <a:rPr lang="en-US" sz="2000" b="0" i="0" dirty="0">
                <a:solidFill>
                  <a:srgbClr val="444444"/>
                </a:solidFill>
                <a:effectLst/>
                <a:latin typeface="Times New Roman" panose="02020603050405020304" pitchFamily="18" charset="0"/>
                <a:cs typeface="Times New Roman" panose="02020603050405020304" pitchFamily="18" charset="0"/>
              </a:rPr>
              <a:t>If the result has a carryover, then add that carry over in the least significant bit</a:t>
            </a:r>
          </a:p>
          <a:p>
            <a:pPr algn="just">
              <a:lnSpc>
                <a:spcPct val="150000"/>
              </a:lnSpc>
              <a:buFont typeface="Arial" panose="020B0604020202020204" pitchFamily="34" charset="0"/>
              <a:buChar char="•"/>
            </a:pPr>
            <a:r>
              <a:rPr lang="en-US" sz="2000" b="0" i="0" dirty="0">
                <a:solidFill>
                  <a:srgbClr val="444444"/>
                </a:solidFill>
                <a:effectLst/>
                <a:latin typeface="Times New Roman" panose="02020603050405020304" pitchFamily="18" charset="0"/>
                <a:cs typeface="Times New Roman" panose="02020603050405020304" pitchFamily="18" charset="0"/>
              </a:rPr>
              <a:t>If there is no carryover, then take the 1’s complement of the resultant, and it is negative.</a:t>
            </a:r>
          </a:p>
        </p:txBody>
      </p:sp>
    </p:spTree>
    <p:extLst>
      <p:ext uri="{BB962C8B-B14F-4D97-AF65-F5344CB8AC3E}">
        <p14:creationId xmlns:p14="http://schemas.microsoft.com/office/powerpoint/2010/main" val="4050357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ray to Binary and Binary to Gray conversion - GeeksforGeeks">
            <a:extLst>
              <a:ext uri="{FF2B5EF4-FFF2-40B4-BE49-F238E27FC236}">
                <a16:creationId xmlns:a16="http://schemas.microsoft.com/office/drawing/2014/main" id="{32C9F8C9-6296-5787-E51F-9716790050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108" y="1467312"/>
            <a:ext cx="5280087" cy="336165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ray to Binary and Binary to Gray conversion - GeeksforGeeks">
            <a:extLst>
              <a:ext uri="{FF2B5EF4-FFF2-40B4-BE49-F238E27FC236}">
                <a16:creationId xmlns:a16="http://schemas.microsoft.com/office/drawing/2014/main" id="{94A7BD73-FC69-7419-B36C-C4BB7C0B69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1807" y="1467312"/>
            <a:ext cx="4670323" cy="32069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E9079BB-05E9-A733-7F1E-321312A413F1}"/>
              </a:ext>
            </a:extLst>
          </p:cNvPr>
          <p:cNvSpPr txBox="1"/>
          <p:nvPr/>
        </p:nvSpPr>
        <p:spPr>
          <a:xfrm>
            <a:off x="2310581" y="393290"/>
            <a:ext cx="6676103"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BINARY TO GRAY &amp; GRAY TO BINARY</a:t>
            </a:r>
            <a:endParaRPr lang="en-IN" sz="2400" b="1" dirty="0"/>
          </a:p>
        </p:txBody>
      </p:sp>
      <p:sp>
        <p:nvSpPr>
          <p:cNvPr id="3" name="TextBox 2">
            <a:extLst>
              <a:ext uri="{FF2B5EF4-FFF2-40B4-BE49-F238E27FC236}">
                <a16:creationId xmlns:a16="http://schemas.microsoft.com/office/drawing/2014/main" id="{CA4A3AD7-554A-508B-06BA-A836B4CB46A7}"/>
              </a:ext>
            </a:extLst>
          </p:cNvPr>
          <p:cNvSpPr txBox="1"/>
          <p:nvPr/>
        </p:nvSpPr>
        <p:spPr>
          <a:xfrm>
            <a:off x="3460955" y="6370906"/>
            <a:ext cx="5083277" cy="40011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000" b="1" dirty="0">
                <a:solidFill>
                  <a:schemeClr val="tx1">
                    <a:lumMod val="95000"/>
                    <a:lumOff val="5000"/>
                  </a:schemeClr>
                </a:solidFill>
              </a:rPr>
              <a:t>Keep the 1</a:t>
            </a:r>
            <a:r>
              <a:rPr lang="en-US" sz="2000" b="1" baseline="30000" dirty="0">
                <a:solidFill>
                  <a:schemeClr val="tx1">
                    <a:lumMod val="95000"/>
                    <a:lumOff val="5000"/>
                  </a:schemeClr>
                </a:solidFill>
              </a:rPr>
              <a:t>st</a:t>
            </a:r>
            <a:r>
              <a:rPr lang="en-US" sz="2000" b="1" dirty="0">
                <a:solidFill>
                  <a:schemeClr val="tx1">
                    <a:lumMod val="95000"/>
                    <a:lumOff val="5000"/>
                  </a:schemeClr>
                </a:solidFill>
              </a:rPr>
              <a:t> bit </a:t>
            </a:r>
            <a:endParaRPr lang="en-IN" sz="2000" b="1" dirty="0">
              <a:solidFill>
                <a:schemeClr val="tx1">
                  <a:lumMod val="95000"/>
                  <a:lumOff val="5000"/>
                </a:schemeClr>
              </a:solidFill>
            </a:endParaRPr>
          </a:p>
        </p:txBody>
      </p:sp>
    </p:spTree>
    <p:extLst>
      <p:ext uri="{BB962C8B-B14F-4D97-AF65-F5344CB8AC3E}">
        <p14:creationId xmlns:p14="http://schemas.microsoft.com/office/powerpoint/2010/main" val="183022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6821E37-0425-2449-F83D-03991F22AF53}"/>
              </a:ext>
            </a:extLst>
          </p:cNvPr>
          <p:cNvPicPr>
            <a:picLocks noChangeAspect="1"/>
          </p:cNvPicPr>
          <p:nvPr/>
        </p:nvPicPr>
        <p:blipFill>
          <a:blip r:embed="rId2"/>
          <a:stretch>
            <a:fillRect/>
          </a:stretch>
        </p:blipFill>
        <p:spPr>
          <a:xfrm>
            <a:off x="3466733" y="1247470"/>
            <a:ext cx="5258534" cy="4363059"/>
          </a:xfrm>
          <a:prstGeom prst="rect">
            <a:avLst/>
          </a:prstGeom>
        </p:spPr>
      </p:pic>
      <p:pic>
        <p:nvPicPr>
          <p:cNvPr id="11" name="Picture 10">
            <a:extLst>
              <a:ext uri="{FF2B5EF4-FFF2-40B4-BE49-F238E27FC236}">
                <a16:creationId xmlns:a16="http://schemas.microsoft.com/office/drawing/2014/main" id="{C8B44B9A-95DF-4C00-6655-ABFA4722500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Lst>
          </a:blip>
          <a:srcRect l="51170" t="6756"/>
          <a:stretch/>
        </p:blipFill>
        <p:spPr>
          <a:xfrm>
            <a:off x="4611329" y="452284"/>
            <a:ext cx="2486411" cy="451833"/>
          </a:xfrm>
          <a:prstGeom prst="rect">
            <a:avLst/>
          </a:prstGeom>
          <a:ln>
            <a:solidFill>
              <a:schemeClr val="accent2">
                <a:lumMod val="60000"/>
                <a:lumOff val="40000"/>
              </a:schemeClr>
            </a:solidFill>
          </a:ln>
        </p:spPr>
      </p:pic>
      <p:sp>
        <p:nvSpPr>
          <p:cNvPr id="13" name="TextBox 12">
            <a:extLst>
              <a:ext uri="{FF2B5EF4-FFF2-40B4-BE49-F238E27FC236}">
                <a16:creationId xmlns:a16="http://schemas.microsoft.com/office/drawing/2014/main" id="{D5751A2A-6E6E-C0F6-C761-89D9F2D46433}"/>
              </a:ext>
            </a:extLst>
          </p:cNvPr>
          <p:cNvSpPr txBox="1"/>
          <p:nvPr/>
        </p:nvSpPr>
        <p:spPr>
          <a:xfrm>
            <a:off x="3313471" y="380897"/>
            <a:ext cx="6096000" cy="523220"/>
          </a:xfrm>
          <a:prstGeom prst="rect">
            <a:avLst/>
          </a:prstGeom>
          <a:noFill/>
        </p:spPr>
        <p:txBody>
          <a:bodyPr wrap="square">
            <a:spAutoFit/>
          </a:bodyPr>
          <a:lstStyle/>
          <a:p>
            <a:r>
              <a:rPr lang="en-US" sz="2800" b="1" dirty="0"/>
              <a:t>QUES</a:t>
            </a:r>
            <a:endParaRPr lang="en-IN" sz="2800" b="1" dirty="0"/>
          </a:p>
        </p:txBody>
      </p:sp>
    </p:spTree>
    <p:extLst>
      <p:ext uri="{BB962C8B-B14F-4D97-AF65-F5344CB8AC3E}">
        <p14:creationId xmlns:p14="http://schemas.microsoft.com/office/powerpoint/2010/main" val="226950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A2855C0-F1B1-C9F8-71B5-89A593A4CF03}"/>
              </a:ext>
            </a:extLst>
          </p:cNvPr>
          <p:cNvSpPr txBox="1"/>
          <p:nvPr/>
        </p:nvSpPr>
        <p:spPr>
          <a:xfrm>
            <a:off x="2930014" y="138268"/>
            <a:ext cx="6096000"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i="0" u="none" strike="noStrike" baseline="0" dirty="0">
                <a:solidFill>
                  <a:srgbClr val="000000"/>
                </a:solidFill>
                <a:latin typeface="Times New Roman" panose="02020603050405020304" pitchFamily="18" charset="0"/>
              </a:rPr>
              <a:t> Basic and Universal Logic Gates </a:t>
            </a:r>
            <a:endParaRPr lang="en-IN" sz="2400" dirty="0"/>
          </a:p>
        </p:txBody>
      </p:sp>
      <p:pic>
        <p:nvPicPr>
          <p:cNvPr id="5" name="Picture 4">
            <a:extLst>
              <a:ext uri="{FF2B5EF4-FFF2-40B4-BE49-F238E27FC236}">
                <a16:creationId xmlns:a16="http://schemas.microsoft.com/office/drawing/2014/main" id="{F976CBBF-7389-A3A7-3B61-F8360A4B40E5}"/>
              </a:ext>
            </a:extLst>
          </p:cNvPr>
          <p:cNvPicPr>
            <a:picLocks noChangeAspect="1"/>
          </p:cNvPicPr>
          <p:nvPr/>
        </p:nvPicPr>
        <p:blipFill>
          <a:blip r:embed="rId2"/>
          <a:stretch>
            <a:fillRect/>
          </a:stretch>
        </p:blipFill>
        <p:spPr>
          <a:xfrm>
            <a:off x="623123" y="704470"/>
            <a:ext cx="10945753" cy="5449060"/>
          </a:xfrm>
          <a:prstGeom prst="rect">
            <a:avLst/>
          </a:prstGeom>
        </p:spPr>
      </p:pic>
    </p:spTree>
    <p:extLst>
      <p:ext uri="{BB962C8B-B14F-4D97-AF65-F5344CB8AC3E}">
        <p14:creationId xmlns:p14="http://schemas.microsoft.com/office/powerpoint/2010/main" val="1497538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BBD585-F96A-B4C7-03F0-52F7BF4C791E}"/>
              </a:ext>
            </a:extLst>
          </p:cNvPr>
          <p:cNvPicPr>
            <a:picLocks noChangeAspect="1"/>
          </p:cNvPicPr>
          <p:nvPr/>
        </p:nvPicPr>
        <p:blipFill>
          <a:blip r:embed="rId2"/>
          <a:stretch>
            <a:fillRect/>
          </a:stretch>
        </p:blipFill>
        <p:spPr>
          <a:xfrm>
            <a:off x="8223259" y="2353764"/>
            <a:ext cx="3905795" cy="1676634"/>
          </a:xfrm>
          <a:prstGeom prst="rect">
            <a:avLst/>
          </a:prstGeom>
        </p:spPr>
      </p:pic>
      <p:sp>
        <p:nvSpPr>
          <p:cNvPr id="7" name="TextBox 6">
            <a:extLst>
              <a:ext uri="{FF2B5EF4-FFF2-40B4-BE49-F238E27FC236}">
                <a16:creationId xmlns:a16="http://schemas.microsoft.com/office/drawing/2014/main" id="{FA1F3703-8E71-2A65-19E2-759B4E875D34}"/>
              </a:ext>
            </a:extLst>
          </p:cNvPr>
          <p:cNvSpPr txBox="1"/>
          <p:nvPr/>
        </p:nvSpPr>
        <p:spPr>
          <a:xfrm>
            <a:off x="1023462" y="964515"/>
            <a:ext cx="8789132" cy="2308324"/>
          </a:xfrm>
          <a:prstGeom prst="rect">
            <a:avLst/>
          </a:prstGeom>
          <a:noFill/>
        </p:spPr>
        <p:txBody>
          <a:bodyPr wrap="square">
            <a:spAutoFit/>
          </a:bodyPr>
          <a:lstStyle/>
          <a:p>
            <a:r>
              <a:rPr lang="en-US" sz="2400" dirty="0"/>
              <a:t>The Boolean expression is</a:t>
            </a:r>
          </a:p>
          <a:p>
            <a:endParaRPr lang="en-US" sz="2400" dirty="0"/>
          </a:p>
          <a:p>
            <a:r>
              <a:rPr lang="en-US" sz="2400" dirty="0"/>
              <a:t> </a:t>
            </a:r>
          </a:p>
          <a:p>
            <a:r>
              <a:rPr lang="en-US" sz="2400" dirty="0"/>
              <a:t>It is read as Y equals NOT A.</a:t>
            </a:r>
          </a:p>
          <a:p>
            <a:endParaRPr lang="en-US" sz="2400" dirty="0"/>
          </a:p>
          <a:p>
            <a:r>
              <a:rPr lang="en-US" sz="2400" dirty="0"/>
              <a:t>The truth table of NOT gate is as follows</a:t>
            </a:r>
            <a:endParaRPr lang="en-IN" sz="2400" dirty="0"/>
          </a:p>
        </p:txBody>
      </p:sp>
      <p:pic>
        <p:nvPicPr>
          <p:cNvPr id="9" name="Picture 8">
            <a:extLst>
              <a:ext uri="{FF2B5EF4-FFF2-40B4-BE49-F238E27FC236}">
                <a16:creationId xmlns:a16="http://schemas.microsoft.com/office/drawing/2014/main" id="{0797F71A-A2E2-B79D-B557-555D3B41EFD7}"/>
              </a:ext>
            </a:extLst>
          </p:cNvPr>
          <p:cNvPicPr>
            <a:picLocks noChangeAspect="1"/>
          </p:cNvPicPr>
          <p:nvPr/>
        </p:nvPicPr>
        <p:blipFill>
          <a:blip r:embed="rId3"/>
          <a:stretch>
            <a:fillRect/>
          </a:stretch>
        </p:blipFill>
        <p:spPr>
          <a:xfrm>
            <a:off x="875978" y="3429000"/>
            <a:ext cx="7347281" cy="1922371"/>
          </a:xfrm>
          <a:prstGeom prst="rect">
            <a:avLst/>
          </a:prstGeom>
        </p:spPr>
      </p:pic>
      <p:pic>
        <p:nvPicPr>
          <p:cNvPr id="11" name="Picture 10">
            <a:extLst>
              <a:ext uri="{FF2B5EF4-FFF2-40B4-BE49-F238E27FC236}">
                <a16:creationId xmlns:a16="http://schemas.microsoft.com/office/drawing/2014/main" id="{995880B8-B050-3C3D-B4A5-56D6B0A61A25}"/>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sharpenSoften amount="50000"/>
                    </a14:imgEffect>
                    <a14:imgEffect>
                      <a14:saturation sat="66000"/>
                    </a14:imgEffect>
                  </a14:imgLayer>
                </a14:imgProps>
              </a:ext>
            </a:extLst>
          </a:blip>
          <a:stretch>
            <a:fillRect/>
          </a:stretch>
        </p:blipFill>
        <p:spPr>
          <a:xfrm>
            <a:off x="2379406" y="1506629"/>
            <a:ext cx="1120878" cy="499668"/>
          </a:xfrm>
          <a:prstGeom prst="rect">
            <a:avLst/>
          </a:prstGeom>
        </p:spPr>
      </p:pic>
      <p:sp>
        <p:nvSpPr>
          <p:cNvPr id="2" name="TextBox 1">
            <a:extLst>
              <a:ext uri="{FF2B5EF4-FFF2-40B4-BE49-F238E27FC236}">
                <a16:creationId xmlns:a16="http://schemas.microsoft.com/office/drawing/2014/main" id="{D7D23E12-ABC4-DC34-EC47-239B0A7C93D7}"/>
              </a:ext>
            </a:extLst>
          </p:cNvPr>
          <p:cNvSpPr txBox="1"/>
          <p:nvPr/>
        </p:nvSpPr>
        <p:spPr>
          <a:xfrm>
            <a:off x="4149213" y="285135"/>
            <a:ext cx="224175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800" b="1" dirty="0"/>
              <a:t>NOT</a:t>
            </a:r>
            <a:endParaRPr lang="en-IN" sz="2800" b="1" dirty="0"/>
          </a:p>
        </p:txBody>
      </p:sp>
    </p:spTree>
    <p:extLst>
      <p:ext uri="{BB962C8B-B14F-4D97-AF65-F5344CB8AC3E}">
        <p14:creationId xmlns:p14="http://schemas.microsoft.com/office/powerpoint/2010/main" val="3009967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81C17A-D0C7-0277-8C0C-7C3BE204167B}"/>
              </a:ext>
            </a:extLst>
          </p:cNvPr>
          <p:cNvPicPr>
            <a:picLocks noChangeAspect="1"/>
          </p:cNvPicPr>
          <p:nvPr/>
        </p:nvPicPr>
        <p:blipFill>
          <a:blip r:embed="rId2"/>
          <a:stretch>
            <a:fillRect/>
          </a:stretch>
        </p:blipFill>
        <p:spPr>
          <a:xfrm>
            <a:off x="7859215" y="2619315"/>
            <a:ext cx="4182059" cy="1705213"/>
          </a:xfrm>
          <a:prstGeom prst="rect">
            <a:avLst/>
          </a:prstGeom>
        </p:spPr>
      </p:pic>
      <p:sp>
        <p:nvSpPr>
          <p:cNvPr id="7" name="TextBox 6">
            <a:extLst>
              <a:ext uri="{FF2B5EF4-FFF2-40B4-BE49-F238E27FC236}">
                <a16:creationId xmlns:a16="http://schemas.microsoft.com/office/drawing/2014/main" id="{948F281B-EC27-E9B4-B2C2-83109634CC6C}"/>
              </a:ext>
            </a:extLst>
          </p:cNvPr>
          <p:cNvSpPr txBox="1"/>
          <p:nvPr/>
        </p:nvSpPr>
        <p:spPr>
          <a:xfrm>
            <a:off x="852622" y="944348"/>
            <a:ext cx="10486756" cy="1200329"/>
          </a:xfrm>
          <a:prstGeom prst="rect">
            <a:avLst/>
          </a:prstGeom>
          <a:noFill/>
        </p:spPr>
        <p:txBody>
          <a:bodyPr wrap="square">
            <a:spAutoFit/>
          </a:bodyPr>
          <a:lstStyle/>
          <a:p>
            <a:r>
              <a:rPr lang="en-US" sz="2400" dirty="0"/>
              <a:t>The Boolean expression of AND gate is Y = A.B</a:t>
            </a:r>
          </a:p>
          <a:p>
            <a:endParaRPr lang="en-US" sz="2400" dirty="0"/>
          </a:p>
          <a:p>
            <a:r>
              <a:rPr lang="en-US" sz="2400" dirty="0"/>
              <a:t>The truth table of a two-input AND basic gate is given as</a:t>
            </a:r>
            <a:endParaRPr lang="en-IN" sz="2400" dirty="0"/>
          </a:p>
        </p:txBody>
      </p:sp>
      <p:pic>
        <p:nvPicPr>
          <p:cNvPr id="9" name="Picture 8">
            <a:extLst>
              <a:ext uri="{FF2B5EF4-FFF2-40B4-BE49-F238E27FC236}">
                <a16:creationId xmlns:a16="http://schemas.microsoft.com/office/drawing/2014/main" id="{5D265A22-5D2A-5003-599D-B4DACD4A03C4}"/>
              </a:ext>
            </a:extLst>
          </p:cNvPr>
          <p:cNvPicPr>
            <a:picLocks noChangeAspect="1"/>
          </p:cNvPicPr>
          <p:nvPr/>
        </p:nvPicPr>
        <p:blipFill>
          <a:blip r:embed="rId3"/>
          <a:stretch>
            <a:fillRect/>
          </a:stretch>
        </p:blipFill>
        <p:spPr>
          <a:xfrm>
            <a:off x="852622" y="2271592"/>
            <a:ext cx="7340622" cy="3145981"/>
          </a:xfrm>
          <a:prstGeom prst="rect">
            <a:avLst/>
          </a:prstGeom>
        </p:spPr>
      </p:pic>
      <p:sp>
        <p:nvSpPr>
          <p:cNvPr id="2" name="TextBox 1">
            <a:extLst>
              <a:ext uri="{FF2B5EF4-FFF2-40B4-BE49-F238E27FC236}">
                <a16:creationId xmlns:a16="http://schemas.microsoft.com/office/drawing/2014/main" id="{DEAA595F-3DF3-3118-2DEC-0E96B8845CE6}"/>
              </a:ext>
            </a:extLst>
          </p:cNvPr>
          <p:cNvSpPr txBox="1"/>
          <p:nvPr/>
        </p:nvSpPr>
        <p:spPr>
          <a:xfrm>
            <a:off x="4149213" y="285135"/>
            <a:ext cx="224175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800" b="1" dirty="0"/>
              <a:t>AND</a:t>
            </a:r>
            <a:endParaRPr lang="en-IN" sz="2800" b="1" dirty="0"/>
          </a:p>
        </p:txBody>
      </p:sp>
    </p:spTree>
    <p:extLst>
      <p:ext uri="{BB962C8B-B14F-4D97-AF65-F5344CB8AC3E}">
        <p14:creationId xmlns:p14="http://schemas.microsoft.com/office/powerpoint/2010/main" val="494061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6A0065-F08E-3C5B-42A2-FA56F3D866B5}"/>
              </a:ext>
            </a:extLst>
          </p:cNvPr>
          <p:cNvPicPr>
            <a:picLocks noChangeAspect="1"/>
          </p:cNvPicPr>
          <p:nvPr/>
        </p:nvPicPr>
        <p:blipFill>
          <a:blip r:embed="rId2"/>
          <a:stretch>
            <a:fillRect/>
          </a:stretch>
        </p:blipFill>
        <p:spPr>
          <a:xfrm>
            <a:off x="7072155" y="2253327"/>
            <a:ext cx="4458322" cy="1486107"/>
          </a:xfrm>
          <a:prstGeom prst="rect">
            <a:avLst/>
          </a:prstGeom>
        </p:spPr>
      </p:pic>
      <p:sp>
        <p:nvSpPr>
          <p:cNvPr id="7" name="TextBox 6">
            <a:extLst>
              <a:ext uri="{FF2B5EF4-FFF2-40B4-BE49-F238E27FC236}">
                <a16:creationId xmlns:a16="http://schemas.microsoft.com/office/drawing/2014/main" id="{814CACE9-E0BF-6BD0-0238-2C521408D805}"/>
              </a:ext>
            </a:extLst>
          </p:cNvPr>
          <p:cNvSpPr txBox="1"/>
          <p:nvPr/>
        </p:nvSpPr>
        <p:spPr>
          <a:xfrm>
            <a:off x="811093" y="967100"/>
            <a:ext cx="7747819" cy="1938992"/>
          </a:xfrm>
          <a:prstGeom prst="rect">
            <a:avLst/>
          </a:prstGeom>
          <a:noFill/>
        </p:spPr>
        <p:txBody>
          <a:bodyPr wrap="square">
            <a:spAutoFit/>
          </a:bodyPr>
          <a:lstStyle/>
          <a:p>
            <a:r>
              <a:rPr lang="en-US" sz="2400" dirty="0"/>
              <a:t>The Boolean expression of the NAND gate is</a:t>
            </a:r>
          </a:p>
          <a:p>
            <a:endParaRPr lang="en-US" sz="2400" dirty="0"/>
          </a:p>
          <a:p>
            <a:r>
              <a:rPr lang="en-US" sz="2400" dirty="0"/>
              <a:t> </a:t>
            </a:r>
          </a:p>
          <a:p>
            <a:r>
              <a:rPr lang="en-US" sz="2400" dirty="0"/>
              <a:t> </a:t>
            </a:r>
          </a:p>
          <a:p>
            <a:r>
              <a:rPr lang="en-US" sz="2400" dirty="0"/>
              <a:t>The truth table of a NAND gate is given as</a:t>
            </a:r>
            <a:endParaRPr lang="en-IN" sz="2400" dirty="0"/>
          </a:p>
        </p:txBody>
      </p:sp>
      <p:pic>
        <p:nvPicPr>
          <p:cNvPr id="9" name="Picture 8">
            <a:extLst>
              <a:ext uri="{FF2B5EF4-FFF2-40B4-BE49-F238E27FC236}">
                <a16:creationId xmlns:a16="http://schemas.microsoft.com/office/drawing/2014/main" id="{115D6562-4600-B9D0-9455-6565D80AB01C}"/>
              </a:ext>
            </a:extLst>
          </p:cNvPr>
          <p:cNvPicPr>
            <a:picLocks noChangeAspect="1"/>
          </p:cNvPicPr>
          <p:nvPr/>
        </p:nvPicPr>
        <p:blipFill>
          <a:blip r:embed="rId3"/>
          <a:stretch>
            <a:fillRect/>
          </a:stretch>
        </p:blipFill>
        <p:spPr>
          <a:xfrm>
            <a:off x="425991" y="2886789"/>
            <a:ext cx="6935168" cy="2972215"/>
          </a:xfrm>
          <a:prstGeom prst="rect">
            <a:avLst/>
          </a:prstGeom>
        </p:spPr>
      </p:pic>
      <p:sp>
        <p:nvSpPr>
          <p:cNvPr id="10" name="TextBox 9">
            <a:extLst>
              <a:ext uri="{FF2B5EF4-FFF2-40B4-BE49-F238E27FC236}">
                <a16:creationId xmlns:a16="http://schemas.microsoft.com/office/drawing/2014/main" id="{571987E9-047C-3914-A0BB-435461F6B314}"/>
              </a:ext>
            </a:extLst>
          </p:cNvPr>
          <p:cNvSpPr txBox="1"/>
          <p:nvPr/>
        </p:nvSpPr>
        <p:spPr>
          <a:xfrm>
            <a:off x="4149213" y="285135"/>
            <a:ext cx="22417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NAND</a:t>
            </a:r>
            <a:endParaRPr lang="en-IN" sz="2400" b="1" dirty="0"/>
          </a:p>
        </p:txBody>
      </p:sp>
      <p:pic>
        <p:nvPicPr>
          <p:cNvPr id="12" name="Picture 11">
            <a:extLst>
              <a:ext uri="{FF2B5EF4-FFF2-40B4-BE49-F238E27FC236}">
                <a16:creationId xmlns:a16="http://schemas.microsoft.com/office/drawing/2014/main" id="{F6A949D3-F292-3104-D176-186D87B529A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saturation sat="66000"/>
                    </a14:imgEffect>
                  </a14:imgLayer>
                </a14:imgProps>
              </a:ext>
            </a:extLst>
          </a:blip>
          <a:stretch>
            <a:fillRect/>
          </a:stretch>
        </p:blipFill>
        <p:spPr>
          <a:xfrm>
            <a:off x="3456106" y="1658549"/>
            <a:ext cx="1743779" cy="594777"/>
          </a:xfrm>
          <a:prstGeom prst="rect">
            <a:avLst/>
          </a:prstGeom>
        </p:spPr>
      </p:pic>
    </p:spTree>
    <p:extLst>
      <p:ext uri="{BB962C8B-B14F-4D97-AF65-F5344CB8AC3E}">
        <p14:creationId xmlns:p14="http://schemas.microsoft.com/office/powerpoint/2010/main" val="954300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36DD5A-6F87-7C93-8AC6-709B9A8B4505}"/>
              </a:ext>
            </a:extLst>
          </p:cNvPr>
          <p:cNvPicPr>
            <a:picLocks noChangeAspect="1"/>
          </p:cNvPicPr>
          <p:nvPr/>
        </p:nvPicPr>
        <p:blipFill>
          <a:blip r:embed="rId2"/>
          <a:stretch>
            <a:fillRect/>
          </a:stretch>
        </p:blipFill>
        <p:spPr>
          <a:xfrm>
            <a:off x="7513250" y="2245462"/>
            <a:ext cx="4067743" cy="1914792"/>
          </a:xfrm>
          <a:prstGeom prst="rect">
            <a:avLst/>
          </a:prstGeom>
        </p:spPr>
      </p:pic>
      <p:sp>
        <p:nvSpPr>
          <p:cNvPr id="7" name="TextBox 6">
            <a:extLst>
              <a:ext uri="{FF2B5EF4-FFF2-40B4-BE49-F238E27FC236}">
                <a16:creationId xmlns:a16="http://schemas.microsoft.com/office/drawing/2014/main" id="{BD5D4980-3A7F-925F-6F21-EA5C4E412FE8}"/>
              </a:ext>
            </a:extLst>
          </p:cNvPr>
          <p:cNvSpPr txBox="1"/>
          <p:nvPr/>
        </p:nvSpPr>
        <p:spPr>
          <a:xfrm>
            <a:off x="700377" y="1040974"/>
            <a:ext cx="9672656" cy="1569660"/>
          </a:xfrm>
          <a:prstGeom prst="rect">
            <a:avLst/>
          </a:prstGeom>
          <a:noFill/>
        </p:spPr>
        <p:txBody>
          <a:bodyPr wrap="square">
            <a:spAutoFit/>
          </a:bodyPr>
          <a:lstStyle/>
          <a:p>
            <a:r>
              <a:rPr lang="en-US" sz="2400" dirty="0"/>
              <a:t>The Boolean expression of the OR gate is Y = A + B, read as Y equals A ‘OR’ B.</a:t>
            </a:r>
          </a:p>
          <a:p>
            <a:endParaRPr lang="en-US" sz="2400" dirty="0"/>
          </a:p>
          <a:p>
            <a:r>
              <a:rPr lang="en-US" sz="2400" dirty="0"/>
              <a:t>The truth table of a two-input OR basic gate is given as</a:t>
            </a:r>
          </a:p>
          <a:p>
            <a:endParaRPr lang="en-US" sz="2400" dirty="0"/>
          </a:p>
        </p:txBody>
      </p:sp>
      <p:pic>
        <p:nvPicPr>
          <p:cNvPr id="9" name="Picture 8">
            <a:extLst>
              <a:ext uri="{FF2B5EF4-FFF2-40B4-BE49-F238E27FC236}">
                <a16:creationId xmlns:a16="http://schemas.microsoft.com/office/drawing/2014/main" id="{13E7C18C-384E-C4DE-BA73-CF02416C4348}"/>
              </a:ext>
            </a:extLst>
          </p:cNvPr>
          <p:cNvPicPr>
            <a:picLocks noChangeAspect="1"/>
          </p:cNvPicPr>
          <p:nvPr/>
        </p:nvPicPr>
        <p:blipFill>
          <a:blip r:embed="rId3"/>
          <a:stretch>
            <a:fillRect/>
          </a:stretch>
        </p:blipFill>
        <p:spPr>
          <a:xfrm>
            <a:off x="502119" y="2373281"/>
            <a:ext cx="7522615" cy="3250770"/>
          </a:xfrm>
          <a:prstGeom prst="rect">
            <a:avLst/>
          </a:prstGeom>
        </p:spPr>
      </p:pic>
      <p:sp>
        <p:nvSpPr>
          <p:cNvPr id="2" name="TextBox 1">
            <a:extLst>
              <a:ext uri="{FF2B5EF4-FFF2-40B4-BE49-F238E27FC236}">
                <a16:creationId xmlns:a16="http://schemas.microsoft.com/office/drawing/2014/main" id="{38890D47-1007-A895-5F2D-7B91E61F2599}"/>
              </a:ext>
            </a:extLst>
          </p:cNvPr>
          <p:cNvSpPr txBox="1"/>
          <p:nvPr/>
        </p:nvSpPr>
        <p:spPr>
          <a:xfrm>
            <a:off x="4149213" y="285135"/>
            <a:ext cx="2241755"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800" b="1" dirty="0"/>
              <a:t>OR</a:t>
            </a:r>
            <a:endParaRPr lang="en-IN" sz="2800" b="1" dirty="0"/>
          </a:p>
        </p:txBody>
      </p:sp>
    </p:spTree>
    <p:extLst>
      <p:ext uri="{BB962C8B-B14F-4D97-AF65-F5344CB8AC3E}">
        <p14:creationId xmlns:p14="http://schemas.microsoft.com/office/powerpoint/2010/main" val="3655611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F33C7D-4A1B-C08F-8017-7636DFFF5201}"/>
              </a:ext>
            </a:extLst>
          </p:cNvPr>
          <p:cNvPicPr>
            <a:picLocks noChangeAspect="1"/>
          </p:cNvPicPr>
          <p:nvPr/>
        </p:nvPicPr>
        <p:blipFill>
          <a:blip r:embed="rId2"/>
          <a:srcRect l="18433" r="21694" b="76631"/>
          <a:stretch/>
        </p:blipFill>
        <p:spPr>
          <a:xfrm>
            <a:off x="7492181" y="3097161"/>
            <a:ext cx="3972232" cy="1602658"/>
          </a:xfrm>
          <a:prstGeom prst="rect">
            <a:avLst/>
          </a:prstGeom>
        </p:spPr>
      </p:pic>
      <p:pic>
        <p:nvPicPr>
          <p:cNvPr id="5" name="Picture 4">
            <a:extLst>
              <a:ext uri="{FF2B5EF4-FFF2-40B4-BE49-F238E27FC236}">
                <a16:creationId xmlns:a16="http://schemas.microsoft.com/office/drawing/2014/main" id="{8DC0F8C6-3778-D8B1-F61D-B7F5A5C50397}"/>
              </a:ext>
            </a:extLst>
          </p:cNvPr>
          <p:cNvPicPr>
            <a:picLocks noChangeAspect="1"/>
          </p:cNvPicPr>
          <p:nvPr/>
        </p:nvPicPr>
        <p:blipFill>
          <a:blip r:embed="rId2"/>
          <a:srcRect l="1835" t="57921"/>
          <a:stretch/>
        </p:blipFill>
        <p:spPr>
          <a:xfrm>
            <a:off x="639096" y="2821858"/>
            <a:ext cx="6512717" cy="2885768"/>
          </a:xfrm>
          <a:prstGeom prst="rect">
            <a:avLst/>
          </a:prstGeom>
        </p:spPr>
      </p:pic>
      <p:sp>
        <p:nvSpPr>
          <p:cNvPr id="6" name="TextBox 5">
            <a:extLst>
              <a:ext uri="{FF2B5EF4-FFF2-40B4-BE49-F238E27FC236}">
                <a16:creationId xmlns:a16="http://schemas.microsoft.com/office/drawing/2014/main" id="{B4EB5A98-49A4-588F-A609-08884EA20028}"/>
              </a:ext>
            </a:extLst>
          </p:cNvPr>
          <p:cNvSpPr txBox="1"/>
          <p:nvPr/>
        </p:nvSpPr>
        <p:spPr>
          <a:xfrm>
            <a:off x="4149213" y="285135"/>
            <a:ext cx="22417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 NOR</a:t>
            </a:r>
            <a:endParaRPr lang="en-IN" sz="2400" b="1" dirty="0"/>
          </a:p>
        </p:txBody>
      </p:sp>
      <p:pic>
        <p:nvPicPr>
          <p:cNvPr id="8" name="Picture 7">
            <a:extLst>
              <a:ext uri="{FF2B5EF4-FFF2-40B4-BE49-F238E27FC236}">
                <a16:creationId xmlns:a16="http://schemas.microsoft.com/office/drawing/2014/main" id="{67A250C8-4AA5-6C4C-41FB-A9E14B7C927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66000"/>
                    </a14:imgEffect>
                  </a14:imgLayer>
                </a14:imgProps>
              </a:ext>
            </a:extLst>
          </a:blip>
          <a:stretch>
            <a:fillRect/>
          </a:stretch>
        </p:blipFill>
        <p:spPr>
          <a:xfrm>
            <a:off x="3631994" y="1638979"/>
            <a:ext cx="1785145" cy="602776"/>
          </a:xfrm>
          <a:prstGeom prst="rect">
            <a:avLst/>
          </a:prstGeom>
        </p:spPr>
      </p:pic>
      <p:sp>
        <p:nvSpPr>
          <p:cNvPr id="11" name="TextBox 10">
            <a:extLst>
              <a:ext uri="{FF2B5EF4-FFF2-40B4-BE49-F238E27FC236}">
                <a16:creationId xmlns:a16="http://schemas.microsoft.com/office/drawing/2014/main" id="{B51E2462-2063-E57E-A104-79DEE97ECB63}"/>
              </a:ext>
            </a:extLst>
          </p:cNvPr>
          <p:cNvSpPr txBox="1"/>
          <p:nvPr/>
        </p:nvSpPr>
        <p:spPr>
          <a:xfrm>
            <a:off x="934065" y="882866"/>
            <a:ext cx="6754761" cy="193899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Boolean expression of the N</a:t>
            </a:r>
            <a:r>
              <a:rPr lang="en-US" sz="2400" dirty="0">
                <a:solidFill>
                  <a:prstClr val="black"/>
                </a:solidFill>
                <a:latin typeface="Calibri" panose="020F0502020204030204"/>
              </a:rPr>
              <a:t>OR</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gate is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truth table of a NOR gate is given as</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218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6F8D2E-77D7-C60E-03E5-E764E10ECCFF}"/>
              </a:ext>
            </a:extLst>
          </p:cNvPr>
          <p:cNvPicPr>
            <a:picLocks noChangeAspect="1"/>
          </p:cNvPicPr>
          <p:nvPr/>
        </p:nvPicPr>
        <p:blipFill>
          <a:blip r:embed="rId2"/>
          <a:srcRect l="1" t="61219" r="-565"/>
          <a:stretch/>
        </p:blipFill>
        <p:spPr>
          <a:xfrm>
            <a:off x="959674" y="2976977"/>
            <a:ext cx="6316197" cy="2659626"/>
          </a:xfrm>
          <a:prstGeom prst="rect">
            <a:avLst/>
          </a:prstGeom>
        </p:spPr>
      </p:pic>
      <p:pic>
        <p:nvPicPr>
          <p:cNvPr id="5" name="Picture 4">
            <a:extLst>
              <a:ext uri="{FF2B5EF4-FFF2-40B4-BE49-F238E27FC236}">
                <a16:creationId xmlns:a16="http://schemas.microsoft.com/office/drawing/2014/main" id="{5AF0C442-4843-3443-25D2-1F3B0F76A5E9}"/>
              </a:ext>
            </a:extLst>
          </p:cNvPr>
          <p:cNvPicPr>
            <a:picLocks noChangeAspect="1"/>
          </p:cNvPicPr>
          <p:nvPr/>
        </p:nvPicPr>
        <p:blipFill>
          <a:blip r:embed="rId2"/>
          <a:srcRect l="18378" t="2151" r="23230" b="75771"/>
          <a:stretch/>
        </p:blipFill>
        <p:spPr>
          <a:xfrm>
            <a:off x="7855975" y="2089049"/>
            <a:ext cx="3667432" cy="1514168"/>
          </a:xfrm>
          <a:prstGeom prst="rect">
            <a:avLst/>
          </a:prstGeom>
        </p:spPr>
      </p:pic>
      <p:sp>
        <p:nvSpPr>
          <p:cNvPr id="6" name="TextBox 5">
            <a:extLst>
              <a:ext uri="{FF2B5EF4-FFF2-40B4-BE49-F238E27FC236}">
                <a16:creationId xmlns:a16="http://schemas.microsoft.com/office/drawing/2014/main" id="{18A2A4D8-632B-89BC-A7F5-E42B0BF3F6A8}"/>
              </a:ext>
            </a:extLst>
          </p:cNvPr>
          <p:cNvSpPr txBox="1"/>
          <p:nvPr/>
        </p:nvSpPr>
        <p:spPr>
          <a:xfrm>
            <a:off x="4149213" y="285135"/>
            <a:ext cx="2241755"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X OR</a:t>
            </a:r>
            <a:endParaRPr lang="en-IN" sz="2400" b="1" dirty="0"/>
          </a:p>
        </p:txBody>
      </p:sp>
      <p:pic>
        <p:nvPicPr>
          <p:cNvPr id="8" name="Picture 7">
            <a:extLst>
              <a:ext uri="{FF2B5EF4-FFF2-40B4-BE49-F238E27FC236}">
                <a16:creationId xmlns:a16="http://schemas.microsoft.com/office/drawing/2014/main" id="{3763A471-1F65-CD79-0658-9ACE77956C81}"/>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400000"/>
                    </a14:imgEffect>
                  </a14:imgLayer>
                </a14:imgProps>
              </a:ext>
            </a:extLst>
          </a:blip>
          <a:stretch>
            <a:fillRect/>
          </a:stretch>
        </p:blipFill>
        <p:spPr>
          <a:xfrm>
            <a:off x="2290287" y="1452716"/>
            <a:ext cx="3143689" cy="847843"/>
          </a:xfrm>
          <a:prstGeom prst="rect">
            <a:avLst/>
          </a:prstGeom>
        </p:spPr>
      </p:pic>
      <p:sp>
        <p:nvSpPr>
          <p:cNvPr id="9" name="TextBox 8">
            <a:extLst>
              <a:ext uri="{FF2B5EF4-FFF2-40B4-BE49-F238E27FC236}">
                <a16:creationId xmlns:a16="http://schemas.microsoft.com/office/drawing/2014/main" id="{BE3EC2C5-A825-37F9-A4D6-BFD95B29731A}"/>
              </a:ext>
            </a:extLst>
          </p:cNvPr>
          <p:cNvSpPr txBox="1"/>
          <p:nvPr/>
        </p:nvSpPr>
        <p:spPr>
          <a:xfrm>
            <a:off x="1179871" y="907141"/>
            <a:ext cx="6096000" cy="193899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Boolean expression of the </a:t>
            </a:r>
            <a:r>
              <a:rPr lang="en-US" sz="2400" dirty="0">
                <a:solidFill>
                  <a:prstClr val="black"/>
                </a:solidFill>
                <a:latin typeface="Calibri" panose="020F0502020204030204"/>
              </a:rPr>
              <a:t>XOR</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gate is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truth table of a </a:t>
            </a:r>
            <a:r>
              <a:rPr lang="en-US" sz="2400" dirty="0">
                <a:solidFill>
                  <a:prstClr val="black"/>
                </a:solidFill>
                <a:latin typeface="Calibri" panose="020F0502020204030204"/>
              </a:rPr>
              <a:t>XOR</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gate is given as</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9725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516B52-D76F-879B-A9E3-3F38642A6E27}"/>
              </a:ext>
            </a:extLst>
          </p:cNvPr>
          <p:cNvPicPr>
            <a:picLocks noChangeAspect="1"/>
          </p:cNvPicPr>
          <p:nvPr/>
        </p:nvPicPr>
        <p:blipFill>
          <a:blip r:embed="rId2"/>
          <a:srcRect l="662" t="58351"/>
          <a:stretch/>
        </p:blipFill>
        <p:spPr>
          <a:xfrm>
            <a:off x="910769" y="2875695"/>
            <a:ext cx="6493246" cy="2856271"/>
          </a:xfrm>
          <a:prstGeom prst="rect">
            <a:avLst/>
          </a:prstGeom>
        </p:spPr>
      </p:pic>
      <p:pic>
        <p:nvPicPr>
          <p:cNvPr id="5" name="Picture 4">
            <a:extLst>
              <a:ext uri="{FF2B5EF4-FFF2-40B4-BE49-F238E27FC236}">
                <a16:creationId xmlns:a16="http://schemas.microsoft.com/office/drawing/2014/main" id="{ED0F41C2-0300-F450-0134-202C518DD92F}"/>
              </a:ext>
            </a:extLst>
          </p:cNvPr>
          <p:cNvPicPr>
            <a:picLocks noChangeAspect="1"/>
          </p:cNvPicPr>
          <p:nvPr/>
        </p:nvPicPr>
        <p:blipFill>
          <a:blip r:embed="rId2"/>
          <a:srcRect l="20969" r="26234" b="75914"/>
          <a:stretch/>
        </p:blipFill>
        <p:spPr>
          <a:xfrm>
            <a:off x="8367251" y="2497393"/>
            <a:ext cx="3451123" cy="1651819"/>
          </a:xfrm>
          <a:prstGeom prst="rect">
            <a:avLst/>
          </a:prstGeom>
        </p:spPr>
      </p:pic>
      <p:pic>
        <p:nvPicPr>
          <p:cNvPr id="7" name="Picture 6">
            <a:extLst>
              <a:ext uri="{FF2B5EF4-FFF2-40B4-BE49-F238E27FC236}">
                <a16:creationId xmlns:a16="http://schemas.microsoft.com/office/drawing/2014/main" id="{A66F89C9-A966-1150-05D3-35EB767E523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2218784" y="1504336"/>
            <a:ext cx="3877216" cy="523948"/>
          </a:xfrm>
          <a:prstGeom prst="rect">
            <a:avLst/>
          </a:prstGeom>
        </p:spPr>
      </p:pic>
      <p:sp>
        <p:nvSpPr>
          <p:cNvPr id="8" name="TextBox 7">
            <a:extLst>
              <a:ext uri="{FF2B5EF4-FFF2-40B4-BE49-F238E27FC236}">
                <a16:creationId xmlns:a16="http://schemas.microsoft.com/office/drawing/2014/main" id="{0198D3EF-4FF6-4786-8BE7-C81CCE8B599F}"/>
              </a:ext>
            </a:extLst>
          </p:cNvPr>
          <p:cNvSpPr txBox="1"/>
          <p:nvPr/>
        </p:nvSpPr>
        <p:spPr>
          <a:xfrm>
            <a:off x="4149213" y="285135"/>
            <a:ext cx="2241755"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X NOR</a:t>
            </a:r>
            <a:endParaRPr lang="en-IN" b="1" dirty="0"/>
          </a:p>
        </p:txBody>
      </p:sp>
      <p:sp>
        <p:nvSpPr>
          <p:cNvPr id="9" name="TextBox 8">
            <a:extLst>
              <a:ext uri="{FF2B5EF4-FFF2-40B4-BE49-F238E27FC236}">
                <a16:creationId xmlns:a16="http://schemas.microsoft.com/office/drawing/2014/main" id="{E95FE6CA-BDF3-55F7-09F0-38E5D06671AE}"/>
              </a:ext>
            </a:extLst>
          </p:cNvPr>
          <p:cNvSpPr txBox="1"/>
          <p:nvPr/>
        </p:nvSpPr>
        <p:spPr>
          <a:xfrm>
            <a:off x="1101213" y="887541"/>
            <a:ext cx="6096000" cy="193899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Boolean expression of the </a:t>
            </a:r>
            <a:r>
              <a:rPr lang="en-US" sz="2400" dirty="0">
                <a:solidFill>
                  <a:prstClr val="black"/>
                </a:solidFill>
                <a:latin typeface="Calibri" panose="020F0502020204030204"/>
              </a:rPr>
              <a:t>XNOR</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gate is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The truth table of a </a:t>
            </a:r>
            <a:r>
              <a:rPr lang="en-US" sz="2400" dirty="0">
                <a:solidFill>
                  <a:prstClr val="black"/>
                </a:solidFill>
                <a:latin typeface="Calibri" panose="020F0502020204030204"/>
              </a:rPr>
              <a:t>XNOR</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gate is given as</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94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212D0D-9394-CBEA-EAF4-B91406067AEE}"/>
              </a:ext>
            </a:extLst>
          </p:cNvPr>
          <p:cNvPicPr>
            <a:picLocks noChangeAspect="1"/>
          </p:cNvPicPr>
          <p:nvPr/>
        </p:nvPicPr>
        <p:blipFill>
          <a:blip r:embed="rId2"/>
          <a:srcRect t="47994" b="-1"/>
          <a:stretch/>
        </p:blipFill>
        <p:spPr>
          <a:xfrm>
            <a:off x="1370940" y="923305"/>
            <a:ext cx="9450119" cy="2739727"/>
          </a:xfrm>
          <a:prstGeom prst="rect">
            <a:avLst/>
          </a:prstGeom>
        </p:spPr>
      </p:pic>
      <p:pic>
        <p:nvPicPr>
          <p:cNvPr id="2" name="Picture 1">
            <a:extLst>
              <a:ext uri="{FF2B5EF4-FFF2-40B4-BE49-F238E27FC236}">
                <a16:creationId xmlns:a16="http://schemas.microsoft.com/office/drawing/2014/main" id="{2943392B-8E41-D841-F2F2-F0086DD533A7}"/>
              </a:ext>
            </a:extLst>
          </p:cNvPr>
          <p:cNvPicPr>
            <a:picLocks noChangeAspect="1"/>
          </p:cNvPicPr>
          <p:nvPr/>
        </p:nvPicPr>
        <p:blipFill>
          <a:blip r:embed="rId2"/>
          <a:srcRect l="9786" r="26955" b="90734"/>
          <a:stretch/>
        </p:blipFill>
        <p:spPr>
          <a:xfrm>
            <a:off x="3028336" y="296997"/>
            <a:ext cx="5978013" cy="488140"/>
          </a:xfrm>
          <a:prstGeom prst="rect">
            <a:avLst/>
          </a:prstGeom>
          <a:ln>
            <a:solidFill>
              <a:schemeClr val="accent2">
                <a:lumMod val="60000"/>
                <a:lumOff val="40000"/>
              </a:schemeClr>
            </a:solidFill>
          </a:ln>
        </p:spPr>
      </p:pic>
      <p:sp>
        <p:nvSpPr>
          <p:cNvPr id="4" name="TextBox 3">
            <a:extLst>
              <a:ext uri="{FF2B5EF4-FFF2-40B4-BE49-F238E27FC236}">
                <a16:creationId xmlns:a16="http://schemas.microsoft.com/office/drawing/2014/main" id="{325AAD9D-F110-F892-2F58-9410B4605EE1}"/>
              </a:ext>
            </a:extLst>
          </p:cNvPr>
          <p:cNvSpPr txBox="1"/>
          <p:nvPr/>
        </p:nvSpPr>
        <p:spPr>
          <a:xfrm>
            <a:off x="2171752" y="2935891"/>
            <a:ext cx="2910349" cy="369332"/>
          </a:xfrm>
          <a:prstGeom prst="rect">
            <a:avLst/>
          </a:prstGeom>
          <a:noFill/>
        </p:spPr>
        <p:txBody>
          <a:bodyPr wrap="square" rtlCol="0">
            <a:spAutoFit/>
          </a:bodyPr>
          <a:lstStyle/>
          <a:p>
            <a:pPr algn="ctr"/>
            <a:r>
              <a:rPr lang="en-US" b="1" dirty="0"/>
              <a:t>NOT using NAND</a:t>
            </a:r>
            <a:endParaRPr lang="en-IN" b="1" dirty="0"/>
          </a:p>
        </p:txBody>
      </p:sp>
      <p:sp>
        <p:nvSpPr>
          <p:cNvPr id="5" name="TextBox 4">
            <a:extLst>
              <a:ext uri="{FF2B5EF4-FFF2-40B4-BE49-F238E27FC236}">
                <a16:creationId xmlns:a16="http://schemas.microsoft.com/office/drawing/2014/main" id="{50E34EC4-1399-E775-D1DC-18084C506746}"/>
              </a:ext>
            </a:extLst>
          </p:cNvPr>
          <p:cNvSpPr txBox="1"/>
          <p:nvPr/>
        </p:nvSpPr>
        <p:spPr>
          <a:xfrm>
            <a:off x="6376219" y="2935891"/>
            <a:ext cx="2910349" cy="369332"/>
          </a:xfrm>
          <a:prstGeom prst="rect">
            <a:avLst/>
          </a:prstGeom>
          <a:noFill/>
        </p:spPr>
        <p:txBody>
          <a:bodyPr wrap="square" rtlCol="0">
            <a:spAutoFit/>
          </a:bodyPr>
          <a:lstStyle/>
          <a:p>
            <a:pPr algn="ctr"/>
            <a:r>
              <a:rPr lang="en-US" b="1" dirty="0"/>
              <a:t>AND using NAND</a:t>
            </a:r>
            <a:endParaRPr lang="en-IN" b="1" dirty="0"/>
          </a:p>
        </p:txBody>
      </p:sp>
      <p:pic>
        <p:nvPicPr>
          <p:cNvPr id="6" name="Picture 5">
            <a:extLst>
              <a:ext uri="{FF2B5EF4-FFF2-40B4-BE49-F238E27FC236}">
                <a16:creationId xmlns:a16="http://schemas.microsoft.com/office/drawing/2014/main" id="{6AA6387C-C547-4881-4526-A6027C364DA6}"/>
              </a:ext>
            </a:extLst>
          </p:cNvPr>
          <p:cNvPicPr>
            <a:picLocks noChangeAspect="1"/>
          </p:cNvPicPr>
          <p:nvPr/>
        </p:nvPicPr>
        <p:blipFill>
          <a:blip r:embed="rId3"/>
          <a:stretch>
            <a:fillRect/>
          </a:stretch>
        </p:blipFill>
        <p:spPr>
          <a:xfrm>
            <a:off x="3448588" y="3552778"/>
            <a:ext cx="4456090" cy="1796374"/>
          </a:xfrm>
          <a:prstGeom prst="rect">
            <a:avLst/>
          </a:prstGeom>
        </p:spPr>
      </p:pic>
      <p:sp>
        <p:nvSpPr>
          <p:cNvPr id="7" name="TextBox 6">
            <a:extLst>
              <a:ext uri="{FF2B5EF4-FFF2-40B4-BE49-F238E27FC236}">
                <a16:creationId xmlns:a16="http://schemas.microsoft.com/office/drawing/2014/main" id="{AE083B44-ECB6-A33C-58FC-08FE0564F21A}"/>
              </a:ext>
            </a:extLst>
          </p:cNvPr>
          <p:cNvSpPr txBox="1"/>
          <p:nvPr/>
        </p:nvSpPr>
        <p:spPr>
          <a:xfrm>
            <a:off x="4427935" y="5770945"/>
            <a:ext cx="2910349" cy="369332"/>
          </a:xfrm>
          <a:prstGeom prst="rect">
            <a:avLst/>
          </a:prstGeom>
          <a:noFill/>
        </p:spPr>
        <p:txBody>
          <a:bodyPr wrap="square" rtlCol="0">
            <a:spAutoFit/>
          </a:bodyPr>
          <a:lstStyle/>
          <a:p>
            <a:pPr algn="ctr"/>
            <a:r>
              <a:rPr lang="en-US" b="1" dirty="0"/>
              <a:t>OR using NAND</a:t>
            </a:r>
            <a:endParaRPr lang="en-IN" b="1" dirty="0"/>
          </a:p>
        </p:txBody>
      </p:sp>
    </p:spTree>
    <p:extLst>
      <p:ext uri="{BB962C8B-B14F-4D97-AF65-F5344CB8AC3E}">
        <p14:creationId xmlns:p14="http://schemas.microsoft.com/office/powerpoint/2010/main" val="3221465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032032-6136-A558-D8BD-EFF4990BE587}"/>
              </a:ext>
            </a:extLst>
          </p:cNvPr>
          <p:cNvSpPr txBox="1"/>
          <p:nvPr/>
        </p:nvSpPr>
        <p:spPr>
          <a:xfrm>
            <a:off x="1995948" y="499955"/>
            <a:ext cx="7944465"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2400" b="1" i="1" u="none" strike="noStrike" baseline="0" dirty="0">
                <a:solidFill>
                  <a:srgbClr val="001F5F"/>
                </a:solidFill>
                <a:latin typeface="Times New Roman" panose="02020603050405020304" pitchFamily="18" charset="0"/>
              </a:rPr>
              <a:t>B. Implementation Using Minimum Number of NOR Gates </a:t>
            </a:r>
            <a:endParaRPr lang="en-US" sz="2400" b="0" i="0" u="none" strike="noStrike" baseline="0" dirty="0">
              <a:solidFill>
                <a:srgbClr val="000000"/>
              </a:solidFill>
              <a:latin typeface="Times New Roman" panose="02020603050405020304" pitchFamily="18" charset="0"/>
            </a:endParaRPr>
          </a:p>
        </p:txBody>
      </p:sp>
      <p:pic>
        <p:nvPicPr>
          <p:cNvPr id="5" name="Picture 4">
            <a:extLst>
              <a:ext uri="{FF2B5EF4-FFF2-40B4-BE49-F238E27FC236}">
                <a16:creationId xmlns:a16="http://schemas.microsoft.com/office/drawing/2014/main" id="{E4850315-4971-DE2F-F2F2-39B5817A3550}"/>
              </a:ext>
            </a:extLst>
          </p:cNvPr>
          <p:cNvPicPr>
            <a:picLocks noChangeAspect="1"/>
          </p:cNvPicPr>
          <p:nvPr/>
        </p:nvPicPr>
        <p:blipFill>
          <a:blip r:embed="rId2"/>
          <a:stretch>
            <a:fillRect/>
          </a:stretch>
        </p:blipFill>
        <p:spPr>
          <a:xfrm>
            <a:off x="4309438" y="1718366"/>
            <a:ext cx="2962141" cy="1193260"/>
          </a:xfrm>
          <a:prstGeom prst="rect">
            <a:avLst/>
          </a:prstGeom>
        </p:spPr>
      </p:pic>
      <p:pic>
        <p:nvPicPr>
          <p:cNvPr id="7" name="Picture 6">
            <a:extLst>
              <a:ext uri="{FF2B5EF4-FFF2-40B4-BE49-F238E27FC236}">
                <a16:creationId xmlns:a16="http://schemas.microsoft.com/office/drawing/2014/main" id="{AE8AA7FB-B604-E983-E573-8C63B83210F4}"/>
              </a:ext>
            </a:extLst>
          </p:cNvPr>
          <p:cNvPicPr>
            <a:picLocks noChangeAspect="1"/>
          </p:cNvPicPr>
          <p:nvPr/>
        </p:nvPicPr>
        <p:blipFill>
          <a:blip r:embed="rId3"/>
          <a:stretch>
            <a:fillRect/>
          </a:stretch>
        </p:blipFill>
        <p:spPr>
          <a:xfrm>
            <a:off x="7271579" y="3668373"/>
            <a:ext cx="4121239" cy="1621277"/>
          </a:xfrm>
          <a:prstGeom prst="rect">
            <a:avLst/>
          </a:prstGeom>
        </p:spPr>
      </p:pic>
      <p:pic>
        <p:nvPicPr>
          <p:cNvPr id="9" name="Picture 8">
            <a:extLst>
              <a:ext uri="{FF2B5EF4-FFF2-40B4-BE49-F238E27FC236}">
                <a16:creationId xmlns:a16="http://schemas.microsoft.com/office/drawing/2014/main" id="{36DBD7B6-AE62-5062-0A2C-F2751C843591}"/>
              </a:ext>
            </a:extLst>
          </p:cNvPr>
          <p:cNvPicPr>
            <a:picLocks noChangeAspect="1"/>
          </p:cNvPicPr>
          <p:nvPr/>
        </p:nvPicPr>
        <p:blipFill>
          <a:blip r:embed="rId4"/>
          <a:stretch>
            <a:fillRect/>
          </a:stretch>
        </p:blipFill>
        <p:spPr>
          <a:xfrm>
            <a:off x="799182" y="4135301"/>
            <a:ext cx="4275786" cy="1154349"/>
          </a:xfrm>
          <a:prstGeom prst="rect">
            <a:avLst/>
          </a:prstGeom>
        </p:spPr>
      </p:pic>
    </p:spTree>
    <p:extLst>
      <p:ext uri="{BB962C8B-B14F-4D97-AF65-F5344CB8AC3E}">
        <p14:creationId xmlns:p14="http://schemas.microsoft.com/office/powerpoint/2010/main" val="262857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F04310-9734-C4AE-B4F7-E702399F685B}"/>
              </a:ext>
            </a:extLst>
          </p:cNvPr>
          <p:cNvSpPr txBox="1"/>
          <p:nvPr/>
        </p:nvSpPr>
        <p:spPr>
          <a:xfrm>
            <a:off x="521110" y="1074509"/>
            <a:ext cx="11425083" cy="4708981"/>
          </a:xfrm>
          <a:prstGeom prst="rect">
            <a:avLst/>
          </a:prstGeom>
          <a:noFill/>
        </p:spPr>
        <p:txBody>
          <a:bodyPr wrap="square">
            <a:spAutoFit/>
          </a:bodyPr>
          <a:lstStyle/>
          <a:p>
            <a:pPr algn="just"/>
            <a:r>
              <a:rPr lang="en-US" sz="2000" b="1" i="0" dirty="0">
                <a:solidFill>
                  <a:srgbClr val="444444"/>
                </a:solidFill>
                <a:effectLst/>
                <a:latin typeface="Times New Roman" panose="02020603050405020304" pitchFamily="18" charset="0"/>
                <a:cs typeface="Times New Roman" panose="02020603050405020304" pitchFamily="18" charset="0"/>
              </a:rPr>
              <a:t>Boolean Algebra</a:t>
            </a:r>
            <a:r>
              <a:rPr lang="en-US" sz="2000" b="0" i="0" dirty="0">
                <a:solidFill>
                  <a:srgbClr val="444444"/>
                </a:solidFill>
                <a:effectLst/>
                <a:latin typeface="Times New Roman" panose="02020603050405020304" pitchFamily="18" charset="0"/>
                <a:cs typeface="Times New Roman" panose="02020603050405020304" pitchFamily="18" charset="0"/>
              </a:rPr>
              <a:t>: Boolean algebra is the branch of algebra that deals with logical operations and binary variables.</a:t>
            </a:r>
          </a:p>
          <a:p>
            <a:pPr algn="just"/>
            <a:endParaRPr lang="en-US" sz="2000" b="0" i="0" dirty="0">
              <a:solidFill>
                <a:srgbClr val="444444"/>
              </a:solidFill>
              <a:effectLst/>
              <a:latin typeface="Times New Roman" panose="02020603050405020304" pitchFamily="18" charset="0"/>
              <a:cs typeface="Times New Roman" panose="02020603050405020304" pitchFamily="18" charset="0"/>
            </a:endParaRPr>
          </a:p>
          <a:p>
            <a:pPr algn="just"/>
            <a:r>
              <a:rPr lang="en-US" sz="2000" b="1" i="0" dirty="0">
                <a:solidFill>
                  <a:srgbClr val="444444"/>
                </a:solidFill>
                <a:effectLst/>
                <a:latin typeface="Times New Roman" panose="02020603050405020304" pitchFamily="18" charset="0"/>
                <a:cs typeface="Times New Roman" panose="02020603050405020304" pitchFamily="18" charset="0"/>
              </a:rPr>
              <a:t>Boolean Variables: </a:t>
            </a:r>
            <a:r>
              <a:rPr lang="en-US" sz="2000" b="0" i="0" dirty="0">
                <a:solidFill>
                  <a:srgbClr val="444444"/>
                </a:solidFill>
                <a:effectLst/>
                <a:latin typeface="Times New Roman" panose="02020603050405020304" pitchFamily="18" charset="0"/>
                <a:cs typeface="Times New Roman" panose="02020603050405020304" pitchFamily="18" charset="0"/>
              </a:rPr>
              <a:t>A Boolean variable is defined as a variable or a symbol defined as a variable or a symbol, generally an alphabet that represents the logical quantities such as 0 or 1.</a:t>
            </a:r>
          </a:p>
          <a:p>
            <a:pPr algn="just"/>
            <a:endParaRPr lang="en-US" sz="2000" b="0" i="0" dirty="0">
              <a:solidFill>
                <a:srgbClr val="444444"/>
              </a:solidFill>
              <a:effectLst/>
              <a:latin typeface="Times New Roman" panose="02020603050405020304" pitchFamily="18" charset="0"/>
              <a:cs typeface="Times New Roman" panose="02020603050405020304" pitchFamily="18" charset="0"/>
            </a:endParaRPr>
          </a:p>
          <a:p>
            <a:pPr algn="just"/>
            <a:r>
              <a:rPr lang="en-US" sz="2000" b="1" i="0" dirty="0">
                <a:solidFill>
                  <a:srgbClr val="444444"/>
                </a:solidFill>
                <a:effectLst/>
                <a:latin typeface="Times New Roman" panose="02020603050405020304" pitchFamily="18" charset="0"/>
                <a:cs typeface="Times New Roman" panose="02020603050405020304" pitchFamily="18" charset="0"/>
              </a:rPr>
              <a:t>Boolean Function: </a:t>
            </a:r>
            <a:r>
              <a:rPr lang="en-US" sz="2000" b="0" i="0" dirty="0">
                <a:solidFill>
                  <a:srgbClr val="444444"/>
                </a:solidFill>
                <a:effectLst/>
                <a:latin typeface="Times New Roman" panose="02020603050405020304" pitchFamily="18" charset="0"/>
                <a:cs typeface="Times New Roman" panose="02020603050405020304" pitchFamily="18" charset="0"/>
              </a:rPr>
              <a:t>A Boolean function consists of binary variables, logical operators, constants such as 0 and 1, equal to the operator, and the parenthesis symbols.</a:t>
            </a:r>
          </a:p>
          <a:p>
            <a:pPr algn="just"/>
            <a:endParaRPr lang="en-US" sz="2000" b="0" i="0" dirty="0">
              <a:solidFill>
                <a:srgbClr val="444444"/>
              </a:solidFill>
              <a:effectLst/>
              <a:latin typeface="Times New Roman" panose="02020603050405020304" pitchFamily="18" charset="0"/>
              <a:cs typeface="Times New Roman" panose="02020603050405020304" pitchFamily="18" charset="0"/>
            </a:endParaRPr>
          </a:p>
          <a:p>
            <a:pPr algn="just"/>
            <a:endParaRPr lang="en-US" sz="2000" b="0" i="0" dirty="0">
              <a:solidFill>
                <a:srgbClr val="444444"/>
              </a:solidFill>
              <a:effectLst/>
              <a:latin typeface="Times New Roman" panose="02020603050405020304" pitchFamily="18" charset="0"/>
              <a:cs typeface="Times New Roman" panose="02020603050405020304" pitchFamily="18" charset="0"/>
            </a:endParaRPr>
          </a:p>
          <a:p>
            <a:pPr algn="just"/>
            <a:r>
              <a:rPr lang="en-US" sz="2000" b="1" i="0" dirty="0">
                <a:solidFill>
                  <a:srgbClr val="444444"/>
                </a:solidFill>
                <a:effectLst/>
                <a:latin typeface="Times New Roman" panose="02020603050405020304" pitchFamily="18" charset="0"/>
                <a:cs typeface="Times New Roman" panose="02020603050405020304" pitchFamily="18" charset="0"/>
              </a:rPr>
              <a:t>Truth Table: </a:t>
            </a:r>
            <a:r>
              <a:rPr lang="en-US" sz="2000" b="0" i="0" dirty="0">
                <a:solidFill>
                  <a:srgbClr val="444444"/>
                </a:solidFill>
                <a:effectLst/>
                <a:latin typeface="Times New Roman" panose="02020603050405020304" pitchFamily="18" charset="0"/>
                <a:cs typeface="Times New Roman" panose="02020603050405020304" pitchFamily="18" charset="0"/>
              </a:rPr>
              <a:t>The truth table is a table that gives all the possible values of logical variables and the combination of the variables. It is possible to convert the Boolean equation into a truth table. The number of rows in the truth table should be equal to 2</a:t>
            </a:r>
            <a:r>
              <a:rPr lang="en-US" sz="2000" b="0" i="0" baseline="30000" dirty="0">
                <a:solidFill>
                  <a:srgbClr val="444444"/>
                </a:solidFill>
                <a:effectLst/>
                <a:latin typeface="Times New Roman" panose="02020603050405020304" pitchFamily="18" charset="0"/>
                <a:cs typeface="Times New Roman" panose="02020603050405020304" pitchFamily="18" charset="0"/>
              </a:rPr>
              <a:t>n</a:t>
            </a:r>
            <a:r>
              <a:rPr lang="en-US" sz="2000" b="0" i="0" dirty="0">
                <a:solidFill>
                  <a:srgbClr val="444444"/>
                </a:solidFill>
                <a:effectLst/>
                <a:latin typeface="Times New Roman" panose="02020603050405020304" pitchFamily="18" charset="0"/>
                <a:cs typeface="Times New Roman" panose="02020603050405020304" pitchFamily="18" charset="0"/>
              </a:rPr>
              <a:t>, where “n” is the number of variables in the equation. For example, if a Boolean equation consists of 3 variables, then the number of rows in the truth table is 8. (i.e.,) 2</a:t>
            </a:r>
            <a:r>
              <a:rPr lang="en-US" sz="2000" b="0" i="0" baseline="30000" dirty="0">
                <a:solidFill>
                  <a:srgbClr val="444444"/>
                </a:solidFill>
                <a:effectLst/>
                <a:latin typeface="Times New Roman" panose="02020603050405020304" pitchFamily="18" charset="0"/>
                <a:cs typeface="Times New Roman" panose="02020603050405020304" pitchFamily="18" charset="0"/>
              </a:rPr>
              <a:t>3</a:t>
            </a:r>
            <a:r>
              <a:rPr lang="en-US" sz="2000" b="0" i="0" dirty="0">
                <a:solidFill>
                  <a:srgbClr val="444444"/>
                </a:solidFill>
                <a:effectLst/>
                <a:latin typeface="Times New Roman" panose="02020603050405020304" pitchFamily="18" charset="0"/>
                <a:cs typeface="Times New Roman" panose="02020603050405020304" pitchFamily="18" charset="0"/>
              </a:rPr>
              <a:t> = 8.</a:t>
            </a:r>
          </a:p>
        </p:txBody>
      </p:sp>
      <p:sp>
        <p:nvSpPr>
          <p:cNvPr id="2" name="TextBox 1">
            <a:extLst>
              <a:ext uri="{FF2B5EF4-FFF2-40B4-BE49-F238E27FC236}">
                <a16:creationId xmlns:a16="http://schemas.microsoft.com/office/drawing/2014/main" id="{F0EA0824-2A58-22CB-7D74-0C59EE4629EA}"/>
              </a:ext>
            </a:extLst>
          </p:cNvPr>
          <p:cNvSpPr txBox="1"/>
          <p:nvPr/>
        </p:nvSpPr>
        <p:spPr>
          <a:xfrm>
            <a:off x="3116826" y="385605"/>
            <a:ext cx="6096000"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i="0" dirty="0">
                <a:solidFill>
                  <a:schemeClr val="tx1"/>
                </a:solidFill>
                <a:effectLst/>
                <a:latin typeface="Poppins" panose="00000500000000000000" pitchFamily="2" charset="0"/>
              </a:rPr>
              <a:t>Boolean algebra</a:t>
            </a:r>
            <a:endParaRPr lang="en-IN" sz="2400" b="1" dirty="0">
              <a:solidFill>
                <a:schemeClr val="tx1"/>
              </a:solidFill>
            </a:endParaRPr>
          </a:p>
        </p:txBody>
      </p:sp>
    </p:spTree>
    <p:extLst>
      <p:ext uri="{BB962C8B-B14F-4D97-AF65-F5344CB8AC3E}">
        <p14:creationId xmlns:p14="http://schemas.microsoft.com/office/powerpoint/2010/main" val="987385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AD7916-9C6A-92B1-F23C-B59B063C2201}"/>
              </a:ext>
            </a:extLst>
          </p:cNvPr>
          <p:cNvSpPr txBox="1"/>
          <p:nvPr/>
        </p:nvSpPr>
        <p:spPr>
          <a:xfrm>
            <a:off x="3116826" y="385605"/>
            <a:ext cx="6096000"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i="0" dirty="0">
                <a:solidFill>
                  <a:schemeClr val="tx1"/>
                </a:solidFill>
                <a:effectLst/>
                <a:latin typeface="Poppins" panose="00000500000000000000" pitchFamily="2" charset="0"/>
              </a:rPr>
              <a:t>Boolean algebra</a:t>
            </a:r>
            <a:endParaRPr lang="en-IN" sz="2400" b="1" dirty="0">
              <a:solidFill>
                <a:schemeClr val="tx1"/>
              </a:solidFill>
            </a:endParaRPr>
          </a:p>
        </p:txBody>
      </p:sp>
      <p:sp>
        <p:nvSpPr>
          <p:cNvPr id="4" name="TextBox 3">
            <a:extLst>
              <a:ext uri="{FF2B5EF4-FFF2-40B4-BE49-F238E27FC236}">
                <a16:creationId xmlns:a16="http://schemas.microsoft.com/office/drawing/2014/main" id="{8A44B32A-5962-F4A7-6BD4-4274CC4A38B7}"/>
              </a:ext>
            </a:extLst>
          </p:cNvPr>
          <p:cNvSpPr txBox="1"/>
          <p:nvPr/>
        </p:nvSpPr>
        <p:spPr>
          <a:xfrm>
            <a:off x="3048000" y="3246792"/>
            <a:ext cx="6096000" cy="369332"/>
          </a:xfrm>
          <a:prstGeom prst="rect">
            <a:avLst/>
          </a:prstGeom>
          <a:noFill/>
        </p:spPr>
        <p:txBody>
          <a:bodyPr wrap="square">
            <a:spAutoFit/>
          </a:bodyPr>
          <a:lstStyle/>
          <a:p>
            <a:pPr marL="285750" indent="-285750">
              <a:buFont typeface="Arial" panose="020B0604020202020204" pitchFamily="34" charset="0"/>
              <a:buChar char="•"/>
            </a:pPr>
            <a:endParaRPr lang="en-IN" dirty="0"/>
          </a:p>
        </p:txBody>
      </p:sp>
      <p:pic>
        <p:nvPicPr>
          <p:cNvPr id="3" name="Picture 2">
            <a:extLst>
              <a:ext uri="{FF2B5EF4-FFF2-40B4-BE49-F238E27FC236}">
                <a16:creationId xmlns:a16="http://schemas.microsoft.com/office/drawing/2014/main" id="{282A398D-67CF-F4E2-5125-12E67116C2E6}"/>
              </a:ext>
            </a:extLst>
          </p:cNvPr>
          <p:cNvPicPr>
            <a:picLocks noChangeAspect="1"/>
          </p:cNvPicPr>
          <p:nvPr/>
        </p:nvPicPr>
        <p:blipFill>
          <a:blip r:embed="rId2"/>
          <a:stretch>
            <a:fillRect/>
          </a:stretch>
        </p:blipFill>
        <p:spPr>
          <a:xfrm>
            <a:off x="2686050" y="1229238"/>
            <a:ext cx="6819900" cy="4035108"/>
          </a:xfrm>
          <a:prstGeom prst="rect">
            <a:avLst/>
          </a:prstGeom>
        </p:spPr>
      </p:pic>
    </p:spTree>
    <p:extLst>
      <p:ext uri="{BB962C8B-B14F-4D97-AF65-F5344CB8AC3E}">
        <p14:creationId xmlns:p14="http://schemas.microsoft.com/office/powerpoint/2010/main" val="69033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959745-05F1-CE78-6B7D-DE139931452D}"/>
              </a:ext>
            </a:extLst>
          </p:cNvPr>
          <p:cNvSpPr txBox="1"/>
          <p:nvPr/>
        </p:nvSpPr>
        <p:spPr>
          <a:xfrm>
            <a:off x="695739" y="347871"/>
            <a:ext cx="4899992" cy="4185761"/>
          </a:xfrm>
          <a:prstGeom prst="rect">
            <a:avLst/>
          </a:prstGeom>
          <a:noFill/>
        </p:spPr>
        <p:txBody>
          <a:bodyPr wrap="square">
            <a:spAutoFit/>
          </a:bodyPr>
          <a:lstStyle/>
          <a:p>
            <a:r>
              <a:rPr lang="en-IN" sz="2400" b="1" i="0" u="none" strike="noStrike" baseline="0" dirty="0">
                <a:solidFill>
                  <a:srgbClr val="000000"/>
                </a:solidFill>
                <a:latin typeface="Times New Roman" panose="02020603050405020304" pitchFamily="18" charset="0"/>
              </a:rPr>
              <a:t>Duality in Boolean Algebra </a:t>
            </a:r>
          </a:p>
          <a:p>
            <a:r>
              <a:rPr lang="en-US" b="0" i="0" u="none" strike="noStrike" baseline="0" dirty="0">
                <a:solidFill>
                  <a:srgbClr val="000000"/>
                </a:solidFill>
                <a:latin typeface="Times New Roman" panose="02020603050405020304" pitchFamily="18" charset="0"/>
              </a:rPr>
              <a:t>Starting with a Boolean relation, we can derive another Boolean relation by- </a:t>
            </a:r>
          </a:p>
          <a:p>
            <a:pPr marL="285750"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Changing each OR (+) sign to an AND (.) sign </a:t>
            </a:r>
          </a:p>
          <a:p>
            <a:pPr marL="285750"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Changing each AND (.) sign to an OR (+) sign. </a:t>
            </a:r>
          </a:p>
          <a:p>
            <a:pPr marL="285750" indent="-285750">
              <a:buFont typeface="Arial" panose="020B0604020202020204" pitchFamily="34" charset="0"/>
              <a:buChar char="•"/>
            </a:pPr>
            <a:r>
              <a:rPr lang="en-US" b="0" i="0" u="none" strike="noStrike" baseline="0" dirty="0">
                <a:solidFill>
                  <a:srgbClr val="000000"/>
                </a:solidFill>
                <a:latin typeface="Times New Roman" panose="02020603050405020304" pitchFamily="18" charset="0"/>
              </a:rPr>
              <a:t>Complementary each 0 and 1 </a:t>
            </a:r>
          </a:p>
          <a:p>
            <a:endParaRPr lang="en-IN" sz="2000" b="0" i="0" u="none" strike="noStrike" baseline="0" dirty="0">
              <a:solidFill>
                <a:srgbClr val="000000"/>
              </a:solidFill>
              <a:latin typeface="Times New Roman" panose="02020603050405020304" pitchFamily="18" charset="0"/>
            </a:endParaRPr>
          </a:p>
          <a:p>
            <a:r>
              <a:rPr lang="en-IN" b="1" i="0" u="none" strike="noStrike" baseline="0" dirty="0">
                <a:solidFill>
                  <a:srgbClr val="000000"/>
                </a:solidFill>
                <a:latin typeface="Times New Roman" panose="02020603050405020304" pitchFamily="18" charset="0"/>
              </a:rPr>
              <a:t>For example: </a:t>
            </a:r>
            <a:endParaRPr lang="en-IN" b="0" i="0" u="none" strike="noStrike" baseline="0" dirty="0">
              <a:solidFill>
                <a:srgbClr val="000000"/>
              </a:solidFill>
              <a:latin typeface="Times New Roman" panose="02020603050405020304" pitchFamily="18" charset="0"/>
            </a:endParaRPr>
          </a:p>
          <a:p>
            <a:r>
              <a:rPr lang="en-IN" b="0" i="0" u="none" strike="noStrike" baseline="0" dirty="0">
                <a:solidFill>
                  <a:srgbClr val="000000"/>
                </a:solidFill>
                <a:latin typeface="Times New Roman" panose="02020603050405020304" pitchFamily="18" charset="0"/>
              </a:rPr>
              <a:t>A + 0 = A </a:t>
            </a:r>
          </a:p>
          <a:p>
            <a:r>
              <a:rPr lang="en-US" b="0" i="0" u="none" strike="noStrike" baseline="0" dirty="0">
                <a:solidFill>
                  <a:srgbClr val="000000"/>
                </a:solidFill>
                <a:latin typeface="Times New Roman" panose="02020603050405020304" pitchFamily="18" charset="0"/>
              </a:rPr>
              <a:t>The dual relation is A</a:t>
            </a:r>
            <a:r>
              <a:rPr lang="en-US" sz="2400" b="1" i="0" u="none" strike="noStrike" baseline="0" dirty="0">
                <a:solidFill>
                  <a:srgbClr val="000000"/>
                </a:solidFill>
                <a:latin typeface="Times New Roman" panose="02020603050405020304" pitchFamily="18" charset="0"/>
              </a:rPr>
              <a:t>.</a:t>
            </a:r>
            <a:r>
              <a:rPr lang="en-US" b="0" i="0" u="none" strike="noStrike" baseline="0" dirty="0">
                <a:solidFill>
                  <a:srgbClr val="000000"/>
                </a:solidFill>
                <a:latin typeface="Times New Roman" panose="02020603050405020304" pitchFamily="18" charset="0"/>
              </a:rPr>
              <a:t>1 = A </a:t>
            </a:r>
          </a:p>
          <a:p>
            <a:endParaRPr lang="en-US" b="0" i="0" u="none" strike="noStrike" baseline="0" dirty="0">
              <a:solidFill>
                <a:srgbClr val="000000"/>
              </a:solidFill>
              <a:latin typeface="Times New Roman" panose="02020603050405020304" pitchFamily="18" charset="0"/>
            </a:endParaRPr>
          </a:p>
          <a:p>
            <a:r>
              <a:rPr lang="en-US" b="0" i="0" u="none" strike="noStrike" baseline="0" dirty="0">
                <a:solidFill>
                  <a:srgbClr val="000000"/>
                </a:solidFill>
                <a:latin typeface="Times New Roman" panose="02020603050405020304" pitchFamily="18" charset="0"/>
              </a:rPr>
              <a:t>Since, A (B + C) = AB + AC (by distributive law). </a:t>
            </a:r>
          </a:p>
          <a:p>
            <a:endParaRPr lang="en-US" b="0" i="0" u="none" strike="noStrike" baseline="0" dirty="0">
              <a:solidFill>
                <a:srgbClr val="000000"/>
              </a:solidFill>
              <a:latin typeface="Times New Roman" panose="02020603050405020304" pitchFamily="18" charset="0"/>
            </a:endParaRPr>
          </a:p>
          <a:p>
            <a:r>
              <a:rPr lang="en-US" b="0" i="0" u="none" strike="noStrike" baseline="0" dirty="0">
                <a:solidFill>
                  <a:srgbClr val="000000"/>
                </a:solidFill>
                <a:latin typeface="Times New Roman" panose="02020603050405020304" pitchFamily="18" charset="0"/>
              </a:rPr>
              <a:t>Its dual relation is A + B C = (A + B) (A + C) </a:t>
            </a:r>
            <a:endParaRPr lang="en-IN" dirty="0"/>
          </a:p>
        </p:txBody>
      </p:sp>
      <p:sp>
        <p:nvSpPr>
          <p:cNvPr id="4" name="TextBox 3">
            <a:extLst>
              <a:ext uri="{FF2B5EF4-FFF2-40B4-BE49-F238E27FC236}">
                <a16:creationId xmlns:a16="http://schemas.microsoft.com/office/drawing/2014/main" id="{64E32B94-918D-6C2A-9FF9-3B5CD3803408}"/>
              </a:ext>
            </a:extLst>
          </p:cNvPr>
          <p:cNvSpPr txBox="1"/>
          <p:nvPr/>
        </p:nvSpPr>
        <p:spPr>
          <a:xfrm>
            <a:off x="5734879" y="347871"/>
            <a:ext cx="6097656" cy="2400657"/>
          </a:xfrm>
          <a:prstGeom prst="rect">
            <a:avLst/>
          </a:prstGeom>
          <a:noFill/>
        </p:spPr>
        <p:txBody>
          <a:bodyPr wrap="square">
            <a:spAutoFit/>
          </a:bodyPr>
          <a:lstStyle/>
          <a:p>
            <a:r>
              <a:rPr lang="en-IN" sz="2400" b="1" i="0" u="none" strike="noStrike" baseline="0" dirty="0">
                <a:solidFill>
                  <a:srgbClr val="000000"/>
                </a:solidFill>
                <a:latin typeface="Times New Roman" panose="02020603050405020304" pitchFamily="18" charset="0"/>
              </a:rPr>
              <a:t>De Morgan’s Law</a:t>
            </a:r>
            <a:endParaRPr lang="en-US" sz="2400" b="0" i="0" dirty="0">
              <a:solidFill>
                <a:srgbClr val="233343"/>
              </a:solidFill>
              <a:effectLst/>
              <a:latin typeface="-apple-system"/>
            </a:endParaRPr>
          </a:p>
          <a:p>
            <a:r>
              <a:rPr lang="en-US" b="0" i="0" dirty="0">
                <a:solidFill>
                  <a:srgbClr val="233343"/>
                </a:solidFill>
                <a:effectLst/>
                <a:latin typeface="-apple-system"/>
              </a:rPr>
              <a:t>De Morgan's first theorem states: The complement of a product is equal to the sum of the complements. </a:t>
            </a:r>
          </a:p>
          <a:p>
            <a:r>
              <a:rPr lang="en-US" b="0" i="0" dirty="0">
                <a:solidFill>
                  <a:srgbClr val="233343"/>
                </a:solidFill>
                <a:effectLst/>
                <a:latin typeface="-apple-system"/>
              </a:rPr>
              <a:t>De Morgan’s second theorem states: The complement of a sum is equal to the product of the complements.</a:t>
            </a:r>
          </a:p>
          <a:p>
            <a:endParaRPr lang="en-US" b="0" i="0" dirty="0">
              <a:solidFill>
                <a:srgbClr val="233343"/>
              </a:solidFill>
              <a:effectLst/>
              <a:latin typeface="-apple-system"/>
            </a:endParaRPr>
          </a:p>
          <a:p>
            <a:r>
              <a:rPr lang="en-US" b="0" i="0" dirty="0">
                <a:solidFill>
                  <a:srgbClr val="233343"/>
                </a:solidFill>
                <a:effectLst/>
                <a:latin typeface="-apple-system"/>
              </a:rPr>
              <a:t>To illustrate, let’s take the expression (A + (BC)’)’ and reduce it using DeMorgan’s Theorems:</a:t>
            </a:r>
            <a:endParaRPr lang="en-IN" dirty="0"/>
          </a:p>
        </p:txBody>
      </p:sp>
      <p:pic>
        <p:nvPicPr>
          <p:cNvPr id="6" name="Picture 5">
            <a:extLst>
              <a:ext uri="{FF2B5EF4-FFF2-40B4-BE49-F238E27FC236}">
                <a16:creationId xmlns:a16="http://schemas.microsoft.com/office/drawing/2014/main" id="{994AE104-DCD3-051D-C89A-7C4B3D726B3B}"/>
              </a:ext>
            </a:extLst>
          </p:cNvPr>
          <p:cNvPicPr>
            <a:picLocks noChangeAspect="1"/>
          </p:cNvPicPr>
          <p:nvPr/>
        </p:nvPicPr>
        <p:blipFill>
          <a:blip r:embed="rId2"/>
          <a:stretch>
            <a:fillRect/>
          </a:stretch>
        </p:blipFill>
        <p:spPr>
          <a:xfrm>
            <a:off x="6300844" y="3145318"/>
            <a:ext cx="5056269" cy="2482307"/>
          </a:xfrm>
          <a:prstGeom prst="rect">
            <a:avLst/>
          </a:prstGeom>
        </p:spPr>
      </p:pic>
    </p:spTree>
    <p:extLst>
      <p:ext uri="{BB962C8B-B14F-4D97-AF65-F5344CB8AC3E}">
        <p14:creationId xmlns:p14="http://schemas.microsoft.com/office/powerpoint/2010/main" val="548617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C287D5-15EB-3175-D1CF-86C0DC82284E}"/>
              </a:ext>
            </a:extLst>
          </p:cNvPr>
          <p:cNvSpPr txBox="1"/>
          <p:nvPr/>
        </p:nvSpPr>
        <p:spPr>
          <a:xfrm>
            <a:off x="1533831" y="735328"/>
            <a:ext cx="9920749" cy="1200329"/>
          </a:xfrm>
          <a:prstGeom prst="rect">
            <a:avLst/>
          </a:prstGeom>
          <a:noFill/>
        </p:spPr>
        <p:txBody>
          <a:bodyPr wrap="square">
            <a:spAutoFit/>
          </a:bodyPr>
          <a:lstStyle/>
          <a:p>
            <a:pPr algn="l"/>
            <a:r>
              <a:rPr lang="en-US" b="1" i="0" dirty="0">
                <a:effectLst/>
                <a:latin typeface="Poppins" panose="00000500000000000000" pitchFamily="2" charset="0"/>
              </a:rPr>
              <a:t>Example : </a:t>
            </a:r>
            <a:r>
              <a:rPr lang="en-US" dirty="0">
                <a:latin typeface="Poppins" panose="00000500000000000000" pitchFamily="2" charset="0"/>
              </a:rPr>
              <a:t> </a:t>
            </a:r>
            <a:r>
              <a:rPr lang="en-US" b="0" i="0" dirty="0">
                <a:effectLst/>
                <a:latin typeface="Poppins" panose="00000500000000000000" pitchFamily="2" charset="0"/>
              </a:rPr>
              <a:t>Simplify the following Boolean expression: (A + B).(A + C).</a:t>
            </a:r>
          </a:p>
          <a:p>
            <a:pPr algn="l"/>
            <a:r>
              <a:rPr lang="en-US" b="1" i="0" dirty="0">
                <a:effectLst/>
                <a:latin typeface="Poppins" panose="00000500000000000000" pitchFamily="2" charset="0"/>
              </a:rPr>
              <a:t>Solution:</a:t>
            </a:r>
            <a:endParaRPr lang="en-US" b="0" i="0" dirty="0">
              <a:effectLst/>
              <a:latin typeface="Poppins" panose="00000500000000000000" pitchFamily="2" charset="0"/>
            </a:endParaRPr>
          </a:p>
          <a:p>
            <a:pPr algn="l"/>
            <a:r>
              <a:rPr lang="en-US" b="0" i="0" dirty="0">
                <a:effectLst/>
                <a:latin typeface="Poppins" panose="00000500000000000000" pitchFamily="2" charset="0"/>
              </a:rPr>
              <a:t>Let us simplify the given Boolean expression (A + B).(A + C) using relevant Boolean laws.</a:t>
            </a:r>
          </a:p>
        </p:txBody>
      </p:sp>
      <p:graphicFrame>
        <p:nvGraphicFramePr>
          <p:cNvPr id="6" name="Table 5">
            <a:extLst>
              <a:ext uri="{FF2B5EF4-FFF2-40B4-BE49-F238E27FC236}">
                <a16:creationId xmlns:a16="http://schemas.microsoft.com/office/drawing/2014/main" id="{83AF66DA-B231-899E-E909-A67E294D0897}"/>
              </a:ext>
            </a:extLst>
          </p:cNvPr>
          <p:cNvGraphicFramePr>
            <a:graphicFrameLocks noGrp="1"/>
          </p:cNvGraphicFramePr>
          <p:nvPr>
            <p:extLst>
              <p:ext uri="{D42A27DB-BD31-4B8C-83A1-F6EECF244321}">
                <p14:modId xmlns:p14="http://schemas.microsoft.com/office/powerpoint/2010/main" val="2756870"/>
              </p:ext>
            </p:extLst>
          </p:nvPr>
        </p:nvGraphicFramePr>
        <p:xfrm>
          <a:off x="1720644" y="2438400"/>
          <a:ext cx="8563898" cy="3203473"/>
        </p:xfrm>
        <a:graphic>
          <a:graphicData uri="http://schemas.openxmlformats.org/drawingml/2006/table">
            <a:tbl>
              <a:tblPr/>
              <a:tblGrid>
                <a:gridCol w="4281949">
                  <a:extLst>
                    <a:ext uri="{9D8B030D-6E8A-4147-A177-3AD203B41FA5}">
                      <a16:colId xmlns:a16="http://schemas.microsoft.com/office/drawing/2014/main" val="356709312"/>
                    </a:ext>
                  </a:extLst>
                </a:gridCol>
                <a:gridCol w="4281949">
                  <a:extLst>
                    <a:ext uri="{9D8B030D-6E8A-4147-A177-3AD203B41FA5}">
                      <a16:colId xmlns:a16="http://schemas.microsoft.com/office/drawing/2014/main" val="842795273"/>
                    </a:ext>
                  </a:extLst>
                </a:gridCol>
              </a:tblGrid>
              <a:tr h="486116">
                <a:tc>
                  <a:txBody>
                    <a:bodyPr/>
                    <a:lstStyle/>
                    <a:p>
                      <a:r>
                        <a:rPr lang="en-IN" sz="2000" b="1" dirty="0">
                          <a:effectLst/>
                        </a:rPr>
                        <a:t>Proof</a:t>
                      </a:r>
                      <a:endParaRPr lang="en-IN" sz="2000" dirty="0">
                        <a:effectLst/>
                      </a:endParaRPr>
                    </a:p>
                  </a:txBody>
                  <a:tcPr marL="60960" marR="60960" marT="91440" marB="91440" anchor="ctr">
                    <a:lnL w="3810" cap="flat" cmpd="sng" algn="ctr">
                      <a:solidFill>
                        <a:srgbClr val="444444"/>
                      </a:solidFill>
                      <a:prstDash val="solid"/>
                      <a:round/>
                      <a:headEnd type="none" w="med" len="med"/>
                      <a:tailEnd type="none" w="med" len="med"/>
                    </a:lnL>
                    <a:lnR w="3810" cap="flat" cmpd="sng" algn="ctr">
                      <a:solidFill>
                        <a:srgbClr val="444444"/>
                      </a:solidFill>
                      <a:prstDash val="solid"/>
                      <a:round/>
                      <a:headEnd type="none" w="med" len="med"/>
                      <a:tailEnd type="none" w="med" len="med"/>
                    </a:lnR>
                    <a:lnT w="3810" cap="flat" cmpd="sng" algn="ctr">
                      <a:solidFill>
                        <a:srgbClr val="444444"/>
                      </a:solidFill>
                      <a:prstDash val="solid"/>
                      <a:round/>
                      <a:headEnd type="none" w="med" len="med"/>
                      <a:tailEnd type="none" w="med" len="med"/>
                    </a:lnT>
                    <a:lnB w="3810" cap="flat" cmpd="sng" algn="ctr">
                      <a:solidFill>
                        <a:srgbClr val="444444"/>
                      </a:solidFill>
                      <a:prstDash val="solid"/>
                      <a:round/>
                      <a:headEnd type="none" w="med" len="med"/>
                      <a:tailEnd type="none" w="med" len="med"/>
                    </a:lnB>
                    <a:solidFill>
                      <a:srgbClr val="F1EDFF"/>
                    </a:solidFill>
                  </a:tcPr>
                </a:tc>
                <a:tc>
                  <a:txBody>
                    <a:bodyPr/>
                    <a:lstStyle/>
                    <a:p>
                      <a:r>
                        <a:rPr lang="en-IN" sz="2000" b="1" dirty="0">
                          <a:effectLst/>
                        </a:rPr>
                        <a:t>Boolean Laws</a:t>
                      </a:r>
                      <a:endParaRPr lang="en-IN" sz="2000" dirty="0">
                        <a:effectLst/>
                      </a:endParaRPr>
                    </a:p>
                  </a:txBody>
                  <a:tcPr marL="60960" marR="60960" marT="91440" marB="91440" anchor="ctr">
                    <a:lnL w="3810" cap="flat" cmpd="sng" algn="ctr">
                      <a:solidFill>
                        <a:srgbClr val="444444"/>
                      </a:solidFill>
                      <a:prstDash val="solid"/>
                      <a:round/>
                      <a:headEnd type="none" w="med" len="med"/>
                      <a:tailEnd type="none" w="med" len="med"/>
                    </a:lnL>
                    <a:lnR w="3810" cap="flat" cmpd="sng" algn="ctr">
                      <a:solidFill>
                        <a:srgbClr val="444444"/>
                      </a:solidFill>
                      <a:prstDash val="solid"/>
                      <a:round/>
                      <a:headEnd type="none" w="med" len="med"/>
                      <a:tailEnd type="none" w="med" len="med"/>
                    </a:lnR>
                    <a:lnT w="3810" cap="flat" cmpd="sng" algn="ctr">
                      <a:solidFill>
                        <a:srgbClr val="444444"/>
                      </a:solidFill>
                      <a:prstDash val="solid"/>
                      <a:round/>
                      <a:headEnd type="none" w="med" len="med"/>
                      <a:tailEnd type="none" w="med" len="med"/>
                    </a:lnT>
                    <a:lnB w="3810"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1854561202"/>
                  </a:ext>
                </a:extLst>
              </a:tr>
              <a:tr h="743391">
                <a:tc>
                  <a:txBody>
                    <a:bodyPr/>
                    <a:lstStyle/>
                    <a:p>
                      <a:r>
                        <a:rPr lang="en-IN" sz="2000" b="0" dirty="0">
                          <a:effectLst/>
                        </a:rPr>
                        <a:t>(A + B).(A + C) = AA + AC + BA + BC</a:t>
                      </a:r>
                      <a:endParaRPr lang="en-IN" sz="2000" dirty="0">
                        <a:effectLst/>
                      </a:endParaRPr>
                    </a:p>
                  </a:txBody>
                  <a:tcPr marL="60960" marR="60960" marT="91440" marB="91440" anchor="ctr">
                    <a:lnL w="3810" cap="flat" cmpd="sng" algn="ctr">
                      <a:solidFill>
                        <a:srgbClr val="444444"/>
                      </a:solidFill>
                      <a:prstDash val="solid"/>
                      <a:round/>
                      <a:headEnd type="none" w="med" len="med"/>
                      <a:tailEnd type="none" w="med" len="med"/>
                    </a:lnL>
                    <a:lnR w="3810" cap="flat" cmpd="sng" algn="ctr">
                      <a:solidFill>
                        <a:srgbClr val="444444"/>
                      </a:solidFill>
                      <a:prstDash val="solid"/>
                      <a:round/>
                      <a:headEnd type="none" w="med" len="med"/>
                      <a:tailEnd type="none" w="med" len="med"/>
                    </a:lnR>
                    <a:lnT w="3810" cap="flat" cmpd="sng" algn="ctr">
                      <a:solidFill>
                        <a:srgbClr val="444444"/>
                      </a:solidFill>
                      <a:prstDash val="solid"/>
                      <a:round/>
                      <a:headEnd type="none" w="med" len="med"/>
                      <a:tailEnd type="none" w="med" len="med"/>
                    </a:lnT>
                    <a:lnB w="3810" cap="flat" cmpd="sng" algn="ctr">
                      <a:solidFill>
                        <a:srgbClr val="444444"/>
                      </a:solidFill>
                      <a:prstDash val="solid"/>
                      <a:round/>
                      <a:headEnd type="none" w="med" len="med"/>
                      <a:tailEnd type="none" w="med" len="med"/>
                    </a:lnB>
                    <a:solidFill>
                      <a:srgbClr val="F1EDFF"/>
                    </a:solidFill>
                  </a:tcPr>
                </a:tc>
                <a:tc>
                  <a:txBody>
                    <a:bodyPr/>
                    <a:lstStyle/>
                    <a:p>
                      <a:r>
                        <a:rPr lang="en-IN" sz="2000" b="0">
                          <a:effectLst/>
                        </a:rPr>
                        <a:t>Distributive law</a:t>
                      </a:r>
                      <a:endParaRPr lang="en-IN" sz="2000">
                        <a:effectLst/>
                      </a:endParaRPr>
                    </a:p>
                  </a:txBody>
                  <a:tcPr marL="60960" marR="60960" marT="91440" marB="91440" anchor="ctr">
                    <a:lnL w="3810" cap="flat" cmpd="sng" algn="ctr">
                      <a:solidFill>
                        <a:srgbClr val="444444"/>
                      </a:solidFill>
                      <a:prstDash val="solid"/>
                      <a:round/>
                      <a:headEnd type="none" w="med" len="med"/>
                      <a:tailEnd type="none" w="med" len="med"/>
                    </a:lnL>
                    <a:lnR w="3810" cap="flat" cmpd="sng" algn="ctr">
                      <a:solidFill>
                        <a:srgbClr val="444444"/>
                      </a:solidFill>
                      <a:prstDash val="solid"/>
                      <a:round/>
                      <a:headEnd type="none" w="med" len="med"/>
                      <a:tailEnd type="none" w="med" len="med"/>
                    </a:lnR>
                    <a:lnT w="3810" cap="flat" cmpd="sng" algn="ctr">
                      <a:solidFill>
                        <a:srgbClr val="444444"/>
                      </a:solidFill>
                      <a:prstDash val="solid"/>
                      <a:round/>
                      <a:headEnd type="none" w="med" len="med"/>
                      <a:tailEnd type="none" w="med" len="med"/>
                    </a:lnT>
                    <a:lnB w="3810"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1501858665"/>
                  </a:ext>
                </a:extLst>
              </a:tr>
              <a:tr h="777786">
                <a:tc>
                  <a:txBody>
                    <a:bodyPr/>
                    <a:lstStyle/>
                    <a:p>
                      <a:r>
                        <a:rPr lang="en-IN" sz="2000" b="0">
                          <a:effectLst/>
                        </a:rPr>
                        <a:t>= A + AC + AB + BC</a:t>
                      </a:r>
                      <a:endParaRPr lang="en-IN" sz="2000">
                        <a:effectLst/>
                      </a:endParaRPr>
                    </a:p>
                  </a:txBody>
                  <a:tcPr marL="60960" marR="60960" marT="91440" marB="91440" anchor="ctr">
                    <a:lnL w="3810" cap="flat" cmpd="sng" algn="ctr">
                      <a:solidFill>
                        <a:srgbClr val="444444"/>
                      </a:solidFill>
                      <a:prstDash val="solid"/>
                      <a:round/>
                      <a:headEnd type="none" w="med" len="med"/>
                      <a:tailEnd type="none" w="med" len="med"/>
                    </a:lnL>
                    <a:lnR w="3810" cap="flat" cmpd="sng" algn="ctr">
                      <a:solidFill>
                        <a:srgbClr val="444444"/>
                      </a:solidFill>
                      <a:prstDash val="solid"/>
                      <a:round/>
                      <a:headEnd type="none" w="med" len="med"/>
                      <a:tailEnd type="none" w="med" len="med"/>
                    </a:lnR>
                    <a:lnT w="3810" cap="flat" cmpd="sng" algn="ctr">
                      <a:solidFill>
                        <a:srgbClr val="444444"/>
                      </a:solidFill>
                      <a:prstDash val="solid"/>
                      <a:round/>
                      <a:headEnd type="none" w="med" len="med"/>
                      <a:tailEnd type="none" w="med" len="med"/>
                    </a:lnT>
                    <a:lnB w="3810" cap="flat" cmpd="sng" algn="ctr">
                      <a:solidFill>
                        <a:srgbClr val="444444"/>
                      </a:solidFill>
                      <a:prstDash val="solid"/>
                      <a:round/>
                      <a:headEnd type="none" w="med" len="med"/>
                      <a:tailEnd type="none" w="med" len="med"/>
                    </a:lnB>
                    <a:solidFill>
                      <a:srgbClr val="F1EDFF"/>
                    </a:solidFill>
                  </a:tcPr>
                </a:tc>
                <a:tc>
                  <a:txBody>
                    <a:bodyPr/>
                    <a:lstStyle/>
                    <a:p>
                      <a:r>
                        <a:rPr lang="en-US" sz="2000" b="0">
                          <a:effectLst/>
                        </a:rPr>
                        <a:t>Idempotent AND law and commutative AND law</a:t>
                      </a:r>
                      <a:endParaRPr lang="en-US" sz="2000">
                        <a:effectLst/>
                      </a:endParaRPr>
                    </a:p>
                  </a:txBody>
                  <a:tcPr marL="60960" marR="60960" marT="91440" marB="91440" anchor="ctr">
                    <a:lnL w="3810" cap="flat" cmpd="sng" algn="ctr">
                      <a:solidFill>
                        <a:srgbClr val="444444"/>
                      </a:solidFill>
                      <a:prstDash val="solid"/>
                      <a:round/>
                      <a:headEnd type="none" w="med" len="med"/>
                      <a:tailEnd type="none" w="med" len="med"/>
                    </a:lnL>
                    <a:lnR w="3810" cap="flat" cmpd="sng" algn="ctr">
                      <a:solidFill>
                        <a:srgbClr val="444444"/>
                      </a:solidFill>
                      <a:prstDash val="solid"/>
                      <a:round/>
                      <a:headEnd type="none" w="med" len="med"/>
                      <a:tailEnd type="none" w="med" len="med"/>
                    </a:lnR>
                    <a:lnT w="3810" cap="flat" cmpd="sng" algn="ctr">
                      <a:solidFill>
                        <a:srgbClr val="444444"/>
                      </a:solidFill>
                      <a:prstDash val="solid"/>
                      <a:round/>
                      <a:headEnd type="none" w="med" len="med"/>
                      <a:tailEnd type="none" w="med" len="med"/>
                    </a:lnT>
                    <a:lnB w="3810"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3528294126"/>
                  </a:ext>
                </a:extLst>
              </a:tr>
              <a:tr h="692242">
                <a:tc>
                  <a:txBody>
                    <a:bodyPr/>
                    <a:lstStyle/>
                    <a:p>
                      <a:r>
                        <a:rPr lang="en-IN" sz="2000" b="0">
                          <a:effectLst/>
                        </a:rPr>
                        <a:t>= A + AB + BC</a:t>
                      </a:r>
                      <a:endParaRPr lang="en-IN" sz="2000">
                        <a:effectLst/>
                      </a:endParaRPr>
                    </a:p>
                  </a:txBody>
                  <a:tcPr marL="60960" marR="60960" marT="91440" marB="91440" anchor="ctr">
                    <a:lnL w="3810" cap="flat" cmpd="sng" algn="ctr">
                      <a:solidFill>
                        <a:srgbClr val="444444"/>
                      </a:solidFill>
                      <a:prstDash val="solid"/>
                      <a:round/>
                      <a:headEnd type="none" w="med" len="med"/>
                      <a:tailEnd type="none" w="med" len="med"/>
                    </a:lnL>
                    <a:lnR w="3810" cap="flat" cmpd="sng" algn="ctr">
                      <a:solidFill>
                        <a:srgbClr val="444444"/>
                      </a:solidFill>
                      <a:prstDash val="solid"/>
                      <a:round/>
                      <a:headEnd type="none" w="med" len="med"/>
                      <a:tailEnd type="none" w="med" len="med"/>
                    </a:lnR>
                    <a:lnT w="3810" cap="flat" cmpd="sng" algn="ctr">
                      <a:solidFill>
                        <a:srgbClr val="444444"/>
                      </a:solidFill>
                      <a:prstDash val="solid"/>
                      <a:round/>
                      <a:headEnd type="none" w="med" len="med"/>
                      <a:tailEnd type="none" w="med" len="med"/>
                    </a:lnT>
                    <a:lnB w="3810" cap="flat" cmpd="sng" algn="ctr">
                      <a:solidFill>
                        <a:srgbClr val="444444"/>
                      </a:solidFill>
                      <a:prstDash val="solid"/>
                      <a:round/>
                      <a:headEnd type="none" w="med" len="med"/>
                      <a:tailEnd type="none" w="med" len="med"/>
                    </a:lnB>
                    <a:solidFill>
                      <a:srgbClr val="F1EDFF"/>
                    </a:solidFill>
                  </a:tcPr>
                </a:tc>
                <a:tc>
                  <a:txBody>
                    <a:bodyPr/>
                    <a:lstStyle/>
                    <a:p>
                      <a:r>
                        <a:rPr lang="en-US" sz="2000" b="0">
                          <a:effectLst/>
                        </a:rPr>
                        <a:t>Absorption law (A + AC = A)</a:t>
                      </a:r>
                      <a:endParaRPr lang="en-US" sz="2000">
                        <a:effectLst/>
                      </a:endParaRPr>
                    </a:p>
                  </a:txBody>
                  <a:tcPr marL="60960" marR="60960" marT="91440" marB="91440" anchor="ctr">
                    <a:lnL w="3810" cap="flat" cmpd="sng" algn="ctr">
                      <a:solidFill>
                        <a:srgbClr val="444444"/>
                      </a:solidFill>
                      <a:prstDash val="solid"/>
                      <a:round/>
                      <a:headEnd type="none" w="med" len="med"/>
                      <a:tailEnd type="none" w="med" len="med"/>
                    </a:lnL>
                    <a:lnR w="3810" cap="flat" cmpd="sng" algn="ctr">
                      <a:solidFill>
                        <a:srgbClr val="444444"/>
                      </a:solidFill>
                      <a:prstDash val="solid"/>
                      <a:round/>
                      <a:headEnd type="none" w="med" len="med"/>
                      <a:tailEnd type="none" w="med" len="med"/>
                    </a:lnR>
                    <a:lnT w="3810" cap="flat" cmpd="sng" algn="ctr">
                      <a:solidFill>
                        <a:srgbClr val="444444"/>
                      </a:solidFill>
                      <a:prstDash val="solid"/>
                      <a:round/>
                      <a:headEnd type="none" w="med" len="med"/>
                      <a:tailEnd type="none" w="med" len="med"/>
                    </a:lnT>
                    <a:lnB w="3810"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3182012663"/>
                  </a:ext>
                </a:extLst>
              </a:tr>
              <a:tr h="486116">
                <a:tc>
                  <a:txBody>
                    <a:bodyPr/>
                    <a:lstStyle/>
                    <a:p>
                      <a:r>
                        <a:rPr lang="en-IN" sz="2000" b="0">
                          <a:effectLst/>
                        </a:rPr>
                        <a:t>= A + BC</a:t>
                      </a:r>
                      <a:endParaRPr lang="en-IN" sz="2000">
                        <a:effectLst/>
                      </a:endParaRPr>
                    </a:p>
                  </a:txBody>
                  <a:tcPr marL="60960" marR="60960" marT="91440" marB="91440" anchor="ctr">
                    <a:lnL w="3810" cap="flat" cmpd="sng" algn="ctr">
                      <a:solidFill>
                        <a:srgbClr val="444444"/>
                      </a:solidFill>
                      <a:prstDash val="solid"/>
                      <a:round/>
                      <a:headEnd type="none" w="med" len="med"/>
                      <a:tailEnd type="none" w="med" len="med"/>
                    </a:lnL>
                    <a:lnR w="3810" cap="flat" cmpd="sng" algn="ctr">
                      <a:solidFill>
                        <a:srgbClr val="444444"/>
                      </a:solidFill>
                      <a:prstDash val="solid"/>
                      <a:round/>
                      <a:headEnd type="none" w="med" len="med"/>
                      <a:tailEnd type="none" w="med" len="med"/>
                    </a:lnR>
                    <a:lnT w="3810" cap="flat" cmpd="sng" algn="ctr">
                      <a:solidFill>
                        <a:srgbClr val="444444"/>
                      </a:solidFill>
                      <a:prstDash val="solid"/>
                      <a:round/>
                      <a:headEnd type="none" w="med" len="med"/>
                      <a:tailEnd type="none" w="med" len="med"/>
                    </a:lnT>
                    <a:lnB w="7620" cap="flat" cmpd="sng" algn="ctr">
                      <a:solidFill>
                        <a:srgbClr val="444444"/>
                      </a:solidFill>
                      <a:prstDash val="solid"/>
                      <a:round/>
                      <a:headEnd type="none" w="med" len="med"/>
                      <a:tailEnd type="none" w="med" len="med"/>
                    </a:lnB>
                    <a:solidFill>
                      <a:srgbClr val="F1EDFF"/>
                    </a:solidFill>
                  </a:tcPr>
                </a:tc>
                <a:tc>
                  <a:txBody>
                    <a:bodyPr/>
                    <a:lstStyle/>
                    <a:p>
                      <a:r>
                        <a:rPr lang="en-IN" sz="2000" b="0" dirty="0">
                          <a:effectLst/>
                        </a:rPr>
                        <a:t>Absorption law</a:t>
                      </a:r>
                      <a:endParaRPr lang="en-IN" sz="2000" dirty="0">
                        <a:effectLst/>
                      </a:endParaRPr>
                    </a:p>
                  </a:txBody>
                  <a:tcPr marL="60960" marR="60960" marT="91440" marB="91440" anchor="ctr">
                    <a:lnL w="3810" cap="flat" cmpd="sng" algn="ctr">
                      <a:solidFill>
                        <a:srgbClr val="444444"/>
                      </a:solidFill>
                      <a:prstDash val="solid"/>
                      <a:round/>
                      <a:headEnd type="none" w="med" len="med"/>
                      <a:tailEnd type="none" w="med" len="med"/>
                    </a:lnL>
                    <a:lnR w="3810" cap="flat" cmpd="sng" algn="ctr">
                      <a:solidFill>
                        <a:srgbClr val="444444"/>
                      </a:solidFill>
                      <a:prstDash val="solid"/>
                      <a:round/>
                      <a:headEnd type="none" w="med" len="med"/>
                      <a:tailEnd type="none" w="med" len="med"/>
                    </a:lnR>
                    <a:lnT w="3810" cap="flat" cmpd="sng" algn="ctr">
                      <a:solidFill>
                        <a:srgbClr val="444444"/>
                      </a:solidFill>
                      <a:prstDash val="solid"/>
                      <a:round/>
                      <a:headEnd type="none" w="med" len="med"/>
                      <a:tailEnd type="none" w="med" len="med"/>
                    </a:lnT>
                    <a:lnB w="7620" cap="flat" cmpd="sng" algn="ctr">
                      <a:solidFill>
                        <a:srgbClr val="444444"/>
                      </a:solidFill>
                      <a:prstDash val="solid"/>
                      <a:round/>
                      <a:headEnd type="none" w="med" len="med"/>
                      <a:tailEnd type="none" w="med" len="med"/>
                    </a:lnB>
                    <a:solidFill>
                      <a:srgbClr val="F1EDFF"/>
                    </a:solidFill>
                  </a:tcPr>
                </a:tc>
                <a:extLst>
                  <a:ext uri="{0D108BD9-81ED-4DB2-BD59-A6C34878D82A}">
                    <a16:rowId xmlns:a16="http://schemas.microsoft.com/office/drawing/2014/main" val="2301939803"/>
                  </a:ext>
                </a:extLst>
              </a:tr>
            </a:tbl>
          </a:graphicData>
        </a:graphic>
      </p:graphicFrame>
    </p:spTree>
    <p:extLst>
      <p:ext uri="{BB962C8B-B14F-4D97-AF65-F5344CB8AC3E}">
        <p14:creationId xmlns:p14="http://schemas.microsoft.com/office/powerpoint/2010/main" val="4174856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5B818D-758D-0077-92BD-BA4A04E37CFD}"/>
              </a:ext>
            </a:extLst>
          </p:cNvPr>
          <p:cNvSpPr txBox="1"/>
          <p:nvPr/>
        </p:nvSpPr>
        <p:spPr>
          <a:xfrm>
            <a:off x="757084" y="324465"/>
            <a:ext cx="10481187" cy="5632311"/>
          </a:xfrm>
          <a:prstGeom prst="rect">
            <a:avLst/>
          </a:prstGeom>
          <a:noFill/>
        </p:spPr>
        <p:txBody>
          <a:bodyPr wrap="square">
            <a:spAutoFit/>
          </a:bodyPr>
          <a:lstStyle/>
          <a:p>
            <a:pPr algn="l"/>
            <a:r>
              <a:rPr lang="en-IN" sz="1800" b="0" i="0" u="none" strike="noStrike" baseline="0" dirty="0">
                <a:solidFill>
                  <a:srgbClr val="000000"/>
                </a:solidFill>
                <a:latin typeface="Times New Roman" panose="02020603050405020304" pitchFamily="18" charset="0"/>
              </a:rPr>
              <a:t>Example</a:t>
            </a:r>
          </a:p>
          <a:p>
            <a:pPr algn="l"/>
            <a:r>
              <a:rPr lang="en-US" sz="1800" b="0" i="0" u="none" strike="noStrike" baseline="0" dirty="0">
                <a:solidFill>
                  <a:srgbClr val="000000"/>
                </a:solidFill>
                <a:latin typeface="Times New Roman" panose="02020603050405020304" pitchFamily="18" charset="0"/>
              </a:rPr>
              <a:t>Using Boolean algebra techniques, simplify this expression:</a:t>
            </a:r>
          </a:p>
          <a:p>
            <a:pPr algn="l"/>
            <a:r>
              <a:rPr lang="de-DE" sz="1800" b="0" i="0" u="none" strike="noStrike" baseline="0" dirty="0">
                <a:solidFill>
                  <a:srgbClr val="000000"/>
                </a:solidFill>
                <a:latin typeface="Times New Roman" panose="02020603050405020304" pitchFamily="18" charset="0"/>
              </a:rPr>
              <a:t>AB + A(B + C) + B(B + C)</a:t>
            </a:r>
          </a:p>
          <a:p>
            <a:pPr algn="l"/>
            <a:endParaRPr lang="de-DE" dirty="0">
              <a:solidFill>
                <a:srgbClr val="000000"/>
              </a:solidFill>
              <a:latin typeface="Times New Roman" panose="02020603050405020304" pitchFamily="18" charset="0"/>
            </a:endParaRPr>
          </a:p>
          <a:p>
            <a:pPr algn="l"/>
            <a:r>
              <a:rPr lang="en-US" sz="1800" b="1" i="0" u="none" strike="noStrike" baseline="0" dirty="0">
                <a:latin typeface="Times New Roman" panose="02020603050405020304" pitchFamily="18" charset="0"/>
              </a:rPr>
              <a:t>Step 1: Apply the distributive law to the second and third terms in the  </a:t>
            </a:r>
            <a:r>
              <a:rPr lang="en-IN" sz="1800" b="1" i="0" u="none" strike="noStrike" baseline="0" dirty="0">
                <a:latin typeface="Times New Roman" panose="02020603050405020304" pitchFamily="18" charset="0"/>
              </a:rPr>
              <a:t>expression, as follows:</a:t>
            </a:r>
          </a:p>
          <a:p>
            <a:pPr algn="l"/>
            <a:r>
              <a:rPr lang="de-DE" sz="1800" b="0" i="0" u="none" strike="noStrike" baseline="0" dirty="0">
                <a:latin typeface="Times New Roman" panose="02020603050405020304" pitchFamily="18" charset="0"/>
              </a:rPr>
              <a:t>AB + AB + AC + BB + BC</a:t>
            </a:r>
          </a:p>
          <a:p>
            <a:pPr algn="l"/>
            <a:endParaRPr lang="de-DE" sz="1800" b="0" i="0" u="none" strike="noStrike" baseline="0" dirty="0">
              <a:latin typeface="Times New Roman" panose="02020603050405020304" pitchFamily="18" charset="0"/>
            </a:endParaRPr>
          </a:p>
          <a:p>
            <a:pPr algn="l"/>
            <a:r>
              <a:rPr lang="en-US" sz="1800" b="1" i="0" u="none" strike="noStrike" baseline="0" dirty="0">
                <a:latin typeface="Times New Roman" panose="02020603050405020304" pitchFamily="18" charset="0"/>
              </a:rPr>
              <a:t>Step 2:  Since, (BB = B) </a:t>
            </a:r>
          </a:p>
          <a:p>
            <a:pPr algn="l"/>
            <a:r>
              <a:rPr lang="de-DE" sz="1800" b="0" i="0" u="none" strike="noStrike" baseline="0" dirty="0">
                <a:latin typeface="Times New Roman" panose="02020603050405020304" pitchFamily="18" charset="0"/>
              </a:rPr>
              <a:t>AB + AB + AC + B + BC</a:t>
            </a:r>
          </a:p>
          <a:p>
            <a:pPr algn="l"/>
            <a:endParaRPr lang="de-DE" sz="1800" b="0" i="0" u="none" strike="noStrike" baseline="0" dirty="0">
              <a:latin typeface="Times New Roman" panose="02020603050405020304" pitchFamily="18" charset="0"/>
            </a:endParaRPr>
          </a:p>
          <a:p>
            <a:pPr algn="l"/>
            <a:r>
              <a:rPr lang="en-US" sz="1800" b="1" i="0" u="none" strike="noStrike" baseline="0" dirty="0">
                <a:latin typeface="Times New Roman" panose="02020603050405020304" pitchFamily="18" charset="0"/>
              </a:rPr>
              <a:t>Step 3: Apply (AB + AB = AB) to the first two terms.</a:t>
            </a:r>
          </a:p>
          <a:p>
            <a:pPr algn="l"/>
            <a:r>
              <a:rPr lang="en-IN" sz="1800" b="0" i="0" u="none" strike="noStrike" baseline="0" dirty="0">
                <a:latin typeface="Times New Roman" panose="02020603050405020304" pitchFamily="18" charset="0"/>
              </a:rPr>
              <a:t>AB + AC + B + BC</a:t>
            </a:r>
          </a:p>
          <a:p>
            <a:pPr algn="l"/>
            <a:endParaRPr lang="en-IN" sz="1800" b="0" i="0" u="none" strike="noStrike" baseline="0" dirty="0">
              <a:latin typeface="Times New Roman" panose="02020603050405020304" pitchFamily="18" charset="0"/>
            </a:endParaRPr>
          </a:p>
          <a:p>
            <a:pPr algn="l"/>
            <a:r>
              <a:rPr lang="en-US" sz="1800" b="1" i="0" u="none" strike="noStrike" baseline="0" dirty="0">
                <a:latin typeface="Times New Roman" panose="02020603050405020304" pitchFamily="18" charset="0"/>
              </a:rPr>
              <a:t>Step 4: Apply (B + BC = B) to the last two terms.</a:t>
            </a:r>
            <a:endParaRPr lang="de-DE" sz="1800" b="1" i="0" u="none" strike="noStrike" baseline="0" dirty="0">
              <a:solidFill>
                <a:srgbClr val="000000"/>
              </a:solidFill>
              <a:latin typeface="Times New Roman" panose="02020603050405020304" pitchFamily="18" charset="0"/>
            </a:endParaRPr>
          </a:p>
          <a:p>
            <a:pPr algn="l"/>
            <a:r>
              <a:rPr lang="en-IN" sz="1800" b="0" i="0" u="none" strike="noStrike" baseline="0" dirty="0">
                <a:latin typeface="Times New Roman" panose="02020603050405020304" pitchFamily="18" charset="0"/>
              </a:rPr>
              <a:t>AB + AC + B</a:t>
            </a:r>
          </a:p>
          <a:p>
            <a:pPr algn="l"/>
            <a:endParaRPr lang="en-IN" sz="1800" b="0" i="0" u="none" strike="noStrike" baseline="0" dirty="0">
              <a:latin typeface="Times New Roman" panose="02020603050405020304" pitchFamily="18" charset="0"/>
            </a:endParaRPr>
          </a:p>
          <a:p>
            <a:pPr algn="l"/>
            <a:r>
              <a:rPr lang="en-US" sz="1800" b="1" i="0" u="none" strike="noStrike" baseline="0" dirty="0">
                <a:latin typeface="Times New Roman" panose="02020603050405020304" pitchFamily="18" charset="0"/>
              </a:rPr>
              <a:t>Step 5: Apply (AB + B = B) to the first and third terms.</a:t>
            </a:r>
          </a:p>
          <a:p>
            <a:pPr algn="l"/>
            <a:r>
              <a:rPr lang="en-IN" sz="1800" b="0" i="0" u="none" strike="noStrike" baseline="0" dirty="0">
                <a:latin typeface="Times New Roman" panose="02020603050405020304" pitchFamily="18" charset="0"/>
              </a:rPr>
              <a:t>B+AC</a:t>
            </a:r>
          </a:p>
          <a:p>
            <a:pPr algn="l"/>
            <a:endParaRPr lang="en-IN" sz="1800" b="0" i="0" u="none" strike="noStrike" baseline="0" dirty="0">
              <a:latin typeface="Times New Roman" panose="02020603050405020304" pitchFamily="18" charset="0"/>
            </a:endParaRPr>
          </a:p>
          <a:p>
            <a:pPr algn="l"/>
            <a:r>
              <a:rPr lang="en-US" sz="1800" b="0" i="0" u="none" strike="noStrike" baseline="0" dirty="0">
                <a:latin typeface="Times New Roman" panose="02020603050405020304" pitchFamily="18" charset="0"/>
              </a:rPr>
              <a:t>At this point the expression is simplified as much as possible</a:t>
            </a:r>
            <a:endParaRPr lang="en-IN" dirty="0"/>
          </a:p>
        </p:txBody>
      </p:sp>
    </p:spTree>
    <p:extLst>
      <p:ext uri="{BB962C8B-B14F-4D97-AF65-F5344CB8AC3E}">
        <p14:creationId xmlns:p14="http://schemas.microsoft.com/office/powerpoint/2010/main" val="1395667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3A5849-2D5B-747B-A52A-19EB663C6CD5}"/>
              </a:ext>
            </a:extLst>
          </p:cNvPr>
          <p:cNvSpPr txBox="1"/>
          <p:nvPr/>
        </p:nvSpPr>
        <p:spPr>
          <a:xfrm>
            <a:off x="1515379" y="462117"/>
            <a:ext cx="7757652" cy="369332"/>
          </a:xfrm>
          <a:prstGeom prst="rect">
            <a:avLst/>
          </a:prstGeom>
          <a:noFill/>
        </p:spPr>
        <p:txBody>
          <a:bodyPr wrap="square">
            <a:spAutoFit/>
          </a:bodyPr>
          <a:lstStyle/>
          <a:p>
            <a:r>
              <a:rPr lang="en-IN" sz="1800" b="1" i="0" u="none" strike="noStrike" baseline="0" dirty="0">
                <a:solidFill>
                  <a:srgbClr val="000000"/>
                </a:solidFill>
                <a:latin typeface="Times New Roman" panose="02020603050405020304" pitchFamily="18" charset="0"/>
              </a:rPr>
              <a:t>Example </a:t>
            </a:r>
            <a:endParaRPr lang="en-IN" dirty="0"/>
          </a:p>
        </p:txBody>
      </p:sp>
      <p:pic>
        <p:nvPicPr>
          <p:cNvPr id="5" name="Picture 4">
            <a:extLst>
              <a:ext uri="{FF2B5EF4-FFF2-40B4-BE49-F238E27FC236}">
                <a16:creationId xmlns:a16="http://schemas.microsoft.com/office/drawing/2014/main" id="{D889E870-09C1-91FC-B373-976DC66A48CA}"/>
              </a:ext>
            </a:extLst>
          </p:cNvPr>
          <p:cNvPicPr>
            <a:picLocks noChangeAspect="1"/>
          </p:cNvPicPr>
          <p:nvPr/>
        </p:nvPicPr>
        <p:blipFill>
          <a:blip r:embed="rId2"/>
          <a:stretch>
            <a:fillRect/>
          </a:stretch>
        </p:blipFill>
        <p:spPr>
          <a:xfrm>
            <a:off x="1975072" y="1158332"/>
            <a:ext cx="7060773" cy="4541336"/>
          </a:xfrm>
          <a:prstGeom prst="rect">
            <a:avLst/>
          </a:prstGeom>
        </p:spPr>
      </p:pic>
    </p:spTree>
    <p:extLst>
      <p:ext uri="{BB962C8B-B14F-4D97-AF65-F5344CB8AC3E}">
        <p14:creationId xmlns:p14="http://schemas.microsoft.com/office/powerpoint/2010/main" val="2126024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AF9BB7-5ADF-3FCC-E9BE-58A7D000F266}"/>
              </a:ext>
            </a:extLst>
          </p:cNvPr>
          <p:cNvPicPr>
            <a:picLocks noChangeAspect="1"/>
          </p:cNvPicPr>
          <p:nvPr/>
        </p:nvPicPr>
        <p:blipFill>
          <a:blip r:embed="rId2"/>
          <a:stretch>
            <a:fillRect/>
          </a:stretch>
        </p:blipFill>
        <p:spPr>
          <a:xfrm>
            <a:off x="2180222" y="1396180"/>
            <a:ext cx="7831556" cy="3538285"/>
          </a:xfrm>
          <a:prstGeom prst="rect">
            <a:avLst/>
          </a:prstGeom>
        </p:spPr>
      </p:pic>
      <p:sp>
        <p:nvSpPr>
          <p:cNvPr id="2" name="TextBox 1">
            <a:extLst>
              <a:ext uri="{FF2B5EF4-FFF2-40B4-BE49-F238E27FC236}">
                <a16:creationId xmlns:a16="http://schemas.microsoft.com/office/drawing/2014/main" id="{B9D19EA7-0619-E553-D814-A1E631D79FC4}"/>
              </a:ext>
            </a:extLst>
          </p:cNvPr>
          <p:cNvSpPr txBox="1"/>
          <p:nvPr/>
        </p:nvSpPr>
        <p:spPr>
          <a:xfrm>
            <a:off x="7583557" y="3906078"/>
            <a:ext cx="3369365" cy="369332"/>
          </a:xfrm>
          <a:prstGeom prst="rect">
            <a:avLst/>
          </a:prstGeom>
          <a:noFill/>
        </p:spPr>
        <p:txBody>
          <a:bodyPr wrap="square" rtlCol="0">
            <a:spAutoFit/>
          </a:bodyPr>
          <a:lstStyle/>
          <a:p>
            <a:r>
              <a:rPr lang="en-IN" dirty="0"/>
              <a:t>Using inverse law</a:t>
            </a:r>
          </a:p>
        </p:txBody>
      </p:sp>
    </p:spTree>
    <p:extLst>
      <p:ext uri="{BB962C8B-B14F-4D97-AF65-F5344CB8AC3E}">
        <p14:creationId xmlns:p14="http://schemas.microsoft.com/office/powerpoint/2010/main" val="3869144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1F4F695-65E3-A589-8751-5D1D21604EBF}"/>
              </a:ext>
            </a:extLst>
          </p:cNvPr>
          <p:cNvSpPr txBox="1"/>
          <p:nvPr/>
        </p:nvSpPr>
        <p:spPr>
          <a:xfrm>
            <a:off x="1866070" y="322231"/>
            <a:ext cx="8848311" cy="523220"/>
          </a:xfrm>
          <a:prstGeom prst="rect">
            <a:avLst/>
          </a:prstGeom>
          <a:noFill/>
        </p:spPr>
        <p:txBody>
          <a:bodyPr wrap="square">
            <a:spAutoFit/>
          </a:bodyPr>
          <a:lstStyle/>
          <a:p>
            <a:r>
              <a:rPr lang="en-US" sz="2800" b="1" i="0" dirty="0">
                <a:solidFill>
                  <a:srgbClr val="333333"/>
                </a:solidFill>
                <a:effectLst/>
                <a:latin typeface="Untitled Sans"/>
              </a:rPr>
              <a:t>Example 2:</a:t>
            </a:r>
            <a:r>
              <a:rPr lang="en-US" sz="2800" b="0" i="0" dirty="0">
                <a:solidFill>
                  <a:srgbClr val="333333"/>
                </a:solidFill>
                <a:effectLst/>
                <a:latin typeface="Untitled Sans"/>
              </a:rPr>
              <a:t> Simplify the logic circuit using Boolean algebra.</a:t>
            </a:r>
            <a:endParaRPr lang="en-IN" sz="2800" dirty="0"/>
          </a:p>
        </p:txBody>
      </p:sp>
      <p:pic>
        <p:nvPicPr>
          <p:cNvPr id="7" name="Picture 6">
            <a:extLst>
              <a:ext uri="{FF2B5EF4-FFF2-40B4-BE49-F238E27FC236}">
                <a16:creationId xmlns:a16="http://schemas.microsoft.com/office/drawing/2014/main" id="{C6246951-9F69-5F72-B6E0-CC5C10FE752A}"/>
              </a:ext>
            </a:extLst>
          </p:cNvPr>
          <p:cNvPicPr>
            <a:picLocks noChangeAspect="1"/>
          </p:cNvPicPr>
          <p:nvPr/>
        </p:nvPicPr>
        <p:blipFill>
          <a:blip r:embed="rId2"/>
          <a:stretch>
            <a:fillRect/>
          </a:stretch>
        </p:blipFill>
        <p:spPr>
          <a:xfrm>
            <a:off x="2876291" y="934467"/>
            <a:ext cx="6677957" cy="3219899"/>
          </a:xfrm>
          <a:prstGeom prst="rect">
            <a:avLst/>
          </a:prstGeom>
        </p:spPr>
      </p:pic>
    </p:spTree>
    <p:extLst>
      <p:ext uri="{BB962C8B-B14F-4D97-AF65-F5344CB8AC3E}">
        <p14:creationId xmlns:p14="http://schemas.microsoft.com/office/powerpoint/2010/main" val="1643015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5BEE70-B74E-C784-1743-C4A698E9B1B3}"/>
              </a:ext>
            </a:extLst>
          </p:cNvPr>
          <p:cNvPicPr>
            <a:picLocks noChangeAspect="1"/>
          </p:cNvPicPr>
          <p:nvPr/>
        </p:nvPicPr>
        <p:blipFill>
          <a:blip r:embed="rId2"/>
          <a:stretch>
            <a:fillRect/>
          </a:stretch>
        </p:blipFill>
        <p:spPr>
          <a:xfrm>
            <a:off x="2457197" y="601141"/>
            <a:ext cx="6601746" cy="2514951"/>
          </a:xfrm>
          <a:prstGeom prst="rect">
            <a:avLst/>
          </a:prstGeom>
        </p:spPr>
      </p:pic>
      <p:sp>
        <p:nvSpPr>
          <p:cNvPr id="5" name="TextBox 4">
            <a:extLst>
              <a:ext uri="{FF2B5EF4-FFF2-40B4-BE49-F238E27FC236}">
                <a16:creationId xmlns:a16="http://schemas.microsoft.com/office/drawing/2014/main" id="{BC180558-EB10-555E-DB1A-A528156A964A}"/>
              </a:ext>
            </a:extLst>
          </p:cNvPr>
          <p:cNvSpPr txBox="1"/>
          <p:nvPr/>
        </p:nvSpPr>
        <p:spPr>
          <a:xfrm>
            <a:off x="1311965" y="3741909"/>
            <a:ext cx="10058400" cy="1569660"/>
          </a:xfrm>
          <a:prstGeom prst="rect">
            <a:avLst/>
          </a:prstGeom>
          <a:noFill/>
        </p:spPr>
        <p:txBody>
          <a:bodyPr wrap="square">
            <a:spAutoFit/>
          </a:bodyPr>
          <a:lstStyle/>
          <a:p>
            <a:r>
              <a:rPr lang="en-US" sz="2400" b="0" i="0" dirty="0">
                <a:solidFill>
                  <a:srgbClr val="333333"/>
                </a:solidFill>
                <a:effectLst/>
                <a:latin typeface="Untitled Sans"/>
              </a:rPr>
              <a:t>On solving the expression AB + BC(B + C) = AB + BBC + BCC.</a:t>
            </a:r>
            <a:br>
              <a:rPr lang="en-US" sz="2400" dirty="0"/>
            </a:br>
            <a:r>
              <a:rPr lang="en-US" sz="2400" b="0" i="0" dirty="0">
                <a:solidFill>
                  <a:srgbClr val="333333"/>
                </a:solidFill>
                <a:effectLst/>
                <a:latin typeface="Untitled Sans"/>
              </a:rPr>
              <a:t>Applying A.A = A we get AB + BC + BC.</a:t>
            </a:r>
            <a:br>
              <a:rPr lang="en-US" sz="2400" dirty="0"/>
            </a:br>
            <a:r>
              <a:rPr lang="en-US" sz="2400" b="0" i="0" dirty="0">
                <a:solidFill>
                  <a:srgbClr val="333333"/>
                </a:solidFill>
                <a:effectLst/>
                <a:latin typeface="Untitled Sans"/>
              </a:rPr>
              <a:t>Applying A + A = A we get AB + BC = B(A + C).</a:t>
            </a:r>
            <a:br>
              <a:rPr lang="en-US" sz="2400" dirty="0"/>
            </a:br>
            <a:r>
              <a:rPr lang="en-US" sz="2400" b="1" i="0" dirty="0">
                <a:solidFill>
                  <a:srgbClr val="333333"/>
                </a:solidFill>
                <a:effectLst/>
                <a:latin typeface="Untitled Sans"/>
              </a:rPr>
              <a:t>Answer: </a:t>
            </a:r>
            <a:r>
              <a:rPr lang="en-US" sz="2400" b="0" i="0" dirty="0">
                <a:solidFill>
                  <a:srgbClr val="333333"/>
                </a:solidFill>
                <a:effectLst/>
                <a:latin typeface="Untitled Sans"/>
              </a:rPr>
              <a:t>B(A + C)</a:t>
            </a:r>
            <a:endParaRPr lang="en-IN" sz="2400" dirty="0"/>
          </a:p>
        </p:txBody>
      </p:sp>
    </p:spTree>
    <p:extLst>
      <p:ext uri="{BB962C8B-B14F-4D97-AF65-F5344CB8AC3E}">
        <p14:creationId xmlns:p14="http://schemas.microsoft.com/office/powerpoint/2010/main" val="3658791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76F864-95AD-BF80-E69B-EB86CAAB16EF}"/>
              </a:ext>
            </a:extLst>
          </p:cNvPr>
          <p:cNvPicPr>
            <a:picLocks noChangeAspect="1"/>
          </p:cNvPicPr>
          <p:nvPr/>
        </p:nvPicPr>
        <p:blipFill>
          <a:blip r:embed="rId2"/>
          <a:stretch>
            <a:fillRect/>
          </a:stretch>
        </p:blipFill>
        <p:spPr>
          <a:xfrm>
            <a:off x="1579282" y="850508"/>
            <a:ext cx="9177885" cy="4725344"/>
          </a:xfrm>
          <a:prstGeom prst="rect">
            <a:avLst/>
          </a:prstGeom>
        </p:spPr>
      </p:pic>
    </p:spTree>
    <p:extLst>
      <p:ext uri="{BB962C8B-B14F-4D97-AF65-F5344CB8AC3E}">
        <p14:creationId xmlns:p14="http://schemas.microsoft.com/office/powerpoint/2010/main" val="281890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F3882C-21A8-4C37-36C9-972C5B515720}"/>
              </a:ext>
            </a:extLst>
          </p:cNvPr>
          <p:cNvPicPr>
            <a:picLocks noChangeAspect="1"/>
          </p:cNvPicPr>
          <p:nvPr/>
        </p:nvPicPr>
        <p:blipFill>
          <a:blip r:embed="rId2"/>
          <a:stretch>
            <a:fillRect/>
          </a:stretch>
        </p:blipFill>
        <p:spPr>
          <a:xfrm>
            <a:off x="1900160" y="800018"/>
            <a:ext cx="8184828" cy="4795712"/>
          </a:xfrm>
          <a:prstGeom prst="rect">
            <a:avLst/>
          </a:prstGeom>
        </p:spPr>
      </p:pic>
    </p:spTree>
    <p:extLst>
      <p:ext uri="{BB962C8B-B14F-4D97-AF65-F5344CB8AC3E}">
        <p14:creationId xmlns:p14="http://schemas.microsoft.com/office/powerpoint/2010/main" val="2670439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DEE7A0-AC0A-BAFC-6AC4-01CE82B78729}"/>
              </a:ext>
            </a:extLst>
          </p:cNvPr>
          <p:cNvSpPr txBox="1"/>
          <p:nvPr/>
        </p:nvSpPr>
        <p:spPr>
          <a:xfrm>
            <a:off x="2320413" y="513424"/>
            <a:ext cx="7816645"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b="1" i="0" u="none" strike="noStrike" baseline="0" dirty="0">
                <a:solidFill>
                  <a:srgbClr val="000000"/>
                </a:solidFill>
                <a:latin typeface="Times New Roman" panose="02020603050405020304" pitchFamily="18" charset="0"/>
              </a:rPr>
              <a:t>SOP and POS Representation for Logic Expressions </a:t>
            </a:r>
            <a:endParaRPr lang="en-IN" sz="2400" dirty="0"/>
          </a:p>
        </p:txBody>
      </p:sp>
      <p:sp>
        <p:nvSpPr>
          <p:cNvPr id="5" name="TextBox 4">
            <a:extLst>
              <a:ext uri="{FF2B5EF4-FFF2-40B4-BE49-F238E27FC236}">
                <a16:creationId xmlns:a16="http://schemas.microsoft.com/office/drawing/2014/main" id="{470FD247-7951-DEBE-2E29-5DF863D6143B}"/>
              </a:ext>
            </a:extLst>
          </p:cNvPr>
          <p:cNvSpPr txBox="1"/>
          <p:nvPr/>
        </p:nvSpPr>
        <p:spPr>
          <a:xfrm>
            <a:off x="2113935" y="1645488"/>
            <a:ext cx="8229600" cy="4093428"/>
          </a:xfrm>
          <a:prstGeom prst="rect">
            <a:avLst/>
          </a:prstGeom>
          <a:noFill/>
        </p:spPr>
        <p:txBody>
          <a:bodyPr wrap="square">
            <a:spAutoFit/>
          </a:bodyPr>
          <a:lstStyle/>
          <a:p>
            <a:pPr algn="just"/>
            <a:r>
              <a:rPr lang="en-US" sz="2000" b="1" i="0" dirty="0">
                <a:effectLst/>
                <a:latin typeface="Times New Roman" panose="02020603050405020304" pitchFamily="18" charset="0"/>
                <a:cs typeface="Times New Roman" panose="02020603050405020304" pitchFamily="18" charset="0"/>
              </a:rPr>
              <a:t>SOP</a:t>
            </a:r>
            <a:r>
              <a:rPr lang="en-US" sz="2000" b="1" dirty="0">
                <a:latin typeface="Times New Roman" panose="02020603050405020304" pitchFamily="18" charset="0"/>
                <a:cs typeface="Times New Roman" panose="02020603050405020304" pitchFamily="18" charset="0"/>
              </a:rPr>
              <a:t>:</a:t>
            </a:r>
            <a:endParaRPr lang="en-US" sz="2000" b="1" i="0" dirty="0">
              <a:effectLst/>
              <a:latin typeface="Times New Roman" panose="02020603050405020304" pitchFamily="18" charset="0"/>
              <a:cs typeface="Times New Roman" panose="02020603050405020304" pitchFamily="18" charset="0"/>
            </a:endParaRPr>
          </a:p>
          <a:p>
            <a:pPr algn="just"/>
            <a:r>
              <a:rPr lang="en-US" sz="2000" b="0" i="0" dirty="0">
                <a:effectLst/>
                <a:latin typeface="Times New Roman" panose="02020603050405020304" pitchFamily="18" charset="0"/>
                <a:cs typeface="Times New Roman" panose="02020603050405020304" pitchFamily="18" charset="0"/>
              </a:rPr>
              <a:t>SOP stands for Sum of Product. SOP form is a set of product (AND) terms that are summed(OR) together. When an expression or term is represented in a sum of binary terms known as minterms and sum of products. </a:t>
            </a:r>
          </a:p>
          <a:p>
            <a:pPr algn="just"/>
            <a:r>
              <a:rPr lang="en-US" sz="2000" dirty="0">
                <a:latin typeface="Times New Roman" panose="02020603050405020304" pitchFamily="18" charset="0"/>
                <a:cs typeface="Times New Roman" panose="02020603050405020304" pitchFamily="18" charset="0"/>
              </a:rPr>
              <a:t>Ex: </a:t>
            </a:r>
            <a:r>
              <a:rPr lang="en-US" sz="2000" b="0" i="0" dirty="0">
                <a:effectLst/>
                <a:latin typeface="Times New Roman" panose="02020603050405020304" pitchFamily="18" charset="0"/>
                <a:cs typeface="Times New Roman" panose="02020603050405020304" pitchFamily="18" charset="0"/>
              </a:rPr>
              <a:t>F (A, B, C) = ∑m (0, 2, 5, 7, 8)</a:t>
            </a:r>
          </a:p>
          <a:p>
            <a:pPr algn="just"/>
            <a:endParaRPr lang="en-US" sz="2000" b="0" i="0" dirty="0">
              <a:effectLst/>
              <a:latin typeface="Times New Roman" panose="02020603050405020304" pitchFamily="18" charset="0"/>
              <a:cs typeface="Times New Roman" panose="02020603050405020304" pitchFamily="18" charset="0"/>
            </a:endParaRPr>
          </a:p>
          <a:p>
            <a:pPr algn="just"/>
            <a:r>
              <a:rPr lang="en-US" sz="2000" b="1" i="0" dirty="0">
                <a:effectLst/>
                <a:latin typeface="Times New Roman" panose="02020603050405020304" pitchFamily="18" charset="0"/>
                <a:cs typeface="Times New Roman" panose="02020603050405020304" pitchFamily="18" charset="0"/>
              </a:rPr>
              <a:t>POS</a:t>
            </a:r>
            <a:r>
              <a:rPr lang="en-US" sz="2000" b="1" dirty="0">
                <a:latin typeface="Times New Roman" panose="02020603050405020304" pitchFamily="18" charset="0"/>
                <a:cs typeface="Times New Roman" panose="02020603050405020304" pitchFamily="18" charset="0"/>
              </a:rPr>
              <a:t>:</a:t>
            </a:r>
            <a:endParaRPr lang="en-US" sz="2000" b="1" i="0" dirty="0">
              <a:effectLst/>
              <a:latin typeface="Times New Roman" panose="02020603050405020304" pitchFamily="18" charset="0"/>
              <a:cs typeface="Times New Roman" panose="02020603050405020304" pitchFamily="18" charset="0"/>
            </a:endParaRPr>
          </a:p>
          <a:p>
            <a:pPr algn="just"/>
            <a:r>
              <a:rPr lang="en-US" sz="2000" b="0" i="0" dirty="0">
                <a:effectLst/>
                <a:latin typeface="Times New Roman" panose="02020603050405020304" pitchFamily="18" charset="0"/>
                <a:cs typeface="Times New Roman" panose="02020603050405020304" pitchFamily="18" charset="0"/>
              </a:rPr>
              <a:t>POS stands for product of sum. A technique of explaining a Boolean expression through a set of max terms or sum terms, is known as POS(product of sum).</a:t>
            </a:r>
          </a:p>
          <a:p>
            <a:pPr algn="just"/>
            <a:r>
              <a:rPr lang="pt-BR" sz="2000" b="0" i="0" dirty="0">
                <a:effectLst/>
                <a:latin typeface="Times New Roman" panose="02020603050405020304" pitchFamily="18" charset="0"/>
                <a:cs typeface="Times New Roman" panose="02020603050405020304" pitchFamily="18" charset="0"/>
              </a:rPr>
              <a:t>F (A, </a:t>
            </a:r>
            <a:r>
              <a:rPr lang="pt-BR" sz="2000" dirty="0">
                <a:latin typeface="Times New Roman" panose="02020603050405020304" pitchFamily="18" charset="0"/>
                <a:cs typeface="Times New Roman" panose="02020603050405020304" pitchFamily="18" charset="0"/>
              </a:rPr>
              <a:t>B</a:t>
            </a:r>
            <a:r>
              <a:rPr lang="pt-BR" sz="2000" b="0" i="0" dirty="0">
                <a:effectLst/>
                <a:latin typeface="Times New Roman" panose="02020603050405020304" pitchFamily="18" charset="0"/>
                <a:cs typeface="Times New Roman" panose="02020603050405020304" pitchFamily="18" charset="0"/>
              </a:rPr>
              <a:t>, </a:t>
            </a:r>
            <a:r>
              <a:rPr lang="pt-BR" sz="2000" dirty="0">
                <a:latin typeface="Times New Roman" panose="02020603050405020304" pitchFamily="18" charset="0"/>
                <a:cs typeface="Times New Roman" panose="02020603050405020304" pitchFamily="18" charset="0"/>
              </a:rPr>
              <a:t>C</a:t>
            </a:r>
            <a:r>
              <a:rPr lang="pt-BR" sz="2000" b="0" i="0" dirty="0">
                <a:effectLst/>
                <a:latin typeface="Times New Roman" panose="02020603050405020304" pitchFamily="18" charset="0"/>
                <a:cs typeface="Times New Roman" panose="02020603050405020304" pitchFamily="18" charset="0"/>
              </a:rPr>
              <a:t>) = ∏ M (3, 5, 7, 8)</a:t>
            </a:r>
          </a:p>
          <a:p>
            <a:pPr algn="just"/>
            <a:endParaRPr lang="pt-BR" sz="2000" b="0" i="0" dirty="0">
              <a:effectLst/>
              <a:latin typeface="Times New Roman" panose="02020603050405020304" pitchFamily="18" charset="0"/>
              <a:cs typeface="Times New Roman" panose="02020603050405020304" pitchFamily="18" charset="0"/>
            </a:endParaRPr>
          </a:p>
          <a:p>
            <a:pPr algn="just"/>
            <a:endParaRPr lang="en-US"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379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00DD1F7-9863-3FAB-2A53-E2D9F5961463}"/>
              </a:ext>
            </a:extLst>
          </p:cNvPr>
          <p:cNvGraphicFramePr>
            <a:graphicFrameLocks noGrp="1"/>
          </p:cNvGraphicFramePr>
          <p:nvPr>
            <p:extLst>
              <p:ext uri="{D42A27DB-BD31-4B8C-83A1-F6EECF244321}">
                <p14:modId xmlns:p14="http://schemas.microsoft.com/office/powerpoint/2010/main" val="3490735359"/>
              </p:ext>
            </p:extLst>
          </p:nvPr>
        </p:nvGraphicFramePr>
        <p:xfrm>
          <a:off x="1268361" y="326375"/>
          <a:ext cx="9763433" cy="4754880"/>
        </p:xfrm>
        <a:graphic>
          <a:graphicData uri="http://schemas.openxmlformats.org/drawingml/2006/table">
            <a:tbl>
              <a:tblPr firstRow="1" bandRow="1">
                <a:tableStyleId>{9DCAF9ED-07DC-4A11-8D7F-57B35C25682E}</a:tableStyleId>
              </a:tblPr>
              <a:tblGrid>
                <a:gridCol w="678975">
                  <a:extLst>
                    <a:ext uri="{9D8B030D-6E8A-4147-A177-3AD203B41FA5}">
                      <a16:colId xmlns:a16="http://schemas.microsoft.com/office/drawing/2014/main" val="943394611"/>
                    </a:ext>
                  </a:extLst>
                </a:gridCol>
                <a:gridCol w="5210548">
                  <a:extLst>
                    <a:ext uri="{9D8B030D-6E8A-4147-A177-3AD203B41FA5}">
                      <a16:colId xmlns:a16="http://schemas.microsoft.com/office/drawing/2014/main" val="54979052"/>
                    </a:ext>
                  </a:extLst>
                </a:gridCol>
                <a:gridCol w="3873910">
                  <a:extLst>
                    <a:ext uri="{9D8B030D-6E8A-4147-A177-3AD203B41FA5}">
                      <a16:colId xmlns:a16="http://schemas.microsoft.com/office/drawing/2014/main" val="123308682"/>
                    </a:ext>
                  </a:extLst>
                </a:gridCol>
              </a:tblGrid>
              <a:tr h="370840">
                <a:tc>
                  <a:txBody>
                    <a:bodyPr/>
                    <a:lstStyle/>
                    <a:p>
                      <a:pPr fontAlgn="t"/>
                      <a:endParaRPr lang="en-IN" dirty="0">
                        <a:effectLst/>
                      </a:endParaRPr>
                    </a:p>
                  </a:txBody>
                  <a:tcPr marL="60960" marR="60960" marT="91440" marB="91440"/>
                </a:tc>
                <a:tc>
                  <a:txBody>
                    <a:bodyPr/>
                    <a:lstStyle/>
                    <a:p>
                      <a:pPr fontAlgn="t"/>
                      <a:r>
                        <a:rPr lang="en-IN" b="1" dirty="0">
                          <a:effectLst/>
                        </a:rPr>
                        <a:t>SOP</a:t>
                      </a:r>
                      <a:endParaRPr lang="en-IN" dirty="0">
                        <a:effectLst/>
                      </a:endParaRPr>
                    </a:p>
                  </a:txBody>
                  <a:tcPr marL="60960" marR="60960" marT="91440" marB="91440"/>
                </a:tc>
                <a:tc>
                  <a:txBody>
                    <a:bodyPr/>
                    <a:lstStyle/>
                    <a:p>
                      <a:pPr fontAlgn="t"/>
                      <a:r>
                        <a:rPr lang="en-IN" b="1" dirty="0">
                          <a:effectLst/>
                        </a:rPr>
                        <a:t>POS</a:t>
                      </a:r>
                      <a:endParaRPr lang="en-IN" dirty="0">
                        <a:effectLst/>
                      </a:endParaRPr>
                    </a:p>
                  </a:txBody>
                  <a:tcPr marL="60960" marR="60960" marT="91440" marB="91440"/>
                </a:tc>
                <a:extLst>
                  <a:ext uri="{0D108BD9-81ED-4DB2-BD59-A6C34878D82A}">
                    <a16:rowId xmlns:a16="http://schemas.microsoft.com/office/drawing/2014/main" val="2341549499"/>
                  </a:ext>
                </a:extLst>
              </a:tr>
              <a:tr h="370840">
                <a:tc>
                  <a:txBody>
                    <a:bodyPr/>
                    <a:lstStyle/>
                    <a:p>
                      <a:pPr fontAlgn="t"/>
                      <a:r>
                        <a:rPr lang="en-IN">
                          <a:effectLst/>
                        </a:rPr>
                        <a:t>1</a:t>
                      </a:r>
                    </a:p>
                  </a:txBody>
                  <a:tcPr marL="60960" marR="60960" marT="91440" marB="91440"/>
                </a:tc>
                <a:tc>
                  <a:txBody>
                    <a:bodyPr/>
                    <a:lstStyle/>
                    <a:p>
                      <a:pPr fontAlgn="t"/>
                      <a:r>
                        <a:rPr lang="en-US">
                          <a:effectLst/>
                        </a:rPr>
                        <a:t>SOP stands for Sum of Products.</a:t>
                      </a:r>
                    </a:p>
                  </a:txBody>
                  <a:tcPr marL="60960" marR="60960" marT="91440" marB="91440"/>
                </a:tc>
                <a:tc>
                  <a:txBody>
                    <a:bodyPr/>
                    <a:lstStyle/>
                    <a:p>
                      <a:pPr fontAlgn="t"/>
                      <a:r>
                        <a:rPr lang="en-US">
                          <a:effectLst/>
                        </a:rPr>
                        <a:t>POS stands for Product of Sums.</a:t>
                      </a:r>
                    </a:p>
                  </a:txBody>
                  <a:tcPr marL="60960" marR="60960" marT="91440" marB="91440"/>
                </a:tc>
                <a:extLst>
                  <a:ext uri="{0D108BD9-81ED-4DB2-BD59-A6C34878D82A}">
                    <a16:rowId xmlns:a16="http://schemas.microsoft.com/office/drawing/2014/main" val="1461935085"/>
                  </a:ext>
                </a:extLst>
              </a:tr>
              <a:tr h="370840">
                <a:tc>
                  <a:txBody>
                    <a:bodyPr/>
                    <a:lstStyle/>
                    <a:p>
                      <a:pPr fontAlgn="t"/>
                      <a:r>
                        <a:rPr lang="en-IN" dirty="0">
                          <a:effectLst/>
                        </a:rPr>
                        <a:t>2</a:t>
                      </a:r>
                    </a:p>
                  </a:txBody>
                  <a:tcPr marL="60960" marR="60960" marT="91440" marB="91440"/>
                </a:tc>
                <a:tc>
                  <a:txBody>
                    <a:bodyPr/>
                    <a:lstStyle/>
                    <a:p>
                      <a:pPr fontAlgn="t"/>
                      <a:r>
                        <a:rPr lang="en-US">
                          <a:effectLst/>
                        </a:rPr>
                        <a:t>It is a technique of defining the boolean terms as the sum of product terms.</a:t>
                      </a:r>
                    </a:p>
                  </a:txBody>
                  <a:tcPr marL="60960" marR="60960" marT="91440" marB="91440"/>
                </a:tc>
                <a:tc>
                  <a:txBody>
                    <a:bodyPr/>
                    <a:lstStyle/>
                    <a:p>
                      <a:pPr fontAlgn="t"/>
                      <a:r>
                        <a:rPr lang="en-US">
                          <a:effectLst/>
                        </a:rPr>
                        <a:t>It is a technique of defining boolean terms as a product of sum terms.</a:t>
                      </a:r>
                    </a:p>
                  </a:txBody>
                  <a:tcPr marL="60960" marR="60960" marT="91440" marB="91440"/>
                </a:tc>
                <a:extLst>
                  <a:ext uri="{0D108BD9-81ED-4DB2-BD59-A6C34878D82A}">
                    <a16:rowId xmlns:a16="http://schemas.microsoft.com/office/drawing/2014/main" val="4143276249"/>
                  </a:ext>
                </a:extLst>
              </a:tr>
              <a:tr h="370840">
                <a:tc>
                  <a:txBody>
                    <a:bodyPr/>
                    <a:lstStyle/>
                    <a:p>
                      <a:pPr fontAlgn="t"/>
                      <a:r>
                        <a:rPr lang="en-IN" dirty="0">
                          <a:effectLst/>
                        </a:rPr>
                        <a:t>3</a:t>
                      </a:r>
                    </a:p>
                  </a:txBody>
                  <a:tcPr marL="60960" marR="60960" marT="91440" marB="91440"/>
                </a:tc>
                <a:tc>
                  <a:txBody>
                    <a:bodyPr/>
                    <a:lstStyle/>
                    <a:p>
                      <a:pPr fontAlgn="t"/>
                      <a:r>
                        <a:rPr lang="en-IN">
                          <a:effectLst/>
                        </a:rPr>
                        <a:t>It prefers minterms.</a:t>
                      </a:r>
                    </a:p>
                  </a:txBody>
                  <a:tcPr marL="60960" marR="60960" marT="91440" marB="91440"/>
                </a:tc>
                <a:tc>
                  <a:txBody>
                    <a:bodyPr/>
                    <a:lstStyle/>
                    <a:p>
                      <a:pPr fontAlgn="t"/>
                      <a:r>
                        <a:rPr lang="en-IN">
                          <a:effectLst/>
                        </a:rPr>
                        <a:t>It prefers maxterms.</a:t>
                      </a:r>
                    </a:p>
                  </a:txBody>
                  <a:tcPr marL="60960" marR="60960" marT="91440" marB="91440"/>
                </a:tc>
                <a:extLst>
                  <a:ext uri="{0D108BD9-81ED-4DB2-BD59-A6C34878D82A}">
                    <a16:rowId xmlns:a16="http://schemas.microsoft.com/office/drawing/2014/main" val="1394578815"/>
                  </a:ext>
                </a:extLst>
              </a:tr>
              <a:tr h="370840">
                <a:tc>
                  <a:txBody>
                    <a:bodyPr/>
                    <a:lstStyle/>
                    <a:p>
                      <a:pPr fontAlgn="t"/>
                      <a:r>
                        <a:rPr lang="en-IN">
                          <a:effectLst/>
                        </a:rPr>
                        <a:t>4</a:t>
                      </a:r>
                    </a:p>
                  </a:txBody>
                  <a:tcPr marL="60960" marR="60960" marT="91440" marB="91440"/>
                </a:tc>
                <a:tc>
                  <a:txBody>
                    <a:bodyPr/>
                    <a:lstStyle/>
                    <a:p>
                      <a:pPr fontAlgn="t"/>
                      <a:r>
                        <a:rPr lang="en-US" dirty="0">
                          <a:effectLst/>
                        </a:rPr>
                        <a:t>In the case of SOP, the minterms are defined as ‘m’.</a:t>
                      </a:r>
                    </a:p>
                  </a:txBody>
                  <a:tcPr marL="60960" marR="60960" marT="91440" marB="91440"/>
                </a:tc>
                <a:tc>
                  <a:txBody>
                    <a:bodyPr/>
                    <a:lstStyle/>
                    <a:p>
                      <a:pPr fontAlgn="t"/>
                      <a:r>
                        <a:rPr lang="en-US">
                          <a:effectLst/>
                        </a:rPr>
                        <a:t>In the case of POS, the Maxterms are defined as ‘M’</a:t>
                      </a:r>
                    </a:p>
                  </a:txBody>
                  <a:tcPr marL="60960" marR="60960" marT="91440" marB="91440"/>
                </a:tc>
                <a:extLst>
                  <a:ext uri="{0D108BD9-81ED-4DB2-BD59-A6C34878D82A}">
                    <a16:rowId xmlns:a16="http://schemas.microsoft.com/office/drawing/2014/main" val="4228959235"/>
                  </a:ext>
                </a:extLst>
              </a:tr>
              <a:tr h="370840">
                <a:tc>
                  <a:txBody>
                    <a:bodyPr/>
                    <a:lstStyle/>
                    <a:p>
                      <a:pPr fontAlgn="t"/>
                      <a:r>
                        <a:rPr lang="en-IN">
                          <a:effectLst/>
                        </a:rPr>
                        <a:t>5</a:t>
                      </a:r>
                    </a:p>
                  </a:txBody>
                  <a:tcPr marL="60960" marR="60960" marT="91440" marB="91440"/>
                </a:tc>
                <a:tc>
                  <a:txBody>
                    <a:bodyPr/>
                    <a:lstStyle/>
                    <a:p>
                      <a:pPr fontAlgn="t"/>
                      <a:r>
                        <a:rPr lang="en-US">
                          <a:effectLst/>
                        </a:rPr>
                        <a:t>It gives HIGH(1) output.</a:t>
                      </a:r>
                    </a:p>
                  </a:txBody>
                  <a:tcPr marL="60960" marR="60960" marT="91440" marB="91440"/>
                </a:tc>
                <a:tc>
                  <a:txBody>
                    <a:bodyPr/>
                    <a:lstStyle/>
                    <a:p>
                      <a:pPr fontAlgn="t"/>
                      <a:r>
                        <a:rPr lang="en-US">
                          <a:effectLst/>
                        </a:rPr>
                        <a:t>It gives LOW(0) output.</a:t>
                      </a:r>
                    </a:p>
                  </a:txBody>
                  <a:tcPr marL="60960" marR="60960" marT="91440" marB="91440"/>
                </a:tc>
                <a:extLst>
                  <a:ext uri="{0D108BD9-81ED-4DB2-BD59-A6C34878D82A}">
                    <a16:rowId xmlns:a16="http://schemas.microsoft.com/office/drawing/2014/main" val="3696263365"/>
                  </a:ext>
                </a:extLst>
              </a:tr>
              <a:tr h="370840">
                <a:tc>
                  <a:txBody>
                    <a:bodyPr/>
                    <a:lstStyle/>
                    <a:p>
                      <a:pPr fontAlgn="t"/>
                      <a:r>
                        <a:rPr lang="en-IN" dirty="0">
                          <a:effectLst/>
                        </a:rPr>
                        <a:t>6</a:t>
                      </a:r>
                    </a:p>
                  </a:txBody>
                  <a:tcPr marL="60960" marR="60960" marT="91440" marB="91440"/>
                </a:tc>
                <a:tc>
                  <a:txBody>
                    <a:bodyPr/>
                    <a:lstStyle/>
                    <a:p>
                      <a:pPr fontAlgn="t"/>
                      <a:r>
                        <a:rPr lang="en-US" dirty="0">
                          <a:effectLst/>
                        </a:rPr>
                        <a:t>In SOP, we can get the final term by adding the product terms.</a:t>
                      </a:r>
                    </a:p>
                  </a:txBody>
                  <a:tcPr marL="60960" marR="60960" marT="91440" marB="91440"/>
                </a:tc>
                <a:tc>
                  <a:txBody>
                    <a:bodyPr/>
                    <a:lstStyle/>
                    <a:p>
                      <a:pPr fontAlgn="t"/>
                      <a:r>
                        <a:rPr lang="en-US" dirty="0">
                          <a:effectLst/>
                        </a:rPr>
                        <a:t>In POS, we can get the final term by multiplying the sum terms.</a:t>
                      </a:r>
                    </a:p>
                  </a:txBody>
                  <a:tcPr marL="60960" marR="60960" marT="91440" marB="91440"/>
                </a:tc>
                <a:extLst>
                  <a:ext uri="{0D108BD9-81ED-4DB2-BD59-A6C34878D82A}">
                    <a16:rowId xmlns:a16="http://schemas.microsoft.com/office/drawing/2014/main" val="4257609371"/>
                  </a:ext>
                </a:extLst>
              </a:tr>
              <a:tr h="370840">
                <a:tc>
                  <a:txBody>
                    <a:bodyPr/>
                    <a:lstStyle/>
                    <a:p>
                      <a:pPr fontAlgn="t"/>
                      <a:endParaRPr lang="en-IN" dirty="0">
                        <a:effectLst/>
                      </a:endParaRPr>
                    </a:p>
                  </a:txBody>
                  <a:tcPr marL="60960" marR="60960" marT="91440" marB="9144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de-DE" sz="1800" b="0" u="none" strike="noStrike" baseline="0" dirty="0">
                          <a:solidFill>
                            <a:srgbClr val="000000"/>
                          </a:solidFill>
                        </a:rPr>
                        <a:t>Minterms: ABC + BC+ A C</a:t>
                      </a:r>
                    </a:p>
                    <a:p>
                      <a:pPr fontAlgn="t"/>
                      <a:endParaRPr lang="en-US" dirty="0">
                        <a:effectLst/>
                      </a:endParaRPr>
                    </a:p>
                  </a:txBody>
                  <a:tcPr marL="60960" marR="60960" marT="91440" marB="9144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de-DE" sz="1800" b="0" u="none" strike="noStrike" baseline="0" dirty="0">
                          <a:solidFill>
                            <a:srgbClr val="000000"/>
                          </a:solidFill>
                        </a:rPr>
                        <a:t>Maxterms: (B + A) (B + C) (B + C)</a:t>
                      </a:r>
                    </a:p>
                    <a:p>
                      <a:pPr fontAlgn="t"/>
                      <a:endParaRPr lang="en-US" dirty="0">
                        <a:effectLst/>
                      </a:endParaRPr>
                    </a:p>
                  </a:txBody>
                  <a:tcPr marL="60960" marR="60960" marT="91440" marB="91440"/>
                </a:tc>
                <a:extLst>
                  <a:ext uri="{0D108BD9-81ED-4DB2-BD59-A6C34878D82A}">
                    <a16:rowId xmlns:a16="http://schemas.microsoft.com/office/drawing/2014/main" val="1084565479"/>
                  </a:ext>
                </a:extLst>
              </a:tr>
            </a:tbl>
          </a:graphicData>
        </a:graphic>
      </p:graphicFrame>
    </p:spTree>
    <p:extLst>
      <p:ext uri="{BB962C8B-B14F-4D97-AF65-F5344CB8AC3E}">
        <p14:creationId xmlns:p14="http://schemas.microsoft.com/office/powerpoint/2010/main" val="482264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755616"/>
          </a:xfrm>
        </p:spPr>
        <p:style>
          <a:lnRef idx="2">
            <a:schemeClr val="dk1"/>
          </a:lnRef>
          <a:fillRef idx="1">
            <a:schemeClr val="lt1"/>
          </a:fillRef>
          <a:effectRef idx="0">
            <a:schemeClr val="dk1"/>
          </a:effectRef>
          <a:fontRef idx="minor">
            <a:schemeClr val="dk1"/>
          </a:fontRef>
        </p:style>
        <p:txBody>
          <a:bodyPr>
            <a:normAutofit/>
          </a:bodyPr>
          <a:lstStyle/>
          <a:p>
            <a:pPr algn="ctr"/>
            <a:r>
              <a:rPr lang="en-US" sz="2800" b="1" dirty="0"/>
              <a:t>Truth table representing minterm and maxterm –</a:t>
            </a:r>
            <a:endParaRPr lang="en-US" sz="2800" dirty="0"/>
          </a:p>
        </p:txBody>
      </p:sp>
      <p:pic>
        <p:nvPicPr>
          <p:cNvPr id="1026" name="Picture 2" descr="https://media.geeksforgeeks.org/wp-content/uploads/11-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0982" y="1604356"/>
            <a:ext cx="8986057" cy="4663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5077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56187" y="984210"/>
            <a:ext cx="10515600" cy="4207223"/>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fontAlgn="base"/>
            <a:r>
              <a:rPr lang="en-US" sz="2400" b="1" dirty="0">
                <a:latin typeface="Times New Roman" panose="02020603050405020304" pitchFamily="18" charset="0"/>
                <a:cs typeface="Times New Roman" panose="02020603050405020304" pitchFamily="18" charset="0"/>
              </a:rPr>
              <a:t>Canonical Form –</a:t>
            </a:r>
            <a:r>
              <a:rPr lang="en-US" sz="2400" dirty="0">
                <a:latin typeface="Times New Roman" panose="02020603050405020304" pitchFamily="18" charset="0"/>
                <a:cs typeface="Times New Roman" panose="02020603050405020304" pitchFamily="18" charset="0"/>
              </a:rPr>
              <a:t> </a:t>
            </a:r>
          </a:p>
          <a:p>
            <a:pPr marL="0" indent="0" algn="just" fontAlgn="base">
              <a:buNone/>
            </a:pPr>
            <a:r>
              <a:rPr lang="en-US" sz="2400" dirty="0">
                <a:latin typeface="Times New Roman" panose="02020603050405020304" pitchFamily="18" charset="0"/>
                <a:cs typeface="Times New Roman" panose="02020603050405020304" pitchFamily="18" charset="0"/>
              </a:rPr>
              <a:t>In Boolean algebra, Boolean function can be expressed as Canonical Form known as </a:t>
            </a:r>
            <a:r>
              <a:rPr lang="en-US" sz="2400" b="1" dirty="0">
                <a:latin typeface="Times New Roman" panose="02020603050405020304" pitchFamily="18" charset="0"/>
                <a:cs typeface="Times New Roman" panose="02020603050405020304" pitchFamily="18" charset="0"/>
              </a:rPr>
              <a:t>minterm </a:t>
            </a:r>
            <a:r>
              <a:rPr lang="en-US" sz="2400" dirty="0">
                <a:latin typeface="Times New Roman" panose="02020603050405020304" pitchFamily="18" charset="0"/>
                <a:cs typeface="Times New Roman" panose="02020603050405020304" pitchFamily="18" charset="0"/>
              </a:rPr>
              <a:t>and </a:t>
            </a:r>
            <a:r>
              <a:rPr lang="en-US" sz="2400" b="1" dirty="0">
                <a:latin typeface="Times New Roman" panose="02020603050405020304" pitchFamily="18" charset="0"/>
                <a:cs typeface="Times New Roman" panose="02020603050405020304" pitchFamily="18" charset="0"/>
              </a:rPr>
              <a:t>maxterm.</a:t>
            </a:r>
          </a:p>
          <a:p>
            <a:r>
              <a:rPr lang="en-US" sz="2400" dirty="0"/>
              <a:t>F = ∑ m1 + m4 + m5 + m6 + m7</a:t>
            </a:r>
            <a:br>
              <a:rPr lang="en-US" sz="2400" dirty="0"/>
            </a:br>
            <a:endParaRPr lang="en-US" sz="2400" dirty="0"/>
          </a:p>
          <a:p>
            <a:r>
              <a:rPr lang="en-US" sz="2400" dirty="0"/>
              <a:t>SOP is represented as ∑(1, 4, 5, 6, 7)</a:t>
            </a:r>
          </a:p>
          <a:p>
            <a:pPr marL="0" indent="0" algn="just" fontAlgn="base">
              <a:buNone/>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Standard Form (</a:t>
            </a:r>
            <a:r>
              <a:rPr lang="en-US" sz="2400" b="1">
                <a:latin typeface="Times New Roman" panose="02020603050405020304" pitchFamily="18" charset="0"/>
                <a:cs typeface="Times New Roman" panose="02020603050405020304" pitchFamily="18" charset="0"/>
              </a:rPr>
              <a:t>Non-Canonical form)–</a:t>
            </a:r>
            <a:r>
              <a:rPr lang="en-US" sz="240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0" indent="0" algn="just" fontAlgn="base">
              <a:buNone/>
            </a:pPr>
            <a:r>
              <a:rPr lang="en-US" sz="2400" dirty="0">
                <a:latin typeface="Times New Roman" panose="02020603050405020304" pitchFamily="18" charset="0"/>
                <a:cs typeface="Times New Roman" panose="02020603050405020304" pitchFamily="18" charset="0"/>
              </a:rPr>
              <a:t>A Boolean variable can be expressed in either true form or complemented form. In standard form Boolean function will contain all the variables in either true form or complemented form while in canonical number of variables depends on the output of SOP or POS.</a:t>
            </a:r>
          </a:p>
          <a:p>
            <a:pPr marL="0" indent="0" algn="just" fontAlgn="base">
              <a:buNone/>
            </a:pPr>
            <a:r>
              <a:rPr lang="en-US" sz="2400" dirty="0">
                <a:latin typeface="Times New Roman" panose="02020603050405020304" pitchFamily="18" charset="0"/>
                <a:cs typeface="Times New Roman" panose="02020603050405020304" pitchFamily="18" charset="0"/>
              </a:rPr>
              <a:t>F = A + B’C</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751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36A11A7-FA00-619D-B5A8-1B95EE393A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346" y="833590"/>
            <a:ext cx="8763308" cy="4930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848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6534" y="290785"/>
            <a:ext cx="10058400" cy="549139"/>
          </a:xfrm>
        </p:spPr>
        <p:txBody>
          <a:bodyPr>
            <a:normAutofit/>
          </a:bodyPr>
          <a:lstStyle/>
          <a:p>
            <a:pPr algn="just"/>
            <a:r>
              <a:rPr lang="en-US" sz="2000" b="1" dirty="0">
                <a:latin typeface="Times New Roman" panose="02020603050405020304" pitchFamily="18" charset="0"/>
                <a:cs typeface="Times New Roman" panose="02020603050405020304" pitchFamily="18" charset="0"/>
              </a:rPr>
              <a:t>Example –</a:t>
            </a:r>
            <a:r>
              <a:rPr lang="en-US" sz="2000" dirty="0">
                <a:latin typeface="Times New Roman" panose="02020603050405020304" pitchFamily="18" charset="0"/>
                <a:cs typeface="Times New Roman" panose="02020603050405020304" pitchFamily="18" charset="0"/>
              </a:rPr>
              <a:t> Express the Boolean function F = A + B’C as standard sum of minterms.</a:t>
            </a:r>
          </a:p>
        </p:txBody>
      </p:sp>
      <p:sp>
        <p:nvSpPr>
          <p:cNvPr id="3" name="Content Placeholder 2"/>
          <p:cNvSpPr>
            <a:spLocks noGrp="1"/>
          </p:cNvSpPr>
          <p:nvPr>
            <p:ph idx="1"/>
          </p:nvPr>
        </p:nvSpPr>
        <p:spPr>
          <a:xfrm>
            <a:off x="845574" y="911669"/>
            <a:ext cx="10249146" cy="5380976"/>
          </a:xfrm>
        </p:spPr>
        <p:style>
          <a:lnRef idx="2">
            <a:schemeClr val="dk1"/>
          </a:lnRef>
          <a:fillRef idx="1">
            <a:schemeClr val="lt1"/>
          </a:fillRef>
          <a:effectRef idx="0">
            <a:schemeClr val="dk1"/>
          </a:effectRef>
          <a:fontRef idx="minor">
            <a:schemeClr val="dk1"/>
          </a:fontRef>
        </p:style>
        <p:txBody>
          <a:bodyPr>
            <a:noAutofit/>
          </a:bodyPr>
          <a:lstStyle/>
          <a:p>
            <a:br>
              <a:rPr lang="en-US" sz="1800" dirty="0"/>
            </a:br>
            <a:r>
              <a:rPr lang="en-US" sz="1800" dirty="0"/>
              <a:t>A = A(B + B’) (C + C’) = AB + AB’ (C + C’) :  This function is still missing one variable, so</a:t>
            </a:r>
          </a:p>
          <a:p>
            <a:br>
              <a:rPr lang="en-US" sz="1800" dirty="0"/>
            </a:br>
            <a:r>
              <a:rPr lang="en-US" sz="1800" dirty="0"/>
              <a:t>A = ABC + ABC’+ AB’C + AB’C’</a:t>
            </a:r>
            <a:br>
              <a:rPr lang="en-US" sz="1800" dirty="0"/>
            </a:br>
            <a:endParaRPr lang="en-US" sz="1800" dirty="0"/>
          </a:p>
          <a:p>
            <a:r>
              <a:rPr lang="en-US" sz="1800" dirty="0"/>
              <a:t>The second term B’C is missing one variable; hence,</a:t>
            </a:r>
          </a:p>
          <a:p>
            <a:br>
              <a:rPr lang="en-US" sz="1800" dirty="0"/>
            </a:br>
            <a:r>
              <a:rPr lang="en-US" sz="1800" dirty="0"/>
              <a:t>B’C = B’C(A + A’) = AB’C + A’B’C</a:t>
            </a:r>
          </a:p>
          <a:p>
            <a:br>
              <a:rPr lang="en-US" sz="1800" dirty="0"/>
            </a:br>
            <a:r>
              <a:rPr lang="en-US" sz="1800" dirty="0"/>
              <a:t>Combining all terms, we have </a:t>
            </a:r>
            <a:r>
              <a:rPr lang="en-US" sz="1800" b="1" dirty="0"/>
              <a:t>F = A + B’C </a:t>
            </a:r>
            <a:r>
              <a:rPr lang="en-US" sz="1800" dirty="0"/>
              <a:t>= ABC + ABC’ + AB’C + AB’C’ + AB’C + A’B’C</a:t>
            </a:r>
            <a:br>
              <a:rPr lang="en-US" sz="1800" dirty="0"/>
            </a:br>
            <a:r>
              <a:rPr lang="en-US" sz="1800" dirty="0"/>
              <a:t>But AB’C appears twice, and according to theorem 1 (A + A = A), it is possible to remove one of those occurrences. </a:t>
            </a:r>
          </a:p>
          <a:p>
            <a:r>
              <a:rPr lang="en-US" sz="1800" dirty="0"/>
              <a:t>Rearranging the minterms in ascending order, we finally obtain</a:t>
            </a:r>
            <a:br>
              <a:rPr lang="en-US" sz="1800" dirty="0"/>
            </a:br>
            <a:r>
              <a:rPr lang="en-US" sz="1800" dirty="0"/>
              <a:t>F = A’B’C + AB’C’ + AB’C + ABC’ + ABC</a:t>
            </a:r>
            <a:br>
              <a:rPr lang="en-US" sz="1800" dirty="0"/>
            </a:br>
            <a:r>
              <a:rPr lang="en-US" sz="1800" dirty="0"/>
              <a:t>= m1 + m4 + m5 + m6 + m7</a:t>
            </a:r>
            <a:br>
              <a:rPr lang="en-US" sz="1800" dirty="0"/>
            </a:br>
            <a:endParaRPr lang="en-US" sz="1800" dirty="0"/>
          </a:p>
          <a:p>
            <a:r>
              <a:rPr lang="en-US" sz="1800" dirty="0"/>
              <a:t>SOP is represented as Sigma(1, 4, 5, 6, 7)</a:t>
            </a:r>
          </a:p>
        </p:txBody>
      </p:sp>
    </p:spTree>
    <p:extLst>
      <p:ext uri="{BB962C8B-B14F-4D97-AF65-F5344CB8AC3E}">
        <p14:creationId xmlns:p14="http://schemas.microsoft.com/office/powerpoint/2010/main" val="1179762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78C53B-08D4-70B7-9CB9-1940CED5F2FE}"/>
              </a:ext>
            </a:extLst>
          </p:cNvPr>
          <p:cNvSpPr txBox="1"/>
          <p:nvPr/>
        </p:nvSpPr>
        <p:spPr>
          <a:xfrm>
            <a:off x="619432" y="572887"/>
            <a:ext cx="11208774" cy="1077218"/>
          </a:xfrm>
          <a:prstGeom prst="rect">
            <a:avLst/>
          </a:prstGeom>
          <a:noFill/>
        </p:spPr>
        <p:txBody>
          <a:bodyPr wrap="square">
            <a:spAutoFit/>
          </a:bodyPr>
          <a:lstStyle/>
          <a:p>
            <a:pPr algn="just"/>
            <a:r>
              <a:rPr lang="en-IN" sz="2800" b="1" i="0" u="none" strike="noStrike" baseline="0" dirty="0">
                <a:solidFill>
                  <a:srgbClr val="000000"/>
                </a:solidFill>
                <a:latin typeface="Times New Roman" panose="02020603050405020304" pitchFamily="18" charset="0"/>
              </a:rPr>
              <a:t>Karnaugh map (K-Map) </a:t>
            </a:r>
            <a:r>
              <a:rPr lang="en-US" sz="1800" b="0" i="0" u="none" strike="noStrike" baseline="0" dirty="0">
                <a:solidFill>
                  <a:srgbClr val="000000"/>
                </a:solidFill>
                <a:latin typeface="Times New Roman" panose="02020603050405020304" pitchFamily="18" charset="0"/>
              </a:rPr>
              <a:t>Karnaugh map or K-map is a map of a function used in a technique used for minimization or simplification of a Boolean expression. It results in less number of logic gates and inputs to be used during the fabrication. </a:t>
            </a:r>
            <a:endParaRPr lang="en-IN" dirty="0"/>
          </a:p>
        </p:txBody>
      </p:sp>
      <p:sp>
        <p:nvSpPr>
          <p:cNvPr id="5" name="TextBox 4">
            <a:extLst>
              <a:ext uri="{FF2B5EF4-FFF2-40B4-BE49-F238E27FC236}">
                <a16:creationId xmlns:a16="http://schemas.microsoft.com/office/drawing/2014/main" id="{989F1CC1-207B-C1E5-44CF-9B7DF4167A16}"/>
              </a:ext>
            </a:extLst>
          </p:cNvPr>
          <p:cNvSpPr txBox="1"/>
          <p:nvPr/>
        </p:nvSpPr>
        <p:spPr>
          <a:xfrm>
            <a:off x="619432" y="2141718"/>
            <a:ext cx="11208774" cy="3293209"/>
          </a:xfrm>
          <a:prstGeom prst="rect">
            <a:avLst/>
          </a:prstGeom>
          <a:noFill/>
        </p:spPr>
        <p:txBody>
          <a:bodyPr wrap="square">
            <a:spAutoFit/>
          </a:bodyPr>
          <a:lstStyle/>
          <a:p>
            <a:r>
              <a:rPr lang="en-US" sz="2800" b="1" i="0" u="none" strike="noStrike" baseline="0" dirty="0">
                <a:solidFill>
                  <a:srgbClr val="000000"/>
                </a:solidFill>
                <a:latin typeface="Times New Roman" panose="02020603050405020304" pitchFamily="18" charset="0"/>
              </a:rPr>
              <a:t>Rules of Minimization in K-Map </a:t>
            </a:r>
            <a:endParaRPr lang="en-US" sz="2800" b="0" i="0" u="none" strike="noStrike" baseline="0" dirty="0">
              <a:solidFill>
                <a:srgbClr val="000000"/>
              </a:solidFill>
              <a:latin typeface="Times New Roman" panose="02020603050405020304" pitchFamily="18" charset="0"/>
            </a:endParaRPr>
          </a:p>
          <a:p>
            <a:pPr marL="285750" indent="-285750">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You can either make groups of 1’s or 0’s but not both. </a:t>
            </a:r>
          </a:p>
          <a:p>
            <a:pPr marL="285750" indent="-285750">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Grouping of 1’s lead to Sum of Product form and Grouping of 0’s lead to product of Sum form. </a:t>
            </a:r>
          </a:p>
          <a:p>
            <a:pPr marL="285750" indent="-285750">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Groups can be made vertically and horizontally but not diagonally. </a:t>
            </a:r>
          </a:p>
          <a:p>
            <a:pPr marL="285750" indent="-285750">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Groups made should be as large as possible even if they overlap. </a:t>
            </a:r>
          </a:p>
          <a:p>
            <a:pPr marL="285750" indent="-285750">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Uppermost &amp; lowermost squares can be made into a group together as they are adjacent (1-bit difference). Same goes for the corner squares. </a:t>
            </a:r>
          </a:p>
          <a:p>
            <a:pPr marL="285750" indent="-285750">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Each group represents a term in the Boolean expression. Larger the group, smaller and simple the term. </a:t>
            </a:r>
          </a:p>
          <a:p>
            <a:pPr marL="285750" indent="-285750">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The product of those literals that remains unchanged in a single group makes the term of the expression. </a:t>
            </a:r>
          </a:p>
          <a:p>
            <a:pPr marL="285750" indent="-285750">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Don’t care “x” should also be included while grouping to make a larger possible group. </a:t>
            </a:r>
          </a:p>
        </p:txBody>
      </p:sp>
    </p:spTree>
    <p:extLst>
      <p:ext uri="{BB962C8B-B14F-4D97-AF65-F5344CB8AC3E}">
        <p14:creationId xmlns:p14="http://schemas.microsoft.com/office/powerpoint/2010/main" val="287849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2E63E2-4A44-6E23-F5AA-D6C8748C4C1A}"/>
              </a:ext>
            </a:extLst>
          </p:cNvPr>
          <p:cNvPicPr>
            <a:picLocks noChangeAspect="1"/>
          </p:cNvPicPr>
          <p:nvPr/>
        </p:nvPicPr>
        <p:blipFill>
          <a:blip r:embed="rId2"/>
          <a:stretch>
            <a:fillRect/>
          </a:stretch>
        </p:blipFill>
        <p:spPr>
          <a:xfrm>
            <a:off x="1024056" y="85290"/>
            <a:ext cx="6470049" cy="2798553"/>
          </a:xfrm>
          <a:prstGeom prst="rect">
            <a:avLst/>
          </a:prstGeom>
        </p:spPr>
      </p:pic>
      <p:pic>
        <p:nvPicPr>
          <p:cNvPr id="5" name="Picture 4">
            <a:extLst>
              <a:ext uri="{FF2B5EF4-FFF2-40B4-BE49-F238E27FC236}">
                <a16:creationId xmlns:a16="http://schemas.microsoft.com/office/drawing/2014/main" id="{5BBC6A28-DBFF-8B27-FA23-8E1C8C408E6D}"/>
              </a:ext>
            </a:extLst>
          </p:cNvPr>
          <p:cNvPicPr>
            <a:picLocks noChangeAspect="1"/>
          </p:cNvPicPr>
          <p:nvPr/>
        </p:nvPicPr>
        <p:blipFill>
          <a:blip r:embed="rId3"/>
          <a:stretch>
            <a:fillRect/>
          </a:stretch>
        </p:blipFill>
        <p:spPr>
          <a:xfrm>
            <a:off x="1134849" y="2306542"/>
            <a:ext cx="5723152" cy="3810272"/>
          </a:xfrm>
          <a:prstGeom prst="rect">
            <a:avLst/>
          </a:prstGeom>
        </p:spPr>
      </p:pic>
    </p:spTree>
    <p:extLst>
      <p:ext uri="{BB962C8B-B14F-4D97-AF65-F5344CB8AC3E}">
        <p14:creationId xmlns:p14="http://schemas.microsoft.com/office/powerpoint/2010/main" val="2429012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FADD9E-D156-E825-DAEB-AD88D978F599}"/>
              </a:ext>
            </a:extLst>
          </p:cNvPr>
          <p:cNvSpPr txBox="1"/>
          <p:nvPr/>
        </p:nvSpPr>
        <p:spPr>
          <a:xfrm>
            <a:off x="1219200" y="892302"/>
            <a:ext cx="10225548" cy="4653646"/>
          </a:xfrm>
          <a:prstGeom prst="rect">
            <a:avLst/>
          </a:prstGeom>
          <a:noFill/>
        </p:spPr>
        <p:txBody>
          <a:bodyPr wrap="square">
            <a:spAutoFit/>
          </a:bodyPr>
          <a:lstStyle/>
          <a:p>
            <a:pPr algn="just"/>
            <a:r>
              <a:rPr lang="en-US" sz="2000" b="1" i="0" dirty="0">
                <a:effectLst/>
                <a:latin typeface="Times New Roman" panose="02020603050405020304" pitchFamily="18" charset="0"/>
                <a:cs typeface="Times New Roman" panose="02020603050405020304" pitchFamily="18" charset="0"/>
              </a:rPr>
              <a:t>Solving an Expression Using K-Map</a:t>
            </a:r>
          </a:p>
          <a:p>
            <a:pPr algn="just"/>
            <a:r>
              <a:rPr lang="en-US" sz="2000" b="0" i="0" dirty="0">
                <a:effectLst/>
                <a:latin typeface="Times New Roman" panose="02020603050405020304" pitchFamily="18" charset="0"/>
                <a:cs typeface="Times New Roman" panose="02020603050405020304" pitchFamily="18" charset="0"/>
              </a:rPr>
              <a:t>Here are the steps that are used to solve an expression using the K-map method:</a:t>
            </a:r>
          </a:p>
          <a:p>
            <a:pPr algn="just"/>
            <a:endParaRPr lang="en-US" sz="2000" b="0" i="0" dirty="0">
              <a:effectLst/>
              <a:latin typeface="Times New Roman" panose="02020603050405020304" pitchFamily="18" charset="0"/>
              <a:cs typeface="Times New Roman" panose="02020603050405020304" pitchFamily="18" charset="0"/>
            </a:endParaRPr>
          </a:p>
          <a:p>
            <a:pPr algn="just">
              <a:lnSpc>
                <a:spcPct val="150000"/>
              </a:lnSpc>
            </a:pPr>
            <a:r>
              <a:rPr lang="en-US" sz="2000" b="0" i="0" dirty="0">
                <a:effectLst/>
                <a:latin typeface="Times New Roman" panose="02020603050405020304" pitchFamily="18" charset="0"/>
                <a:cs typeface="Times New Roman" panose="02020603050405020304" pitchFamily="18" charset="0"/>
              </a:rPr>
              <a:t>1. Select a K-map according to the total number of variables.</a:t>
            </a:r>
          </a:p>
          <a:p>
            <a:pPr algn="just">
              <a:lnSpc>
                <a:spcPct val="150000"/>
              </a:lnSpc>
            </a:pPr>
            <a:r>
              <a:rPr lang="en-US" sz="2000" b="0" i="0" dirty="0">
                <a:effectLst/>
                <a:latin typeface="Times New Roman" panose="02020603050405020304" pitchFamily="18" charset="0"/>
                <a:cs typeface="Times New Roman" panose="02020603050405020304" pitchFamily="18" charset="0"/>
              </a:rPr>
              <a:t>2. Identify maxterms or minterms as given in the problem.</a:t>
            </a:r>
          </a:p>
          <a:p>
            <a:pPr algn="just">
              <a:lnSpc>
                <a:spcPct val="150000"/>
              </a:lnSpc>
            </a:pPr>
            <a:r>
              <a:rPr lang="en-US" sz="2000" b="0" i="0" dirty="0">
                <a:effectLst/>
                <a:latin typeface="Times New Roman" panose="02020603050405020304" pitchFamily="18" charset="0"/>
                <a:cs typeface="Times New Roman" panose="02020603050405020304" pitchFamily="18" charset="0"/>
              </a:rPr>
              <a:t>3. For SOP, put the 1’s in the blocks of the K-map with respect to the minterms (elsewhere 0’s).</a:t>
            </a:r>
          </a:p>
          <a:p>
            <a:pPr algn="just">
              <a:lnSpc>
                <a:spcPct val="150000"/>
              </a:lnSpc>
            </a:pPr>
            <a:r>
              <a:rPr lang="en-US" sz="2000" b="0" i="0" dirty="0">
                <a:effectLst/>
                <a:latin typeface="Times New Roman" panose="02020603050405020304" pitchFamily="18" charset="0"/>
                <a:cs typeface="Times New Roman" panose="02020603050405020304" pitchFamily="18" charset="0"/>
              </a:rPr>
              <a:t>4. For POS, putting 0’s in the blocks of the K-map with respect to the maxterms (elsewhere 1’s).</a:t>
            </a:r>
          </a:p>
          <a:p>
            <a:pPr algn="just">
              <a:lnSpc>
                <a:spcPct val="150000"/>
              </a:lnSpc>
            </a:pPr>
            <a:r>
              <a:rPr lang="en-US" sz="2000" b="0" i="0" dirty="0">
                <a:effectLst/>
                <a:latin typeface="Times New Roman" panose="02020603050405020304" pitchFamily="18" charset="0"/>
                <a:cs typeface="Times New Roman" panose="02020603050405020304" pitchFamily="18" charset="0"/>
              </a:rPr>
              <a:t>5. Making rectangular groups that contain the total terms in the power of two, such as 2,4,8 ..(except 1) and trying to cover as many numbers of elements as we can in a single group.</a:t>
            </a:r>
          </a:p>
          <a:p>
            <a:pPr algn="just">
              <a:lnSpc>
                <a:spcPct val="150000"/>
              </a:lnSpc>
            </a:pPr>
            <a:r>
              <a:rPr lang="en-US" sz="2000" b="0" i="0" dirty="0">
                <a:effectLst/>
                <a:latin typeface="Times New Roman" panose="02020603050405020304" pitchFamily="18" charset="0"/>
                <a:cs typeface="Times New Roman" panose="02020603050405020304" pitchFamily="18" charset="0"/>
              </a:rPr>
              <a:t>6. From the groups that have been created in step 5, find the product terms and then sum them up for the SOP form.</a:t>
            </a:r>
          </a:p>
        </p:txBody>
      </p:sp>
    </p:spTree>
    <p:extLst>
      <p:ext uri="{BB962C8B-B14F-4D97-AF65-F5344CB8AC3E}">
        <p14:creationId xmlns:p14="http://schemas.microsoft.com/office/powerpoint/2010/main" val="394137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5DB342-BB50-0A15-2125-324ED5C43034}"/>
              </a:ext>
            </a:extLst>
          </p:cNvPr>
          <p:cNvSpPr txBox="1"/>
          <p:nvPr/>
        </p:nvSpPr>
        <p:spPr>
          <a:xfrm>
            <a:off x="1042219" y="1738187"/>
            <a:ext cx="9763433" cy="1231106"/>
          </a:xfrm>
          <a:prstGeom prst="rect">
            <a:avLst/>
          </a:prstGeom>
          <a:noFill/>
        </p:spPr>
        <p:txBody>
          <a:bodyPr wrap="square">
            <a:spAutoFit/>
          </a:bodyPr>
          <a:lstStyle/>
          <a:p>
            <a:endParaRPr lang="en-IN" sz="2000" b="1"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2 variables have 2</a:t>
            </a:r>
            <a:r>
              <a:rPr lang="en-US" sz="1100" b="0" i="0" u="none" strike="noStrike" baseline="0" dirty="0">
                <a:solidFill>
                  <a:srgbClr val="000000"/>
                </a:solidFill>
                <a:latin typeface="Times New Roman" panose="02020603050405020304" pitchFamily="18" charset="0"/>
              </a:rPr>
              <a:t>n </a:t>
            </a:r>
            <a:r>
              <a:rPr lang="en-US" sz="1800" b="0" i="0" u="none" strike="noStrike" baseline="0" dirty="0">
                <a:solidFill>
                  <a:srgbClr val="000000"/>
                </a:solidFill>
                <a:latin typeface="Times New Roman" panose="02020603050405020304" pitchFamily="18" charset="0"/>
              </a:rPr>
              <a:t>= 2</a:t>
            </a:r>
            <a:r>
              <a:rPr lang="en-US" sz="1100" b="0" i="0" u="none" strike="noStrike" baseline="0" dirty="0">
                <a:solidFill>
                  <a:srgbClr val="000000"/>
                </a:solidFill>
                <a:latin typeface="Times New Roman" panose="02020603050405020304" pitchFamily="18" charset="0"/>
              </a:rPr>
              <a:t>2 </a:t>
            </a:r>
            <a:r>
              <a:rPr lang="en-US" sz="1800" b="0" i="0" u="none" strike="noStrike" baseline="0" dirty="0">
                <a:solidFill>
                  <a:srgbClr val="000000"/>
                </a:solidFill>
                <a:latin typeface="Times New Roman" panose="02020603050405020304" pitchFamily="18" charset="0"/>
              </a:rPr>
              <a:t>= 4 minterms. Therefore, there are 4 cells (squares) in 2 variable K-map for each minterms. </a:t>
            </a:r>
          </a:p>
          <a:p>
            <a:r>
              <a:rPr lang="en-US" sz="1800" b="0" i="0" u="none" strike="noStrike" baseline="0" dirty="0">
                <a:solidFill>
                  <a:srgbClr val="000000"/>
                </a:solidFill>
                <a:latin typeface="Times New Roman" panose="02020603050405020304" pitchFamily="18" charset="0"/>
              </a:rPr>
              <a:t>Consider A &amp; B as two variables. </a:t>
            </a:r>
            <a:endParaRPr lang="en-IN" dirty="0"/>
          </a:p>
        </p:txBody>
      </p:sp>
      <p:pic>
        <p:nvPicPr>
          <p:cNvPr id="5" name="Picture 4">
            <a:extLst>
              <a:ext uri="{FF2B5EF4-FFF2-40B4-BE49-F238E27FC236}">
                <a16:creationId xmlns:a16="http://schemas.microsoft.com/office/drawing/2014/main" id="{60568052-A8EC-56F6-93E7-BE1280A860F4}"/>
              </a:ext>
            </a:extLst>
          </p:cNvPr>
          <p:cNvPicPr>
            <a:picLocks noChangeAspect="1"/>
          </p:cNvPicPr>
          <p:nvPr/>
        </p:nvPicPr>
        <p:blipFill>
          <a:blip r:embed="rId2"/>
          <a:stretch>
            <a:fillRect/>
          </a:stretch>
        </p:blipFill>
        <p:spPr>
          <a:xfrm>
            <a:off x="4228491" y="3047951"/>
            <a:ext cx="4324954" cy="2905530"/>
          </a:xfrm>
          <a:prstGeom prst="rect">
            <a:avLst/>
          </a:prstGeom>
        </p:spPr>
      </p:pic>
      <p:sp>
        <p:nvSpPr>
          <p:cNvPr id="7" name="TextBox 6">
            <a:extLst>
              <a:ext uri="{FF2B5EF4-FFF2-40B4-BE49-F238E27FC236}">
                <a16:creationId xmlns:a16="http://schemas.microsoft.com/office/drawing/2014/main" id="{A130D9BB-B10F-2F58-358E-50CE95AF0107}"/>
              </a:ext>
            </a:extLst>
          </p:cNvPr>
          <p:cNvSpPr txBox="1"/>
          <p:nvPr/>
        </p:nvSpPr>
        <p:spPr>
          <a:xfrm>
            <a:off x="2875935" y="442854"/>
            <a:ext cx="60960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IN" sz="2400" b="1" i="0" u="none" strike="noStrike" baseline="0" dirty="0">
                <a:solidFill>
                  <a:srgbClr val="000000"/>
                </a:solidFill>
                <a:latin typeface="Times New Roman" panose="02020603050405020304" pitchFamily="18" charset="0"/>
              </a:rPr>
              <a:t>2-Variable K-Map</a:t>
            </a:r>
          </a:p>
        </p:txBody>
      </p:sp>
    </p:spTree>
    <p:extLst>
      <p:ext uri="{BB962C8B-B14F-4D97-AF65-F5344CB8AC3E}">
        <p14:creationId xmlns:p14="http://schemas.microsoft.com/office/powerpoint/2010/main" val="408778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2DC3E0-B90E-E5DE-88FA-651D0122FD79}"/>
              </a:ext>
            </a:extLst>
          </p:cNvPr>
          <p:cNvPicPr>
            <a:picLocks noChangeAspect="1"/>
          </p:cNvPicPr>
          <p:nvPr/>
        </p:nvPicPr>
        <p:blipFill>
          <a:blip r:embed="rId2"/>
          <a:srcRect l="3047" t="11884" r="2970"/>
          <a:stretch/>
        </p:blipFill>
        <p:spPr>
          <a:xfrm>
            <a:off x="855405" y="717755"/>
            <a:ext cx="7836311" cy="5645473"/>
          </a:xfrm>
          <a:prstGeom prst="rect">
            <a:avLst/>
          </a:prstGeom>
        </p:spPr>
      </p:pic>
      <p:pic>
        <p:nvPicPr>
          <p:cNvPr id="4" name="Picture 3">
            <a:extLst>
              <a:ext uri="{FF2B5EF4-FFF2-40B4-BE49-F238E27FC236}">
                <a16:creationId xmlns:a16="http://schemas.microsoft.com/office/drawing/2014/main" id="{93C32473-BD86-8AB2-5AD7-50DFD09AB33A}"/>
              </a:ext>
            </a:extLst>
          </p:cNvPr>
          <p:cNvPicPr>
            <a:picLocks noChangeAspect="1"/>
          </p:cNvPicPr>
          <p:nvPr/>
        </p:nvPicPr>
        <p:blipFill>
          <a:blip r:embed="rId3"/>
          <a:stretch>
            <a:fillRect/>
          </a:stretch>
        </p:blipFill>
        <p:spPr>
          <a:xfrm>
            <a:off x="8430447" y="2243115"/>
            <a:ext cx="3033965" cy="2086348"/>
          </a:xfrm>
          <a:prstGeom prst="rect">
            <a:avLst/>
          </a:prstGeom>
        </p:spPr>
      </p:pic>
      <p:sp>
        <p:nvSpPr>
          <p:cNvPr id="5" name="TextBox 4">
            <a:extLst>
              <a:ext uri="{FF2B5EF4-FFF2-40B4-BE49-F238E27FC236}">
                <a16:creationId xmlns:a16="http://schemas.microsoft.com/office/drawing/2014/main" id="{B9CFA5B5-424E-9E9B-9B70-17C018C3218C}"/>
              </a:ext>
            </a:extLst>
          </p:cNvPr>
          <p:cNvSpPr txBox="1"/>
          <p:nvPr/>
        </p:nvSpPr>
        <p:spPr>
          <a:xfrm>
            <a:off x="3048000" y="94992"/>
            <a:ext cx="60960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IN" sz="2400" b="1" i="0" u="none" strike="noStrike" baseline="0" dirty="0">
                <a:solidFill>
                  <a:srgbClr val="000000"/>
                </a:solidFill>
                <a:latin typeface="Times New Roman" panose="02020603050405020304" pitchFamily="18" charset="0"/>
              </a:rPr>
              <a:t>SOP  FORM </a:t>
            </a:r>
          </a:p>
        </p:txBody>
      </p:sp>
      <p:pic>
        <p:nvPicPr>
          <p:cNvPr id="8" name="Picture 2" descr="Explain K-MAP and its significance. Explain 2-variables, 3-variables and 4- variables K-MAP. – IT TIME PASS">
            <a:extLst>
              <a:ext uri="{FF2B5EF4-FFF2-40B4-BE49-F238E27FC236}">
                <a16:creationId xmlns:a16="http://schemas.microsoft.com/office/drawing/2014/main" id="{420CC5B8-3BC7-3760-CE16-820EA36C9DA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125" t="3226" r="51994" b="2377"/>
          <a:stretch/>
        </p:blipFill>
        <p:spPr bwMode="auto">
          <a:xfrm>
            <a:off x="629264" y="2062316"/>
            <a:ext cx="2890684" cy="2733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9728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xplain K-MAP and its significance. Explain 2-variables, 3-variables and 4- variables K-MAP. – IT TIME PASS">
            <a:extLst>
              <a:ext uri="{FF2B5EF4-FFF2-40B4-BE49-F238E27FC236}">
                <a16:creationId xmlns:a16="http://schemas.microsoft.com/office/drawing/2014/main" id="{C04B639C-30AD-80A8-1634-75C67EB375E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701" t="-11714"/>
          <a:stretch/>
        </p:blipFill>
        <p:spPr bwMode="auto">
          <a:xfrm>
            <a:off x="1248697" y="1052052"/>
            <a:ext cx="3126658" cy="323481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A1394D1-2D54-2997-7267-6BC9AA5118B8}"/>
              </a:ext>
            </a:extLst>
          </p:cNvPr>
          <p:cNvSpPr txBox="1"/>
          <p:nvPr/>
        </p:nvSpPr>
        <p:spPr>
          <a:xfrm>
            <a:off x="3048000" y="94992"/>
            <a:ext cx="60960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IN" sz="2400" b="1" i="0" u="none" strike="noStrike" baseline="0" dirty="0">
                <a:solidFill>
                  <a:srgbClr val="000000"/>
                </a:solidFill>
                <a:latin typeface="Times New Roman" panose="02020603050405020304" pitchFamily="18" charset="0"/>
              </a:rPr>
              <a:t>POS  FORM </a:t>
            </a:r>
          </a:p>
        </p:txBody>
      </p:sp>
      <p:sp>
        <p:nvSpPr>
          <p:cNvPr id="4" name="TextBox 3">
            <a:extLst>
              <a:ext uri="{FF2B5EF4-FFF2-40B4-BE49-F238E27FC236}">
                <a16:creationId xmlns:a16="http://schemas.microsoft.com/office/drawing/2014/main" id="{02BF6FC5-EFD0-C3F2-449E-012D965CB2EB}"/>
              </a:ext>
            </a:extLst>
          </p:cNvPr>
          <p:cNvSpPr txBox="1"/>
          <p:nvPr/>
        </p:nvSpPr>
        <p:spPr>
          <a:xfrm>
            <a:off x="8170606" y="1249148"/>
            <a:ext cx="6096000" cy="923330"/>
          </a:xfrm>
          <a:prstGeom prst="rect">
            <a:avLst/>
          </a:prstGeom>
          <a:noFill/>
        </p:spPr>
        <p:txBody>
          <a:bodyPr wrap="square">
            <a:spAutoFit/>
          </a:bodyPr>
          <a:lstStyle/>
          <a:p>
            <a:pPr algn="just" fontAlgn="base"/>
            <a:r>
              <a:rPr lang="en-IN" b="1" i="0" u="none" strike="noStrike" dirty="0">
                <a:effectLst/>
                <a:latin typeface="verdana" panose="020B0604030504040204" pitchFamily="34" charset="0"/>
              </a:rPr>
              <a:t>f(A,B) =</a:t>
            </a:r>
            <a:r>
              <a:rPr lang="el-GR" b="1" dirty="0">
                <a:latin typeface="verdana" panose="020B0604030504040204" pitchFamily="34" charset="0"/>
              </a:rPr>
              <a:t>∏</a:t>
            </a:r>
            <a:r>
              <a:rPr lang="en-IN" b="1" i="0" u="none" strike="noStrike" dirty="0">
                <a:effectLst/>
                <a:latin typeface="verdana" panose="020B0604030504040204" pitchFamily="34" charset="0"/>
              </a:rPr>
              <a:t>M(1,2,3)</a:t>
            </a:r>
            <a:endParaRPr lang="en-IN" b="1" i="0" u="none" strike="noStrike" dirty="0">
              <a:effectLst/>
              <a:latin typeface="Open Sans" panose="020B0606030504020204" pitchFamily="34" charset="0"/>
            </a:endParaRPr>
          </a:p>
          <a:p>
            <a:br>
              <a:rPr lang="en-IN" dirty="0"/>
            </a:br>
            <a:endParaRPr lang="en-IN" dirty="0"/>
          </a:p>
        </p:txBody>
      </p:sp>
      <p:pic>
        <p:nvPicPr>
          <p:cNvPr id="6" name="Picture 5">
            <a:extLst>
              <a:ext uri="{FF2B5EF4-FFF2-40B4-BE49-F238E27FC236}">
                <a16:creationId xmlns:a16="http://schemas.microsoft.com/office/drawing/2014/main" id="{7F27C6C3-5C56-A853-3EBD-AD237EB2894E}"/>
              </a:ext>
            </a:extLst>
          </p:cNvPr>
          <p:cNvPicPr>
            <a:picLocks noChangeAspect="1"/>
          </p:cNvPicPr>
          <p:nvPr/>
        </p:nvPicPr>
        <p:blipFill>
          <a:blip r:embed="rId3"/>
          <a:srcRect l="10014" t="5900" r="13602" b="1062"/>
          <a:stretch/>
        </p:blipFill>
        <p:spPr>
          <a:xfrm>
            <a:off x="7369277" y="1921755"/>
            <a:ext cx="4395019" cy="3687097"/>
          </a:xfrm>
          <a:prstGeom prst="rect">
            <a:avLst/>
          </a:prstGeom>
        </p:spPr>
      </p:pic>
      <p:sp>
        <p:nvSpPr>
          <p:cNvPr id="8" name="TextBox 7">
            <a:extLst>
              <a:ext uri="{FF2B5EF4-FFF2-40B4-BE49-F238E27FC236}">
                <a16:creationId xmlns:a16="http://schemas.microsoft.com/office/drawing/2014/main" id="{BC7DBE2D-9672-D017-1B25-80FCA39EA3BF}"/>
              </a:ext>
            </a:extLst>
          </p:cNvPr>
          <p:cNvSpPr txBox="1"/>
          <p:nvPr/>
        </p:nvSpPr>
        <p:spPr>
          <a:xfrm>
            <a:off x="427704" y="4688743"/>
            <a:ext cx="7133302" cy="1323439"/>
          </a:xfrm>
          <a:prstGeom prst="rect">
            <a:avLst/>
          </a:prstGeom>
          <a:noFill/>
        </p:spPr>
        <p:txBody>
          <a:bodyPr wrap="square">
            <a:spAutoFit/>
          </a:bodyPr>
          <a:lstStyle/>
          <a:p>
            <a:pPr algn="just" fontAlgn="base"/>
            <a:r>
              <a:rPr lang="en-US" sz="2000" b="0" i="0" u="none" strike="noStrike" dirty="0">
                <a:solidFill>
                  <a:srgbClr val="000000"/>
                </a:solidFill>
                <a:effectLst/>
                <a:latin typeface="Times New Roman" panose="02020603050405020304" pitchFamily="18" charset="0"/>
                <a:cs typeface="Times New Roman" panose="02020603050405020304" pitchFamily="18" charset="0"/>
              </a:rPr>
              <a:t>In group 1, the cells 1 and 3 are grouped and the common term is B. In group 2, cells 2 and 3 are grouped and the common term is A.</a:t>
            </a:r>
          </a:p>
          <a:p>
            <a:pPr algn="just" fontAlgn="base"/>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p>
            <a:pPr algn="just" fontAlgn="base"/>
            <a:r>
              <a:rPr lang="en-US" sz="2000" b="0" i="0" u="none" strike="noStrike" dirty="0">
                <a:solidFill>
                  <a:srgbClr val="000000"/>
                </a:solidFill>
                <a:effectLst/>
                <a:latin typeface="Times New Roman" panose="02020603050405020304" pitchFamily="18" charset="0"/>
                <a:cs typeface="Times New Roman" panose="02020603050405020304" pitchFamily="18" charset="0"/>
              </a:rPr>
              <a:t>So the minimized POS expression is f(A,B) =B’.A’</a:t>
            </a:r>
          </a:p>
        </p:txBody>
      </p:sp>
    </p:spTree>
    <p:extLst>
      <p:ext uri="{BB962C8B-B14F-4D97-AF65-F5344CB8AC3E}">
        <p14:creationId xmlns:p14="http://schemas.microsoft.com/office/powerpoint/2010/main" val="3710025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A4C9CF-C26F-F895-9461-A7A42C23355C}"/>
              </a:ext>
            </a:extLst>
          </p:cNvPr>
          <p:cNvSpPr txBox="1"/>
          <p:nvPr/>
        </p:nvSpPr>
        <p:spPr>
          <a:xfrm>
            <a:off x="1198061" y="1099968"/>
            <a:ext cx="10404004" cy="738664"/>
          </a:xfrm>
          <a:prstGeom prst="rect">
            <a:avLst/>
          </a:prstGeom>
          <a:noFill/>
        </p:spPr>
        <p:txBody>
          <a:bodyPr wrap="square">
            <a:spAutoFit/>
          </a:bodyPr>
          <a:lstStyle/>
          <a:p>
            <a:r>
              <a:rPr lang="en-IN" sz="2400" b="1" i="0" u="none" strike="noStrike" baseline="0" dirty="0">
                <a:solidFill>
                  <a:srgbClr val="000000"/>
                </a:solidFill>
                <a:latin typeface="Times New Roman" panose="02020603050405020304" pitchFamily="18" charset="0"/>
              </a:rPr>
              <a:t>3-Variable K-Map </a:t>
            </a:r>
            <a:r>
              <a:rPr lang="en-US" sz="1800" b="0" i="0" u="none" strike="noStrike" baseline="0" dirty="0">
                <a:solidFill>
                  <a:srgbClr val="000000"/>
                </a:solidFill>
                <a:latin typeface="Times New Roman" panose="02020603050405020304" pitchFamily="18" charset="0"/>
              </a:rPr>
              <a:t>variables make </a:t>
            </a:r>
            <a:r>
              <a:rPr lang="en-US" b="1" dirty="0">
                <a:solidFill>
                  <a:srgbClr val="000000"/>
                </a:solidFill>
                <a:latin typeface="Times New Roman" panose="02020603050405020304" pitchFamily="18" charset="0"/>
              </a:rPr>
              <a:t> </a:t>
            </a:r>
            <a:r>
              <a:rPr lang="en-US" sz="1800" b="1" i="0" u="none" strike="noStrike" baseline="0" dirty="0">
                <a:solidFill>
                  <a:srgbClr val="000000"/>
                </a:solidFill>
                <a:latin typeface="Times New Roman" panose="02020603050405020304" pitchFamily="18" charset="0"/>
              </a:rPr>
              <a:t>8 </a:t>
            </a:r>
            <a:r>
              <a:rPr lang="en-US" sz="1800" b="0" i="0" u="none" strike="noStrike" baseline="0" dirty="0">
                <a:solidFill>
                  <a:srgbClr val="000000"/>
                </a:solidFill>
                <a:latin typeface="Times New Roman" panose="02020603050405020304" pitchFamily="18" charset="0"/>
              </a:rPr>
              <a:t>min terms, so the K- map of 3 variables will have 8 squares(cells) as shown in the figure given below. </a:t>
            </a:r>
          </a:p>
        </p:txBody>
      </p:sp>
      <p:pic>
        <p:nvPicPr>
          <p:cNvPr id="5" name="Picture 4">
            <a:extLst>
              <a:ext uri="{FF2B5EF4-FFF2-40B4-BE49-F238E27FC236}">
                <a16:creationId xmlns:a16="http://schemas.microsoft.com/office/drawing/2014/main" id="{B4FB40F1-9B01-DDDB-F2C1-9A5F6E4B2BDC}"/>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l="37047" t="5590" r="4856" b="-299"/>
          <a:stretch/>
        </p:blipFill>
        <p:spPr>
          <a:xfrm>
            <a:off x="2782529" y="2300748"/>
            <a:ext cx="5869857" cy="4095501"/>
          </a:xfrm>
          <a:prstGeom prst="rect">
            <a:avLst/>
          </a:prstGeom>
        </p:spPr>
      </p:pic>
    </p:spTree>
    <p:extLst>
      <p:ext uri="{BB962C8B-B14F-4D97-AF65-F5344CB8AC3E}">
        <p14:creationId xmlns:p14="http://schemas.microsoft.com/office/powerpoint/2010/main" val="1972603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62D354-042F-928A-FA8D-D800C56B6304}"/>
              </a:ext>
            </a:extLst>
          </p:cNvPr>
          <p:cNvSpPr txBox="1"/>
          <p:nvPr/>
        </p:nvSpPr>
        <p:spPr>
          <a:xfrm>
            <a:off x="832301" y="642917"/>
            <a:ext cx="9570719" cy="707886"/>
          </a:xfrm>
          <a:prstGeom prst="rect">
            <a:avLst/>
          </a:prstGeom>
          <a:noFill/>
        </p:spPr>
        <p:txBody>
          <a:bodyPr wrap="square">
            <a:spAutoFit/>
          </a:bodyPr>
          <a:lstStyle/>
          <a:p>
            <a:r>
              <a:rPr lang="en-US" sz="2000" b="1" i="0" u="none" strike="noStrike" baseline="0" dirty="0">
                <a:solidFill>
                  <a:srgbClr val="000000"/>
                </a:solidFill>
                <a:latin typeface="Times New Roman" panose="02020603050405020304" pitchFamily="18" charset="0"/>
              </a:rPr>
              <a:t>Example of 3 Variable K-Map: </a:t>
            </a:r>
            <a:endParaRPr lang="en-US" sz="2000" b="0" i="0" u="none" strike="noStrike" baseline="0" dirty="0">
              <a:solidFill>
                <a:srgbClr val="000000"/>
              </a:solidFill>
              <a:latin typeface="Times New Roman" panose="02020603050405020304" pitchFamily="18" charset="0"/>
            </a:endParaRPr>
          </a:p>
          <a:p>
            <a:r>
              <a:rPr lang="en-US" sz="2000" b="0" i="0" u="none" strike="noStrike" baseline="0" dirty="0">
                <a:solidFill>
                  <a:srgbClr val="000000"/>
                </a:solidFill>
                <a:latin typeface="Times New Roman" panose="02020603050405020304" pitchFamily="18" charset="0"/>
              </a:rPr>
              <a:t>Simplify the given function using K-map. F= ∑ A,B,C(1,3,6,7)  </a:t>
            </a:r>
            <a:endParaRPr lang="en-IN" sz="2000" dirty="0"/>
          </a:p>
        </p:txBody>
      </p:sp>
      <p:pic>
        <p:nvPicPr>
          <p:cNvPr id="6" name="Picture 5">
            <a:extLst>
              <a:ext uri="{FF2B5EF4-FFF2-40B4-BE49-F238E27FC236}">
                <a16:creationId xmlns:a16="http://schemas.microsoft.com/office/drawing/2014/main" id="{38F217D1-271F-8DE9-0BC1-85A9F7EAD4B6}"/>
              </a:ext>
            </a:extLst>
          </p:cNvPr>
          <p:cNvPicPr>
            <a:picLocks noChangeAspect="1"/>
          </p:cNvPicPr>
          <p:nvPr/>
        </p:nvPicPr>
        <p:blipFill>
          <a:blip r:embed="rId2"/>
          <a:stretch>
            <a:fillRect/>
          </a:stretch>
        </p:blipFill>
        <p:spPr>
          <a:xfrm>
            <a:off x="1008367" y="1437063"/>
            <a:ext cx="7194306" cy="4864280"/>
          </a:xfrm>
          <a:prstGeom prst="rect">
            <a:avLst/>
          </a:prstGeom>
        </p:spPr>
      </p:pic>
      <p:sp>
        <p:nvSpPr>
          <p:cNvPr id="10" name="TextBox 9">
            <a:extLst>
              <a:ext uri="{FF2B5EF4-FFF2-40B4-BE49-F238E27FC236}">
                <a16:creationId xmlns:a16="http://schemas.microsoft.com/office/drawing/2014/main" id="{76325013-A7FE-7CA0-886A-0EE6F54B257C}"/>
              </a:ext>
            </a:extLst>
          </p:cNvPr>
          <p:cNvSpPr txBox="1"/>
          <p:nvPr/>
        </p:nvSpPr>
        <p:spPr>
          <a:xfrm>
            <a:off x="7888386" y="5514891"/>
            <a:ext cx="6096000" cy="461665"/>
          </a:xfrm>
          <a:prstGeom prst="rect">
            <a:avLst/>
          </a:prstGeom>
          <a:noFill/>
        </p:spPr>
        <p:txBody>
          <a:bodyPr wrap="square">
            <a:spAutoFit/>
          </a:bodyPr>
          <a:lstStyle/>
          <a:p>
            <a:pPr algn="ctr"/>
            <a:r>
              <a:rPr lang="en-IN" sz="2400" b="1" dirty="0"/>
              <a:t>F = (A’C+AB)</a:t>
            </a:r>
          </a:p>
        </p:txBody>
      </p:sp>
      <p:sp>
        <p:nvSpPr>
          <p:cNvPr id="2" name="TextBox 1">
            <a:extLst>
              <a:ext uri="{FF2B5EF4-FFF2-40B4-BE49-F238E27FC236}">
                <a16:creationId xmlns:a16="http://schemas.microsoft.com/office/drawing/2014/main" id="{A2B19071-9CDF-7514-4BA6-4C2EBE0E1574}"/>
              </a:ext>
            </a:extLst>
          </p:cNvPr>
          <p:cNvSpPr txBox="1"/>
          <p:nvPr/>
        </p:nvSpPr>
        <p:spPr>
          <a:xfrm>
            <a:off x="3048000" y="94992"/>
            <a:ext cx="60960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IN" sz="2400" b="1" i="0" u="none" strike="noStrike" baseline="0" dirty="0">
                <a:solidFill>
                  <a:srgbClr val="000000"/>
                </a:solidFill>
                <a:latin typeface="Times New Roman" panose="02020603050405020304" pitchFamily="18" charset="0"/>
              </a:rPr>
              <a:t>SOP  FORM </a:t>
            </a:r>
          </a:p>
        </p:txBody>
      </p:sp>
    </p:spTree>
    <p:extLst>
      <p:ext uri="{BB962C8B-B14F-4D97-AF65-F5344CB8AC3E}">
        <p14:creationId xmlns:p14="http://schemas.microsoft.com/office/powerpoint/2010/main" val="98990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814E85-28D1-91CE-F9F6-144DC2524A0F}"/>
              </a:ext>
            </a:extLst>
          </p:cNvPr>
          <p:cNvSpPr txBox="1"/>
          <p:nvPr/>
        </p:nvSpPr>
        <p:spPr>
          <a:xfrm>
            <a:off x="2819400" y="1324094"/>
            <a:ext cx="6217920" cy="461665"/>
          </a:xfrm>
          <a:prstGeom prst="rect">
            <a:avLst/>
          </a:prstGeom>
          <a:noFill/>
        </p:spPr>
        <p:txBody>
          <a:bodyPr wrap="square">
            <a:spAutoFit/>
          </a:bodyPr>
          <a:lstStyle/>
          <a:p>
            <a:pPr algn="ctr"/>
            <a:r>
              <a:rPr lang="en-IN" sz="2400" b="1"/>
              <a:t>F(A,B,C)=∏(0,3,6,7)</a:t>
            </a:r>
            <a:endParaRPr lang="en-IN" sz="2400" b="1" dirty="0"/>
          </a:p>
        </p:txBody>
      </p:sp>
      <p:sp>
        <p:nvSpPr>
          <p:cNvPr id="8" name="TextBox 7">
            <a:extLst>
              <a:ext uri="{FF2B5EF4-FFF2-40B4-BE49-F238E27FC236}">
                <a16:creationId xmlns:a16="http://schemas.microsoft.com/office/drawing/2014/main" id="{38403DD9-A8B0-1E0C-242B-CF580F0608EE}"/>
              </a:ext>
            </a:extLst>
          </p:cNvPr>
          <p:cNvSpPr txBox="1"/>
          <p:nvPr/>
        </p:nvSpPr>
        <p:spPr>
          <a:xfrm>
            <a:off x="2819400" y="418683"/>
            <a:ext cx="6096000" cy="5232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sz="2800" b="1" dirty="0"/>
              <a:t>POS FORM: K-map of 3 variables</a:t>
            </a:r>
            <a:endParaRPr lang="en-IN" sz="2800" b="1" dirty="0"/>
          </a:p>
        </p:txBody>
      </p:sp>
      <p:pic>
        <p:nvPicPr>
          <p:cNvPr id="10" name="Picture 9">
            <a:extLst>
              <a:ext uri="{FF2B5EF4-FFF2-40B4-BE49-F238E27FC236}">
                <a16:creationId xmlns:a16="http://schemas.microsoft.com/office/drawing/2014/main" id="{BC38C5A3-3294-5F87-81DB-49BB16E76A17}"/>
              </a:ext>
            </a:extLst>
          </p:cNvPr>
          <p:cNvPicPr>
            <a:picLocks noChangeAspect="1"/>
          </p:cNvPicPr>
          <p:nvPr/>
        </p:nvPicPr>
        <p:blipFill>
          <a:blip r:embed="rId2"/>
          <a:stretch>
            <a:fillRect/>
          </a:stretch>
        </p:blipFill>
        <p:spPr>
          <a:xfrm>
            <a:off x="3021836" y="2167950"/>
            <a:ext cx="6392167" cy="3867690"/>
          </a:xfrm>
          <a:prstGeom prst="rect">
            <a:avLst/>
          </a:prstGeom>
        </p:spPr>
      </p:pic>
    </p:spTree>
    <p:extLst>
      <p:ext uri="{BB962C8B-B14F-4D97-AF65-F5344CB8AC3E}">
        <p14:creationId xmlns:p14="http://schemas.microsoft.com/office/powerpoint/2010/main" val="335662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A79A067-AA2D-E970-D9F6-C791A4A25099}"/>
              </a:ext>
            </a:extLst>
          </p:cNvPr>
          <p:cNvSpPr txBox="1"/>
          <p:nvPr/>
        </p:nvSpPr>
        <p:spPr>
          <a:xfrm>
            <a:off x="3186143" y="142529"/>
            <a:ext cx="5476076" cy="512756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2000" b="1" dirty="0">
                <a:latin typeface="Times New Roman" panose="02020603050405020304" pitchFamily="18" charset="0"/>
                <a:cs typeface="Times New Roman" panose="02020603050405020304" pitchFamily="18" charset="0"/>
              </a:rPr>
              <a:t>1. From red group we find terms  </a:t>
            </a:r>
            <a:r>
              <a:rPr lang="en-US" sz="2000" dirty="0">
                <a:latin typeface="Times New Roman" panose="02020603050405020304" pitchFamily="18" charset="0"/>
                <a:cs typeface="Times New Roman" panose="02020603050405020304" pitchFamily="18" charset="0"/>
              </a:rPr>
              <a:t>: A    B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Taking complement of these two : A'     B'    </a:t>
            </a:r>
          </a:p>
          <a:p>
            <a:pPr algn="just"/>
            <a:r>
              <a:rPr lang="en-US" sz="2000" dirty="0">
                <a:latin typeface="Times New Roman" panose="02020603050405020304" pitchFamily="18" charset="0"/>
                <a:cs typeface="Times New Roman" panose="02020603050405020304" pitchFamily="18" charset="0"/>
              </a:rPr>
              <a:t>Now sum up them </a:t>
            </a:r>
          </a:p>
          <a:p>
            <a:pPr algn="just"/>
            <a:r>
              <a:rPr lang="en-US" sz="2000" dirty="0">
                <a:latin typeface="Times New Roman" panose="02020603050405020304" pitchFamily="18" charset="0"/>
                <a:cs typeface="Times New Roman" panose="02020603050405020304" pitchFamily="18" charset="0"/>
              </a:rPr>
              <a:t>(A' + B’) </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2. From brown group we find terms </a:t>
            </a:r>
            <a:r>
              <a:rPr lang="en-US" sz="2000" dirty="0">
                <a:latin typeface="Times New Roman" panose="02020603050405020304" pitchFamily="18" charset="0"/>
                <a:cs typeface="Times New Roman" panose="02020603050405020304" pitchFamily="18" charset="0"/>
              </a:rPr>
              <a:t>: B   C </a:t>
            </a:r>
          </a:p>
          <a:p>
            <a:pPr algn="just"/>
            <a:r>
              <a:rPr lang="en-US" sz="2000" dirty="0">
                <a:latin typeface="Times New Roman" panose="02020603050405020304" pitchFamily="18" charset="0"/>
                <a:cs typeface="Times New Roman" panose="02020603050405020304" pitchFamily="18" charset="0"/>
              </a:rPr>
              <a:t>Taking complement of these two terms : B’  C’ </a:t>
            </a:r>
          </a:p>
          <a:p>
            <a:pPr algn="just"/>
            <a:r>
              <a:rPr lang="en-US" sz="2000" dirty="0">
                <a:latin typeface="Times New Roman" panose="02020603050405020304" pitchFamily="18" charset="0"/>
                <a:cs typeface="Times New Roman" panose="02020603050405020304" pitchFamily="18" charset="0"/>
              </a:rPr>
              <a:t>Now sum up them</a:t>
            </a:r>
          </a:p>
          <a:p>
            <a:pPr algn="just"/>
            <a:r>
              <a:rPr lang="en-US" sz="2000" dirty="0">
                <a:latin typeface="Times New Roman" panose="02020603050405020304" pitchFamily="18" charset="0"/>
                <a:cs typeface="Times New Roman" panose="02020603050405020304" pitchFamily="18" charset="0"/>
              </a:rPr>
              <a:t>(B’+C’) </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3. From yellow group we find terms </a:t>
            </a:r>
            <a:r>
              <a:rPr lang="en-US" sz="2000" dirty="0">
                <a:latin typeface="Times New Roman" panose="02020603050405020304" pitchFamily="18" charset="0"/>
                <a:cs typeface="Times New Roman" panose="02020603050405020304" pitchFamily="18" charset="0"/>
              </a:rPr>
              <a:t>: A' B' C’ </a:t>
            </a:r>
          </a:p>
          <a:p>
            <a:pPr algn="just"/>
            <a:r>
              <a:rPr lang="en-US" sz="2000" dirty="0">
                <a:latin typeface="Times New Roman" panose="02020603050405020304" pitchFamily="18" charset="0"/>
                <a:cs typeface="Times New Roman" panose="02020603050405020304" pitchFamily="18" charset="0"/>
              </a:rPr>
              <a:t>Taking complement of these two : A B C </a:t>
            </a:r>
          </a:p>
          <a:p>
            <a:pPr algn="just"/>
            <a:r>
              <a:rPr lang="en-US" sz="2000" dirty="0">
                <a:latin typeface="Times New Roman" panose="02020603050405020304" pitchFamily="18" charset="0"/>
                <a:cs typeface="Times New Roman" panose="02020603050405020304" pitchFamily="18" charset="0"/>
              </a:rPr>
              <a:t>Now sum up them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 + B + C) </a:t>
            </a:r>
            <a:endParaRPr lang="en-IN" sz="20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F86A197-86B5-5DA3-D002-F5E32A525D8C}"/>
              </a:ext>
            </a:extLst>
          </p:cNvPr>
          <p:cNvSpPr txBox="1"/>
          <p:nvPr/>
        </p:nvSpPr>
        <p:spPr>
          <a:xfrm>
            <a:off x="0" y="5550760"/>
            <a:ext cx="12192000" cy="46166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2400" b="1" dirty="0"/>
              <a:t>We will take product of these three terms : Final expression – (A' + B’) (B’ + C’) (A + B + C) </a:t>
            </a:r>
            <a:endParaRPr lang="en-IN" sz="2400" b="1" dirty="0"/>
          </a:p>
        </p:txBody>
      </p:sp>
    </p:spTree>
    <p:extLst>
      <p:ext uri="{BB962C8B-B14F-4D97-AF65-F5344CB8AC3E}">
        <p14:creationId xmlns:p14="http://schemas.microsoft.com/office/powerpoint/2010/main" val="3281658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64C06B-5903-3A0F-8552-81763CBF39FD}"/>
              </a:ext>
            </a:extLst>
          </p:cNvPr>
          <p:cNvSpPr txBox="1"/>
          <p:nvPr/>
        </p:nvSpPr>
        <p:spPr>
          <a:xfrm>
            <a:off x="2949678" y="425385"/>
            <a:ext cx="6096000" cy="1292662"/>
          </a:xfrm>
          <a:prstGeom prst="rect">
            <a:avLst/>
          </a:prstGeom>
          <a:noFill/>
        </p:spPr>
        <p:txBody>
          <a:bodyPr wrap="square">
            <a:spAutoFit/>
          </a:bodyPr>
          <a:lstStyle/>
          <a:p>
            <a:r>
              <a:rPr lang="en-IN" sz="2400" b="1" i="0" u="none" strike="noStrike" baseline="0" dirty="0">
                <a:solidFill>
                  <a:srgbClr val="000000"/>
                </a:solidFill>
                <a:latin typeface="Times New Roman" panose="02020603050405020304" pitchFamily="18" charset="0"/>
              </a:rPr>
              <a:t>4-Variable K-Map </a:t>
            </a:r>
            <a:endParaRPr lang="en-IN" sz="24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Four variables have </a:t>
            </a:r>
            <a:r>
              <a:rPr lang="en-US" sz="1800" b="1" i="0" u="none" strike="noStrike" baseline="0" dirty="0">
                <a:solidFill>
                  <a:srgbClr val="000000"/>
                </a:solidFill>
                <a:latin typeface="Times New Roman" panose="02020603050405020304" pitchFamily="18" charset="0"/>
              </a:rPr>
              <a:t>16 </a:t>
            </a:r>
            <a:r>
              <a:rPr lang="en-US" sz="1800" b="0" i="0" u="none" strike="noStrike" baseline="0" dirty="0">
                <a:solidFill>
                  <a:srgbClr val="000000"/>
                </a:solidFill>
                <a:latin typeface="Times New Roman" panose="02020603050405020304" pitchFamily="18" charset="0"/>
              </a:rPr>
              <a:t>minterms. So, a 4-variable k-map will have 16 cells as shown in the figure given below. </a:t>
            </a:r>
          </a:p>
          <a:p>
            <a:r>
              <a:rPr lang="en-IN" sz="1800" b="0" i="0" u="none" strike="noStrike" baseline="0" dirty="0">
                <a:solidFill>
                  <a:srgbClr val="000000"/>
                </a:solidFill>
                <a:latin typeface="Times New Roman" panose="02020603050405020304" pitchFamily="18" charset="0"/>
              </a:rPr>
              <a:t> </a:t>
            </a:r>
            <a:endParaRPr lang="en-IN" dirty="0"/>
          </a:p>
        </p:txBody>
      </p:sp>
      <p:pic>
        <p:nvPicPr>
          <p:cNvPr id="5" name="Picture 4">
            <a:extLst>
              <a:ext uri="{FF2B5EF4-FFF2-40B4-BE49-F238E27FC236}">
                <a16:creationId xmlns:a16="http://schemas.microsoft.com/office/drawing/2014/main" id="{40C0E125-5D8F-F9D5-EC43-3F1EDDFF8554}"/>
              </a:ext>
            </a:extLst>
          </p:cNvPr>
          <p:cNvPicPr>
            <a:picLocks noChangeAspect="1"/>
          </p:cNvPicPr>
          <p:nvPr/>
        </p:nvPicPr>
        <p:blipFill>
          <a:blip r:embed="rId2"/>
          <a:stretch>
            <a:fillRect/>
          </a:stretch>
        </p:blipFill>
        <p:spPr>
          <a:xfrm>
            <a:off x="3151664" y="2033983"/>
            <a:ext cx="4925112" cy="3867690"/>
          </a:xfrm>
          <a:prstGeom prst="rect">
            <a:avLst/>
          </a:prstGeom>
        </p:spPr>
      </p:pic>
    </p:spTree>
    <p:extLst>
      <p:ext uri="{BB962C8B-B14F-4D97-AF65-F5344CB8AC3E}">
        <p14:creationId xmlns:p14="http://schemas.microsoft.com/office/powerpoint/2010/main" val="692429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28D7B8-1093-21CA-D36C-4E481F1DEC2C}"/>
              </a:ext>
            </a:extLst>
          </p:cNvPr>
          <p:cNvPicPr>
            <a:picLocks noChangeAspect="1"/>
          </p:cNvPicPr>
          <p:nvPr/>
        </p:nvPicPr>
        <p:blipFill>
          <a:blip r:embed="rId2"/>
          <a:srcRect l="4427" t="2990" r="18679" b="78252"/>
          <a:stretch/>
        </p:blipFill>
        <p:spPr>
          <a:xfrm>
            <a:off x="639097" y="796413"/>
            <a:ext cx="7703820" cy="1553497"/>
          </a:xfrm>
          <a:prstGeom prst="rect">
            <a:avLst/>
          </a:prstGeom>
        </p:spPr>
      </p:pic>
      <p:sp>
        <p:nvSpPr>
          <p:cNvPr id="2" name="TextBox 1">
            <a:extLst>
              <a:ext uri="{FF2B5EF4-FFF2-40B4-BE49-F238E27FC236}">
                <a16:creationId xmlns:a16="http://schemas.microsoft.com/office/drawing/2014/main" id="{54AE332D-B470-A660-CB24-01D95396B60C}"/>
              </a:ext>
            </a:extLst>
          </p:cNvPr>
          <p:cNvSpPr txBox="1"/>
          <p:nvPr/>
        </p:nvSpPr>
        <p:spPr>
          <a:xfrm>
            <a:off x="3048000" y="94992"/>
            <a:ext cx="60960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IN" sz="2400" b="1" i="0" u="none" strike="noStrike" baseline="0" dirty="0">
                <a:solidFill>
                  <a:srgbClr val="000000"/>
                </a:solidFill>
                <a:latin typeface="Times New Roman" panose="02020603050405020304" pitchFamily="18" charset="0"/>
              </a:rPr>
              <a:t>SOP  FORM </a:t>
            </a:r>
          </a:p>
        </p:txBody>
      </p:sp>
      <p:pic>
        <p:nvPicPr>
          <p:cNvPr id="4" name="Picture 3">
            <a:extLst>
              <a:ext uri="{FF2B5EF4-FFF2-40B4-BE49-F238E27FC236}">
                <a16:creationId xmlns:a16="http://schemas.microsoft.com/office/drawing/2014/main" id="{4D9C05A0-8C00-1DBB-8F4B-BA8941DD80DC}"/>
              </a:ext>
            </a:extLst>
          </p:cNvPr>
          <p:cNvPicPr>
            <a:picLocks noChangeAspect="1"/>
          </p:cNvPicPr>
          <p:nvPr/>
        </p:nvPicPr>
        <p:blipFill>
          <a:blip r:embed="rId2"/>
          <a:srcRect l="27241" t="30283" r="21920" b="15596"/>
          <a:stretch/>
        </p:blipFill>
        <p:spPr>
          <a:xfrm>
            <a:off x="8131278" y="1887795"/>
            <a:ext cx="3932903" cy="3460955"/>
          </a:xfrm>
          <a:prstGeom prst="rect">
            <a:avLst/>
          </a:prstGeom>
        </p:spPr>
      </p:pic>
      <p:pic>
        <p:nvPicPr>
          <p:cNvPr id="5" name="Picture 4">
            <a:extLst>
              <a:ext uri="{FF2B5EF4-FFF2-40B4-BE49-F238E27FC236}">
                <a16:creationId xmlns:a16="http://schemas.microsoft.com/office/drawing/2014/main" id="{84FD9664-BEF3-A89D-FF20-BEB00F88D712}"/>
              </a:ext>
            </a:extLst>
          </p:cNvPr>
          <p:cNvPicPr>
            <a:picLocks noChangeAspect="1"/>
          </p:cNvPicPr>
          <p:nvPr/>
        </p:nvPicPr>
        <p:blipFill>
          <a:blip r:embed="rId2"/>
          <a:srcRect l="6059" t="89451" r="26715" b="-24994"/>
          <a:stretch/>
        </p:blipFill>
        <p:spPr>
          <a:xfrm>
            <a:off x="938981" y="3410466"/>
            <a:ext cx="6710516" cy="2932668"/>
          </a:xfrm>
          <a:prstGeom prst="rect">
            <a:avLst/>
          </a:prstGeom>
        </p:spPr>
      </p:pic>
    </p:spTree>
    <p:extLst>
      <p:ext uri="{BB962C8B-B14F-4D97-AF65-F5344CB8AC3E}">
        <p14:creationId xmlns:p14="http://schemas.microsoft.com/office/powerpoint/2010/main" val="464755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2F5050-BDC3-4610-5599-556E8F542520}"/>
              </a:ext>
            </a:extLst>
          </p:cNvPr>
          <p:cNvSpPr txBox="1"/>
          <p:nvPr/>
        </p:nvSpPr>
        <p:spPr>
          <a:xfrm>
            <a:off x="2733368" y="1023854"/>
            <a:ext cx="6096000" cy="646331"/>
          </a:xfrm>
          <a:prstGeom prst="rect">
            <a:avLst/>
          </a:prstGeom>
          <a:noFill/>
        </p:spPr>
        <p:txBody>
          <a:bodyPr wrap="square">
            <a:spAutoFit/>
          </a:bodyPr>
          <a:lstStyle/>
          <a:p>
            <a:pPr algn="l"/>
            <a:r>
              <a:rPr lang="en-US" b="1" i="0" dirty="0">
                <a:solidFill>
                  <a:srgbClr val="444444"/>
                </a:solidFill>
                <a:effectLst/>
                <a:latin typeface="Poppins" panose="00000500000000000000" pitchFamily="2" charset="0"/>
              </a:rPr>
              <a:t>4 variables K-map</a:t>
            </a:r>
          </a:p>
          <a:p>
            <a:pPr algn="l"/>
            <a:r>
              <a:rPr lang="en-US" b="0" i="0" dirty="0">
                <a:solidFill>
                  <a:srgbClr val="444444"/>
                </a:solidFill>
                <a:effectLst/>
                <a:latin typeface="Poppins" panose="00000500000000000000" pitchFamily="2" charset="0"/>
              </a:rPr>
              <a:t>F (P, Q, R, S) = π (3, 5, 7, 8, 10, 11, 12, 13)</a:t>
            </a:r>
          </a:p>
        </p:txBody>
      </p:sp>
      <p:pic>
        <p:nvPicPr>
          <p:cNvPr id="7" name="Picture 6">
            <a:extLst>
              <a:ext uri="{FF2B5EF4-FFF2-40B4-BE49-F238E27FC236}">
                <a16:creationId xmlns:a16="http://schemas.microsoft.com/office/drawing/2014/main" id="{D96A3CB3-0825-972D-0D53-B731A9B421D1}"/>
              </a:ext>
            </a:extLst>
          </p:cNvPr>
          <p:cNvPicPr>
            <a:picLocks noChangeAspect="1"/>
          </p:cNvPicPr>
          <p:nvPr/>
        </p:nvPicPr>
        <p:blipFill>
          <a:blip r:embed="rId2"/>
          <a:srcRect l="11642" t="14476"/>
          <a:stretch/>
        </p:blipFill>
        <p:spPr>
          <a:xfrm>
            <a:off x="3824748" y="2713702"/>
            <a:ext cx="3442638" cy="3120443"/>
          </a:xfrm>
          <a:prstGeom prst="rect">
            <a:avLst/>
          </a:prstGeom>
        </p:spPr>
      </p:pic>
      <p:sp>
        <p:nvSpPr>
          <p:cNvPr id="9" name="TextBox 8">
            <a:extLst>
              <a:ext uri="{FF2B5EF4-FFF2-40B4-BE49-F238E27FC236}">
                <a16:creationId xmlns:a16="http://schemas.microsoft.com/office/drawing/2014/main" id="{9F9842F8-8CC2-326F-F6E0-321F1E7B6AA9}"/>
              </a:ext>
            </a:extLst>
          </p:cNvPr>
          <p:cNvSpPr txBox="1"/>
          <p:nvPr/>
        </p:nvSpPr>
        <p:spPr>
          <a:xfrm>
            <a:off x="3048000" y="94992"/>
            <a:ext cx="6096000"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IN" sz="2400" b="1" i="0" u="none" strike="noStrike" baseline="0" dirty="0">
                <a:solidFill>
                  <a:srgbClr val="000000"/>
                </a:solidFill>
                <a:latin typeface="Times New Roman" panose="02020603050405020304" pitchFamily="18" charset="0"/>
              </a:rPr>
              <a:t>POS  FORM </a:t>
            </a:r>
          </a:p>
        </p:txBody>
      </p:sp>
    </p:spTree>
    <p:extLst>
      <p:ext uri="{BB962C8B-B14F-4D97-AF65-F5344CB8AC3E}">
        <p14:creationId xmlns:p14="http://schemas.microsoft.com/office/powerpoint/2010/main" val="232708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CD4AD9-E00D-A781-71DC-59D911D2AABE}"/>
              </a:ext>
            </a:extLst>
          </p:cNvPr>
          <p:cNvSpPr txBox="1"/>
          <p:nvPr/>
        </p:nvSpPr>
        <p:spPr>
          <a:xfrm>
            <a:off x="2812026" y="429337"/>
            <a:ext cx="6076335" cy="562733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2000" b="0" i="0" dirty="0">
                <a:solidFill>
                  <a:srgbClr val="444444"/>
                </a:solidFill>
                <a:effectLst/>
                <a:latin typeface="Times New Roman" panose="02020603050405020304" pitchFamily="18" charset="0"/>
                <a:cs typeface="Times New Roman" panose="02020603050405020304" pitchFamily="18" charset="0"/>
              </a:rPr>
              <a:t>From the blue group, the terms would be</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R’ S Q</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We take their complement and then sum them</a:t>
            </a:r>
          </a:p>
          <a:p>
            <a:pPr algn="just"/>
            <a:r>
              <a:rPr lang="en-US" sz="2000" b="1" i="0" dirty="0">
                <a:solidFill>
                  <a:srgbClr val="444444"/>
                </a:solidFill>
                <a:effectLst/>
                <a:latin typeface="Times New Roman" panose="02020603050405020304" pitchFamily="18" charset="0"/>
                <a:cs typeface="Times New Roman" panose="02020603050405020304" pitchFamily="18" charset="0"/>
              </a:rPr>
              <a:t>(R + S’+ Q’)</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From the purple group, the terms would be</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R S P</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We take their complement and then sum them</a:t>
            </a:r>
          </a:p>
          <a:p>
            <a:pPr algn="just"/>
            <a:r>
              <a:rPr lang="en-US" sz="2000" b="1" i="0" dirty="0">
                <a:solidFill>
                  <a:srgbClr val="444444"/>
                </a:solidFill>
                <a:effectLst/>
                <a:latin typeface="Times New Roman" panose="02020603050405020304" pitchFamily="18" charset="0"/>
                <a:cs typeface="Times New Roman" panose="02020603050405020304" pitchFamily="18" charset="0"/>
              </a:rPr>
              <a:t>(R’ + S’+ P’) </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From the red group, the terms would be</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P R’ S’</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We take their complement and then sum them</a:t>
            </a:r>
          </a:p>
          <a:p>
            <a:pPr algn="just"/>
            <a:r>
              <a:rPr lang="en-US" sz="2000" b="1" i="0" dirty="0">
                <a:solidFill>
                  <a:srgbClr val="444444"/>
                </a:solidFill>
                <a:effectLst/>
                <a:latin typeface="Times New Roman" panose="02020603050405020304" pitchFamily="18" charset="0"/>
                <a:cs typeface="Times New Roman" panose="02020603050405020304" pitchFamily="18" charset="0"/>
              </a:rPr>
              <a:t>(P’ + R + S)</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From the lilac group, the terms would be</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P Q’ R</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We take their complement and then sum them</a:t>
            </a:r>
          </a:p>
          <a:p>
            <a:pPr algn="just"/>
            <a:r>
              <a:rPr lang="en-US" sz="2000" b="1" i="0" dirty="0">
                <a:solidFill>
                  <a:srgbClr val="444444"/>
                </a:solidFill>
                <a:effectLst/>
                <a:latin typeface="Times New Roman" panose="02020603050405020304" pitchFamily="18" charset="0"/>
                <a:cs typeface="Times New Roman" panose="02020603050405020304" pitchFamily="18" charset="0"/>
              </a:rPr>
              <a:t>(P’ + Q + R’)</a:t>
            </a:r>
          </a:p>
          <a:p>
            <a:pPr algn="just"/>
            <a:r>
              <a:rPr lang="en-US" sz="2000" b="0" i="0" dirty="0">
                <a:solidFill>
                  <a:srgbClr val="444444"/>
                </a:solidFill>
                <a:effectLst/>
                <a:latin typeface="Times New Roman" panose="02020603050405020304" pitchFamily="18" charset="0"/>
                <a:cs typeface="Times New Roman" panose="02020603050405020304" pitchFamily="18" charset="0"/>
              </a:rPr>
              <a:t>Finally, we will express these in the form of the product –</a:t>
            </a:r>
          </a:p>
          <a:p>
            <a:pPr algn="just"/>
            <a:r>
              <a:rPr lang="en-US" sz="2000" b="1" i="0" dirty="0">
                <a:solidFill>
                  <a:srgbClr val="444444"/>
                </a:solidFill>
                <a:effectLst/>
                <a:latin typeface="Times New Roman" panose="02020603050405020304" pitchFamily="18" charset="0"/>
                <a:cs typeface="Times New Roman" panose="02020603050405020304" pitchFamily="18" charset="0"/>
              </a:rPr>
              <a:t>(R + S’+ Q’).(R’ + S’+A).(P’+ R + S).(P’+ Q + R’)</a:t>
            </a:r>
          </a:p>
        </p:txBody>
      </p:sp>
    </p:spTree>
    <p:extLst>
      <p:ext uri="{BB962C8B-B14F-4D97-AF65-F5344CB8AC3E}">
        <p14:creationId xmlns:p14="http://schemas.microsoft.com/office/powerpoint/2010/main" val="2816354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9E00BB-459A-CB60-0B2B-5CE23C457A00}"/>
              </a:ext>
            </a:extLst>
          </p:cNvPr>
          <p:cNvSpPr txBox="1"/>
          <p:nvPr/>
        </p:nvSpPr>
        <p:spPr>
          <a:xfrm>
            <a:off x="1290320" y="670560"/>
            <a:ext cx="9544827" cy="1292662"/>
          </a:xfrm>
          <a:prstGeom prst="rect">
            <a:avLst/>
          </a:prstGeom>
          <a:noFill/>
        </p:spPr>
        <p:txBody>
          <a:bodyPr wrap="square">
            <a:spAutoFit/>
          </a:bodyPr>
          <a:lstStyle/>
          <a:p>
            <a:pPr algn="l"/>
            <a:r>
              <a:rPr lang="en-US" sz="2000" b="1" i="0" u="none" strike="noStrike" baseline="0" dirty="0">
                <a:latin typeface="TimesNewRomanPSMT"/>
              </a:rPr>
              <a:t>Question: Simplify the following function using K map</a:t>
            </a:r>
          </a:p>
          <a:p>
            <a:pPr algn="l"/>
            <a:r>
              <a:rPr lang="en-IN" sz="2000" b="1" i="0" u="none" strike="noStrike" baseline="0" dirty="0">
                <a:latin typeface="TimesNewRomanPSMT"/>
              </a:rPr>
              <a:t>F(A, B, C, D) = </a:t>
            </a:r>
            <a:r>
              <a:rPr lang="el-GR" b="1" i="0" u="none" strike="noStrike" baseline="0" dirty="0">
                <a:latin typeface="ArialMT"/>
              </a:rPr>
              <a:t>Σ</a:t>
            </a:r>
            <a:r>
              <a:rPr lang="el-GR" b="1" i="0" u="none" strike="noStrike" baseline="0" dirty="0">
                <a:latin typeface="Calibri" panose="020F0502020204030204" pitchFamily="34" charset="0"/>
              </a:rPr>
              <a:t>(</a:t>
            </a:r>
            <a:r>
              <a:rPr lang="el-GR" sz="2000" b="1" i="0" u="none" strike="noStrike" baseline="0" dirty="0">
                <a:latin typeface="TimesNewRomanPSMT"/>
              </a:rPr>
              <a:t>1, 3, 4, 5, 6, 7, 9, 11, 13, 15</a:t>
            </a:r>
            <a:r>
              <a:rPr lang="el-GR" b="1" i="0" u="none" strike="noStrike" baseline="0" dirty="0">
                <a:latin typeface="Calibri" panose="020F0502020204030204" pitchFamily="34" charset="0"/>
              </a:rPr>
              <a:t>)</a:t>
            </a:r>
            <a:endParaRPr lang="en-US" b="1" i="0" u="none" strike="noStrike" baseline="0" dirty="0">
              <a:latin typeface="Calibri" panose="020F0502020204030204" pitchFamily="34" charset="0"/>
            </a:endParaRPr>
          </a:p>
          <a:p>
            <a:pPr algn="l"/>
            <a:endParaRPr lang="el-GR" b="1" i="0" u="none" strike="noStrike" baseline="0" dirty="0">
              <a:latin typeface="Calibri" panose="020F0502020204030204" pitchFamily="34" charset="0"/>
            </a:endParaRPr>
          </a:p>
          <a:p>
            <a:pPr algn="l"/>
            <a:r>
              <a:rPr lang="en-US" sz="2000" b="1" i="0" u="none" strike="noStrike" baseline="0" dirty="0">
                <a:latin typeface="TimesNewRomanPSMT"/>
              </a:rPr>
              <a:t>Also implement the simplified function using basic gates only.</a:t>
            </a:r>
            <a:endParaRPr lang="en-IN" sz="2000" b="1" dirty="0"/>
          </a:p>
        </p:txBody>
      </p:sp>
    </p:spTree>
    <p:extLst>
      <p:ext uri="{BB962C8B-B14F-4D97-AF65-F5344CB8AC3E}">
        <p14:creationId xmlns:p14="http://schemas.microsoft.com/office/powerpoint/2010/main" val="2505533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C79B0B-CABD-B65F-6E77-3D8247CEE1EF}"/>
              </a:ext>
            </a:extLst>
          </p:cNvPr>
          <p:cNvSpPr txBox="1"/>
          <p:nvPr/>
        </p:nvSpPr>
        <p:spPr>
          <a:xfrm>
            <a:off x="845574" y="1258529"/>
            <a:ext cx="10756490" cy="1477328"/>
          </a:xfrm>
          <a:prstGeom prst="rect">
            <a:avLst/>
          </a:prstGeom>
          <a:noFill/>
        </p:spPr>
        <p:txBody>
          <a:bodyPr wrap="square">
            <a:spAutoFit/>
          </a:bodyPr>
          <a:lstStyle/>
          <a:p>
            <a:pPr marL="285750" indent="-285750" algn="just">
              <a:buFont typeface="Arial" panose="020B0604020202020204" pitchFamily="34" charset="0"/>
              <a:buChar char="•"/>
            </a:pPr>
            <a:r>
              <a:rPr lang="en-US" b="0" i="0" dirty="0">
                <a:solidFill>
                  <a:srgbClr val="000000"/>
                </a:solidFill>
                <a:effectLst/>
                <a:latin typeface="Verdana" panose="020B0604030504040204" pitchFamily="34" charset="0"/>
              </a:rPr>
              <a:t>A five variable K-map is used to minimize a 5-variable Boolean expression to its reduced form. The following are the important characteristics of a 5 variable K-map.</a:t>
            </a:r>
          </a:p>
          <a:p>
            <a:pPr marL="285750" indent="-285750" algn="just">
              <a:buFont typeface="Arial" panose="020B0604020202020204" pitchFamily="34" charset="0"/>
              <a:buChar char="•"/>
            </a:pPr>
            <a:endParaRPr lang="en-US" b="0" i="0" dirty="0">
              <a:solidFill>
                <a:srgbClr val="000000"/>
              </a:solidFill>
              <a:effectLst/>
              <a:latin typeface="Verdana" panose="020B0604030504040204" pitchFamily="34" charset="0"/>
            </a:endParaRPr>
          </a:p>
          <a:p>
            <a:pPr marL="285750" indent="-285750" algn="just">
              <a:buFont typeface="Arial" panose="020B0604020202020204" pitchFamily="34" charset="0"/>
              <a:buChar char="•"/>
            </a:pPr>
            <a:r>
              <a:rPr lang="en-US" b="0" i="0" dirty="0">
                <a:solidFill>
                  <a:srgbClr val="000000"/>
                </a:solidFill>
                <a:effectLst/>
                <a:latin typeface="Verdana" panose="020B0604030504040204" pitchFamily="34" charset="0"/>
              </a:rPr>
              <a:t>A five variable K-map have 32 (2</a:t>
            </a:r>
            <a:r>
              <a:rPr lang="en-US" b="0" i="0" baseline="30000" dirty="0">
                <a:solidFill>
                  <a:srgbClr val="000000"/>
                </a:solidFill>
                <a:effectLst/>
                <a:latin typeface="Verdana" panose="020B0604030504040204" pitchFamily="34" charset="0"/>
              </a:rPr>
              <a:t>5</a:t>
            </a:r>
            <a:r>
              <a:rPr lang="en-US" b="0" i="0" dirty="0">
                <a:solidFill>
                  <a:srgbClr val="000000"/>
                </a:solidFill>
                <a:effectLst/>
                <a:latin typeface="Verdana" panose="020B0604030504040204" pitchFamily="34" charset="0"/>
              </a:rPr>
              <a:t>) cells or squares, and each cell of the K-map represents either a minterm or a maxterm of the Boolean expression.</a:t>
            </a:r>
          </a:p>
        </p:txBody>
      </p:sp>
      <p:sp>
        <p:nvSpPr>
          <p:cNvPr id="5" name="TextBox 4">
            <a:extLst>
              <a:ext uri="{FF2B5EF4-FFF2-40B4-BE49-F238E27FC236}">
                <a16:creationId xmlns:a16="http://schemas.microsoft.com/office/drawing/2014/main" id="{87B42A6E-FBDF-44A7-67CF-36E2C21099BE}"/>
              </a:ext>
            </a:extLst>
          </p:cNvPr>
          <p:cNvSpPr txBox="1"/>
          <p:nvPr/>
        </p:nvSpPr>
        <p:spPr>
          <a:xfrm>
            <a:off x="2772697" y="444598"/>
            <a:ext cx="6096000"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400" b="1" i="0" dirty="0">
                <a:solidFill>
                  <a:srgbClr val="000000"/>
                </a:solidFill>
                <a:effectLst/>
                <a:latin typeface="var(--ff-lato)"/>
              </a:rPr>
              <a:t>Five Variable K-Map</a:t>
            </a:r>
          </a:p>
        </p:txBody>
      </p:sp>
      <p:sp>
        <p:nvSpPr>
          <p:cNvPr id="7" name="TextBox 6">
            <a:extLst>
              <a:ext uri="{FF2B5EF4-FFF2-40B4-BE49-F238E27FC236}">
                <a16:creationId xmlns:a16="http://schemas.microsoft.com/office/drawing/2014/main" id="{0B955E97-6319-137F-2E0B-90EF1FE2882D}"/>
              </a:ext>
            </a:extLst>
          </p:cNvPr>
          <p:cNvSpPr txBox="1"/>
          <p:nvPr/>
        </p:nvSpPr>
        <p:spPr>
          <a:xfrm>
            <a:off x="924232" y="3429000"/>
            <a:ext cx="10677832" cy="923330"/>
          </a:xfrm>
          <a:prstGeom prst="rect">
            <a:avLst/>
          </a:prstGeom>
          <a:noFill/>
        </p:spPr>
        <p:txBody>
          <a:bodyPr wrap="square">
            <a:spAutoFit/>
          </a:bodyPr>
          <a:lstStyle/>
          <a:p>
            <a:r>
              <a:rPr lang="en-US" b="0" i="0" dirty="0">
                <a:solidFill>
                  <a:srgbClr val="000000"/>
                </a:solidFill>
                <a:effectLst/>
                <a:latin typeface="Verdana" panose="020B0604030504040204" pitchFamily="34" charset="0"/>
              </a:rPr>
              <a:t>In the five variable K-map, we can form 2-squares, 4-squares, 8-squares, 16-squares, or 32-squares by involving its two blocks. Also, squares are considered adjacent in these two blocks, when one block superimposes on the top of another.</a:t>
            </a:r>
            <a:endParaRPr lang="en-IN" dirty="0"/>
          </a:p>
        </p:txBody>
      </p:sp>
    </p:spTree>
    <p:extLst>
      <p:ext uri="{BB962C8B-B14F-4D97-AF65-F5344CB8AC3E}">
        <p14:creationId xmlns:p14="http://schemas.microsoft.com/office/powerpoint/2010/main" val="2426028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B392B0-EF9F-705D-9A71-5D526841CEE8}"/>
              </a:ext>
            </a:extLst>
          </p:cNvPr>
          <p:cNvPicPr>
            <a:picLocks noChangeAspect="1"/>
          </p:cNvPicPr>
          <p:nvPr/>
        </p:nvPicPr>
        <p:blipFill>
          <a:blip r:embed="rId2"/>
          <a:stretch>
            <a:fillRect/>
          </a:stretch>
        </p:blipFill>
        <p:spPr>
          <a:xfrm>
            <a:off x="2033020" y="1395128"/>
            <a:ext cx="8125959" cy="4067743"/>
          </a:xfrm>
          <a:prstGeom prst="rect">
            <a:avLst/>
          </a:prstGeom>
        </p:spPr>
      </p:pic>
    </p:spTree>
    <p:extLst>
      <p:ext uri="{BB962C8B-B14F-4D97-AF65-F5344CB8AC3E}">
        <p14:creationId xmlns:p14="http://schemas.microsoft.com/office/powerpoint/2010/main" val="1018667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BDA9CE-628E-C07D-4E08-C8E7F164EAF8}"/>
              </a:ext>
            </a:extLst>
          </p:cNvPr>
          <p:cNvSpPr txBox="1"/>
          <p:nvPr/>
        </p:nvSpPr>
        <p:spPr>
          <a:xfrm>
            <a:off x="914400" y="314632"/>
            <a:ext cx="10913806" cy="1200329"/>
          </a:xfrm>
          <a:prstGeom prst="rect">
            <a:avLst/>
          </a:prstGeom>
          <a:noFill/>
        </p:spPr>
        <p:txBody>
          <a:bodyPr wrap="square">
            <a:spAutoFit/>
          </a:bodyPr>
          <a:lstStyle/>
          <a:p>
            <a:r>
              <a:rPr lang="en-US" dirty="0"/>
              <a:t>Example 1</a:t>
            </a:r>
          </a:p>
          <a:p>
            <a:r>
              <a:rPr lang="en-US" dirty="0"/>
              <a:t>Reduce the following 5 variable Boolean function in SOP form using the five variable K map.</a:t>
            </a:r>
          </a:p>
          <a:p>
            <a:endParaRPr lang="en-US" dirty="0"/>
          </a:p>
          <a:p>
            <a:r>
              <a:rPr lang="en-US" dirty="0" err="1"/>
              <a:t>f⟮A,B,C,D,E</a:t>
            </a:r>
            <a:r>
              <a:rPr lang="en-US" dirty="0"/>
              <a:t>⟯=∑m⟮0,1,2,4,7,8,12,14,15,16,17,18,20,24,28,30,31⟯</a:t>
            </a:r>
            <a:endParaRPr lang="en-IN" dirty="0"/>
          </a:p>
        </p:txBody>
      </p:sp>
      <p:pic>
        <p:nvPicPr>
          <p:cNvPr id="6" name="Picture 5">
            <a:extLst>
              <a:ext uri="{FF2B5EF4-FFF2-40B4-BE49-F238E27FC236}">
                <a16:creationId xmlns:a16="http://schemas.microsoft.com/office/drawing/2014/main" id="{EBEA4C8B-D577-6300-13AE-092C57ED9AD9}"/>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b="12113"/>
          <a:stretch/>
        </p:blipFill>
        <p:spPr>
          <a:xfrm>
            <a:off x="1560897" y="1514961"/>
            <a:ext cx="8421275" cy="3700603"/>
          </a:xfrm>
          <a:prstGeom prst="rect">
            <a:avLst/>
          </a:prstGeom>
        </p:spPr>
      </p:pic>
      <p:sp>
        <p:nvSpPr>
          <p:cNvPr id="9" name="TextBox 8">
            <a:extLst>
              <a:ext uri="{FF2B5EF4-FFF2-40B4-BE49-F238E27FC236}">
                <a16:creationId xmlns:a16="http://schemas.microsoft.com/office/drawing/2014/main" id="{25F1B76A-434F-C13E-B3B4-3317EE611EEB}"/>
              </a:ext>
            </a:extLst>
          </p:cNvPr>
          <p:cNvSpPr txBox="1"/>
          <p:nvPr/>
        </p:nvSpPr>
        <p:spPr>
          <a:xfrm>
            <a:off x="970962" y="5215564"/>
            <a:ext cx="6184490" cy="1477328"/>
          </a:xfrm>
          <a:prstGeom prst="rect">
            <a:avLst/>
          </a:prstGeom>
          <a:noFill/>
        </p:spPr>
        <p:txBody>
          <a:bodyPr wrap="square">
            <a:spAutoFit/>
          </a:bodyPr>
          <a:lstStyle/>
          <a:p>
            <a:pPr marL="342900" indent="-342900">
              <a:buAutoNum type="arabicPeriod"/>
            </a:pPr>
            <a:r>
              <a:rPr lang="en-US" dirty="0"/>
              <a:t>⟮D’E’⟯</a:t>
            </a:r>
          </a:p>
          <a:p>
            <a:pPr marL="342900" indent="-342900">
              <a:buAutoNum type="arabicPeriod"/>
            </a:pPr>
            <a:r>
              <a:rPr lang="en-US" dirty="0"/>
              <a:t>B’C’D’</a:t>
            </a:r>
          </a:p>
          <a:p>
            <a:pPr marL="342900" indent="-342900">
              <a:buAutoNum type="arabicPeriod"/>
            </a:pPr>
            <a:r>
              <a:rPr lang="en-US" dirty="0"/>
              <a:t>B’C’E’</a:t>
            </a:r>
          </a:p>
          <a:p>
            <a:pPr marL="342900" indent="-342900">
              <a:buAutoNum type="arabicPeriod"/>
            </a:pPr>
            <a:r>
              <a:rPr lang="en-US" dirty="0"/>
              <a:t>A’CDE</a:t>
            </a:r>
          </a:p>
          <a:p>
            <a:pPr marL="342900" indent="-342900">
              <a:buAutoNum type="arabicPeriod"/>
            </a:pPr>
            <a:r>
              <a:rPr lang="en-US" dirty="0"/>
              <a:t>BCD</a:t>
            </a:r>
            <a:endParaRPr lang="en-IN" dirty="0"/>
          </a:p>
        </p:txBody>
      </p:sp>
    </p:spTree>
    <p:extLst>
      <p:ext uri="{BB962C8B-B14F-4D97-AF65-F5344CB8AC3E}">
        <p14:creationId xmlns:p14="http://schemas.microsoft.com/office/powerpoint/2010/main" val="556090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2780</TotalTime>
  <Words>4238</Words>
  <Application>Microsoft Office PowerPoint</Application>
  <PresentationFormat>Widescreen</PresentationFormat>
  <Paragraphs>487</Paragraphs>
  <Slides>70</Slides>
  <Notes>0</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70</vt:i4>
      </vt:variant>
    </vt:vector>
  </HeadingPairs>
  <TitlesOfParts>
    <vt:vector size="89" baseType="lpstr">
      <vt:lpstr>-apple-system</vt:lpstr>
      <vt:lpstr>Arial</vt:lpstr>
      <vt:lpstr>ArialMT</vt:lpstr>
      <vt:lpstr>Calibri</vt:lpstr>
      <vt:lpstr>Calibri Light</vt:lpstr>
      <vt:lpstr>Calibri,Bold</vt:lpstr>
      <vt:lpstr>Open Sans</vt:lpstr>
      <vt:lpstr>Poppins</vt:lpstr>
      <vt:lpstr>Ruda</vt:lpstr>
      <vt:lpstr>system-ui</vt:lpstr>
      <vt:lpstr>Times New Roman</vt:lpstr>
      <vt:lpstr>TimesNewRomanPSMT</vt:lpstr>
      <vt:lpstr>Times-Roman</vt:lpstr>
      <vt:lpstr>ui-sans-serif</vt:lpstr>
      <vt:lpstr>Untitled Sans</vt:lpstr>
      <vt:lpstr>var(--ff-lato)</vt:lpstr>
      <vt:lpstr>verdana</vt:lpstr>
      <vt:lpstr>verdana</vt:lpstr>
      <vt:lpstr>Retrospect</vt:lpstr>
      <vt:lpstr>    Course Name: Fundamental of Electronics Engineering   </vt:lpstr>
      <vt:lpstr>PowerPoint Presentation</vt:lpstr>
      <vt:lpstr>PowerPoint Presentation</vt:lpstr>
      <vt:lpstr>PowerPoint Presentation</vt:lpstr>
      <vt:lpstr>PowerPoint Presentation</vt:lpstr>
      <vt:lpstr>PowerPoint Presentation</vt:lpstr>
      <vt:lpstr>PowerPoint Presentation</vt:lpstr>
      <vt:lpstr>UNIT – 4 DIGITAL ELECTRONICS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Truth table representing minterm and maxterm –</vt:lpstr>
      <vt:lpstr>PowerPoint Presentation</vt:lpstr>
      <vt:lpstr>PowerPoint Presentation</vt:lpstr>
      <vt:lpstr>Example – Express the Boolean function F = A + B’C as standard sum of minterms.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COMMUNICATION</dc:title>
  <dc:creator>Shivani Sharma</dc:creator>
  <cp:lastModifiedBy>Dr. Shivani Sharma ECE</cp:lastModifiedBy>
  <cp:revision>522</cp:revision>
  <dcterms:created xsi:type="dcterms:W3CDTF">2024-05-28T11:19:57Z</dcterms:created>
  <dcterms:modified xsi:type="dcterms:W3CDTF">2025-12-16T06:32:11Z</dcterms:modified>
</cp:coreProperties>
</file>