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4" r:id="rId1"/>
  </p:sldMasterIdLst>
  <p:sldIdLst>
    <p:sldId id="256" r:id="rId2"/>
    <p:sldId id="467" r:id="rId3"/>
    <p:sldId id="468" r:id="rId4"/>
    <p:sldId id="469" r:id="rId5"/>
    <p:sldId id="470" r:id="rId6"/>
    <p:sldId id="471" r:id="rId7"/>
    <p:sldId id="472" r:id="rId8"/>
    <p:sldId id="473" r:id="rId9"/>
    <p:sldId id="474" r:id="rId10"/>
    <p:sldId id="258" r:id="rId11"/>
    <p:sldId id="475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32" autoAdjust="0"/>
    <p:restoredTop sz="94660"/>
  </p:normalViewPr>
  <p:slideViewPr>
    <p:cSldViewPr>
      <p:cViewPr varScale="1">
        <p:scale>
          <a:sx n="61" d="100"/>
          <a:sy n="61" d="100"/>
        </p:scale>
        <p:origin x="192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74E8F-E147-19C1-7C01-6D2CC8B8A3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ECA57C-7EBB-14A2-489A-7A712F49B4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7C247-7EE1-3D3E-FEE8-8B4BE0758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2C16C-55EB-2E19-5010-7514AEEB8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C62BE-8786-B97E-F7B4-E94241E5F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64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D2484-DEA8-21BE-FB75-52B16C82B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F47C8-F137-7FA9-BA1D-CA3CE4F5F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EC566-67F8-D224-5D70-761318EAD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CE46B-7357-4CD5-4E6F-4AC090AEC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E49F4-8209-CB7E-0905-1B63FC11F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209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26A8A-DD89-8434-2417-96E4D01D9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0AE81-250D-1163-D554-16CE62EE7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27EC3-6486-D472-FF53-1AFFBDA87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79AD2-4198-5E9C-F87D-8F02AB299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83982-6FF9-427C-D167-BB5CB8260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921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58401-D62D-D6D0-1501-4972566E5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4CB10-0A6E-5E3F-FC0A-E0E0C5C8F7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548AC-3333-9B52-E30E-A40FD116A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2CE637-0DAB-A5BE-0758-0EC56FE69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D057C-F144-1375-39EE-08E28D74E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9CFED-FC54-EEC8-6DEC-14013C0FA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110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1901F-C842-B80C-F628-F79EDD7BD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0DD7D-3455-34A3-60DA-3E637512B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C9EC44-0F21-20AF-6E00-064FE0890D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4C6A5F-BAF4-8375-7D7D-A9A33B7117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F20A5D-783E-6A7C-7FA2-4527E4609D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B679FA-E56E-FF68-8E9F-47852A57C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0F233B-15AB-DCDB-9B3D-0D030C598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21E874-31E8-9BD1-CF64-A94AE0815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753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E52B3-55D3-364A-ECFB-BAECBF5D0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5E553F-515E-C547-2053-752FC5320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0AB3EB-F4E6-147A-42AF-E572F3D14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AF1B3-2809-5DB9-8E67-ABDD32E46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567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51921-7059-D7AC-2A8D-7BF374F27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BCC29-0AF1-B664-90CC-998C992F7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6356E-479D-E322-47FF-D6B095F79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9745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539CE-57F5-5178-74A0-FEE290D76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1AEB1-A31A-99EA-8199-4239B8FAB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81B3BA-B52D-B6C2-A576-25204F0329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5DEF45-6434-E814-005E-A91FA8CF7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6FF15B-1BC4-414C-09E1-FE52F4AB9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CCE851-0983-7D16-34C1-B1DA45A96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126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F9041-FB29-0355-00A4-B358B1665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03153F-BAFB-10EA-3F1D-AC37267AE8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0C4B9D-8929-5FC9-5769-C37D18C205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7288B2-510E-271A-CCF6-C948E2FA0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E0F0F4-188B-9C71-29E5-664E89D0B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3C2A9C-BBFB-1105-5634-C36272D9B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039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2117E-ABBE-64D9-D2E5-4D0E9ED71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BCA33F-2594-98E9-D1C7-41264F84D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8A522-C315-4BF8-B30D-6862B1D9D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C1756-7164-EC15-8ABE-CC85EC85F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B4D42-5B21-5DF8-B6E3-005560D72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864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BDCE23-A431-7647-1B37-E516A81C26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CC8BF8-3820-9C70-DD0B-1357CF3F22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40C2E-1B5B-4188-D295-B3729E855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FE0B1-3399-FCCA-6576-5CFB047C5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1F327-72A9-D24E-27A1-0C5511192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964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80133A-F13B-BB09-FF59-1E56071B7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C6ADF6-DD95-ABB4-BF45-3C0EB97C83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6EE9B-E6C4-53FD-EEE7-AA92AB450B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3ED0CC-082F-4160-86E5-0D6041F12778}" type="datetime1">
              <a:rPr lang="en-US" smtClean="0"/>
              <a:t>9/8/2025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8E100-5AEC-37D0-614F-C707E34EED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D943A-BD84-6393-2454-6495B33812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624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6069E-045B-406D-B7B6-75E94766A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514599"/>
            <a:ext cx="8458200" cy="1828801"/>
          </a:xfrm>
        </p:spPr>
        <p:txBody>
          <a:bodyPr>
            <a:noAutofit/>
          </a:bodyPr>
          <a:lstStyle/>
          <a:p>
            <a:r>
              <a:rPr lang="en-IN" sz="48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 An Introduction </a:t>
            </a:r>
            <a:br>
              <a:rPr lang="en-IN" sz="4800" b="1" dirty="0">
                <a:solidFill>
                  <a:schemeClr val="tx1"/>
                </a:solidFill>
                <a:latin typeface="Arial Rounded MT Bold" panose="020F0704030504030204" pitchFamily="34" charset="0"/>
              </a:rPr>
            </a:br>
            <a:r>
              <a:rPr lang="en-IN" sz="48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to</a:t>
            </a:r>
            <a:br>
              <a:rPr lang="en-IN" sz="4800" b="1" dirty="0">
                <a:solidFill>
                  <a:schemeClr val="tx1"/>
                </a:solidFill>
                <a:latin typeface="Arial Rounded MT Bold" panose="020F0704030504030204" pitchFamily="34" charset="0"/>
              </a:rPr>
            </a:br>
            <a:r>
              <a:rPr lang="en-IN" sz="48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 “</a:t>
            </a:r>
            <a:r>
              <a:rPr lang="en-IN" sz="4800" b="1" dirty="0">
                <a:latin typeface="Arial Rounded MT Bold" panose="020F0704030504030204" pitchFamily="34" charset="0"/>
              </a:rPr>
              <a:t>Basics of</a:t>
            </a:r>
            <a:r>
              <a:rPr lang="en-IN" sz="4800" b="1" dirty="0">
                <a:solidFill>
                  <a:schemeClr val="tx1"/>
                </a:solidFill>
                <a:latin typeface="Arial Rounded MT Bold" panose="020F0704030504030204" pitchFamily="34" charset="0"/>
              </a:rPr>
              <a:t> Electronics Engineering”</a:t>
            </a:r>
            <a:br>
              <a:rPr lang="en-IN" sz="4800" b="1" dirty="0">
                <a:solidFill>
                  <a:schemeClr val="tx1"/>
                </a:solidFill>
                <a:latin typeface="Arial Rounded MT Bold" panose="020F0704030504030204" pitchFamily="34" charset="0"/>
              </a:rPr>
            </a:br>
            <a:endParaRPr lang="en-IN" sz="4800" b="1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BB2A63-10D8-47A0-B362-F46922E437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" y="4876800"/>
            <a:ext cx="7384826" cy="1507067"/>
          </a:xfrm>
        </p:spPr>
        <p:txBody>
          <a:bodyPr>
            <a:noAutofit/>
          </a:bodyPr>
          <a:lstStyle/>
          <a:p>
            <a:pPr algn="l"/>
            <a:r>
              <a:rPr lang="en-IN" sz="1600" b="1" dirty="0"/>
              <a:t>By:</a:t>
            </a:r>
          </a:p>
          <a:p>
            <a:pPr algn="l"/>
            <a:r>
              <a:rPr lang="en-IN" sz="2000" b="1" dirty="0"/>
              <a:t>Electronics Engineering Team</a:t>
            </a:r>
          </a:p>
          <a:p>
            <a:pPr algn="l"/>
            <a:r>
              <a:rPr lang="en-IN" sz="2000" b="1" dirty="0"/>
              <a:t>Department of Electronics &amp; Communication Engineering/ </a:t>
            </a:r>
          </a:p>
          <a:p>
            <a:pPr algn="l"/>
            <a:r>
              <a:rPr lang="en-US" sz="2000" b="1" dirty="0"/>
              <a:t>Department of Applied Sciences &amp; Humanities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512228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8362950" cy="1385889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University Curriculum with Evaluation Scheme</a:t>
            </a:r>
            <a:endParaRPr lang="en-IN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690689"/>
            <a:ext cx="8915400" cy="4481512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Subject Code for Theory Course: </a:t>
            </a:r>
            <a:r>
              <a:rPr lang="en-IN" dirty="0"/>
              <a:t>25EC101/25EC201</a:t>
            </a:r>
          </a:p>
          <a:p>
            <a:pPr marL="0" indent="0">
              <a:buNone/>
            </a:pPr>
            <a:endParaRPr lang="en-IN" dirty="0"/>
          </a:p>
          <a:p>
            <a:r>
              <a:rPr lang="en-US" b="1" dirty="0"/>
              <a:t>Subject Code for Practical Course: 25EC151/25EC251</a:t>
            </a:r>
          </a:p>
          <a:p>
            <a:pPr marL="0" indent="0">
              <a:buNone/>
            </a:pPr>
            <a:endParaRPr lang="en-IN" dirty="0"/>
          </a:p>
          <a:p>
            <a:r>
              <a:rPr lang="en-US" b="1" dirty="0"/>
              <a:t>Marks Distribution: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Internals = 30 marks </a:t>
            </a:r>
          </a:p>
          <a:p>
            <a:pPr marL="0" indent="0">
              <a:buNone/>
            </a:pPr>
            <a:r>
              <a:rPr lang="en-US" dirty="0"/>
              <a:t>[10 marks = Class Tests/Quiz  </a:t>
            </a:r>
          </a:p>
          <a:p>
            <a:pPr marL="0" indent="0">
              <a:buNone/>
            </a:pPr>
            <a:r>
              <a:rPr lang="en-US" dirty="0"/>
              <a:t>10 marks  = Teacher’s</a:t>
            </a:r>
          </a:p>
          <a:p>
            <a:pPr marL="0" indent="0">
              <a:buNone/>
            </a:pPr>
            <a:r>
              <a:rPr lang="en-US" dirty="0"/>
              <a:t>10 marks = Attendance ]                      			 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Externals = 70 marks</a:t>
            </a:r>
          </a:p>
          <a:p>
            <a:pPr marL="0" indent="0">
              <a:buNone/>
            </a:pPr>
            <a:r>
              <a:rPr lang="en-US" dirty="0"/>
              <a:t>(Term-1=15 marks, Term-2=15 marks &amp; End Term=40 marks)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Total Evaluation will be from 100 marks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Course credit is 3.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11329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1"/>
            <a:ext cx="7886700" cy="76199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b="1" dirty="0"/>
              <a:t>Syllabus</a:t>
            </a:r>
            <a:endParaRPr lang="en-IN" sz="5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067800" cy="5562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800" b="1" dirty="0"/>
              <a:t>    Unit 1: </a:t>
            </a:r>
            <a:r>
              <a:rPr lang="en-US" sz="2800" b="1" dirty="0"/>
              <a:t>Diode &amp; its Applications </a:t>
            </a:r>
          </a:p>
          <a:p>
            <a:pPr algn="just"/>
            <a:endParaRPr lang="en-US" sz="2800" b="1" dirty="0"/>
          </a:p>
          <a:p>
            <a:pPr algn="just"/>
            <a:endParaRPr lang="en-IN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C2900D8-14E5-04C9-C907-604AFBE9D2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663114"/>
              </p:ext>
            </p:extLst>
          </p:nvPr>
        </p:nvGraphicFramePr>
        <p:xfrm>
          <a:off x="304800" y="1828800"/>
          <a:ext cx="8382000" cy="44957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82000">
                  <a:extLst>
                    <a:ext uri="{9D8B030D-6E8A-4147-A177-3AD203B41FA5}">
                      <a16:colId xmlns:a16="http://schemas.microsoft.com/office/drawing/2014/main" val="3287531833"/>
                    </a:ext>
                  </a:extLst>
                </a:gridCol>
              </a:tblGrid>
              <a:tr h="4495799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50000"/>
                        </a:lnSpc>
                        <a:spcAft>
                          <a:spcPts val="10"/>
                        </a:spcAft>
                        <a:buNone/>
                      </a:pPr>
                      <a:r>
                        <a:rPr lang="en-US" sz="2400" b="1" dirty="0">
                          <a:effectLst/>
                        </a:rPr>
                        <a:t>PN junction diode: </a:t>
                      </a:r>
                      <a:r>
                        <a:rPr lang="en-US" sz="2400" dirty="0">
                          <a:effectLst/>
                        </a:rPr>
                        <a:t>Working Principle, V-I Characteristics, Rectifiers - Half Wave &amp; Full Wave, PIV, Ripple Factor and Efficiency, Clippers &amp; Clampers</a:t>
                      </a:r>
                      <a:endParaRPr lang="en-IN" sz="2400" dirty="0">
                        <a:effectLst/>
                      </a:endParaRPr>
                    </a:p>
                    <a:p>
                      <a:pPr marL="0" marR="0" indent="0" algn="just">
                        <a:lnSpc>
                          <a:spcPct val="150000"/>
                        </a:lnSpc>
                        <a:spcAft>
                          <a:spcPts val="10"/>
                        </a:spcAft>
                        <a:buNone/>
                      </a:pPr>
                      <a:endParaRPr lang="en-IN" sz="2400" dirty="0">
                        <a:effectLst/>
                      </a:endParaRPr>
                    </a:p>
                    <a:p>
                      <a:pPr marL="0" marR="0" indent="0" algn="just">
                        <a:lnSpc>
                          <a:spcPct val="150000"/>
                        </a:lnSpc>
                        <a:spcAft>
                          <a:spcPts val="10"/>
                        </a:spcAft>
                        <a:buNone/>
                      </a:pPr>
                      <a:r>
                        <a:rPr lang="en-IN" sz="2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Special Purpose Diodes:</a:t>
                      </a:r>
                      <a:r>
                        <a:rPr lang="en-IN" sz="2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Construction, Characteristics and Applications - Tunnel Diode, Schottky Diode, Varactor Diode, Photodiode, Zener Diode</a:t>
                      </a:r>
                      <a:r>
                        <a:rPr lang="en-IN" sz="2400" dirty="0">
                          <a:effectLst/>
                        </a:rPr>
                        <a:t> </a:t>
                      </a:r>
                      <a:endParaRPr lang="en-IN" sz="2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0" marR="0" indent="0" algn="just">
                        <a:lnSpc>
                          <a:spcPct val="97000"/>
                        </a:lnSpc>
                        <a:spcAft>
                          <a:spcPts val="10"/>
                        </a:spcAft>
                        <a:buNone/>
                      </a:pPr>
                      <a:endParaRPr lang="en-IN" sz="2000" dirty="0">
                        <a:effectLst/>
                      </a:endParaRPr>
                    </a:p>
                  </a:txBody>
                  <a:tcPr marL="114300" marR="11430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945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1273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647700"/>
            <a:ext cx="9067800" cy="5562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3600" b="1" dirty="0"/>
              <a:t>Unit-2 : </a:t>
            </a:r>
            <a:r>
              <a:rPr lang="en-US" sz="3600" b="1" dirty="0"/>
              <a:t>Transistor and its Applications</a:t>
            </a:r>
          </a:p>
          <a:p>
            <a:pPr algn="just"/>
            <a:endParaRPr lang="en-US" b="1" dirty="0"/>
          </a:p>
          <a:p>
            <a:pPr algn="just"/>
            <a:endParaRPr lang="en-IN" b="1" dirty="0"/>
          </a:p>
          <a:p>
            <a:pPr marL="0" indent="0" algn="just">
              <a:buNone/>
            </a:pPr>
            <a:endParaRPr lang="en-IN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106B588-7C5C-3033-4777-9C9B09BBA8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1861368"/>
              </p:ext>
            </p:extLst>
          </p:nvPr>
        </p:nvGraphicFramePr>
        <p:xfrm>
          <a:off x="76200" y="1752600"/>
          <a:ext cx="8524875" cy="46120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24875">
                  <a:extLst>
                    <a:ext uri="{9D8B030D-6E8A-4147-A177-3AD203B41FA5}">
                      <a16:colId xmlns:a16="http://schemas.microsoft.com/office/drawing/2014/main" val="1883403929"/>
                    </a:ext>
                  </a:extLst>
                </a:gridCol>
              </a:tblGrid>
              <a:tr h="335280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7000"/>
                        </a:lnSpc>
                        <a:spcAft>
                          <a:spcPts val="10"/>
                        </a:spcAft>
                        <a:buNone/>
                      </a:pPr>
                      <a:r>
                        <a:rPr lang="en-US" sz="2400" b="1" dirty="0">
                          <a:effectLst/>
                        </a:rPr>
                        <a:t>BJT: </a:t>
                      </a:r>
                      <a:r>
                        <a:rPr lang="en-US" sz="2400" dirty="0">
                          <a:effectLst/>
                        </a:rPr>
                        <a:t>Construction &amp; Working Principle of Bipolar Junction Transistor, Common Base, Common Emitter and Common Collector Configurations and their characteristics, BJT as a switch</a:t>
                      </a:r>
                      <a:endParaRPr lang="en-IN" sz="2400" dirty="0">
                        <a:effectLst/>
                      </a:endParaRPr>
                    </a:p>
                    <a:p>
                      <a:pPr marL="0" marR="0" indent="0" algn="just">
                        <a:lnSpc>
                          <a:spcPct val="97000"/>
                        </a:lnSpc>
                        <a:spcAft>
                          <a:spcPts val="1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 </a:t>
                      </a:r>
                      <a:endParaRPr lang="en-IN" sz="2400" b="1" dirty="0">
                        <a:effectLst/>
                      </a:endParaRPr>
                    </a:p>
                    <a:p>
                      <a:pPr marL="0" marR="0" indent="0" algn="just">
                        <a:lnSpc>
                          <a:spcPct val="97000"/>
                        </a:lnSpc>
                        <a:spcAft>
                          <a:spcPts val="10"/>
                        </a:spcAft>
                        <a:buNone/>
                      </a:pPr>
                      <a:r>
                        <a:rPr lang="en-US" sz="2400" b="1" dirty="0">
                          <a:effectLst/>
                        </a:rPr>
                        <a:t>FET: </a:t>
                      </a:r>
                      <a:r>
                        <a:rPr lang="en-US" sz="2400" dirty="0">
                          <a:effectLst/>
                        </a:rPr>
                        <a:t>Comparison of BJT &amp; FET; Construction, Working Principle and Characteristics of JFET &amp; MOSFET (Enhancement and Depletion), Concept of pinch-off, FET as a voltage variable resistor and a constant current source</a:t>
                      </a:r>
                    </a:p>
                    <a:p>
                      <a:pPr marL="0" marR="0" indent="0" algn="just">
                        <a:lnSpc>
                          <a:spcPct val="97000"/>
                        </a:lnSpc>
                        <a:spcAft>
                          <a:spcPts val="10"/>
                        </a:spcAft>
                        <a:buNone/>
                      </a:pPr>
                      <a:endParaRPr kumimoji="0" lang="en-US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ea typeface="+mn-ea"/>
                      </a:endParaRPr>
                    </a:p>
                    <a:p>
                      <a:pPr marL="0" marR="0" indent="0" algn="just">
                        <a:lnSpc>
                          <a:spcPct val="97000"/>
                        </a:lnSpc>
                        <a:spcAft>
                          <a:spcPts val="10"/>
                        </a:spcAft>
                        <a:buNone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CMOS: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 Construction, Working Principle and Characteristics of</a:t>
                      </a: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 </a:t>
                      </a: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</a:rPr>
                        <a:t>CMOS, NOT, NAND &amp; NOR implementation using CMOS</a:t>
                      </a: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en-IN" sz="2400" dirty="0">
                        <a:effectLst/>
                      </a:endParaRPr>
                    </a:p>
                    <a:p>
                      <a:pPr marL="0" marR="0" indent="0" algn="just">
                        <a:lnSpc>
                          <a:spcPct val="97000"/>
                        </a:lnSpc>
                        <a:spcAft>
                          <a:spcPts val="10"/>
                        </a:spcAft>
                        <a:buNone/>
                      </a:pPr>
                      <a:endParaRPr lang="en-IN" sz="24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384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3849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04800"/>
            <a:ext cx="9067800" cy="55626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200000"/>
              </a:lnSpc>
              <a:buNone/>
            </a:pPr>
            <a:r>
              <a:rPr lang="en-IN" sz="3600" b="1" dirty="0"/>
              <a:t>Unit-3:  </a:t>
            </a:r>
            <a:r>
              <a:rPr lang="en-US" sz="3600" b="1" dirty="0"/>
              <a:t>Digital Electronics</a:t>
            </a:r>
            <a:endParaRPr lang="en-IN" sz="36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C847DC0-05B9-39EA-58E7-6B6E9478F7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192634"/>
              </p:ext>
            </p:extLst>
          </p:nvPr>
        </p:nvGraphicFramePr>
        <p:xfrm>
          <a:off x="228600" y="1295400"/>
          <a:ext cx="8382000" cy="51361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382000">
                  <a:extLst>
                    <a:ext uri="{9D8B030D-6E8A-4147-A177-3AD203B41FA5}">
                      <a16:colId xmlns:a16="http://schemas.microsoft.com/office/drawing/2014/main" val="742860952"/>
                    </a:ext>
                  </a:extLst>
                </a:gridCol>
              </a:tblGrid>
              <a:tr h="4800600">
                <a:tc>
                  <a:txBody>
                    <a:bodyPr/>
                    <a:lstStyle/>
                    <a:p>
                      <a:pPr marL="342900" marR="0" indent="-34290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Number Systems, Conversions, Codes (Weighted and Non-weighted codes, BCD &amp; Gray Code), Boolean Algebra, Complements, Binary Arithmetic, Logic Gates, Boolean Expressions (SOP &amp; POS forms), Minimization using K-Map (up to 4 variables), don’t care condition and realization using logic gates</a:t>
                      </a:r>
                      <a:endParaRPr lang="en-IN" sz="24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marR="0" indent="-34290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Sampling &amp; Quantization in Digital Signal Processing</a:t>
                      </a:r>
                      <a:endParaRPr lang="en-IN" sz="24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342900" marR="0" indent="-342900" algn="just">
                        <a:lnSpc>
                          <a:spcPct val="150000"/>
                        </a:lnSpc>
                        <a:spcAft>
                          <a:spcPts val="10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Fundamentals and Applications of Quantum Computing and Edge Computing </a:t>
                      </a:r>
                      <a:endParaRPr lang="en-IN" sz="2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0115" marR="3395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4002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1172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110" y="228600"/>
            <a:ext cx="9067800" cy="55626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200000"/>
              </a:lnSpc>
              <a:buNone/>
            </a:pPr>
            <a:r>
              <a:rPr lang="en-IN" sz="3600" b="1" dirty="0"/>
              <a:t>Unit-4: </a:t>
            </a:r>
            <a:r>
              <a:rPr lang="en-US" sz="3600" b="1" dirty="0"/>
              <a:t>Basics of Integrated Circuits</a:t>
            </a:r>
            <a:endParaRPr lang="en-IN" sz="3600" b="1" dirty="0"/>
          </a:p>
          <a:p>
            <a:pPr marL="0" indent="0" algn="just">
              <a:lnSpc>
                <a:spcPct val="200000"/>
              </a:lnSpc>
              <a:buNone/>
            </a:pPr>
            <a:endParaRPr lang="en-IN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8A24534-1514-58E1-5A24-3949C918AC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435366"/>
              </p:ext>
            </p:extLst>
          </p:nvPr>
        </p:nvGraphicFramePr>
        <p:xfrm>
          <a:off x="239110" y="1295400"/>
          <a:ext cx="8665780" cy="51546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665780">
                  <a:extLst>
                    <a:ext uri="{9D8B030D-6E8A-4147-A177-3AD203B41FA5}">
                      <a16:colId xmlns:a16="http://schemas.microsoft.com/office/drawing/2014/main" val="1970811522"/>
                    </a:ext>
                  </a:extLst>
                </a:gridCol>
              </a:tblGrid>
              <a:tr h="5154613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7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Introduction: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Evolution from discrete components to IC, Moore’s Law and Scaling, Monolithic v/s Hybrid IC, Levels of Integration (SSI, MSI, LSI, VLSI and ULSI)</a:t>
                      </a:r>
                      <a:endParaRPr lang="en-IN" sz="24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>
                        <a:lnSpc>
                          <a:spcPct val="97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Overview of IC fabrication techniques: </a:t>
                      </a: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IN" sz="2400" b="0" dirty="0">
                          <a:solidFill>
                            <a:schemeClr val="tx1"/>
                          </a:solidFill>
                          <a:effectLst/>
                        </a:rPr>
                        <a:t>Wafer preparation, Oxidation, Photolithography, Etching, Doping (Diffusion and Ion implantation), Deposition, Metallization and Packaging</a:t>
                      </a:r>
                    </a:p>
                    <a:p>
                      <a:pPr marL="0" marR="0" indent="0" algn="just">
                        <a:lnSpc>
                          <a:spcPct val="97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Op-Amp: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Pin Configuration, Ideal Characteristics, Applications as Inverting Amplifiers, Non-Inverting Amplifiers</a:t>
                      </a:r>
                      <a:endParaRPr lang="en-IN" sz="2400" b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indent="0" algn="just">
                        <a:lnSpc>
                          <a:spcPct val="97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effectLst/>
                        </a:rPr>
                        <a:t>555 Timer: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</a:rPr>
                        <a:t>Pin Configuration, Astable and Monostable operations, Applications as Waveform Generators and Delay Circuit</a:t>
                      </a:r>
                      <a:endParaRPr lang="en-IN" sz="2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Mangal" panose="02040503050203030202" pitchFamily="18" charset="0"/>
                      </a:endParaRPr>
                    </a:p>
                  </a:txBody>
                  <a:tcPr marL="60115" marR="3395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630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0099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33400"/>
            <a:ext cx="9067800" cy="55626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200000"/>
              </a:lnSpc>
              <a:buNone/>
            </a:pPr>
            <a:r>
              <a:rPr lang="en-IN" sz="3000" b="1" dirty="0"/>
              <a:t>   </a:t>
            </a:r>
            <a:r>
              <a:rPr lang="en-IN" sz="3600" b="1" dirty="0"/>
              <a:t>Unit-5: </a:t>
            </a:r>
            <a:r>
              <a:rPr lang="en-US" sz="3600" b="1" dirty="0"/>
              <a:t>Communication Technologies</a:t>
            </a:r>
            <a:endParaRPr lang="en-IN" sz="30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FBD76B0-32B9-F748-8FDD-780E456C9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664073"/>
              </p:ext>
            </p:extLst>
          </p:nvPr>
        </p:nvGraphicFramePr>
        <p:xfrm>
          <a:off x="304800" y="1905000"/>
          <a:ext cx="8077200" cy="441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77200">
                  <a:extLst>
                    <a:ext uri="{9D8B030D-6E8A-4147-A177-3AD203B41FA5}">
                      <a16:colId xmlns:a16="http://schemas.microsoft.com/office/drawing/2014/main" val="1229194621"/>
                    </a:ext>
                  </a:extLst>
                </a:gridCol>
              </a:tblGrid>
              <a:tr h="4419600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97000"/>
                        </a:lnSpc>
                        <a:spcAft>
                          <a:spcPts val="10"/>
                        </a:spcAft>
                        <a:buNone/>
                      </a:pPr>
                      <a:r>
                        <a:rPr lang="en-US" sz="2800" b="1" dirty="0">
                          <a:effectLst/>
                        </a:rPr>
                        <a:t>Introduction: </a:t>
                      </a:r>
                      <a:r>
                        <a:rPr lang="en-US" sz="2800" dirty="0">
                          <a:effectLst/>
                        </a:rPr>
                        <a:t>Elements of Communication System, Modulation, Need of modulation</a:t>
                      </a:r>
                      <a:endParaRPr lang="en-IN" sz="2800" dirty="0">
                        <a:effectLst/>
                      </a:endParaRPr>
                    </a:p>
                    <a:p>
                      <a:pPr marL="0" marR="0" indent="0" algn="just">
                        <a:lnSpc>
                          <a:spcPct val="97000"/>
                        </a:lnSpc>
                        <a:spcAft>
                          <a:spcPts val="10"/>
                        </a:spcAft>
                        <a:buNone/>
                      </a:pPr>
                      <a:r>
                        <a:rPr lang="en-US" sz="2800" b="1" dirty="0">
                          <a:effectLst/>
                        </a:rPr>
                        <a:t> </a:t>
                      </a:r>
                      <a:endParaRPr lang="en-IN" sz="2800" b="1" dirty="0">
                        <a:effectLst/>
                      </a:endParaRPr>
                    </a:p>
                    <a:p>
                      <a:pPr marL="0" marR="0" indent="0" algn="just">
                        <a:lnSpc>
                          <a:spcPct val="97000"/>
                        </a:lnSpc>
                        <a:spcAft>
                          <a:spcPts val="10"/>
                        </a:spcAft>
                        <a:buNone/>
                      </a:pPr>
                      <a:r>
                        <a:rPr lang="en-IN" sz="2800" b="1" dirty="0">
                          <a:effectLst/>
                        </a:rPr>
                        <a:t>Cellular Networks: </a:t>
                      </a:r>
                      <a:r>
                        <a:rPr lang="en-IN" sz="2800" dirty="0">
                          <a:effectLst/>
                        </a:rPr>
                        <a:t>An overview, Different generations in cellular communication systems, Introduction to 5G and 6G</a:t>
                      </a:r>
                    </a:p>
                    <a:p>
                      <a:pPr marL="0" marR="0" indent="0" algn="just">
                        <a:lnSpc>
                          <a:spcPct val="97000"/>
                        </a:lnSpc>
                        <a:spcAft>
                          <a:spcPts val="10"/>
                        </a:spcAft>
                        <a:buNone/>
                      </a:pPr>
                      <a:r>
                        <a:rPr lang="en-IN" sz="2800" dirty="0">
                          <a:effectLst/>
                        </a:rPr>
                        <a:t> </a:t>
                      </a:r>
                    </a:p>
                    <a:p>
                      <a:pPr marL="0" marR="0" indent="0" algn="just">
                        <a:lnSpc>
                          <a:spcPct val="97000"/>
                        </a:lnSpc>
                        <a:spcAft>
                          <a:spcPts val="10"/>
                        </a:spcAft>
                        <a:buNone/>
                      </a:pPr>
                      <a:r>
                        <a:rPr lang="en-IN" sz="2800" b="1" dirty="0">
                          <a:effectLst/>
                        </a:rPr>
                        <a:t>Smart Technology: </a:t>
                      </a:r>
                      <a:r>
                        <a:rPr lang="en-IN" sz="2800" dirty="0">
                          <a:effectLst/>
                        </a:rPr>
                        <a:t>Introduction to IoT Architecture, Sensors and Transducers, Wireless Sensor Network</a:t>
                      </a:r>
                      <a:endParaRPr lang="en-IN" sz="2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616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3073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7886700" cy="1325563"/>
          </a:xfrm>
        </p:spPr>
        <p:txBody>
          <a:bodyPr>
            <a:normAutofit/>
          </a:bodyPr>
          <a:lstStyle/>
          <a:p>
            <a:r>
              <a:rPr lang="en-US" sz="4400" b="1" dirty="0"/>
              <a:t>Subscribed Textbooks:</a:t>
            </a:r>
            <a:endParaRPr lang="en-IN" sz="4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295400"/>
            <a:ext cx="8991600" cy="5562599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200000"/>
              </a:lnSpc>
            </a:pPr>
            <a:r>
              <a:rPr lang="en-IN" b="1" dirty="0"/>
              <a:t>Robert L. </a:t>
            </a:r>
            <a:r>
              <a:rPr lang="en-IN" b="1" dirty="0" err="1"/>
              <a:t>Boylestad</a:t>
            </a:r>
            <a:r>
              <a:rPr lang="en-IN" b="1" dirty="0"/>
              <a:t>  &amp; Louis </a:t>
            </a:r>
            <a:r>
              <a:rPr lang="en-IN" b="1" dirty="0" err="1"/>
              <a:t>Nashelsky</a:t>
            </a:r>
            <a:r>
              <a:rPr lang="en-IN" b="1" dirty="0"/>
              <a:t> “Electronic Devices and Circuit Theory”, Pearson Education. </a:t>
            </a:r>
          </a:p>
          <a:p>
            <a:pPr algn="just">
              <a:lnSpc>
                <a:spcPct val="200000"/>
              </a:lnSpc>
            </a:pPr>
            <a:r>
              <a:rPr lang="en-IN" b="1" dirty="0"/>
              <a:t>H S </a:t>
            </a:r>
            <a:r>
              <a:rPr lang="en-IN" b="1" dirty="0" err="1"/>
              <a:t>Kalsi</a:t>
            </a:r>
            <a:r>
              <a:rPr lang="en-IN" b="1" dirty="0"/>
              <a:t>, “Electronic Instrumentation”, McGraw Publication 3. George Kennedy, “Electronic Communication Systems”, McGraw Publication</a:t>
            </a:r>
          </a:p>
          <a:p>
            <a:pPr algn="just">
              <a:lnSpc>
                <a:spcPct val="200000"/>
              </a:lnSpc>
            </a:pPr>
            <a:r>
              <a:rPr lang="en-IN" b="1" dirty="0"/>
              <a:t>David A. Bell, “Electronic Devices and Circuits”, Oxford University Press. </a:t>
            </a:r>
          </a:p>
          <a:p>
            <a:pPr algn="just">
              <a:lnSpc>
                <a:spcPct val="200000"/>
              </a:lnSpc>
            </a:pPr>
            <a:r>
              <a:rPr lang="en-IN" b="1" dirty="0"/>
              <a:t>Jacob </a:t>
            </a:r>
            <a:r>
              <a:rPr lang="en-IN" b="1" dirty="0" err="1"/>
              <a:t>Millman</a:t>
            </a:r>
            <a:r>
              <a:rPr lang="en-IN" b="1" dirty="0"/>
              <a:t>, C.C. </a:t>
            </a:r>
            <a:r>
              <a:rPr lang="en-IN" b="1" dirty="0" err="1"/>
              <a:t>Halkias</a:t>
            </a:r>
            <a:r>
              <a:rPr lang="en-IN" b="1" dirty="0"/>
              <a:t>, </a:t>
            </a:r>
            <a:r>
              <a:rPr lang="en-IN" b="1" dirty="0" err="1"/>
              <a:t>Staya</a:t>
            </a:r>
            <a:r>
              <a:rPr lang="en-IN" b="1" dirty="0"/>
              <a:t> </a:t>
            </a:r>
            <a:r>
              <a:rPr lang="en-IN" b="1" dirty="0" err="1"/>
              <a:t>brataJit</a:t>
            </a:r>
            <a:r>
              <a:rPr lang="en-IN" b="1" dirty="0"/>
              <a:t>, “Electronic Devices and Circuits”, McGraw Hill </a:t>
            </a:r>
          </a:p>
          <a:p>
            <a:pPr algn="just">
              <a:lnSpc>
                <a:spcPct val="200000"/>
              </a:lnSpc>
            </a:pPr>
            <a:r>
              <a:rPr lang="en-IN" b="1" dirty="0"/>
              <a:t>David A. Bell, Electronic Instrumentation and Measurements, Latest Edition, Oxford University Press India </a:t>
            </a:r>
          </a:p>
        </p:txBody>
      </p:sp>
    </p:spTree>
    <p:extLst>
      <p:ext uri="{BB962C8B-B14F-4D97-AF65-F5344CB8AC3E}">
        <p14:creationId xmlns:p14="http://schemas.microsoft.com/office/powerpoint/2010/main" val="3533875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324850" cy="1325563"/>
          </a:xfrm>
        </p:spPr>
        <p:txBody>
          <a:bodyPr>
            <a:normAutofit/>
          </a:bodyPr>
          <a:lstStyle/>
          <a:p>
            <a:r>
              <a:rPr lang="en-US" sz="4400" b="1" dirty="0"/>
              <a:t>Course Outcomes of this Course</a:t>
            </a:r>
            <a:endParaRPr lang="en-IN" sz="44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884244"/>
              </p:ext>
            </p:extLst>
          </p:nvPr>
        </p:nvGraphicFramePr>
        <p:xfrm>
          <a:off x="190500" y="1690689"/>
          <a:ext cx="8763000" cy="413240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24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38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30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dirty="0">
                          <a:effectLst/>
                        </a:rPr>
                        <a:t>Course Outcome No.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>
                          <a:effectLst/>
                        </a:rPr>
                        <a:t>Statement</a:t>
                      </a:r>
                      <a:endParaRPr lang="en-IN" sz="18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1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>
                          <a:effectLst/>
                        </a:rPr>
                        <a:t>CO1</a:t>
                      </a:r>
                      <a:endParaRPr lang="en-IN" sz="18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35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Understand the working principle and characteristics of diodes and their various applications.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81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>
                          <a:effectLst/>
                        </a:rPr>
                        <a:t>CO2</a:t>
                      </a:r>
                      <a:endParaRPr lang="en-IN" sz="18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Understand the working principle and characteristics of Transistors (BJT, FET &amp; CMOS) in various configurations.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1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>
                          <a:effectLst/>
                        </a:rPr>
                        <a:t>CO3</a:t>
                      </a:r>
                      <a:endParaRPr lang="en-IN" sz="18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Understand the concepts of number systems, logic gates, binary arithmetic, Boolean algebra and Karnaugh maps for digital circuit design. 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10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>
                          <a:effectLst/>
                        </a:rPr>
                        <a:t>CO4</a:t>
                      </a:r>
                      <a:endParaRPr lang="en-IN" sz="18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Apply Op-amp &amp; IC-555 in various practical applications.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948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>
                          <a:effectLst/>
                        </a:rPr>
                        <a:t>CO5</a:t>
                      </a:r>
                      <a:endParaRPr lang="en-IN" sz="1800" b="1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Understand the fundamentals &amp; recent trends in Communication Engineering.</a:t>
                      </a:r>
                      <a:endParaRPr lang="en-IN" sz="1800" b="1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2742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64671-1361-4028-BA88-F4E9138F9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50373"/>
            <a:ext cx="8763000" cy="1012373"/>
          </a:xfrm>
        </p:spPr>
        <p:txBody>
          <a:bodyPr>
            <a:noAutofit/>
          </a:bodyPr>
          <a:lstStyle/>
          <a:p>
            <a:r>
              <a:rPr lang="en-IN" sz="4800" dirty="0">
                <a:solidFill>
                  <a:schemeClr val="tx1"/>
                </a:solidFill>
              </a:rPr>
              <a:t>What is Electronics Engineering &amp; why do we need to study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9C851-8A32-412F-A5A5-BA17658FE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1543897"/>
            <a:ext cx="8763000" cy="529045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  <a:effectLst/>
              </a:rPr>
              <a:t>Electronics engineering is a form of engineering associated with electronic circuits, devices and the equipment and systems that use them.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chemeClr val="tx1"/>
                </a:solidFill>
                <a:effectLst/>
              </a:rPr>
              <a:t>The sub-disciplines of Electronics Engineering include Power, Control, Microelectronics, Signal Processing, Telecommunications, Instrumentation, VLSI &amp; Software.</a:t>
            </a:r>
          </a:p>
          <a:p>
            <a:pPr algn="just">
              <a:lnSpc>
                <a:spcPct val="150000"/>
              </a:lnSpc>
            </a:pPr>
            <a:r>
              <a:rPr lang="en-IN" sz="2400" b="1" dirty="0">
                <a:solidFill>
                  <a:schemeClr val="tx1"/>
                </a:solidFill>
              </a:rPr>
              <a:t>Electronics Engineering is a dynamically changing and widening branch of the engineering profession, having applications in every discipline of engineering.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400" b="1" dirty="0">
              <a:solidFill>
                <a:schemeClr val="tx1"/>
              </a:solidFill>
            </a:endParaRPr>
          </a:p>
          <a:p>
            <a:pPr marL="36900" indent="0" algn="just">
              <a:lnSpc>
                <a:spcPct val="150000"/>
              </a:lnSpc>
              <a:buNone/>
            </a:pPr>
            <a:endParaRPr lang="en-US" sz="2400" b="1" dirty="0">
              <a:solidFill>
                <a:schemeClr val="tx1"/>
              </a:solidFill>
              <a:effectLst/>
            </a:endParaRPr>
          </a:p>
          <a:p>
            <a:pPr algn="just">
              <a:lnSpc>
                <a:spcPct val="150000"/>
              </a:lnSpc>
            </a:pPr>
            <a:endParaRPr lang="en-IN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5729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4000" b="1" dirty="0"/>
              <a:t>Difference between Electrical Engineering &amp; Electronics Engineering</a:t>
            </a:r>
            <a:endParaRPr lang="en-IN" sz="4000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3474287"/>
              </p:ext>
            </p:extLst>
          </p:nvPr>
        </p:nvGraphicFramePr>
        <p:xfrm>
          <a:off x="304800" y="1828800"/>
          <a:ext cx="861060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3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2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err="1"/>
                        <a:t>S.No</a:t>
                      </a:r>
                      <a:r>
                        <a:rPr lang="en-US" sz="2800" b="1" dirty="0"/>
                        <a:t>.</a:t>
                      </a:r>
                      <a:endParaRPr lang="en-IN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Parameters</a:t>
                      </a:r>
                      <a:endParaRPr lang="en-IN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Electrical</a:t>
                      </a:r>
                      <a:r>
                        <a:rPr lang="en-US" sz="2800" b="1" baseline="0" dirty="0"/>
                        <a:t> </a:t>
                      </a:r>
                      <a:r>
                        <a:rPr lang="en-US" sz="2800" b="1" baseline="0" dirty="0" err="1"/>
                        <a:t>Engg</a:t>
                      </a:r>
                      <a:r>
                        <a:rPr lang="en-US" sz="2800" b="1" baseline="0" dirty="0"/>
                        <a:t>.</a:t>
                      </a:r>
                      <a:endParaRPr lang="en-IN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Electronics </a:t>
                      </a:r>
                      <a:r>
                        <a:rPr lang="en-US" sz="2800" b="1" dirty="0" err="1"/>
                        <a:t>Engg</a:t>
                      </a:r>
                      <a:r>
                        <a:rPr lang="en-US" sz="2800" b="1" dirty="0"/>
                        <a:t>.</a:t>
                      </a:r>
                      <a:endParaRPr lang="en-IN" sz="2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  <a:endParaRPr lang="en-IN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Conducting</a:t>
                      </a:r>
                      <a:r>
                        <a:rPr lang="en-US" sz="2000" b="1" baseline="0" dirty="0"/>
                        <a:t> Medium</a:t>
                      </a:r>
                      <a:endParaRPr lang="en-IN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Usually</a:t>
                      </a:r>
                      <a:r>
                        <a:rPr lang="en-US" sz="2000" b="1" baseline="0" dirty="0"/>
                        <a:t> metals and alloys</a:t>
                      </a:r>
                      <a:endParaRPr lang="en-IN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Semiconductors </a:t>
                      </a:r>
                      <a:endParaRPr lang="en-IN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2</a:t>
                      </a:r>
                      <a:endParaRPr lang="en-IN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Operating voltages and currents</a:t>
                      </a:r>
                      <a:endParaRPr lang="en-IN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60</a:t>
                      </a:r>
                      <a:r>
                        <a:rPr lang="en-US" sz="2000" b="1" baseline="0" dirty="0"/>
                        <a:t> V or more</a:t>
                      </a:r>
                    </a:p>
                    <a:p>
                      <a:pPr algn="ctr"/>
                      <a:r>
                        <a:rPr lang="en-US" sz="2000" b="1" baseline="0" dirty="0"/>
                        <a:t>In order of A</a:t>
                      </a:r>
                      <a:endParaRPr lang="en-IN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Less than</a:t>
                      </a:r>
                      <a:r>
                        <a:rPr lang="en-US" sz="2000" b="1" baseline="0" dirty="0"/>
                        <a:t> 50 V</a:t>
                      </a:r>
                    </a:p>
                    <a:p>
                      <a:pPr algn="ctr"/>
                      <a:r>
                        <a:rPr lang="en-US" sz="2000" b="1" baseline="0" dirty="0"/>
                        <a:t>In order of mA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3</a:t>
                      </a:r>
                      <a:endParaRPr lang="en-IN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Charge carriers</a:t>
                      </a:r>
                      <a:endParaRPr lang="en-IN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Electrons</a:t>
                      </a:r>
                      <a:endParaRPr lang="en-IN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Electrons or</a:t>
                      </a:r>
                      <a:r>
                        <a:rPr lang="en-US" sz="2000" b="1" baseline="0" dirty="0"/>
                        <a:t> Holes or Both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4</a:t>
                      </a:r>
                      <a:endParaRPr lang="en-IN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Applications</a:t>
                      </a:r>
                      <a:endParaRPr lang="en-IN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High</a:t>
                      </a:r>
                      <a:r>
                        <a:rPr lang="en-US" sz="2000" b="1" baseline="0" dirty="0"/>
                        <a:t> voltage applications</a:t>
                      </a:r>
                      <a:endParaRPr lang="en-IN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Low voltage applications</a:t>
                      </a:r>
                      <a:endParaRPr lang="en-IN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7894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9C851-8A32-412F-A5A5-BA17658FE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371600"/>
            <a:ext cx="7772400" cy="5181600"/>
          </a:xfrm>
        </p:spPr>
        <p:txBody>
          <a:bodyPr>
            <a:normAutofit/>
          </a:bodyPr>
          <a:lstStyle/>
          <a:p>
            <a:pPr marL="36900" indent="0" algn="ctr">
              <a:buNone/>
            </a:pPr>
            <a:endParaRPr lang="en-IN" sz="9600" dirty="0"/>
          </a:p>
          <a:p>
            <a:pPr marL="36900" indent="0" algn="ctr">
              <a:buNone/>
            </a:pPr>
            <a:r>
              <a:rPr lang="en-IN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88315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1327</TotalTime>
  <Words>816</Words>
  <Application>Microsoft Office PowerPoint</Application>
  <PresentationFormat>On-screen Show (4:3)</PresentationFormat>
  <Paragraphs>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Arial Rounded MT Bold</vt:lpstr>
      <vt:lpstr>Calibri</vt:lpstr>
      <vt:lpstr>Times New Roman</vt:lpstr>
      <vt:lpstr>Office Theme</vt:lpstr>
      <vt:lpstr> An Introduction  to  “Basics of Electronics Engineering” </vt:lpstr>
      <vt:lpstr>University Curriculum with Evaluation Scheme</vt:lpstr>
      <vt:lpstr>Syllabus</vt:lpstr>
      <vt:lpstr>PowerPoint Presentation</vt:lpstr>
      <vt:lpstr>PowerPoint Presentation</vt:lpstr>
      <vt:lpstr>PowerPoint Presentation</vt:lpstr>
      <vt:lpstr>PowerPoint Presentation</vt:lpstr>
      <vt:lpstr>Subscribed Textbooks:</vt:lpstr>
      <vt:lpstr>Course Outcomes of this Course</vt:lpstr>
      <vt:lpstr>What is Electronics Engineering &amp; why do we need to study it?</vt:lpstr>
      <vt:lpstr>Difference between Electrical Engineering &amp; Electronics Engineering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Electronics Engineering – An Introduction</dc:title>
  <dc:creator>arpita johri</dc:creator>
  <cp:lastModifiedBy>arpita johri</cp:lastModifiedBy>
  <cp:revision>58</cp:revision>
  <dcterms:created xsi:type="dcterms:W3CDTF">2020-05-08T01:48:53Z</dcterms:created>
  <dcterms:modified xsi:type="dcterms:W3CDTF">2025-09-08T02:36:38Z</dcterms:modified>
</cp:coreProperties>
</file>