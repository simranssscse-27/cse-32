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71" r:id="rId5"/>
    <p:sldId id="258" r:id="rId6"/>
    <p:sldId id="261" r:id="rId7"/>
    <p:sldId id="262" r:id="rId8"/>
    <p:sldId id="264" r:id="rId9"/>
    <p:sldId id="263"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127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7796-09F0-274F-A915-E0EAE55BDF1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A09140FC-98C1-6C37-EFDA-0622E8DB53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F254A244-2218-BDBD-CF05-8E191595C6D4}"/>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3402B26C-C70B-7D0B-E5B1-6B35403306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492CA3-C7D1-971B-E39F-58C066284356}"/>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670357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C9C5-F65B-9EB8-68CE-E5B00E4607D3}"/>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85281339-26CB-BC0D-012B-2A27E3FED4B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19505E7-F24C-423D-090B-6E64813DBBCB}"/>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294F3EB4-E7EB-D96C-41EF-417899A51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79B475-1BD3-0050-7A10-C4E73B48DF40}"/>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3290378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4A052-3B67-F24C-61F0-3C658819B17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0843358F-2193-9CC9-A9E5-24FFEAB5FF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689ED15-8BE8-F8D4-9455-A0A186D2E64D}"/>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EB9FFB9C-66AB-86FA-0E11-5C53D0F21D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B5D8F2-2E77-1252-BEE0-282FDBF21D64}"/>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940244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E874E-9976-FD6B-2745-93B0F5AE7C0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109E9C84-AC40-2C89-3811-3CBE3AC4C7A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488D50EA-D813-A699-5B12-3C3029C88E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50CCE7F6-6815-1797-7777-F3318D224A90}"/>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6" name="Footer Placeholder 5">
            <a:extLst>
              <a:ext uri="{FF2B5EF4-FFF2-40B4-BE49-F238E27FC236}">
                <a16:creationId xmlns:a16="http://schemas.microsoft.com/office/drawing/2014/main" id="{DF4775A6-7450-C757-1808-CA55C87FAB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5EC72C-FDBD-DEBD-8075-B45C4B1FEC8D}"/>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845798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B1DE-9EBC-3A2C-39DF-874F9E4FAA0A}"/>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F23DB92D-DA37-09E7-8DF6-E1DD959CAA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1D278BD-949E-BA85-B8F2-F52F4DE72FE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9D92575-7ACA-95B8-88FD-303489F066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EA83117-8270-2156-57AA-CFE655CE584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A9358FEA-63FF-3D64-77B4-CDA8A9C2F96E}"/>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8" name="Footer Placeholder 7">
            <a:extLst>
              <a:ext uri="{FF2B5EF4-FFF2-40B4-BE49-F238E27FC236}">
                <a16:creationId xmlns:a16="http://schemas.microsoft.com/office/drawing/2014/main" id="{C6717E7F-E2C9-BA20-CA2B-F2FB440A96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CDC011-A26F-9404-D623-496627620830}"/>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3186544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7C772-A9D1-B957-AB0D-E284C10FF604}"/>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BDA733B1-A4BE-158B-D8A7-9662EDB68993}"/>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4" name="Footer Placeholder 3">
            <a:extLst>
              <a:ext uri="{FF2B5EF4-FFF2-40B4-BE49-F238E27FC236}">
                <a16:creationId xmlns:a16="http://schemas.microsoft.com/office/drawing/2014/main" id="{077ED278-39B4-EB77-1B54-80889F1828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82308C-B785-B63A-DCF8-FD0D0F80DD9D}"/>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130970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19D526-15D6-41C2-DC67-AF24211B0A93}"/>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3" name="Footer Placeholder 2">
            <a:extLst>
              <a:ext uri="{FF2B5EF4-FFF2-40B4-BE49-F238E27FC236}">
                <a16:creationId xmlns:a16="http://schemas.microsoft.com/office/drawing/2014/main" id="{5FA05AE0-77E1-3871-DB59-E602C5776D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FF82753-A74B-13FC-A05B-C1500DE06B3D}"/>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55306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294A-8C93-E1FF-A66B-20AD7ACA8D8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71EC360F-4FBE-11EE-8578-E496CF757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B2844D84-5699-46BA-874D-6475F0A744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F902B5-00D3-2A67-1A04-DCB7507B285A}"/>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6" name="Footer Placeholder 5">
            <a:extLst>
              <a:ext uri="{FF2B5EF4-FFF2-40B4-BE49-F238E27FC236}">
                <a16:creationId xmlns:a16="http://schemas.microsoft.com/office/drawing/2014/main" id="{E741283F-A9F0-4042-F83B-73EE468E4A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82FA40-091C-F79B-9E68-96186FCF6FD9}"/>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2805656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1922-CD5C-02F1-7FE7-1E2650FE0F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F7E53264-29FD-0A46-B502-E5443B964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56450D-76D5-3234-DEFF-AFA4402C4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EDF1FD5-24FC-5D0E-1A3D-44BEF560CAC0}"/>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6" name="Footer Placeholder 5">
            <a:extLst>
              <a:ext uri="{FF2B5EF4-FFF2-40B4-BE49-F238E27FC236}">
                <a16:creationId xmlns:a16="http://schemas.microsoft.com/office/drawing/2014/main" id="{912F8FC2-3768-FB3C-2138-857C30DE81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EF4BCB-B12B-BD2C-6F7D-CAD45CFF9BCE}"/>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3594200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D6803-4234-C86F-9F7C-C7A894578704}"/>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2802DEC9-D9A3-A706-F760-9CD9A981ABD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CBCEC2B-AD01-9330-130A-3A6CBB458F72}"/>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91BF6BA0-A30B-B6A8-2934-400D39EA5A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BD66EC-9025-354D-DAD7-98376E95890F}"/>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4173098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53BBCA-0F09-FB4C-8473-A59FE52EFEC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7938A2DB-019F-86DD-3116-2E027BCBAF3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DC5ED88-1209-9B90-19CA-231B16F88A38}"/>
              </a:ext>
            </a:extLst>
          </p:cNvPr>
          <p:cNvSpPr>
            <a:spLocks noGrp="1"/>
          </p:cNvSpPr>
          <p:nvPr>
            <p:ph type="dt" sz="half" idx="10"/>
          </p:nvPr>
        </p:nvSpPr>
        <p:spPr/>
        <p:txBody>
          <a:body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E32EB6DC-382D-6B4D-E38F-3CC8C4D8FD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AE58CA-F335-165C-397F-C8D8B2CBE256}"/>
              </a:ext>
            </a:extLst>
          </p:cNvPr>
          <p:cNvSpPr>
            <a:spLocks noGrp="1"/>
          </p:cNvSpPr>
          <p:nvPr>
            <p:ph type="sldNum" sz="quarter" idx="12"/>
          </p:nvPr>
        </p:nvSpPr>
        <p:spPr/>
        <p:txBody>
          <a:bodyPr/>
          <a:lstStyle/>
          <a:p>
            <a:fld id="{87A4497A-1862-46F0-B0B2-016A89C40B26}" type="slidenum">
              <a:rPr lang="en-IN" smtClean="0"/>
              <a:t>‹#›</a:t>
            </a:fld>
            <a:endParaRPr lang="en-IN"/>
          </a:p>
        </p:txBody>
      </p:sp>
    </p:spTree>
    <p:extLst>
      <p:ext uri="{BB962C8B-B14F-4D97-AF65-F5344CB8AC3E}">
        <p14:creationId xmlns:p14="http://schemas.microsoft.com/office/powerpoint/2010/main" val="332828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0D3C3B-B14A-FA58-9EF3-A1F81E6D9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092C98BE-A420-ABA5-682B-39D7A108BA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BE17E18-7B1A-376D-358C-2D3293C6D6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FEF400-9D69-4A3C-929E-B63754B8A5A3}" type="datetimeFigureOut">
              <a:rPr lang="en-IN" smtClean="0"/>
              <a:t>08-12-2025</a:t>
            </a:fld>
            <a:endParaRPr lang="en-IN"/>
          </a:p>
        </p:txBody>
      </p:sp>
      <p:sp>
        <p:nvSpPr>
          <p:cNvPr id="5" name="Footer Placeholder 4">
            <a:extLst>
              <a:ext uri="{FF2B5EF4-FFF2-40B4-BE49-F238E27FC236}">
                <a16:creationId xmlns:a16="http://schemas.microsoft.com/office/drawing/2014/main" id="{659C0B27-0368-3C8C-3C7F-390D95DB18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70D011A-1794-161A-0D37-F897E53140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4497A-1862-46F0-B0B2-016A89C40B26}" type="slidenum">
              <a:rPr lang="en-IN" smtClean="0"/>
              <a:t>‹#›</a:t>
            </a:fld>
            <a:endParaRPr lang="en-IN"/>
          </a:p>
        </p:txBody>
      </p:sp>
    </p:spTree>
    <p:extLst>
      <p:ext uri="{BB962C8B-B14F-4D97-AF65-F5344CB8AC3E}">
        <p14:creationId xmlns:p14="http://schemas.microsoft.com/office/powerpoint/2010/main" val="826110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DD9D9-8C4B-65DA-B65E-67B8F592E7F8}"/>
              </a:ext>
            </a:extLst>
          </p:cNvPr>
          <p:cNvSpPr>
            <a:spLocks noGrp="1"/>
          </p:cNvSpPr>
          <p:nvPr>
            <p:ph type="ctrTitle"/>
          </p:nvPr>
        </p:nvSpPr>
        <p:spPr>
          <a:xfrm>
            <a:off x="1757083" y="1041400"/>
            <a:ext cx="9144000" cy="2387600"/>
          </a:xfrm>
        </p:spPr>
        <p:txBody>
          <a:bodyPr>
            <a:normAutofit/>
          </a:bodyPr>
          <a:lstStyle/>
          <a:p>
            <a:r>
              <a:rPr lang="en-GB" sz="7200" dirty="0"/>
              <a:t>Cellular Networks</a:t>
            </a:r>
            <a:endParaRPr lang="en-IN" sz="7200" dirty="0"/>
          </a:p>
        </p:txBody>
      </p:sp>
    </p:spTree>
    <p:extLst>
      <p:ext uri="{BB962C8B-B14F-4D97-AF65-F5344CB8AC3E}">
        <p14:creationId xmlns:p14="http://schemas.microsoft.com/office/powerpoint/2010/main" val="3034844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E41D-AB78-9539-EC7A-B9FE0A6EE9A2}"/>
              </a:ext>
            </a:extLst>
          </p:cNvPr>
          <p:cNvSpPr>
            <a:spLocks noGrp="1"/>
          </p:cNvSpPr>
          <p:nvPr>
            <p:ph type="title"/>
          </p:nvPr>
        </p:nvSpPr>
        <p:spPr/>
        <p:txBody>
          <a:bodyPr/>
          <a:lstStyle/>
          <a:p>
            <a:pPr algn="ctr"/>
            <a:r>
              <a:rPr lang="en-GB" b="1" dirty="0"/>
              <a:t>Outline</a:t>
            </a:r>
            <a:endParaRPr lang="en-IN" b="1" dirty="0"/>
          </a:p>
        </p:txBody>
      </p:sp>
      <p:sp>
        <p:nvSpPr>
          <p:cNvPr id="3" name="Content Placeholder 2">
            <a:extLst>
              <a:ext uri="{FF2B5EF4-FFF2-40B4-BE49-F238E27FC236}">
                <a16:creationId xmlns:a16="http://schemas.microsoft.com/office/drawing/2014/main" id="{48659F11-336B-D79C-7A94-7D9ADF1F5178}"/>
              </a:ext>
            </a:extLst>
          </p:cNvPr>
          <p:cNvSpPr>
            <a:spLocks noGrp="1"/>
          </p:cNvSpPr>
          <p:nvPr>
            <p:ph idx="1"/>
          </p:nvPr>
        </p:nvSpPr>
        <p:spPr>
          <a:xfrm>
            <a:off x="838199" y="1825625"/>
            <a:ext cx="11013141" cy="4351338"/>
          </a:xfrm>
        </p:spPr>
        <p:txBody>
          <a:bodyPr>
            <a:normAutofit fontScale="85000" lnSpcReduction="10000"/>
          </a:bodyPr>
          <a:lstStyle/>
          <a:p>
            <a:pPr>
              <a:lnSpc>
                <a:spcPct val="200000"/>
              </a:lnSpc>
            </a:pPr>
            <a:r>
              <a:rPr lang="en-GB" sz="4000" dirty="0"/>
              <a:t>An overview</a:t>
            </a:r>
          </a:p>
          <a:p>
            <a:pPr>
              <a:lnSpc>
                <a:spcPct val="200000"/>
              </a:lnSpc>
            </a:pPr>
            <a:r>
              <a:rPr lang="en-GB" sz="4000" dirty="0"/>
              <a:t>Different generations in cellular communication systems</a:t>
            </a:r>
          </a:p>
          <a:p>
            <a:pPr>
              <a:lnSpc>
                <a:spcPct val="200000"/>
              </a:lnSpc>
            </a:pPr>
            <a:r>
              <a:rPr lang="en-GB" sz="4000" dirty="0"/>
              <a:t>Introduction to 5G and 6G</a:t>
            </a:r>
          </a:p>
          <a:p>
            <a:pPr>
              <a:lnSpc>
                <a:spcPct val="200000"/>
              </a:lnSpc>
            </a:pPr>
            <a:endParaRPr lang="en-IN" sz="4000" dirty="0"/>
          </a:p>
        </p:txBody>
      </p:sp>
    </p:spTree>
    <p:extLst>
      <p:ext uri="{BB962C8B-B14F-4D97-AF65-F5344CB8AC3E}">
        <p14:creationId xmlns:p14="http://schemas.microsoft.com/office/powerpoint/2010/main" val="310852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809F0-77BA-854E-4F0F-ECE020BE8DE1}"/>
              </a:ext>
            </a:extLst>
          </p:cNvPr>
          <p:cNvSpPr>
            <a:spLocks noGrp="1"/>
          </p:cNvSpPr>
          <p:nvPr>
            <p:ph type="title"/>
          </p:nvPr>
        </p:nvSpPr>
        <p:spPr>
          <a:xfrm>
            <a:off x="838200" y="365125"/>
            <a:ext cx="10515600" cy="603063"/>
          </a:xfrm>
        </p:spPr>
        <p:txBody>
          <a:bodyPr>
            <a:normAutofit fontScale="90000"/>
          </a:bodyPr>
          <a:lstStyle/>
          <a:p>
            <a:r>
              <a:rPr lang="en-GB" b="1" dirty="0"/>
              <a:t>An Overview</a:t>
            </a:r>
            <a:br>
              <a:rPr lang="en-GB" b="1" dirty="0"/>
            </a:br>
            <a:endParaRPr lang="en-IN" b="1" dirty="0"/>
          </a:p>
        </p:txBody>
      </p:sp>
      <p:sp>
        <p:nvSpPr>
          <p:cNvPr id="5" name="Content Placeholder 4">
            <a:extLst>
              <a:ext uri="{FF2B5EF4-FFF2-40B4-BE49-F238E27FC236}">
                <a16:creationId xmlns:a16="http://schemas.microsoft.com/office/drawing/2014/main" id="{14E7E141-6E05-CBA8-5BDC-7D0D33997157}"/>
              </a:ext>
            </a:extLst>
          </p:cNvPr>
          <p:cNvSpPr>
            <a:spLocks noGrp="1"/>
          </p:cNvSpPr>
          <p:nvPr>
            <p:ph idx="1"/>
          </p:nvPr>
        </p:nvSpPr>
        <p:spPr>
          <a:xfrm>
            <a:off x="358587" y="968188"/>
            <a:ext cx="11833413" cy="5889812"/>
          </a:xfrm>
        </p:spPr>
        <p:txBody>
          <a:bodyPr>
            <a:normAutofit fontScale="92500"/>
          </a:bodyPr>
          <a:lstStyle/>
          <a:p>
            <a:pPr algn="just">
              <a:lnSpc>
                <a:spcPct val="150000"/>
              </a:lnSpc>
            </a:pPr>
            <a:r>
              <a:rPr lang="en-GB" dirty="0"/>
              <a:t>A cellular network (or mobile network as they are also known) is a wireless communication system that divides a geographic area into sections called cells. </a:t>
            </a:r>
          </a:p>
          <a:p>
            <a:pPr algn="just">
              <a:lnSpc>
                <a:spcPct val="150000"/>
              </a:lnSpc>
            </a:pPr>
            <a:r>
              <a:rPr lang="en-GB" dirty="0"/>
              <a:t>Each cell is served by a base station and various other components working together enabling wireless communication to mobile and IoT (Internet of Things) devices. </a:t>
            </a:r>
          </a:p>
          <a:p>
            <a:pPr algn="just">
              <a:lnSpc>
                <a:spcPct val="150000"/>
              </a:lnSpc>
            </a:pPr>
            <a:r>
              <a:rPr lang="en-GB" dirty="0"/>
              <a:t>Cell networks allow mobile devices to connect to the internet, make phone calls and send / receive texts or cellular data. </a:t>
            </a:r>
          </a:p>
          <a:p>
            <a:pPr algn="just">
              <a:lnSpc>
                <a:spcPct val="150000"/>
              </a:lnSpc>
            </a:pPr>
            <a:r>
              <a:rPr lang="en-GB" dirty="0"/>
              <a:t>They do this by switching frequencies seamlessly as users move across different cells.</a:t>
            </a:r>
            <a:endParaRPr lang="en-IN" dirty="0"/>
          </a:p>
        </p:txBody>
      </p:sp>
    </p:spTree>
    <p:extLst>
      <p:ext uri="{BB962C8B-B14F-4D97-AF65-F5344CB8AC3E}">
        <p14:creationId xmlns:p14="http://schemas.microsoft.com/office/powerpoint/2010/main" val="1706885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EMF-Portal | Mobile communication">
            <a:extLst>
              <a:ext uri="{FF2B5EF4-FFF2-40B4-BE49-F238E27FC236}">
                <a16:creationId xmlns:a16="http://schemas.microsoft.com/office/drawing/2014/main" id="{C51E817E-631C-C44D-F88A-C34EABAB4A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900"/>
          <a:stretch>
            <a:fillRect/>
          </a:stretch>
        </p:blipFill>
        <p:spPr bwMode="auto">
          <a:xfrm>
            <a:off x="898851" y="167965"/>
            <a:ext cx="10394297" cy="6522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11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8EABE-1393-9E07-3DE0-AAA32A9E6842}"/>
              </a:ext>
            </a:extLst>
          </p:cNvPr>
          <p:cNvSpPr>
            <a:spLocks noGrp="1"/>
          </p:cNvSpPr>
          <p:nvPr>
            <p:ph type="title"/>
          </p:nvPr>
        </p:nvSpPr>
        <p:spPr/>
        <p:txBody>
          <a:bodyPr/>
          <a:lstStyle/>
          <a:p>
            <a:r>
              <a:rPr lang="en-GB" dirty="0"/>
              <a:t>Different Generations in </a:t>
            </a:r>
            <a:r>
              <a:rPr lang="en-GB"/>
              <a:t>Cellular Networks</a:t>
            </a:r>
            <a:endParaRPr lang="en-IN"/>
          </a:p>
        </p:txBody>
      </p:sp>
      <p:pic>
        <p:nvPicPr>
          <p:cNvPr id="1030" name="Picture 6" descr="What is 5G? - Allixo">
            <a:extLst>
              <a:ext uri="{FF2B5EF4-FFF2-40B4-BE49-F238E27FC236}">
                <a16:creationId xmlns:a16="http://schemas.microsoft.com/office/drawing/2014/main" id="{ACC0C327-0126-969A-7258-0B1C45ADA6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478051" cy="4706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87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25ED-6BCB-9341-0FF8-E1A20C579FB4}"/>
              </a:ext>
            </a:extLst>
          </p:cNvPr>
          <p:cNvSpPr>
            <a:spLocks noGrp="1"/>
          </p:cNvSpPr>
          <p:nvPr>
            <p:ph type="title"/>
          </p:nvPr>
        </p:nvSpPr>
        <p:spPr>
          <a:xfrm>
            <a:off x="838200" y="365125"/>
            <a:ext cx="10515600" cy="549275"/>
          </a:xfrm>
        </p:spPr>
        <p:txBody>
          <a:bodyPr>
            <a:normAutofit fontScale="90000"/>
          </a:bodyPr>
          <a:lstStyle/>
          <a:p>
            <a:r>
              <a:rPr lang="en-GB" b="1" dirty="0"/>
              <a:t>1G Networks (1</a:t>
            </a:r>
            <a:r>
              <a:rPr lang="en-GB" b="1" baseline="30000" dirty="0"/>
              <a:t>st</a:t>
            </a:r>
            <a:r>
              <a:rPr lang="en-GB" b="1" dirty="0"/>
              <a:t> Generation)</a:t>
            </a:r>
            <a:endParaRPr lang="en-IN" b="1" dirty="0"/>
          </a:p>
        </p:txBody>
      </p:sp>
      <p:sp>
        <p:nvSpPr>
          <p:cNvPr id="3" name="Content Placeholder 2">
            <a:extLst>
              <a:ext uri="{FF2B5EF4-FFF2-40B4-BE49-F238E27FC236}">
                <a16:creationId xmlns:a16="http://schemas.microsoft.com/office/drawing/2014/main" id="{AB8521F7-BFC9-F283-A1F7-5D81BC55EDAF}"/>
              </a:ext>
            </a:extLst>
          </p:cNvPr>
          <p:cNvSpPr>
            <a:spLocks noGrp="1"/>
          </p:cNvSpPr>
          <p:nvPr>
            <p:ph idx="1"/>
          </p:nvPr>
        </p:nvSpPr>
        <p:spPr>
          <a:xfrm>
            <a:off x="358588" y="1201271"/>
            <a:ext cx="11636188" cy="5468470"/>
          </a:xfrm>
        </p:spPr>
        <p:txBody>
          <a:bodyPr>
            <a:normAutofit/>
          </a:bodyPr>
          <a:lstStyle/>
          <a:p>
            <a:pPr algn="just" fontAlgn="base"/>
            <a:r>
              <a:rPr lang="en-GB" dirty="0"/>
              <a:t>Mobile telecommunications which was first introduced in 1980s and completed in early 1990s. </a:t>
            </a:r>
          </a:p>
          <a:p>
            <a:pPr algn="just" fontAlgn="base"/>
            <a:r>
              <a:rPr lang="en-GB" dirty="0"/>
              <a:t>Speed was up to 2.4kbps. </a:t>
            </a:r>
          </a:p>
          <a:p>
            <a:pPr algn="just" fontAlgn="base"/>
            <a:r>
              <a:rPr lang="en-GB" dirty="0"/>
              <a:t>The Operating frequency of 1G is 800 MHz and 900 </a:t>
            </a:r>
            <a:r>
              <a:rPr lang="en-GB" dirty="0" err="1"/>
              <a:t>MHz.</a:t>
            </a:r>
            <a:endParaRPr lang="en-GB" dirty="0"/>
          </a:p>
          <a:p>
            <a:pPr algn="just" fontAlgn="base"/>
            <a:r>
              <a:rPr lang="en-GB" dirty="0"/>
              <a:t>First-time calling was introduced in mobile systems.</a:t>
            </a:r>
          </a:p>
          <a:p>
            <a:pPr algn="just" fontAlgn="base"/>
            <a:r>
              <a:rPr lang="en-GB" dirty="0">
                <a:solidFill>
                  <a:srgbClr val="FF0000"/>
                </a:solidFill>
              </a:rPr>
              <a:t>It used </a:t>
            </a:r>
            <a:r>
              <a:rPr lang="en-GB" dirty="0" err="1">
                <a:solidFill>
                  <a:srgbClr val="FF0000"/>
                </a:solidFill>
              </a:rPr>
              <a:t>analog</a:t>
            </a:r>
            <a:r>
              <a:rPr lang="en-GB" dirty="0">
                <a:solidFill>
                  <a:srgbClr val="FF0000"/>
                </a:solidFill>
              </a:rPr>
              <a:t> signals.</a:t>
            </a:r>
          </a:p>
          <a:p>
            <a:pPr algn="just" fontAlgn="base"/>
            <a:r>
              <a:rPr lang="en-GB" dirty="0">
                <a:solidFill>
                  <a:srgbClr val="FF0000"/>
                </a:solidFill>
              </a:rPr>
              <a:t>The coverage area was small.</a:t>
            </a:r>
          </a:p>
          <a:p>
            <a:pPr algn="just" fontAlgn="base"/>
            <a:r>
              <a:rPr lang="en-GB" dirty="0">
                <a:solidFill>
                  <a:srgbClr val="FF0000"/>
                </a:solidFill>
              </a:rPr>
              <a:t>No roaming support between various operators.</a:t>
            </a:r>
          </a:p>
          <a:p>
            <a:r>
              <a:rPr lang="en-GB" dirty="0">
                <a:solidFill>
                  <a:srgbClr val="FF0000"/>
                </a:solidFill>
              </a:rPr>
              <a:t>Only the voice can be transmitted in 1G and its quality is very low.</a:t>
            </a:r>
          </a:p>
          <a:p>
            <a:pPr algn="just"/>
            <a:r>
              <a:rPr lang="en-GB" dirty="0">
                <a:solidFill>
                  <a:srgbClr val="FF0000"/>
                </a:solidFill>
              </a:rPr>
              <a:t>Mobile Phones could not have a long life in battery usage and were very big which was very difficult to carry.</a:t>
            </a:r>
          </a:p>
          <a:p>
            <a:pPr algn="just"/>
            <a:endParaRPr lang="en-IN" dirty="0"/>
          </a:p>
        </p:txBody>
      </p:sp>
    </p:spTree>
    <p:extLst>
      <p:ext uri="{BB962C8B-B14F-4D97-AF65-F5344CB8AC3E}">
        <p14:creationId xmlns:p14="http://schemas.microsoft.com/office/powerpoint/2010/main" val="368927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734D1-2ECF-2825-7E85-10C83A8A8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5061B-E1A8-ECF7-15BF-4D90B210EB23}"/>
              </a:ext>
            </a:extLst>
          </p:cNvPr>
          <p:cNvSpPr>
            <a:spLocks noGrp="1"/>
          </p:cNvSpPr>
          <p:nvPr>
            <p:ph type="title"/>
          </p:nvPr>
        </p:nvSpPr>
        <p:spPr>
          <a:xfrm>
            <a:off x="838200" y="365125"/>
            <a:ext cx="10515600" cy="549275"/>
          </a:xfrm>
        </p:spPr>
        <p:txBody>
          <a:bodyPr>
            <a:normAutofit fontScale="90000"/>
          </a:bodyPr>
          <a:lstStyle/>
          <a:p>
            <a:r>
              <a:rPr lang="en-GB" b="1" dirty="0"/>
              <a:t>2G Networks (2</a:t>
            </a:r>
            <a:r>
              <a:rPr lang="en-GB" b="1" baseline="30000" dirty="0"/>
              <a:t>nd</a:t>
            </a:r>
            <a:r>
              <a:rPr lang="en-GB" b="1" dirty="0"/>
              <a:t> Generation)</a:t>
            </a:r>
            <a:endParaRPr lang="en-IN" b="1" dirty="0"/>
          </a:p>
        </p:txBody>
      </p:sp>
      <p:sp>
        <p:nvSpPr>
          <p:cNvPr id="3" name="Content Placeholder 2">
            <a:extLst>
              <a:ext uri="{FF2B5EF4-FFF2-40B4-BE49-F238E27FC236}">
                <a16:creationId xmlns:a16="http://schemas.microsoft.com/office/drawing/2014/main" id="{2CF19C27-314B-F86C-5816-E8264DB797DD}"/>
              </a:ext>
            </a:extLst>
          </p:cNvPr>
          <p:cNvSpPr>
            <a:spLocks noGrp="1"/>
          </p:cNvSpPr>
          <p:nvPr>
            <p:ph idx="1"/>
          </p:nvPr>
        </p:nvSpPr>
        <p:spPr>
          <a:xfrm>
            <a:off x="358588" y="1201271"/>
            <a:ext cx="11636188" cy="5468470"/>
          </a:xfrm>
        </p:spPr>
        <p:txBody>
          <a:bodyPr>
            <a:normAutofit fontScale="92500" lnSpcReduction="20000"/>
          </a:bodyPr>
          <a:lstStyle/>
          <a:p>
            <a:pPr algn="just" fontAlgn="base">
              <a:lnSpc>
                <a:spcPct val="150000"/>
              </a:lnSpc>
            </a:pPr>
            <a:r>
              <a:rPr lang="en-GB" dirty="0"/>
              <a:t>Shifted from </a:t>
            </a:r>
            <a:r>
              <a:rPr lang="en-GB" dirty="0" err="1"/>
              <a:t>analog</a:t>
            </a:r>
            <a:r>
              <a:rPr lang="en-GB" dirty="0"/>
              <a:t> to digital.</a:t>
            </a:r>
          </a:p>
          <a:p>
            <a:pPr algn="just" fontAlgn="base">
              <a:lnSpc>
                <a:spcPct val="150000"/>
              </a:lnSpc>
            </a:pPr>
            <a:r>
              <a:rPr lang="en-GB" dirty="0"/>
              <a:t>To have advancement over the 1G, the GSM (Global System for Mobile Communication) was introduced. </a:t>
            </a:r>
          </a:p>
          <a:p>
            <a:pPr algn="just" fontAlgn="base">
              <a:lnSpc>
                <a:spcPct val="150000"/>
              </a:lnSpc>
            </a:pPr>
            <a:r>
              <a:rPr lang="en-GB" dirty="0"/>
              <a:t>In the current technology, every system has the basis of GSM. This generation is responsible for the upgradation from voice calls to MMS (Multimedia Messaging System) and SMS (Short Message Systems).</a:t>
            </a:r>
          </a:p>
          <a:p>
            <a:pPr algn="just">
              <a:lnSpc>
                <a:spcPct val="150000"/>
              </a:lnSpc>
            </a:pPr>
            <a:r>
              <a:rPr lang="en-GB" dirty="0"/>
              <a:t>The operating frequency of 2G is1.8GHz.</a:t>
            </a:r>
          </a:p>
          <a:p>
            <a:pPr algn="just">
              <a:lnSpc>
                <a:spcPct val="150000"/>
              </a:lnSpc>
            </a:pPr>
            <a:r>
              <a:rPr lang="en-GB" dirty="0"/>
              <a:t>The data speed of 2G is nearly up to 64 Kbps.</a:t>
            </a:r>
          </a:p>
          <a:p>
            <a:pPr algn="just">
              <a:lnSpc>
                <a:spcPct val="150000"/>
              </a:lnSpc>
            </a:pPr>
            <a:r>
              <a:rPr lang="en-GB" dirty="0"/>
              <a:t>The Voice quality also improved from 1G, it supports both voice and data.</a:t>
            </a:r>
          </a:p>
        </p:txBody>
      </p:sp>
    </p:spTree>
    <p:extLst>
      <p:ext uri="{BB962C8B-B14F-4D97-AF65-F5344CB8AC3E}">
        <p14:creationId xmlns:p14="http://schemas.microsoft.com/office/powerpoint/2010/main" val="2548194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BFA00-5F14-E4A8-0B79-936EDC768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FC026-BB0E-5953-4920-BFEEAEA4F618}"/>
              </a:ext>
            </a:extLst>
          </p:cNvPr>
          <p:cNvSpPr>
            <a:spLocks noGrp="1"/>
          </p:cNvSpPr>
          <p:nvPr>
            <p:ph type="title"/>
          </p:nvPr>
        </p:nvSpPr>
        <p:spPr>
          <a:xfrm>
            <a:off x="838200" y="365125"/>
            <a:ext cx="10515600" cy="549275"/>
          </a:xfrm>
        </p:spPr>
        <p:txBody>
          <a:bodyPr>
            <a:normAutofit fontScale="90000"/>
          </a:bodyPr>
          <a:lstStyle/>
          <a:p>
            <a:r>
              <a:rPr lang="en-GB" b="1" dirty="0"/>
              <a:t>2G Networks (2</a:t>
            </a:r>
            <a:r>
              <a:rPr lang="en-GB" b="1" baseline="30000" dirty="0"/>
              <a:t>nd</a:t>
            </a:r>
            <a:r>
              <a:rPr lang="en-GB" b="1" dirty="0"/>
              <a:t> Generation) (</a:t>
            </a:r>
            <a:r>
              <a:rPr lang="en-GB" b="1" dirty="0" err="1"/>
              <a:t>contd</a:t>
            </a:r>
            <a:r>
              <a:rPr lang="en-GB" b="1" dirty="0"/>
              <a:t>…)</a:t>
            </a:r>
            <a:endParaRPr lang="en-IN" b="1" dirty="0"/>
          </a:p>
        </p:txBody>
      </p:sp>
      <p:sp>
        <p:nvSpPr>
          <p:cNvPr id="3" name="Content Placeholder 2">
            <a:extLst>
              <a:ext uri="{FF2B5EF4-FFF2-40B4-BE49-F238E27FC236}">
                <a16:creationId xmlns:a16="http://schemas.microsoft.com/office/drawing/2014/main" id="{1876B866-44FE-5FD6-C6C2-DECE4658B3B1}"/>
              </a:ext>
            </a:extLst>
          </p:cNvPr>
          <p:cNvSpPr>
            <a:spLocks noGrp="1"/>
          </p:cNvSpPr>
          <p:nvPr>
            <p:ph idx="1"/>
          </p:nvPr>
        </p:nvSpPr>
        <p:spPr>
          <a:xfrm>
            <a:off x="358588" y="1201271"/>
            <a:ext cx="11636188" cy="5468470"/>
          </a:xfrm>
        </p:spPr>
        <p:txBody>
          <a:bodyPr>
            <a:normAutofit/>
          </a:bodyPr>
          <a:lstStyle/>
          <a:p>
            <a:pPr>
              <a:lnSpc>
                <a:spcPct val="150000"/>
              </a:lnSpc>
            </a:pPr>
            <a:r>
              <a:rPr lang="en-GB" dirty="0"/>
              <a:t>It needs strong network coverage for data transmission.</a:t>
            </a:r>
          </a:p>
          <a:p>
            <a:pPr>
              <a:lnSpc>
                <a:spcPct val="150000"/>
              </a:lnSpc>
            </a:pPr>
            <a:r>
              <a:rPr lang="en-GB" dirty="0">
                <a:solidFill>
                  <a:srgbClr val="FF0000"/>
                </a:solidFill>
              </a:rPr>
              <a:t>Even though it helps in sending messages, it cannot handle videos for transmission.</a:t>
            </a:r>
          </a:p>
          <a:p>
            <a:pPr algn="just" fontAlgn="base">
              <a:lnSpc>
                <a:spcPct val="150000"/>
              </a:lnSpc>
            </a:pPr>
            <a:endParaRPr lang="en-GB" dirty="0"/>
          </a:p>
        </p:txBody>
      </p:sp>
    </p:spTree>
    <p:extLst>
      <p:ext uri="{BB962C8B-B14F-4D97-AF65-F5344CB8AC3E}">
        <p14:creationId xmlns:p14="http://schemas.microsoft.com/office/powerpoint/2010/main" val="2526623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0340E-7493-C69F-E680-910FE3442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8BF7D-627B-3499-1F86-55705DF7B55D}"/>
              </a:ext>
            </a:extLst>
          </p:cNvPr>
          <p:cNvSpPr>
            <a:spLocks noGrp="1"/>
          </p:cNvSpPr>
          <p:nvPr>
            <p:ph type="title"/>
          </p:nvPr>
        </p:nvSpPr>
        <p:spPr>
          <a:xfrm>
            <a:off x="838200" y="365125"/>
            <a:ext cx="10515600" cy="549275"/>
          </a:xfrm>
        </p:spPr>
        <p:txBody>
          <a:bodyPr>
            <a:normAutofit fontScale="90000"/>
          </a:bodyPr>
          <a:lstStyle/>
          <a:p>
            <a:r>
              <a:rPr lang="en-GB" b="1" dirty="0"/>
              <a:t>2.5G &amp; 2.75G Networks </a:t>
            </a:r>
            <a:endParaRPr lang="en-IN" b="1" dirty="0"/>
          </a:p>
        </p:txBody>
      </p:sp>
      <p:sp>
        <p:nvSpPr>
          <p:cNvPr id="3" name="Content Placeholder 2">
            <a:extLst>
              <a:ext uri="{FF2B5EF4-FFF2-40B4-BE49-F238E27FC236}">
                <a16:creationId xmlns:a16="http://schemas.microsoft.com/office/drawing/2014/main" id="{71BF8A8B-3809-C543-80B9-F012AF516DDD}"/>
              </a:ext>
            </a:extLst>
          </p:cNvPr>
          <p:cNvSpPr>
            <a:spLocks noGrp="1"/>
          </p:cNvSpPr>
          <p:nvPr>
            <p:ph idx="1"/>
          </p:nvPr>
        </p:nvSpPr>
        <p:spPr>
          <a:xfrm>
            <a:off x="358588" y="1201271"/>
            <a:ext cx="11636188" cy="5468470"/>
          </a:xfrm>
        </p:spPr>
        <p:txBody>
          <a:bodyPr>
            <a:normAutofit fontScale="85000" lnSpcReduction="20000"/>
          </a:bodyPr>
          <a:lstStyle/>
          <a:p>
            <a:pPr algn="just" fontAlgn="base">
              <a:lnSpc>
                <a:spcPct val="150000"/>
              </a:lnSpc>
            </a:pPr>
            <a:r>
              <a:rPr lang="en-GB" b="1" dirty="0"/>
              <a:t>2.5G</a:t>
            </a:r>
            <a:r>
              <a:rPr lang="en-GB" dirty="0"/>
              <a:t> came after </a:t>
            </a:r>
            <a:r>
              <a:rPr lang="en-GB" b="1" dirty="0"/>
              <a:t>2G</a:t>
            </a:r>
            <a:r>
              <a:rPr lang="en-GB" dirty="0"/>
              <a:t> which used the concept of GPRS. </a:t>
            </a:r>
          </a:p>
          <a:p>
            <a:pPr algn="just" fontAlgn="base">
              <a:lnSpc>
                <a:spcPct val="150000"/>
              </a:lnSpc>
            </a:pPr>
            <a:r>
              <a:rPr lang="en-GB" dirty="0"/>
              <a:t>(</a:t>
            </a:r>
            <a:r>
              <a:rPr lang="en-GB" b="1" dirty="0"/>
              <a:t>General Packet Radio Service</a:t>
            </a:r>
            <a:r>
              <a:rPr lang="en-GB" dirty="0"/>
              <a:t>, is a mobile data standard that provides internet access for 2G and 3G cellular networks). High data rate of 171kbps. Using the packet switching technique, the data is transferred, by dividing the data into small packets for an easy mode of transmission.</a:t>
            </a:r>
          </a:p>
          <a:p>
            <a:pPr algn="just" fontAlgn="base">
              <a:lnSpc>
                <a:spcPct val="150000"/>
              </a:lnSpc>
            </a:pPr>
            <a:r>
              <a:rPr lang="en-GB" dirty="0"/>
              <a:t>Then came </a:t>
            </a:r>
            <a:r>
              <a:rPr lang="en-GB" b="1" dirty="0"/>
              <a:t>2.75G</a:t>
            </a:r>
            <a:r>
              <a:rPr lang="en-GB" dirty="0"/>
              <a:t> or </a:t>
            </a:r>
            <a:r>
              <a:rPr lang="en-GB" b="1" dirty="0"/>
              <a:t>EDGE(Enhanced Data Rates for GSM</a:t>
            </a:r>
            <a:r>
              <a:rPr lang="en-GB" dirty="0"/>
              <a:t>) with an increased data rate of up to 473.6 Kbps. Technology used is CDMA with a data rate of 384 Kbps. which was faster in providing services than 2.5G. </a:t>
            </a:r>
          </a:p>
          <a:p>
            <a:pPr algn="just" fontAlgn="base">
              <a:lnSpc>
                <a:spcPct val="150000"/>
              </a:lnSpc>
            </a:pPr>
            <a:r>
              <a:rPr lang="en-GB" dirty="0"/>
              <a:t>It supports Email transmission and Internet browsing and also features cameras in cellular phones.</a:t>
            </a:r>
          </a:p>
          <a:p>
            <a:pPr algn="just" fontAlgn="base">
              <a:lnSpc>
                <a:spcPct val="150000"/>
              </a:lnSpc>
            </a:pPr>
            <a:endParaRPr lang="en-IN" dirty="0"/>
          </a:p>
        </p:txBody>
      </p:sp>
    </p:spTree>
    <p:extLst>
      <p:ext uri="{BB962C8B-B14F-4D97-AF65-F5344CB8AC3E}">
        <p14:creationId xmlns:p14="http://schemas.microsoft.com/office/powerpoint/2010/main" val="2854227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6F665-0EBE-C30B-A93A-E4054249C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CE910-E29A-52FC-61C1-289954FBDAFA}"/>
              </a:ext>
            </a:extLst>
          </p:cNvPr>
          <p:cNvSpPr>
            <a:spLocks noGrp="1"/>
          </p:cNvSpPr>
          <p:nvPr>
            <p:ph type="title"/>
          </p:nvPr>
        </p:nvSpPr>
        <p:spPr>
          <a:xfrm>
            <a:off x="838200" y="365125"/>
            <a:ext cx="10515600" cy="549275"/>
          </a:xfrm>
        </p:spPr>
        <p:txBody>
          <a:bodyPr>
            <a:normAutofit fontScale="90000"/>
          </a:bodyPr>
          <a:lstStyle/>
          <a:p>
            <a:r>
              <a:rPr lang="en-GB" b="1" dirty="0"/>
              <a:t>3G Networks (3</a:t>
            </a:r>
            <a:r>
              <a:rPr lang="en-GB" b="1" baseline="30000" dirty="0"/>
              <a:t>rd</a:t>
            </a:r>
            <a:r>
              <a:rPr lang="en-GB" b="1" dirty="0"/>
              <a:t> Generation)</a:t>
            </a:r>
            <a:endParaRPr lang="en-IN" b="1" dirty="0"/>
          </a:p>
        </p:txBody>
      </p:sp>
      <p:sp>
        <p:nvSpPr>
          <p:cNvPr id="3" name="Content Placeholder 2">
            <a:extLst>
              <a:ext uri="{FF2B5EF4-FFF2-40B4-BE49-F238E27FC236}">
                <a16:creationId xmlns:a16="http://schemas.microsoft.com/office/drawing/2014/main" id="{66670878-4FCD-2560-161A-42899EB7FE71}"/>
              </a:ext>
            </a:extLst>
          </p:cNvPr>
          <p:cNvSpPr>
            <a:spLocks noGrp="1"/>
          </p:cNvSpPr>
          <p:nvPr>
            <p:ph idx="1"/>
          </p:nvPr>
        </p:nvSpPr>
        <p:spPr>
          <a:xfrm>
            <a:off x="358588" y="1201271"/>
            <a:ext cx="11636188" cy="5468470"/>
          </a:xfrm>
        </p:spPr>
        <p:txBody>
          <a:bodyPr>
            <a:normAutofit/>
          </a:bodyPr>
          <a:lstStyle/>
          <a:p>
            <a:pPr algn="just" fontAlgn="base">
              <a:lnSpc>
                <a:spcPct val="150000"/>
              </a:lnSpc>
            </a:pPr>
            <a:r>
              <a:rPr lang="en-GB" dirty="0"/>
              <a:t>It comes with data transfer technology such as UMTS (Universal Mobile Terrestrials System) for use in smartphones. </a:t>
            </a:r>
          </a:p>
          <a:p>
            <a:pPr algn="just" fontAlgn="base">
              <a:lnSpc>
                <a:spcPct val="150000"/>
              </a:lnSpc>
            </a:pPr>
            <a:r>
              <a:rPr lang="en-GB" dirty="0"/>
              <a:t>With this feature, we can have the video calling option and play games online on cellular phones.</a:t>
            </a:r>
          </a:p>
          <a:p>
            <a:pPr fontAlgn="base">
              <a:lnSpc>
                <a:spcPct val="150000"/>
              </a:lnSpc>
            </a:pPr>
            <a:r>
              <a:rPr lang="en-GB" dirty="0"/>
              <a:t>Better system and capacity.</a:t>
            </a:r>
          </a:p>
          <a:p>
            <a:pPr fontAlgn="base">
              <a:lnSpc>
                <a:spcPct val="150000"/>
              </a:lnSpc>
            </a:pPr>
            <a:r>
              <a:rPr lang="en-GB" dirty="0"/>
              <a:t>Offers high-speed wireless internet.</a:t>
            </a:r>
          </a:p>
          <a:p>
            <a:pPr>
              <a:lnSpc>
                <a:spcPct val="150000"/>
              </a:lnSpc>
            </a:pPr>
            <a:r>
              <a:rPr lang="en-GB" dirty="0"/>
              <a:t>It supports both voice and data with a data rate of 3.1 Mbps.</a:t>
            </a:r>
          </a:p>
          <a:p>
            <a:pPr fontAlgn="base">
              <a:lnSpc>
                <a:spcPct val="150000"/>
              </a:lnSpc>
            </a:pPr>
            <a:endParaRPr lang="en-GB" dirty="0"/>
          </a:p>
        </p:txBody>
      </p:sp>
    </p:spTree>
    <p:extLst>
      <p:ext uri="{BB962C8B-B14F-4D97-AF65-F5344CB8AC3E}">
        <p14:creationId xmlns:p14="http://schemas.microsoft.com/office/powerpoint/2010/main" val="157811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6E2F0-DE21-E7E9-2290-FA16A16FE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5DF15-BAFF-584C-5982-3395B32F836B}"/>
              </a:ext>
            </a:extLst>
          </p:cNvPr>
          <p:cNvSpPr>
            <a:spLocks noGrp="1"/>
          </p:cNvSpPr>
          <p:nvPr>
            <p:ph type="title"/>
          </p:nvPr>
        </p:nvSpPr>
        <p:spPr>
          <a:xfrm>
            <a:off x="838200" y="365125"/>
            <a:ext cx="10515600" cy="549275"/>
          </a:xfrm>
        </p:spPr>
        <p:txBody>
          <a:bodyPr>
            <a:normAutofit fontScale="90000"/>
          </a:bodyPr>
          <a:lstStyle/>
          <a:p>
            <a:r>
              <a:rPr lang="en-GB" b="1" dirty="0"/>
              <a:t>3G Networks (3</a:t>
            </a:r>
            <a:r>
              <a:rPr lang="en-GB" b="1" baseline="30000" dirty="0"/>
              <a:t>rd</a:t>
            </a:r>
            <a:r>
              <a:rPr lang="en-GB" b="1" dirty="0"/>
              <a:t> Generation) (</a:t>
            </a:r>
            <a:r>
              <a:rPr lang="en-GB" b="1" dirty="0" err="1"/>
              <a:t>contd</a:t>
            </a:r>
            <a:r>
              <a:rPr lang="en-GB" b="1" dirty="0"/>
              <a:t>…)</a:t>
            </a:r>
            <a:endParaRPr lang="en-IN" b="1" dirty="0"/>
          </a:p>
        </p:txBody>
      </p:sp>
      <p:sp>
        <p:nvSpPr>
          <p:cNvPr id="3" name="Content Placeholder 2">
            <a:extLst>
              <a:ext uri="{FF2B5EF4-FFF2-40B4-BE49-F238E27FC236}">
                <a16:creationId xmlns:a16="http://schemas.microsoft.com/office/drawing/2014/main" id="{CCD77D3E-F796-603C-E3D7-D3233ACC0CEE}"/>
              </a:ext>
            </a:extLst>
          </p:cNvPr>
          <p:cNvSpPr>
            <a:spLocks noGrp="1"/>
          </p:cNvSpPr>
          <p:nvPr>
            <p:ph idx="1"/>
          </p:nvPr>
        </p:nvSpPr>
        <p:spPr>
          <a:xfrm>
            <a:off x="358588" y="1201271"/>
            <a:ext cx="11636188" cy="5468470"/>
          </a:xfrm>
        </p:spPr>
        <p:txBody>
          <a:bodyPr>
            <a:normAutofit/>
          </a:bodyPr>
          <a:lstStyle/>
          <a:p>
            <a:pPr>
              <a:lnSpc>
                <a:spcPct val="150000"/>
              </a:lnSpc>
            </a:pPr>
            <a:r>
              <a:rPr lang="en-GB" dirty="0"/>
              <a:t>It has high security and international roaming.</a:t>
            </a:r>
          </a:p>
          <a:p>
            <a:pPr>
              <a:lnSpc>
                <a:spcPct val="150000"/>
              </a:lnSpc>
            </a:pPr>
            <a:r>
              <a:rPr lang="en-GB" dirty="0">
                <a:solidFill>
                  <a:srgbClr val="FF0000"/>
                </a:solidFill>
              </a:rPr>
              <a:t>The power consumption of using 3G technology is high.</a:t>
            </a:r>
          </a:p>
          <a:p>
            <a:pPr>
              <a:lnSpc>
                <a:spcPct val="150000"/>
              </a:lnSpc>
            </a:pPr>
            <a:r>
              <a:rPr lang="en-GB" dirty="0">
                <a:solidFill>
                  <a:srgbClr val="FF0000"/>
                </a:solidFill>
              </a:rPr>
              <a:t>The time taken to download via 3G is faster and more expensive to buy.</a:t>
            </a:r>
          </a:p>
          <a:p>
            <a:pPr fontAlgn="base">
              <a:lnSpc>
                <a:spcPct val="150000"/>
              </a:lnSpc>
            </a:pPr>
            <a:endParaRPr lang="en-GB" dirty="0"/>
          </a:p>
          <a:p>
            <a:pPr algn="just" fontAlgn="base">
              <a:lnSpc>
                <a:spcPct val="150000"/>
              </a:lnSpc>
            </a:pPr>
            <a:endParaRPr lang="en-GB" dirty="0"/>
          </a:p>
        </p:txBody>
      </p:sp>
    </p:spTree>
    <p:extLst>
      <p:ext uri="{BB962C8B-B14F-4D97-AF65-F5344CB8AC3E}">
        <p14:creationId xmlns:p14="http://schemas.microsoft.com/office/powerpoint/2010/main" val="1375941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919E-62E6-79A5-6F22-D469A3B01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EB3FB-B017-1203-066B-0DA5F67309E5}"/>
              </a:ext>
            </a:extLst>
          </p:cNvPr>
          <p:cNvSpPr>
            <a:spLocks noGrp="1"/>
          </p:cNvSpPr>
          <p:nvPr>
            <p:ph type="title"/>
          </p:nvPr>
        </p:nvSpPr>
        <p:spPr>
          <a:xfrm>
            <a:off x="838200" y="365125"/>
            <a:ext cx="10515600" cy="549275"/>
          </a:xfrm>
        </p:spPr>
        <p:txBody>
          <a:bodyPr>
            <a:normAutofit fontScale="90000"/>
          </a:bodyPr>
          <a:lstStyle/>
          <a:p>
            <a:r>
              <a:rPr lang="en-GB" b="1" dirty="0"/>
              <a:t>4G Networks (4</a:t>
            </a:r>
            <a:r>
              <a:rPr lang="en-GB" b="1" baseline="30000" dirty="0"/>
              <a:t>th</a:t>
            </a:r>
            <a:r>
              <a:rPr lang="en-GB" b="1" dirty="0"/>
              <a:t> Generation)</a:t>
            </a:r>
            <a:endParaRPr lang="en-IN" b="1" dirty="0"/>
          </a:p>
        </p:txBody>
      </p:sp>
      <p:sp>
        <p:nvSpPr>
          <p:cNvPr id="3" name="Content Placeholder 2">
            <a:extLst>
              <a:ext uri="{FF2B5EF4-FFF2-40B4-BE49-F238E27FC236}">
                <a16:creationId xmlns:a16="http://schemas.microsoft.com/office/drawing/2014/main" id="{DD56B4A9-C69F-3FE0-26C6-C5EFCD18423A}"/>
              </a:ext>
            </a:extLst>
          </p:cNvPr>
          <p:cNvSpPr>
            <a:spLocks noGrp="1"/>
          </p:cNvSpPr>
          <p:nvPr>
            <p:ph idx="1"/>
          </p:nvPr>
        </p:nvSpPr>
        <p:spPr>
          <a:xfrm>
            <a:off x="358588" y="1201271"/>
            <a:ext cx="11636188" cy="5468470"/>
          </a:xfrm>
        </p:spPr>
        <p:txBody>
          <a:bodyPr>
            <a:normAutofit fontScale="85000" lnSpcReduction="20000"/>
          </a:bodyPr>
          <a:lstStyle/>
          <a:p>
            <a:pPr algn="just" fontAlgn="base">
              <a:lnSpc>
                <a:spcPct val="150000"/>
              </a:lnSpc>
            </a:pPr>
            <a:r>
              <a:rPr lang="en-GB" dirty="0"/>
              <a:t>LTE (Long term evaluation) &amp; Wireless Fidelity (Wi-Fi) data technology are used.</a:t>
            </a:r>
          </a:p>
          <a:p>
            <a:pPr algn="just" fontAlgn="base">
              <a:lnSpc>
                <a:spcPct val="150000"/>
              </a:lnSpc>
            </a:pPr>
            <a:r>
              <a:rPr lang="en-GB" dirty="0"/>
              <a:t>It provides faster data rate to upload and download data.</a:t>
            </a:r>
          </a:p>
          <a:p>
            <a:pPr algn="just" fontAlgn="base">
              <a:lnSpc>
                <a:spcPct val="150000"/>
              </a:lnSpc>
            </a:pPr>
            <a:r>
              <a:rPr lang="en-GB" dirty="0"/>
              <a:t>Vo-LTE (Voice over LTE) is for both voice and the internet.</a:t>
            </a:r>
          </a:p>
          <a:p>
            <a:pPr algn="just" fontAlgn="base">
              <a:lnSpc>
                <a:spcPct val="150000"/>
              </a:lnSpc>
            </a:pPr>
            <a:r>
              <a:rPr lang="en-GB" dirty="0"/>
              <a:t>Freedom and flexibility to select any desired service with reasonable Quality of Service.</a:t>
            </a:r>
          </a:p>
          <a:p>
            <a:pPr algn="just" fontAlgn="base">
              <a:lnSpc>
                <a:spcPct val="150000"/>
              </a:lnSpc>
            </a:pPr>
            <a:r>
              <a:rPr lang="en-GB" dirty="0"/>
              <a:t>High usability.</a:t>
            </a:r>
          </a:p>
          <a:p>
            <a:pPr algn="just" fontAlgn="base">
              <a:lnSpc>
                <a:spcPct val="150000"/>
              </a:lnSpc>
            </a:pPr>
            <a:r>
              <a:rPr lang="en-GB" dirty="0"/>
              <a:t>Supports multimedia service at a low transmission cost.</a:t>
            </a:r>
          </a:p>
          <a:p>
            <a:pPr algn="just" fontAlgn="base">
              <a:lnSpc>
                <a:spcPct val="150000"/>
              </a:lnSpc>
            </a:pPr>
            <a:r>
              <a:rPr lang="en-GB" dirty="0"/>
              <a:t>HD Quality Streaming.</a:t>
            </a:r>
          </a:p>
          <a:p>
            <a:pPr algn="just" fontAlgn="base">
              <a:lnSpc>
                <a:spcPct val="150000"/>
              </a:lnSpc>
            </a:pPr>
            <a:r>
              <a:rPr lang="en-GB" dirty="0"/>
              <a:t>Speed:-100mbps.</a:t>
            </a:r>
          </a:p>
          <a:p>
            <a:pPr algn="just" fontAlgn="base">
              <a:lnSpc>
                <a:spcPct val="150000"/>
              </a:lnSpc>
            </a:pPr>
            <a:endParaRPr lang="en-GB" dirty="0"/>
          </a:p>
        </p:txBody>
      </p:sp>
    </p:spTree>
    <p:extLst>
      <p:ext uri="{BB962C8B-B14F-4D97-AF65-F5344CB8AC3E}">
        <p14:creationId xmlns:p14="http://schemas.microsoft.com/office/powerpoint/2010/main" val="329444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154D1-9FD6-7960-B55E-02A946262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CCCC6-28F1-6244-2227-D89B58143CF2}"/>
              </a:ext>
            </a:extLst>
          </p:cNvPr>
          <p:cNvSpPr>
            <a:spLocks noGrp="1"/>
          </p:cNvSpPr>
          <p:nvPr>
            <p:ph type="title"/>
          </p:nvPr>
        </p:nvSpPr>
        <p:spPr>
          <a:xfrm>
            <a:off x="838200" y="365125"/>
            <a:ext cx="10515600" cy="549275"/>
          </a:xfrm>
        </p:spPr>
        <p:txBody>
          <a:bodyPr>
            <a:normAutofit fontScale="90000"/>
          </a:bodyPr>
          <a:lstStyle/>
          <a:p>
            <a:r>
              <a:rPr lang="en-GB" b="1" dirty="0"/>
              <a:t>4G Networks (4</a:t>
            </a:r>
            <a:r>
              <a:rPr lang="en-GB" b="1" baseline="30000" dirty="0"/>
              <a:t>th</a:t>
            </a:r>
            <a:r>
              <a:rPr lang="en-GB" b="1" dirty="0"/>
              <a:t> Generation) (</a:t>
            </a:r>
            <a:r>
              <a:rPr lang="en-GB" b="1" dirty="0" err="1"/>
              <a:t>contd</a:t>
            </a:r>
            <a:r>
              <a:rPr lang="en-GB" b="1" dirty="0"/>
              <a:t>…)</a:t>
            </a:r>
            <a:endParaRPr lang="en-IN" b="1" dirty="0"/>
          </a:p>
        </p:txBody>
      </p:sp>
      <p:sp>
        <p:nvSpPr>
          <p:cNvPr id="3" name="Content Placeholder 2">
            <a:extLst>
              <a:ext uri="{FF2B5EF4-FFF2-40B4-BE49-F238E27FC236}">
                <a16:creationId xmlns:a16="http://schemas.microsoft.com/office/drawing/2014/main" id="{9A98C3F0-368A-C4EC-C8B9-BE0F07D9913D}"/>
              </a:ext>
            </a:extLst>
          </p:cNvPr>
          <p:cNvSpPr>
            <a:spLocks noGrp="1"/>
          </p:cNvSpPr>
          <p:nvPr>
            <p:ph idx="1"/>
          </p:nvPr>
        </p:nvSpPr>
        <p:spPr>
          <a:xfrm>
            <a:off x="358588" y="1201271"/>
            <a:ext cx="11636188" cy="5468470"/>
          </a:xfrm>
        </p:spPr>
        <p:txBody>
          <a:bodyPr>
            <a:normAutofit/>
          </a:bodyPr>
          <a:lstStyle/>
          <a:p>
            <a:pPr algn="just">
              <a:lnSpc>
                <a:spcPct val="150000"/>
              </a:lnSpc>
            </a:pPr>
            <a:r>
              <a:rPr lang="en-GB" dirty="0"/>
              <a:t>The Data rate provides a capacity of 100Mbps to 1Gbps and is highly securable by using the Encryption Technique.</a:t>
            </a:r>
          </a:p>
          <a:p>
            <a:pPr algn="just">
              <a:lnSpc>
                <a:spcPct val="150000"/>
              </a:lnSpc>
            </a:pPr>
            <a:r>
              <a:rPr lang="en-GB" dirty="0"/>
              <a:t>The Internet Service provided by 4G is Ultra-Broadband.</a:t>
            </a:r>
          </a:p>
          <a:p>
            <a:pPr algn="just">
              <a:lnSpc>
                <a:spcPct val="150000"/>
              </a:lnSpc>
            </a:pPr>
            <a:r>
              <a:rPr lang="en-GB" dirty="0"/>
              <a:t>It provides high speed and global mobility using the internet and International calls.</a:t>
            </a:r>
          </a:p>
          <a:p>
            <a:pPr>
              <a:lnSpc>
                <a:spcPct val="150000"/>
              </a:lnSpc>
            </a:pPr>
            <a:r>
              <a:rPr lang="en-GB" dirty="0">
                <a:solidFill>
                  <a:srgbClr val="FF0000"/>
                </a:solidFill>
              </a:rPr>
              <a:t>It provides costlier hardware and infrastructure setup.</a:t>
            </a:r>
          </a:p>
          <a:p>
            <a:pPr>
              <a:lnSpc>
                <a:spcPct val="150000"/>
              </a:lnSpc>
            </a:pPr>
            <a:r>
              <a:rPr lang="en-GB" dirty="0">
                <a:solidFill>
                  <a:srgbClr val="FF0000"/>
                </a:solidFill>
              </a:rPr>
              <a:t>Due to the high data rate speed, the battery usage is less.</a:t>
            </a:r>
          </a:p>
        </p:txBody>
      </p:sp>
    </p:spTree>
    <p:extLst>
      <p:ext uri="{BB962C8B-B14F-4D97-AF65-F5344CB8AC3E}">
        <p14:creationId xmlns:p14="http://schemas.microsoft.com/office/powerpoint/2010/main" val="577899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5B1C-6CAF-339E-2658-FD69748CB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9640F-5047-1DED-AEC0-0B069B45BCAB}"/>
              </a:ext>
            </a:extLst>
          </p:cNvPr>
          <p:cNvSpPr>
            <a:spLocks noGrp="1"/>
          </p:cNvSpPr>
          <p:nvPr>
            <p:ph type="title"/>
          </p:nvPr>
        </p:nvSpPr>
        <p:spPr>
          <a:xfrm>
            <a:off x="838200" y="365125"/>
            <a:ext cx="10515600" cy="549275"/>
          </a:xfrm>
        </p:spPr>
        <p:txBody>
          <a:bodyPr>
            <a:normAutofit fontScale="90000"/>
          </a:bodyPr>
          <a:lstStyle/>
          <a:p>
            <a:r>
              <a:rPr lang="en-GB" b="1" dirty="0"/>
              <a:t>5G Networks (5</a:t>
            </a:r>
            <a:r>
              <a:rPr lang="en-GB" b="1" baseline="30000" dirty="0"/>
              <a:t>th</a:t>
            </a:r>
            <a:r>
              <a:rPr lang="en-GB" b="1" dirty="0"/>
              <a:t> Generation)</a:t>
            </a:r>
            <a:endParaRPr lang="en-IN" b="1" dirty="0"/>
          </a:p>
        </p:txBody>
      </p:sp>
      <p:sp>
        <p:nvSpPr>
          <p:cNvPr id="3" name="Content Placeholder 2">
            <a:extLst>
              <a:ext uri="{FF2B5EF4-FFF2-40B4-BE49-F238E27FC236}">
                <a16:creationId xmlns:a16="http://schemas.microsoft.com/office/drawing/2014/main" id="{C8F670B2-FCE7-92D5-D120-CB6511035CFA}"/>
              </a:ext>
            </a:extLst>
          </p:cNvPr>
          <p:cNvSpPr>
            <a:spLocks noGrp="1"/>
          </p:cNvSpPr>
          <p:nvPr>
            <p:ph idx="1"/>
          </p:nvPr>
        </p:nvSpPr>
        <p:spPr>
          <a:xfrm>
            <a:off x="358588" y="1201271"/>
            <a:ext cx="11636188" cy="5468470"/>
          </a:xfrm>
        </p:spPr>
        <p:txBody>
          <a:bodyPr>
            <a:normAutofit fontScale="92500" lnSpcReduction="10000"/>
          </a:bodyPr>
          <a:lstStyle/>
          <a:p>
            <a:pPr fontAlgn="base">
              <a:lnSpc>
                <a:spcPct val="150000"/>
              </a:lnSpc>
            </a:pPr>
            <a:r>
              <a:rPr lang="en-GB" dirty="0"/>
              <a:t>Higher data rates.</a:t>
            </a:r>
          </a:p>
          <a:p>
            <a:pPr fontAlgn="base">
              <a:lnSpc>
                <a:spcPct val="150000"/>
              </a:lnSpc>
            </a:pPr>
            <a:r>
              <a:rPr lang="en-GB" dirty="0"/>
              <a:t>Connectivity is more fast and more secure,</a:t>
            </a:r>
          </a:p>
          <a:p>
            <a:pPr fontAlgn="base">
              <a:lnSpc>
                <a:spcPct val="150000"/>
              </a:lnSpc>
            </a:pPr>
            <a:r>
              <a:rPr lang="en-GB" dirty="0"/>
              <a:t>.Massive network capacity.</a:t>
            </a:r>
          </a:p>
          <a:p>
            <a:pPr fontAlgn="base">
              <a:lnSpc>
                <a:spcPct val="150000"/>
              </a:lnSpc>
            </a:pPr>
            <a:r>
              <a:rPr lang="en-GB" dirty="0"/>
              <a:t>It is 30 times faster than 4G.</a:t>
            </a:r>
          </a:p>
          <a:p>
            <a:pPr>
              <a:lnSpc>
                <a:spcPct val="150000"/>
              </a:lnSpc>
            </a:pPr>
            <a:r>
              <a:rPr lang="en-GB" dirty="0"/>
              <a:t>Faster loading speeds of real time applications such as maps &amp; weather</a:t>
            </a:r>
          </a:p>
          <a:p>
            <a:pPr>
              <a:lnSpc>
                <a:spcPct val="150000"/>
              </a:lnSpc>
            </a:pPr>
            <a:r>
              <a:rPr lang="en-GB" dirty="0"/>
              <a:t>The ability to have multiple people in video conferencing calls</a:t>
            </a:r>
          </a:p>
          <a:p>
            <a:pPr>
              <a:lnSpc>
                <a:spcPct val="150000"/>
              </a:lnSpc>
            </a:pPr>
            <a:r>
              <a:rPr lang="en-GB" dirty="0"/>
              <a:t>Ability to stream high‐definition (HD). </a:t>
            </a:r>
            <a:br>
              <a:rPr lang="en-GB" dirty="0"/>
            </a:br>
            <a:endParaRPr lang="en-GB" dirty="0"/>
          </a:p>
        </p:txBody>
      </p:sp>
    </p:spTree>
    <p:extLst>
      <p:ext uri="{BB962C8B-B14F-4D97-AF65-F5344CB8AC3E}">
        <p14:creationId xmlns:p14="http://schemas.microsoft.com/office/powerpoint/2010/main" val="1458339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D0C7B-FADD-6AD0-1AF4-9BB97E1DF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449FA-1851-2797-91BF-391B74C73675}"/>
              </a:ext>
            </a:extLst>
          </p:cNvPr>
          <p:cNvSpPr>
            <a:spLocks noGrp="1"/>
          </p:cNvSpPr>
          <p:nvPr>
            <p:ph type="title"/>
          </p:nvPr>
        </p:nvSpPr>
        <p:spPr>
          <a:xfrm>
            <a:off x="838200" y="365125"/>
            <a:ext cx="10515600" cy="549275"/>
          </a:xfrm>
        </p:spPr>
        <p:txBody>
          <a:bodyPr>
            <a:normAutofit fontScale="90000"/>
          </a:bodyPr>
          <a:lstStyle/>
          <a:p>
            <a:r>
              <a:rPr lang="en-GB" b="1" dirty="0"/>
              <a:t>Beyond 5G Networks </a:t>
            </a:r>
            <a:endParaRPr lang="en-IN" b="1" dirty="0"/>
          </a:p>
        </p:txBody>
      </p:sp>
      <p:sp>
        <p:nvSpPr>
          <p:cNvPr id="3" name="Content Placeholder 2">
            <a:extLst>
              <a:ext uri="{FF2B5EF4-FFF2-40B4-BE49-F238E27FC236}">
                <a16:creationId xmlns:a16="http://schemas.microsoft.com/office/drawing/2014/main" id="{7211AD29-DE00-9249-6950-21C3222A41C3}"/>
              </a:ext>
            </a:extLst>
          </p:cNvPr>
          <p:cNvSpPr>
            <a:spLocks noGrp="1"/>
          </p:cNvSpPr>
          <p:nvPr>
            <p:ph idx="1"/>
          </p:nvPr>
        </p:nvSpPr>
        <p:spPr>
          <a:xfrm>
            <a:off x="358588" y="1201271"/>
            <a:ext cx="11636188" cy="5468470"/>
          </a:xfrm>
        </p:spPr>
        <p:txBody>
          <a:bodyPr>
            <a:normAutofit fontScale="85000" lnSpcReduction="10000"/>
          </a:bodyPr>
          <a:lstStyle/>
          <a:p>
            <a:pPr algn="just" fontAlgn="base">
              <a:lnSpc>
                <a:spcPct val="150000"/>
              </a:lnSpc>
            </a:pPr>
            <a:r>
              <a:rPr lang="en-GB" dirty="0"/>
              <a:t>Beyond 5G" (B5G) primarily refers to the research and early development stages of </a:t>
            </a:r>
            <a:r>
              <a:rPr lang="en-GB" b="1" dirty="0"/>
              <a:t>6G technology</a:t>
            </a:r>
            <a:r>
              <a:rPr lang="en-GB" dirty="0"/>
              <a:t>, which aims to expand on 5G's capabilities to enable a hyper-connected society where physical and digital worlds will merge. </a:t>
            </a:r>
          </a:p>
          <a:p>
            <a:pPr algn="just" fontAlgn="base">
              <a:lnSpc>
                <a:spcPct val="150000"/>
              </a:lnSpc>
            </a:pPr>
            <a:r>
              <a:rPr lang="en-GB" dirty="0"/>
              <a:t>Ultra-high data rates, integration with artificial intelligence (AI), </a:t>
            </a:r>
          </a:p>
          <a:p>
            <a:pPr fontAlgn="base">
              <a:lnSpc>
                <a:spcPct val="150000"/>
              </a:lnSpc>
            </a:pPr>
            <a:r>
              <a:rPr lang="en-GB" dirty="0"/>
              <a:t>Seamless connectivity across all locations, including remote areas, oceans, and air.</a:t>
            </a:r>
          </a:p>
          <a:p>
            <a:pPr fontAlgn="base">
              <a:lnSpc>
                <a:spcPct val="150000"/>
              </a:lnSpc>
            </a:pPr>
            <a:r>
              <a:rPr lang="en-GB" dirty="0"/>
              <a:t>Enables advanced Extended Reality (XR) applications, including holographic communication.</a:t>
            </a:r>
          </a:p>
          <a:p>
            <a:pPr fontAlgn="base">
              <a:lnSpc>
                <a:spcPct val="150000"/>
              </a:lnSpc>
            </a:pPr>
            <a:r>
              <a:rPr lang="en-GB" dirty="0"/>
              <a:t>Focus on reducing power consumption in both devices and network infrastructure.</a:t>
            </a:r>
          </a:p>
        </p:txBody>
      </p:sp>
    </p:spTree>
    <p:extLst>
      <p:ext uri="{BB962C8B-B14F-4D97-AF65-F5344CB8AC3E}">
        <p14:creationId xmlns:p14="http://schemas.microsoft.com/office/powerpoint/2010/main" val="1643358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668</TotalTime>
  <Words>903</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Cellular Networks</vt:lpstr>
      <vt:lpstr>Outline</vt:lpstr>
      <vt:lpstr>An Overview </vt:lpstr>
      <vt:lpstr>PowerPoint Presentation</vt:lpstr>
      <vt:lpstr>Different Generations in Cellular Networks</vt:lpstr>
      <vt:lpstr>1G Networks (1st Generation)</vt:lpstr>
      <vt:lpstr>2G Networks (2nd Generation)</vt:lpstr>
      <vt:lpstr>2G Networks (2nd Generation) (contd…)</vt:lpstr>
      <vt:lpstr>2.5G &amp; 2.75G Networks </vt:lpstr>
      <vt:lpstr>3G Networks (3rd Generation)</vt:lpstr>
      <vt:lpstr>3G Networks (3rd Generation) (contd…)</vt:lpstr>
      <vt:lpstr>4G Networks (4th Generation)</vt:lpstr>
      <vt:lpstr>4G Networks (4th Generation) (contd…)</vt:lpstr>
      <vt:lpstr>5G Networks (5th Generation)</vt:lpstr>
      <vt:lpstr>Beyond 5G Networks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arpita johri</dc:creator>
  <cp:lastModifiedBy>arpita johri</cp:lastModifiedBy>
  <cp:revision>35</cp:revision>
  <dcterms:created xsi:type="dcterms:W3CDTF">2025-12-05T13:36:43Z</dcterms:created>
  <dcterms:modified xsi:type="dcterms:W3CDTF">2025-12-08T14:04:42Z</dcterms:modified>
</cp:coreProperties>
</file>