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3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FFB8-ADBE-0E01-6C52-1E14784D9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DB636-CE06-8AC4-634A-753117909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92B08-F0FD-BBD1-A86A-48FD47DA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C725-0B5E-A6C8-EF11-D2CDC329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77231-4A81-6D82-66BC-F5F48BD4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77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DC34-43FF-C235-285F-9547BBB9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ECB45-54BA-F49E-39B3-959B952F3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554F9-A871-3E88-7FFC-DB39CDE3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93DA1-AC33-91F1-67C8-60844F6C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4F170-D734-BA33-88C8-E4E0422D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70A2-CD9A-27AC-BEA6-2511190E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0D742-0821-B1EC-359A-2415005F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15D95-69A7-59A8-1D10-6B60834A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1FCA-4FAC-FA55-861D-8B59243D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9876C-3066-01B4-9D6F-EB4FB143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47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A59A-D3C0-FCE4-4F43-710EFC25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1870B-2195-7F4C-F307-D18C982D1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28A83-1105-AAD3-1D0A-A3E25E092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6A979-BDB4-571A-E7B5-26B5A6633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CC007-917B-3044-945A-4381D0BD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036A0-F919-B076-7754-20809868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62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D584-163C-2240-8785-7796DF25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07CC7-1199-F0E6-4B2E-9AB34472E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55FBC-7344-9961-C39F-9EDF5FDA9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B8E15-01A1-B985-3DE4-494842C86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E76E8-8032-49D7-2D84-08CF725F9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0D379-C03D-B564-A37F-7FB702CC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69AD7-2106-0CB7-2A8A-9F8263E2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1B994-F6B1-552D-BA9E-1EB370BA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91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9E77-2473-1E8F-F36B-366B6EC9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59910-0E39-6F46-3E6C-595DDB3D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AFE1F-83D5-585C-BF2A-E1CDD672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6DE04-E8A3-AA98-49FE-E00B40CE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4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E0D0FA-9BB5-341D-992C-73C66353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3551B-E39F-3B76-D860-46EECB68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DDEEE-8027-E4EF-7331-CDEB86E8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3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80C7-8AE3-8FDA-1B80-C3CF59B2B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8494-A2F4-FF3C-E853-CEFA7C18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E98A5-6DF6-35F8-106B-3B8BB88D9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B703A-0AAC-AF3E-E3B2-7798498F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0A12A-2773-672F-1E6A-D6DB6D4B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8CEAD-E3F6-D5E9-43E6-2A235C95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6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B256-95CC-992E-69F8-F7D3BDBE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B8D60-23AA-DBAC-D142-B104340CC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14646-CAF2-6D6B-7C61-A85FB146C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C45AD-D77E-047C-9A80-05EFBB9C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675C-3FE5-02DC-A972-3DDFAADA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6BD2D-5A4B-1C85-D037-1C9EB512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0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B141-C810-0167-1BD0-7AEE86AB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32339-51DD-F95C-9E88-7946C9151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E9F4B-8E50-DDD2-D1F6-F49C07A0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97FD8-9AC6-D825-4762-8B82B033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C0BC6-CD55-8BC8-E09D-343F5038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0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1509B-FF3F-124D-DD47-08B880E46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FE3C5-CA9E-B6D3-A58F-914D5D7AC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B5D33-F237-603C-829E-6F01D2A3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A6B5A-9283-154C-1609-129FC879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A003-04F3-590B-CAE2-861C3FF8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6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F1B06-FE50-04E6-5394-683B5AB1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332FC-E423-E36F-D350-886DEDDCC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3171-0427-B49E-2CA4-C4A88F340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B1135-588F-44E0-B9C9-964CB00AB61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898AC-BD1D-A396-DFDD-7EB100296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4F872-3913-9E4F-81C6-F84D471F5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20203-CC3B-4942-8718-BC59F5C3B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18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9049-91CE-ACFF-F9F7-3B73973A3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sz="6600" b="1" dirty="0"/>
              <a:t>Introduction </a:t>
            </a:r>
            <a:br>
              <a:rPr lang="en-GB" sz="6600" b="1" dirty="0"/>
            </a:br>
            <a:r>
              <a:rPr lang="en-GB" sz="6600" b="1" dirty="0"/>
              <a:t>to</a:t>
            </a:r>
            <a:br>
              <a:rPr lang="en-GB" sz="6600" b="1" dirty="0"/>
            </a:br>
            <a:r>
              <a:rPr lang="en-GB" sz="6600" b="1" dirty="0"/>
              <a:t> IoT Architecture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2603939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6587-BCC0-7D86-4E62-4E75BF29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IoT?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C88A-B250-D328-D1EF-3FA8AE28C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690688"/>
            <a:ext cx="11438964" cy="480218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The Internet of Things (IoT) is a system of interrelated computing devices, mechanical and digital machines, objects, animals or people that are provided with unique identifiers and the ability to transfer data over a network without requiring human-to-human or human-to-computer interaction.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The Internet of Things is the concept of connecting any device (so long as it has an on/off switch) to the Internet and to other connected devices.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62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2480-286A-4CE6-272A-5AE398F3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Applications of IoT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F34C7-3F67-1B93-AF94-307E3CA3B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Smart home </a:t>
            </a:r>
          </a:p>
          <a:p>
            <a:r>
              <a:rPr lang="en-GB" dirty="0"/>
              <a:t>Smart Wearables </a:t>
            </a:r>
          </a:p>
          <a:p>
            <a:r>
              <a:rPr lang="en-GB" dirty="0"/>
              <a:t>Connected Cars </a:t>
            </a:r>
          </a:p>
          <a:p>
            <a:r>
              <a:rPr lang="en-GB" dirty="0"/>
              <a:t>Smart cities </a:t>
            </a:r>
          </a:p>
          <a:p>
            <a:r>
              <a:rPr lang="en-GB" dirty="0"/>
              <a:t>IoT in agriculture </a:t>
            </a:r>
          </a:p>
          <a:p>
            <a:r>
              <a:rPr lang="en-GB" dirty="0"/>
              <a:t>Smart retail </a:t>
            </a:r>
          </a:p>
          <a:p>
            <a:r>
              <a:rPr lang="en-GB" dirty="0"/>
              <a:t>IoT in healthcare</a:t>
            </a:r>
          </a:p>
          <a:p>
            <a:r>
              <a:rPr lang="en-GB" dirty="0"/>
              <a:t> IoT in Poultry and Farming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99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5D235F-A0D1-88C6-4C59-D4E0E72A6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1" y="838200"/>
            <a:ext cx="10363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4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D2B8-6BAA-9522-880A-5BB0B6DE1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213192"/>
            <a:ext cx="10515600" cy="754715"/>
          </a:xfrm>
        </p:spPr>
        <p:txBody>
          <a:bodyPr/>
          <a:lstStyle/>
          <a:p>
            <a:r>
              <a:rPr lang="en-GB" b="1" dirty="0"/>
              <a:t>1. Perception / Sensing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045E-1863-8348-371A-18F12C9BA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47" y="1129554"/>
            <a:ext cx="11533094" cy="55152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The first layer of any IoT system involves “things” or endpoint devices that serve as a connection between the physical and the digital worlds.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Perception refers to the </a:t>
            </a:r>
            <a:r>
              <a:rPr lang="en-GB" dirty="0">
                <a:solidFill>
                  <a:srgbClr val="FF0000"/>
                </a:solidFill>
              </a:rPr>
              <a:t>physical layer</a:t>
            </a:r>
            <a:r>
              <a:rPr lang="en-GB" dirty="0"/>
              <a:t>, which includes sensors and actuators that are capable of collecting, accepting, and processing data over the network.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Sensors and actuators can be connected either wirelessly or via wired connections.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42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BB94-A47F-4CB5-6BBC-FE425176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A23B-B263-97BF-FCDC-33D5548C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213192"/>
            <a:ext cx="10515600" cy="754715"/>
          </a:xfrm>
        </p:spPr>
        <p:txBody>
          <a:bodyPr/>
          <a:lstStyle/>
          <a:p>
            <a:r>
              <a:rPr lang="en-GB" b="1" dirty="0"/>
              <a:t>2. Network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61B9A-818C-D138-0067-2E52F9E9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47" y="1129554"/>
            <a:ext cx="11533094" cy="551525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GB" dirty="0"/>
              <a:t>Network layers provide an overview of how data is moved throughout the application. </a:t>
            </a:r>
          </a:p>
          <a:p>
            <a:pPr algn="just" fontAlgn="base">
              <a:lnSpc>
                <a:spcPct val="100000"/>
              </a:lnSpc>
            </a:pPr>
            <a:r>
              <a:rPr lang="en-IN" dirty="0"/>
              <a:t>Transmits collected sensor data to processing platforms securely using </a:t>
            </a:r>
            <a:r>
              <a:rPr lang="en-GB" dirty="0"/>
              <a:t>Data Acquiring Systems (DAS)  &amp; Internet/Network gateways. </a:t>
            </a:r>
            <a:endParaRPr lang="en-IN" dirty="0"/>
          </a:p>
          <a:p>
            <a:pPr algn="just" fontAlgn="base">
              <a:lnSpc>
                <a:spcPct val="100000"/>
              </a:lnSpc>
            </a:pPr>
            <a:r>
              <a:rPr lang="en-IN" dirty="0"/>
              <a:t>Supports device-to-device and device-to-server communication.</a:t>
            </a:r>
          </a:p>
          <a:p>
            <a:pPr algn="just" fontAlgn="base">
              <a:lnSpc>
                <a:spcPct val="100000"/>
              </a:lnSpc>
            </a:pPr>
            <a:r>
              <a:rPr lang="en-IN" dirty="0"/>
              <a:t>Handles addressing, routing and data forwarding.</a:t>
            </a:r>
          </a:p>
          <a:p>
            <a:pPr algn="just" fontAlgn="base">
              <a:lnSpc>
                <a:spcPct val="100000"/>
              </a:lnSpc>
            </a:pPr>
            <a:r>
              <a:rPr lang="en-IN" dirty="0"/>
              <a:t>Technologies - Wi-Fi, Bluetooth, Zigbee, </a:t>
            </a:r>
            <a:r>
              <a:rPr lang="en-IN" dirty="0" err="1"/>
              <a:t>LoRaWAN</a:t>
            </a:r>
            <a:r>
              <a:rPr lang="en-GB" dirty="0"/>
              <a:t> (Long Range Wide Area Network - a low-power wireless protocol for Internet of Things (IoT) devices )</a:t>
            </a:r>
            <a:endParaRPr lang="en-IN" dirty="0"/>
          </a:p>
          <a:p>
            <a:pPr algn="just" fontAlgn="base">
              <a:lnSpc>
                <a:spcPct val="100000"/>
              </a:lnSpc>
            </a:pPr>
            <a:r>
              <a:rPr lang="en-IN" dirty="0"/>
              <a:t>Uses Ethernet and satellite networks, Supporting Devices, Routers and switches</a:t>
            </a:r>
          </a:p>
        </p:txBody>
      </p:sp>
    </p:spTree>
    <p:extLst>
      <p:ext uri="{BB962C8B-B14F-4D97-AF65-F5344CB8AC3E}">
        <p14:creationId xmlns:p14="http://schemas.microsoft.com/office/powerpoint/2010/main" val="303704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ADBA-8F94-066C-304E-0593FB62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2E8AC-864C-72F5-CA31-9920FAC3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213192"/>
            <a:ext cx="10515600" cy="754715"/>
          </a:xfrm>
        </p:spPr>
        <p:txBody>
          <a:bodyPr/>
          <a:lstStyle/>
          <a:p>
            <a:r>
              <a:rPr lang="en-GB" b="1" dirty="0"/>
              <a:t>3. Data Processing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002D4-5A95-3AFE-595E-09A0090F2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47" y="1129554"/>
            <a:ext cx="11533094" cy="551525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The processing layer is the brain of the IoT ecosystem.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Data is </a:t>
            </a:r>
            <a:r>
              <a:rPr lang="en-GB" dirty="0" err="1"/>
              <a:t>analyzed</a:t>
            </a:r>
            <a:r>
              <a:rPr lang="en-GB" dirty="0"/>
              <a:t>, pre-processed, and stored here before being sent to the data </a:t>
            </a:r>
            <a:r>
              <a:rPr lang="en-GB" dirty="0" err="1"/>
              <a:t>center</a:t>
            </a:r>
            <a:r>
              <a:rPr lang="en-GB" dirty="0"/>
              <a:t>, where it is accessed by software applications that monitor and manage the data as well as prepare further actions. 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Uses IoT cloud platforms, Data lakes and warehouses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Utilizes Stream processing and machine learning engines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Generates predictive alerts and reports; Anomaly detection signals; Decision rules for automation</a:t>
            </a:r>
          </a:p>
        </p:txBody>
      </p:sp>
    </p:spTree>
    <p:extLst>
      <p:ext uri="{BB962C8B-B14F-4D97-AF65-F5344CB8AC3E}">
        <p14:creationId xmlns:p14="http://schemas.microsoft.com/office/powerpoint/2010/main" val="28762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6DEBE-FC3E-843E-C826-DA61C767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D4E0D-C5F1-9BB7-DEA5-2333305F2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213192"/>
            <a:ext cx="10515600" cy="754715"/>
          </a:xfrm>
        </p:spPr>
        <p:txBody>
          <a:bodyPr/>
          <a:lstStyle/>
          <a:p>
            <a:r>
              <a:rPr lang="en-GB" b="1" dirty="0"/>
              <a:t>4. Application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AD04-07C1-9729-AC40-05432F038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47" y="1129554"/>
            <a:ext cx="11533094" cy="55152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User interaction takes place at the application layer, which delivers application-specific services to the user.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Provides interfaces to monitor and control IoT devices remotely.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Leads to Remote device management, Real-time condition monitoring, Integration with enterprise applications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Displays visual analytics through dashboards and charts.</a:t>
            </a:r>
          </a:p>
          <a:p>
            <a:pPr algn="just" fontAlgn="base">
              <a:lnSpc>
                <a:spcPct val="150000"/>
              </a:lnSpc>
            </a:pPr>
            <a:r>
              <a:rPr lang="en-GB" dirty="0"/>
              <a:t>Triggers automated actions based on processed data</a:t>
            </a:r>
          </a:p>
          <a:p>
            <a:pPr algn="just" fontAlgn="base">
              <a:lnSpc>
                <a:spcPct val="150000"/>
              </a:lnSpc>
            </a:pPr>
            <a:endParaRPr lang="en-GB" dirty="0"/>
          </a:p>
          <a:p>
            <a:pPr algn="just"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62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E781-965F-681E-DAE5-572ED2CC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8AC46-60AD-A6BD-DD35-F797D561E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Internet of Things: a comprehensive overview, architectures, applications,  simulation tools, challenges and future directions | Discover Internet of  Things">
            <a:extLst>
              <a:ext uri="{FF2B5EF4-FFF2-40B4-BE49-F238E27FC236}">
                <a16:creationId xmlns:a16="http://schemas.microsoft.com/office/drawing/2014/main" id="{E306598B-59B1-8019-904B-B2AFA95D4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39" y="202547"/>
            <a:ext cx="11604522" cy="631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41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426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Introduction  to  IoT Architecture</vt:lpstr>
      <vt:lpstr>What is IoT?</vt:lpstr>
      <vt:lpstr>Applications of IoT</vt:lpstr>
      <vt:lpstr>PowerPoint Presentation</vt:lpstr>
      <vt:lpstr>1. Perception / Sensing Layer</vt:lpstr>
      <vt:lpstr>2. Network Layer</vt:lpstr>
      <vt:lpstr>3. Data Processing Layer</vt:lpstr>
      <vt:lpstr>4. Application Layer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arpita johri</dc:creator>
  <cp:lastModifiedBy>arpita johri</cp:lastModifiedBy>
  <cp:revision>16</cp:revision>
  <dcterms:created xsi:type="dcterms:W3CDTF">2025-12-08T14:07:06Z</dcterms:created>
  <dcterms:modified xsi:type="dcterms:W3CDTF">2025-12-08T14:32:08Z</dcterms:modified>
</cp:coreProperties>
</file>