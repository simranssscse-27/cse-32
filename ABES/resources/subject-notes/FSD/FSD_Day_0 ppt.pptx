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notesMasterIdLst>
    <p:notesMasterId r:id="rId26"/>
  </p:notesMasterIdLst>
  <p:sldIdLst>
    <p:sldId id="694" r:id="rId2"/>
    <p:sldId id="696" r:id="rId3"/>
    <p:sldId id="714" r:id="rId4"/>
    <p:sldId id="712" r:id="rId5"/>
    <p:sldId id="713" r:id="rId6"/>
    <p:sldId id="266" r:id="rId7"/>
    <p:sldId id="276" r:id="rId8"/>
    <p:sldId id="698" r:id="rId9"/>
    <p:sldId id="700" r:id="rId10"/>
    <p:sldId id="701" r:id="rId11"/>
    <p:sldId id="702" r:id="rId12"/>
    <p:sldId id="697" r:id="rId13"/>
    <p:sldId id="706" r:id="rId14"/>
    <p:sldId id="703" r:id="rId15"/>
    <p:sldId id="704" r:id="rId16"/>
    <p:sldId id="705" r:id="rId17"/>
    <p:sldId id="707" r:id="rId18"/>
    <p:sldId id="710" r:id="rId19"/>
    <p:sldId id="711" r:id="rId20"/>
    <p:sldId id="709" r:id="rId21"/>
    <p:sldId id="715" r:id="rId22"/>
    <p:sldId id="716" r:id="rId23"/>
    <p:sldId id="717" r:id="rId24"/>
    <p:sldId id="299" r:id="rId25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CFCC"/>
    <a:srgbClr val="B74919"/>
    <a:srgbClr val="990099"/>
    <a:srgbClr val="F3E9E7"/>
    <a:srgbClr val="FDD5F6"/>
    <a:srgbClr val="FCE4D6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4D3E85A-4F9B-440F-AC15-AF04739827A6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3F6C923-2140-4D43-A3BA-148BF5E4E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8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732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6C923-2140-4D43-A3BA-148BF5E4E6C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999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FC006-6DF1-0D8D-0B23-F3F28D86D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5EB99-D9CC-2FE0-36E5-45A64AA85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4C2B6-A945-7CA6-1802-AC5FCD831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442BE-6D39-1624-76E5-C762F24CB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6C923-2140-4D43-A3BA-148BF5E4E6C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319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CA768-FED3-0A58-AA91-9170DE097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AB54F-C28A-DD7F-2130-4B7CC0090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0CAF2-6BE1-5D77-A68B-79CFC7D90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CD141-AD32-5879-89BA-2DFA7BC76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6C923-2140-4D43-A3BA-148BF5E4E6C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51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F939-47B3-467F-CE83-65F8AB45D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AB36A4-92A1-7DA3-8A77-C12A42C4E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D69C4-74BC-584F-1037-59FA6E283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811A5-B065-B66B-25F5-1BF6B2786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6C923-2140-4D43-A3BA-148BF5E4E6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045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6C923-2140-4D43-A3BA-148BF5E4E6C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163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6C923-2140-4D43-A3BA-148BF5E4E6C7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9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C2E1C-0422-438D-8F5D-E65E14686144}" type="datetime1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690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F7AB-7BDE-4AA4-9717-DFA56AB06691}" type="datetime1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15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3FF13-4790-4689-BD9C-4D4C91EB9954}" type="datetime1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813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6A1A-7323-49CE-9D9B-64772069521D}" type="datetime1">
              <a:rPr lang="en-IN" smtClean="0"/>
              <a:t>07-09-2025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711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A1808-A11D-4317-B6DE-5B2FD2B88820}" type="datetime1">
              <a:rPr lang="en-IN" smtClean="0"/>
              <a:t>07-09-2025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070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72C1-A5BF-4820-9748-132712002FE0}" type="datetime1">
              <a:rPr lang="en-IN" smtClean="0"/>
              <a:t>07-09-2025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71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8347-6DED-40B5-8720-9531F5AB77D8}" type="datetime1">
              <a:rPr lang="en-IN" smtClean="0"/>
              <a:t>07-09-2025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77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7C4F-6E6E-45B2-9E1D-27296DF230A6}" type="datetime1">
              <a:rPr lang="en-IN" smtClean="0"/>
              <a:t>07-09-2025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009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F1FF-24B6-465D-8979-7F30DEF0A0EF}" type="datetime1">
              <a:rPr lang="en-IN" smtClean="0"/>
              <a:t>07-09-2025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61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4D5DB-CCB9-4304-A356-2F5F63BD42AB}" type="datetime1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491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D4B1-C8D1-42AC-B8C1-978DE7F51579}" type="datetime1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38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572267" y="1700769"/>
            <a:ext cx="818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496667"/>
            <a:ext cx="11360800" cy="9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958433"/>
            <a:ext cx="11360800" cy="41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048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A9217-DB45-45E2-BD09-7205B85BB625}" type="datetime1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CA62B-704A-42DB-81DF-AA1448824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53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besconference.netlify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OHcrb1XroMg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AD6A46-46C1-DDC2-6584-1E393DF50AF7}"/>
              </a:ext>
            </a:extLst>
          </p:cNvPr>
          <p:cNvSpPr/>
          <p:nvPr/>
        </p:nvSpPr>
        <p:spPr>
          <a:xfrm>
            <a:off x="133566" y="123291"/>
            <a:ext cx="11918023" cy="6606283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CC5DA6-AA35-0814-116E-C234EAC3C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6729" y="2804846"/>
            <a:ext cx="10787865" cy="124317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solidFill>
                  <a:srgbClr val="C00000"/>
                </a:solidFill>
                <a:latin typeface="Times New Roman"/>
                <a:cs typeface="Times New Roman"/>
              </a:rPr>
              <a:t>Full Stack Development: FSD</a:t>
            </a:r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 </a:t>
            </a:r>
            <a:r>
              <a:rPr lang="en-US" sz="3200" b="1" dirty="0">
                <a:latin typeface="Times New Roman"/>
                <a:cs typeface="Times New Roman"/>
              </a:rPr>
              <a:t>Semester </a:t>
            </a:r>
            <a:br>
              <a:rPr lang="en-US" sz="3200" b="1" dirty="0">
                <a:latin typeface="Times New Roman"/>
                <a:cs typeface="Times New Roman"/>
              </a:rPr>
            </a:br>
            <a:r>
              <a:rPr lang="en-US" sz="3200" b="1" u="sng" dirty="0">
                <a:solidFill>
                  <a:srgbClr val="FF0000"/>
                </a:solidFill>
                <a:latin typeface="Times New Roman"/>
                <a:cs typeface="Times New Roman"/>
              </a:rPr>
              <a:t>Odd</a:t>
            </a:r>
            <a:r>
              <a:rPr lang="en-US" sz="3200" b="1" dirty="0">
                <a:latin typeface="Times New Roman"/>
                <a:cs typeface="Times New Roman"/>
              </a:rPr>
              <a:t>, Session 2025-26 </a:t>
            </a:r>
            <a:br>
              <a:rPr lang="en-US" sz="3200" b="1" dirty="0">
                <a:latin typeface="Times New Roman"/>
                <a:cs typeface="Times New Roman"/>
              </a:rPr>
            </a:br>
            <a:r>
              <a:rPr lang="en-US" sz="3200" b="1" dirty="0">
                <a:solidFill>
                  <a:srgbClr val="0070C0"/>
                </a:solidFill>
                <a:latin typeface="Times New Roman"/>
                <a:cs typeface="Times New Roman"/>
              </a:rPr>
              <a:t>Day-0</a:t>
            </a:r>
            <a:endParaRPr lang="en-IN" sz="1867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41EFB6-F62C-6C3D-DAF0-603C00E91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883" y="373596"/>
            <a:ext cx="1839387" cy="185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56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327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DE74A3-58A2-4047-A8BC-AA59953E8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336800" cy="2335077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Detailed Syllabus</a:t>
            </a:r>
            <a:b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1</a:t>
            </a:r>
            <a:r>
              <a:rPr lang="en-US" sz="2600" b="1" kern="1200" baseline="30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</a:t>
            </a:r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Semester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83D1C-9F7E-447A-878B-6B7F8297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A2CA62B-704A-42DB-81DF-AA1448824319}" type="slidenum">
              <a:rPr lang="en-US">
                <a:solidFill>
                  <a:srgbClr val="898989"/>
                </a:solidFill>
              </a:rPr>
              <a:pPr defTabSz="914400">
                <a:spcAft>
                  <a:spcPts val="600"/>
                </a:spcAft>
              </a:pPr>
              <a:t>2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6" name="Picture 5" descr="A logo with a design on it&#10;&#10;Description automatically generated">
            <a:extLst>
              <a:ext uri="{FF2B5EF4-FFF2-40B4-BE49-F238E27FC236}">
                <a16:creationId xmlns:a16="http://schemas.microsoft.com/office/drawing/2014/main" id="{D6CE1D21-4ECE-46FC-124A-45E258DFD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8888" y="4359"/>
            <a:ext cx="1028700" cy="10763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4FE2A0-F134-482A-2E76-AE1BCADA2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520" y="441735"/>
            <a:ext cx="7701280" cy="627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28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0D92B-1725-F9C0-A796-5E46BEBD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01506D2-06EF-4553-4630-6469C3BC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9E7A16-3032-ACE0-CB5E-6192F15F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327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ED6021-6CC2-BF72-AF82-2E2839235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275840" cy="2233477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Detailed Syllabus</a:t>
            </a:r>
            <a:br>
              <a:rPr lang="en-US" sz="2600" b="1" dirty="0">
                <a:solidFill>
                  <a:srgbClr val="FFFFFF"/>
                </a:solidFill>
              </a:rPr>
            </a:br>
            <a:r>
              <a:rPr lang="en-US" sz="2600" b="1" dirty="0">
                <a:solidFill>
                  <a:srgbClr val="FFFFFF"/>
                </a:solidFill>
              </a:rPr>
              <a:t> 1</a:t>
            </a:r>
            <a:r>
              <a:rPr lang="en-US" sz="2600" b="1" baseline="30000" dirty="0">
                <a:solidFill>
                  <a:srgbClr val="FFFFFF"/>
                </a:solidFill>
              </a:rPr>
              <a:t>st</a:t>
            </a:r>
            <a:r>
              <a:rPr lang="en-US" sz="2600" b="1" dirty="0">
                <a:solidFill>
                  <a:srgbClr val="FFFFFF"/>
                </a:solidFill>
              </a:rPr>
              <a:t> Semester</a:t>
            </a:r>
            <a:endParaRPr lang="en-US" sz="2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379A9-BAD8-F41A-1E2A-752C2A1B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A2CA62B-704A-42DB-81DF-AA1448824319}" type="slidenum">
              <a:rPr lang="en-US">
                <a:solidFill>
                  <a:srgbClr val="898989"/>
                </a:solidFill>
              </a:rPr>
              <a:pPr defTabSz="914400">
                <a:spcAft>
                  <a:spcPts val="600"/>
                </a:spcAft>
              </a:pPr>
              <a:t>3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6" name="Picture 5" descr="A logo with a design on it&#10;&#10;Description automatically generated">
            <a:extLst>
              <a:ext uri="{FF2B5EF4-FFF2-40B4-BE49-F238E27FC236}">
                <a16:creationId xmlns:a16="http://schemas.microsoft.com/office/drawing/2014/main" id="{F4356678-7C9D-FF78-9288-65277CD08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8888" y="4359"/>
            <a:ext cx="1028700" cy="10763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4D0EFA-2E2D-D8AE-A86E-5A86006A6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681" y="422686"/>
            <a:ext cx="7670800" cy="629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2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E3ACA-3083-E8A8-9E61-B5757794C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C856AA3-FBE0-E649-2D99-897EC9C7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318741-7512-D888-ABCF-18BEB6833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327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8B31D9-AAD5-36F6-B14B-59BD8C863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438400" cy="2517957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Detailed Syllabus</a:t>
            </a:r>
            <a:br>
              <a:rPr lang="en-US" sz="2600" b="1" dirty="0">
                <a:solidFill>
                  <a:srgbClr val="FFFFFF"/>
                </a:solidFill>
              </a:rPr>
            </a:br>
            <a:r>
              <a:rPr lang="en-US" sz="2600" b="1" dirty="0">
                <a:solidFill>
                  <a:srgbClr val="FFFFFF"/>
                </a:solidFill>
              </a:rPr>
              <a:t> 1</a:t>
            </a:r>
            <a:r>
              <a:rPr lang="en-US" sz="2600" b="1" baseline="30000" dirty="0">
                <a:solidFill>
                  <a:srgbClr val="FFFFFF"/>
                </a:solidFill>
              </a:rPr>
              <a:t>st</a:t>
            </a:r>
            <a:r>
              <a:rPr lang="en-US" sz="2600" b="1" dirty="0">
                <a:solidFill>
                  <a:srgbClr val="FFFFFF"/>
                </a:solidFill>
              </a:rPr>
              <a:t> Semester</a:t>
            </a:r>
            <a:endParaRPr lang="en-US" sz="2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6FB89-7836-DC6C-101E-214FF61F3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A2CA62B-704A-42DB-81DF-AA1448824319}" type="slidenum">
              <a:rPr lang="en-US">
                <a:solidFill>
                  <a:srgbClr val="898989"/>
                </a:solidFill>
              </a:rPr>
              <a:pPr defTabSz="914400">
                <a:spcAft>
                  <a:spcPts val="600"/>
                </a:spcAft>
              </a:pPr>
              <a:t>4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6" name="Picture 5" descr="A logo with a design on it&#10;&#10;Description automatically generated">
            <a:extLst>
              <a:ext uri="{FF2B5EF4-FFF2-40B4-BE49-F238E27FC236}">
                <a16:creationId xmlns:a16="http://schemas.microsoft.com/office/drawing/2014/main" id="{C91FE00A-DFD1-A91F-F030-BCC71D62F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8888" y="4359"/>
            <a:ext cx="1028700" cy="1076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FFEAFE-84B2-260E-52E1-49BF752BA6AE}"/>
              </a:ext>
            </a:extLst>
          </p:cNvPr>
          <p:cNvSpPr txBox="1"/>
          <p:nvPr/>
        </p:nvSpPr>
        <p:spPr>
          <a:xfrm>
            <a:off x="3623127" y="6029566"/>
            <a:ext cx="79671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 Project will be assigned to each group of students.</a:t>
            </a:r>
          </a:p>
          <a:p>
            <a:r>
              <a:rPr lang="en-US" sz="1400" dirty="0"/>
              <a:t>2. The final outcome of the contest in one executable project (projects to be uploaded over GitHub)</a:t>
            </a:r>
          </a:p>
          <a:p>
            <a:r>
              <a:rPr lang="en-US" sz="1400" dirty="0"/>
              <a:t>3. Marks will be assigned through your participation and project development.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8FF766-DFE1-7EB9-8D5E-6EAE6BC37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520" y="398574"/>
            <a:ext cx="7670800" cy="554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76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2F1CD-9B72-2BAE-90F5-77C74882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7B32C34-0ED5-90E3-A9BA-8041B1B54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C8003D-C3F3-EFA5-61BB-E78E58AE9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136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05C517-0F1B-12C3-7CFB-BCDBDD732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Training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6E1A3-220F-04F7-88E8-0841128CA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7A2CA62B-704A-42DB-81DF-AA144882431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logo with a design on it&#10;&#10;Description automatically generated">
            <a:extLst>
              <a:ext uri="{FF2B5EF4-FFF2-40B4-BE49-F238E27FC236}">
                <a16:creationId xmlns:a16="http://schemas.microsoft.com/office/drawing/2014/main" id="{B81CAF45-7EFA-B71A-EE27-4FF1447D0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8888" y="4359"/>
            <a:ext cx="1028700" cy="1076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81BA8C-C71A-C1D5-F294-C860920CB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360" y="1440180"/>
            <a:ext cx="7772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293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742267" y="1811867"/>
            <a:ext cx="4487333" cy="82973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667" dirty="0"/>
              <a:t>Full Stack Development</a:t>
            </a:r>
            <a:endParaRPr lang="en-IN" sz="2667" dirty="0"/>
          </a:p>
        </p:txBody>
      </p:sp>
      <p:sp>
        <p:nvSpPr>
          <p:cNvPr id="5" name="Rounded Rectangle 4"/>
          <p:cNvSpPr/>
          <p:nvPr/>
        </p:nvSpPr>
        <p:spPr>
          <a:xfrm>
            <a:off x="694267" y="3048000"/>
            <a:ext cx="3048000" cy="5757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89" dirty="0"/>
              <a:t>Front-End Development</a:t>
            </a:r>
            <a:endParaRPr lang="en-IN" sz="2489" dirty="0"/>
          </a:p>
        </p:txBody>
      </p:sp>
      <p:sp>
        <p:nvSpPr>
          <p:cNvPr id="6" name="Rounded Rectangle 5"/>
          <p:cNvSpPr/>
          <p:nvPr/>
        </p:nvSpPr>
        <p:spPr>
          <a:xfrm>
            <a:off x="8382000" y="2963334"/>
            <a:ext cx="3048000" cy="5757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89" dirty="0"/>
              <a:t>Back-End Development</a:t>
            </a:r>
            <a:endParaRPr lang="en-IN" sz="2489" dirty="0"/>
          </a:p>
        </p:txBody>
      </p:sp>
      <p:cxnSp>
        <p:nvCxnSpPr>
          <p:cNvPr id="8" name="Straight Connector 7"/>
          <p:cNvCxnSpPr>
            <a:stCxn id="4" idx="1"/>
          </p:cNvCxnSpPr>
          <p:nvPr/>
        </p:nvCxnSpPr>
        <p:spPr>
          <a:xfrm flipH="1">
            <a:off x="2404534" y="2226733"/>
            <a:ext cx="13377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8229600" y="2235200"/>
            <a:ext cx="13377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404533" y="2226733"/>
            <a:ext cx="0" cy="821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567333" y="2235200"/>
            <a:ext cx="0" cy="821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778000" y="4182534"/>
            <a:ext cx="3352800" cy="6265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89" dirty="0"/>
              <a:t>Database</a:t>
            </a:r>
            <a:endParaRPr lang="en-IN" sz="2489" dirty="0"/>
          </a:p>
        </p:txBody>
      </p:sp>
      <p:sp>
        <p:nvSpPr>
          <p:cNvPr id="14" name="Rounded Rectangle 13"/>
          <p:cNvSpPr/>
          <p:nvPr/>
        </p:nvSpPr>
        <p:spPr>
          <a:xfrm>
            <a:off x="6968068" y="4189532"/>
            <a:ext cx="3352800" cy="6265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89" dirty="0"/>
              <a:t>Rest API</a:t>
            </a:r>
            <a:endParaRPr lang="en-IN" sz="2489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4487333" y="2675467"/>
            <a:ext cx="0" cy="1540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687733" y="2692400"/>
            <a:ext cx="0" cy="1540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4" idx="2"/>
          </p:cNvCxnSpPr>
          <p:nvPr/>
        </p:nvCxnSpPr>
        <p:spPr>
          <a:xfrm>
            <a:off x="5985933" y="2641600"/>
            <a:ext cx="0" cy="2624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8045" y="5562535"/>
            <a:ext cx="3691467" cy="69426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89" dirty="0"/>
              <a:t>Web Application Architecture</a:t>
            </a:r>
            <a:endParaRPr lang="en-IN" sz="2489" dirty="0"/>
          </a:p>
        </p:txBody>
      </p:sp>
      <p:sp>
        <p:nvSpPr>
          <p:cNvPr id="22" name="Rounded Rectangle 21"/>
          <p:cNvSpPr/>
          <p:nvPr/>
        </p:nvSpPr>
        <p:spPr>
          <a:xfrm>
            <a:off x="4783444" y="5569599"/>
            <a:ext cx="3200400" cy="69426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89" dirty="0"/>
              <a:t>Design Pattern</a:t>
            </a:r>
            <a:endParaRPr lang="en-IN" sz="2489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2883673" y="5266267"/>
            <a:ext cx="63080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883673" y="5266267"/>
            <a:ext cx="0" cy="338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2" idx="0"/>
          </p:cNvCxnSpPr>
          <p:nvPr/>
        </p:nvCxnSpPr>
        <p:spPr>
          <a:xfrm>
            <a:off x="6375177" y="5230932"/>
            <a:ext cx="8467" cy="338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19309" y="5551941"/>
            <a:ext cx="3200400" cy="69426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89" dirty="0"/>
              <a:t>Version Control System</a:t>
            </a:r>
            <a:endParaRPr lang="en-IN" sz="2489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9191708" y="5266267"/>
            <a:ext cx="0" cy="338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BES Engineering College | Linked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537" y="11627"/>
            <a:ext cx="1463040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black background with grey text&#10;&#10;Description automatically generated">
            <a:extLst>
              <a:ext uri="{FF2B5EF4-FFF2-40B4-BE49-F238E27FC236}">
                <a16:creationId xmlns:a16="http://schemas.microsoft.com/office/drawing/2014/main" id="{DBEF4154-253C-D84C-C530-3A4BA7BF7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84" y="266307"/>
            <a:ext cx="839152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1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551385" y="37535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latin typeface="Georgia" panose="02040502050405020303" pitchFamily="18" charset="0"/>
              </a:rPr>
              <a:t>Full Stack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385" y="1381502"/>
            <a:ext cx="4539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Georgia" panose="02040502050405020303" pitchFamily="18" charset="0"/>
              </a:rPr>
              <a:t>Over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2 billion </a:t>
            </a:r>
            <a:r>
              <a:rPr lang="en-US" sz="2400" b="1" dirty="0">
                <a:latin typeface="Georgia" panose="02040502050405020303" pitchFamily="18" charset="0"/>
              </a:rPr>
              <a:t>Websites</a:t>
            </a:r>
            <a:endParaRPr lang="en-IN" sz="2400" b="1" dirty="0">
              <a:latin typeface="Georgia" panose="02040502050405020303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51385" y="1918387"/>
            <a:ext cx="80591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Georgia" panose="02040502050405020303" pitchFamily="18" charset="0"/>
              </a:rPr>
              <a:t>Approximately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5 billion </a:t>
            </a:r>
            <a:r>
              <a:rPr lang="en-US" sz="2400" b="1" dirty="0">
                <a:latin typeface="Georgia" panose="02040502050405020303" pitchFamily="18" charset="0"/>
              </a:rPr>
              <a:t>active internet users</a:t>
            </a:r>
            <a:endParaRPr lang="en-IN" sz="2400" b="1" dirty="0">
              <a:latin typeface="Georgia" panose="02040502050405020303" pitchFamily="18" charset="0"/>
            </a:endParaRPr>
          </a:p>
        </p:txBody>
      </p:sp>
      <p:sp>
        <p:nvSpPr>
          <p:cNvPr id="13" name="Right Brace 12"/>
          <p:cNvSpPr/>
          <p:nvPr/>
        </p:nvSpPr>
        <p:spPr>
          <a:xfrm>
            <a:off x="8536741" y="1313031"/>
            <a:ext cx="210325" cy="1091649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14" name="Rectangle 13"/>
          <p:cNvSpPr/>
          <p:nvPr/>
        </p:nvSpPr>
        <p:spPr>
          <a:xfrm>
            <a:off x="9159461" y="1564443"/>
            <a:ext cx="29711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44444"/>
                </a:solidFill>
                <a:latin typeface="Georgia" panose="02040502050405020303" pitchFamily="18" charset="0"/>
              </a:rPr>
              <a:t>Need for enhanced customer experience</a:t>
            </a:r>
            <a:endParaRPr lang="en-IN" sz="2000" b="1" dirty="0">
              <a:latin typeface="Georgia" panose="02040502050405020303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89140" y="5862213"/>
            <a:ext cx="99225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>
                <a:latin typeface="Georgia" panose="02040502050405020303" pitchFamily="18" charset="0"/>
              </a:rPr>
              <a:t>The demand for full-stack developers will steadily increase in the market as new technologies emerge</a:t>
            </a:r>
            <a:r>
              <a:rPr lang="en-US" sz="1600" i="1" dirty="0">
                <a:solidFill>
                  <a:schemeClr val="tx2"/>
                </a:solidFill>
                <a:latin typeface="Georgia" panose="02040502050405020303" pitchFamily="18" charset="0"/>
              </a:rPr>
              <a:t>. </a:t>
            </a:r>
            <a:endParaRPr lang="en-IN" sz="1600" i="1" dirty="0">
              <a:solidFill>
                <a:schemeClr val="tx2"/>
              </a:solidFill>
              <a:latin typeface="Georgia" panose="02040502050405020303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36787" y="2732438"/>
            <a:ext cx="105234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In 2024, </a:t>
            </a:r>
            <a:r>
              <a:rPr lang="en-US" b="1" i="1" dirty="0">
                <a:solidFill>
                  <a:srgbClr val="0070C0"/>
                </a:solidFill>
              </a:rPr>
              <a:t>Full Stack Developers</a:t>
            </a:r>
            <a:r>
              <a:rPr lang="en-US" i="1" dirty="0">
                <a:solidFill>
                  <a:srgbClr val="0070C0"/>
                </a:solidFill>
              </a:rPr>
              <a:t> still rank as one of the top roles to be filled, often holding the </a:t>
            </a:r>
            <a:r>
              <a:rPr lang="en-US" b="1" i="1" dirty="0">
                <a:solidFill>
                  <a:srgbClr val="0070C0"/>
                </a:solidFill>
              </a:rPr>
              <a:t>#1 or #2 spot</a:t>
            </a:r>
            <a:r>
              <a:rPr lang="en-US" i="1" dirty="0">
                <a:solidFill>
                  <a:srgbClr val="0070C0"/>
                </a:solidFill>
              </a:rPr>
              <a:t>, closely followed by roles such as </a:t>
            </a:r>
            <a:r>
              <a:rPr lang="en-US" b="1" i="1" dirty="0">
                <a:solidFill>
                  <a:srgbClr val="0070C0"/>
                </a:solidFill>
              </a:rPr>
              <a:t>AI/ML Engineers</a:t>
            </a:r>
            <a:r>
              <a:rPr lang="en-US" i="1" dirty="0">
                <a:solidFill>
                  <a:srgbClr val="0070C0"/>
                </a:solidFill>
              </a:rPr>
              <a:t> and </a:t>
            </a:r>
            <a:r>
              <a:rPr lang="en-US" b="1" i="1" dirty="0">
                <a:solidFill>
                  <a:srgbClr val="0070C0"/>
                </a:solidFill>
              </a:rPr>
              <a:t>Cloud Engineers</a:t>
            </a:r>
            <a:r>
              <a:rPr lang="en-US" i="1" dirty="0">
                <a:solidFill>
                  <a:srgbClr val="0070C0"/>
                </a:solidFill>
              </a:rPr>
              <a:t>.</a:t>
            </a:r>
            <a:endParaRPr lang="en-IN" sz="1800" i="1" dirty="0">
              <a:solidFill>
                <a:srgbClr val="0070C0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51386" y="3661688"/>
            <a:ext cx="4361837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44444"/>
                </a:solidFill>
                <a:latin typeface="Georgia" panose="02040502050405020303" pitchFamily="18" charset="0"/>
              </a:rPr>
              <a:t>Among one of the most in demand job profiles for B. Tech Graduates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44444"/>
                </a:solidFill>
                <a:latin typeface="Georgia" panose="02040502050405020303" pitchFamily="18" charset="0"/>
              </a:rPr>
              <a:t>Ability to work on both frond-end and back-end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44444"/>
                </a:solidFill>
                <a:latin typeface="Georgia" panose="02040502050405020303" pitchFamily="18" charset="0"/>
              </a:rPr>
              <a:t>Knowledge of a broad spectrum of technologies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16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 sz="1600" dirty="0">
              <a:latin typeface="Georgia" panose="02040502050405020303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599745" y="3749351"/>
            <a:ext cx="436183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44444"/>
                </a:solidFill>
                <a:latin typeface="Georgia" panose="02040502050405020303" pitchFamily="18" charset="0"/>
              </a:rPr>
              <a:t>Easy to learn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44444"/>
                </a:solidFill>
                <a:latin typeface="Georgia" panose="02040502050405020303" pitchFamily="18" charset="0"/>
              </a:rPr>
              <a:t>Provides a much wider understanding of the scope of the project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44444"/>
                </a:solidFill>
                <a:latin typeface="Georgia" panose="02040502050405020303" pitchFamily="18" charset="0"/>
              </a:rPr>
              <a:t>Creative flexibility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44444"/>
                </a:solidFill>
                <a:latin typeface="Georgia" panose="02040502050405020303" pitchFamily="18" charset="0"/>
              </a:rPr>
              <a:t>Handsome salary packages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16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94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08906-10AB-78CF-5D8B-581E3F1C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0FD3F60-0C3E-765A-C7AF-1D373718ED79}"/>
              </a:ext>
            </a:extLst>
          </p:cNvPr>
          <p:cNvSpPr txBox="1">
            <a:spLocks/>
          </p:cNvSpPr>
          <p:nvPr/>
        </p:nvSpPr>
        <p:spPr>
          <a:xfrm>
            <a:off x="551385" y="37535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latin typeface="Georgia" panose="02040502050405020303" pitchFamily="18" charset="0"/>
              </a:rPr>
              <a:t>Full Stack Developer (Salary Trends)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A53238-1061-B8E3-CEC2-4203EB5EF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85" y="1581149"/>
            <a:ext cx="6846365" cy="4584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76C9AE-B3A4-4F37-838A-4EE2A35D6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053" y="2266950"/>
            <a:ext cx="4499694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76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DE800-9D95-730B-1538-98FA1851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6EA7470-13B0-05FE-2DD7-347174AD3EDF}"/>
              </a:ext>
            </a:extLst>
          </p:cNvPr>
          <p:cNvSpPr txBox="1">
            <a:spLocks/>
          </p:cNvSpPr>
          <p:nvPr/>
        </p:nvSpPr>
        <p:spPr>
          <a:xfrm>
            <a:off x="551385" y="37535"/>
            <a:ext cx="10840515" cy="705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latin typeface="Georgia" panose="02040502050405020303" pitchFamily="18" charset="0"/>
              </a:rPr>
              <a:t>Full Stack Developer (Freshers job Trends)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F8FF18-11FF-97D9-581E-429EDBA1C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49" y="983685"/>
            <a:ext cx="9036051" cy="538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6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72EF2-132C-6521-D9AA-BEE416CB1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FEC8042-FFD4-E69B-28DA-C666DB1A8FAC}"/>
              </a:ext>
            </a:extLst>
          </p:cNvPr>
          <p:cNvSpPr txBox="1">
            <a:spLocks/>
          </p:cNvSpPr>
          <p:nvPr/>
        </p:nvSpPr>
        <p:spPr>
          <a:xfrm>
            <a:off x="551385" y="37535"/>
            <a:ext cx="10840515" cy="7054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latin typeface="Georgia" panose="02040502050405020303" pitchFamily="18" charset="0"/>
              </a:rPr>
              <a:t>Full Stack Developer (Company wise job Trends)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960EE3-B695-5310-677A-5D8B6BA37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806786"/>
            <a:ext cx="7186947" cy="591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2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73D2A-B986-2C05-2BAA-6FCC25D90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52633F1-05DB-03C3-53AE-E901A64355D5}"/>
              </a:ext>
            </a:extLst>
          </p:cNvPr>
          <p:cNvSpPr txBox="1">
            <a:spLocks/>
          </p:cNvSpPr>
          <p:nvPr/>
        </p:nvSpPr>
        <p:spPr>
          <a:xfrm>
            <a:off x="551385" y="37535"/>
            <a:ext cx="10840515" cy="7054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latin typeface="Georgia" panose="02040502050405020303" pitchFamily="18" charset="0"/>
              </a:rPr>
              <a:t>Full Stack Developer (Startups wise job Trends)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481D865-7C30-1DA7-32FC-FFE550BB9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550" y="1033463"/>
            <a:ext cx="7842250" cy="554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14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74A3-58A2-4047-A8BC-AA59953E8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6525"/>
            <a:ext cx="11315699" cy="58649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chemeClr val="tx2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Popular apps built with React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83D1C-9F7E-447A-878B-6B7F8297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F1D486-3392-9315-3554-9769043DBC59}"/>
              </a:ext>
            </a:extLst>
          </p:cNvPr>
          <p:cNvSpPr txBox="1"/>
          <p:nvPr/>
        </p:nvSpPr>
        <p:spPr>
          <a:xfrm>
            <a:off x="1433946" y="3200400"/>
            <a:ext cx="77423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3"/>
              </a:rPr>
              <a:t>Tempo Bootstrap Template - Index (abesconference.netlify.app)</a:t>
            </a:r>
            <a:endParaRPr lang="en-US"/>
          </a:p>
        </p:txBody>
      </p: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41816B87-DE8D-21A2-A3D1-8331C9664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14" y="1020048"/>
            <a:ext cx="11346365" cy="554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78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25B70-CF22-F380-8F93-723391F56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C7848-CB1B-6CEC-627B-3968CAFB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13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4653A8-4997-B811-6358-89E858181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1" y="1123241"/>
            <a:ext cx="12022318" cy="50984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92BCDD-3458-428E-89A9-D8D7C90D8284}"/>
              </a:ext>
            </a:extLst>
          </p:cNvPr>
          <p:cNvSpPr txBox="1"/>
          <p:nvPr/>
        </p:nvSpPr>
        <p:spPr>
          <a:xfrm>
            <a:off x="484002" y="266977"/>
            <a:ext cx="7967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Data from Career Planning &amp; Development :</a:t>
            </a:r>
          </a:p>
        </p:txBody>
      </p:sp>
    </p:spTree>
    <p:extLst>
      <p:ext uri="{BB962C8B-B14F-4D97-AF65-F5344CB8AC3E}">
        <p14:creationId xmlns:p14="http://schemas.microsoft.com/office/powerpoint/2010/main" val="601308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318A2-150D-988C-F0BD-3D0D3A76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14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0335C8-8386-5CAE-231E-34BB7EDAD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1" y="966148"/>
            <a:ext cx="11965757" cy="54817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716CDD-0910-AABE-3097-EAF2276F3F47}"/>
              </a:ext>
            </a:extLst>
          </p:cNvPr>
          <p:cNvSpPr txBox="1"/>
          <p:nvPr/>
        </p:nvSpPr>
        <p:spPr>
          <a:xfrm>
            <a:off x="484002" y="266977"/>
            <a:ext cx="7967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Data from Career Planning &amp; Development :</a:t>
            </a:r>
          </a:p>
        </p:txBody>
      </p:sp>
    </p:spTree>
    <p:extLst>
      <p:ext uri="{BB962C8B-B14F-4D97-AF65-F5344CB8AC3E}">
        <p14:creationId xmlns:p14="http://schemas.microsoft.com/office/powerpoint/2010/main" val="3645520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30DEC-9C30-3477-3948-40BE37EE6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8FDA6-3511-5C5F-9C43-4A60ED91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15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8A3FA9-0CB9-46A5-F639-E4B06E65E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8" y="1069258"/>
            <a:ext cx="12031744" cy="5287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2E2AF7-3601-C97A-A22F-31F8EBF840C8}"/>
              </a:ext>
            </a:extLst>
          </p:cNvPr>
          <p:cNvSpPr txBox="1"/>
          <p:nvPr/>
        </p:nvSpPr>
        <p:spPr>
          <a:xfrm>
            <a:off x="484002" y="266977"/>
            <a:ext cx="7967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Data from Career Planning &amp; Development :</a:t>
            </a:r>
          </a:p>
        </p:txBody>
      </p:sp>
    </p:spTree>
    <p:extLst>
      <p:ext uri="{BB962C8B-B14F-4D97-AF65-F5344CB8AC3E}">
        <p14:creationId xmlns:p14="http://schemas.microsoft.com/office/powerpoint/2010/main" val="3325430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D5E33-074F-DCA3-639B-22C8A08C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1DE84-1AEF-4DB3-BD09-BC583E159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16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9471D2-265A-5981-5C41-8F88DCF95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7" y="1049446"/>
            <a:ext cx="11673526" cy="55398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E34136-5DA2-9FCA-86B8-BC8DCE522E2D}"/>
              </a:ext>
            </a:extLst>
          </p:cNvPr>
          <p:cNvSpPr txBox="1"/>
          <p:nvPr/>
        </p:nvSpPr>
        <p:spPr>
          <a:xfrm>
            <a:off x="484002" y="266977"/>
            <a:ext cx="7967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Data from Career Planning &amp; Development :</a:t>
            </a:r>
          </a:p>
        </p:txBody>
      </p:sp>
    </p:spTree>
    <p:extLst>
      <p:ext uri="{BB962C8B-B14F-4D97-AF65-F5344CB8AC3E}">
        <p14:creationId xmlns:p14="http://schemas.microsoft.com/office/powerpoint/2010/main" val="2956520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6AB9B-0553-8A20-B2B1-CEA57A062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E7A95-13ED-6D0F-27DB-C4CAD519D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17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0FF605-8495-C2A5-D64A-B9145317B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08" y="1109981"/>
            <a:ext cx="11975183" cy="49703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454FEA-784C-CE0C-8289-FB96CA5BAA90}"/>
              </a:ext>
            </a:extLst>
          </p:cNvPr>
          <p:cNvSpPr txBox="1"/>
          <p:nvPr/>
        </p:nvSpPr>
        <p:spPr>
          <a:xfrm>
            <a:off x="484002" y="266977"/>
            <a:ext cx="7967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Data from Career Planning &amp; Development :</a:t>
            </a:r>
          </a:p>
        </p:txBody>
      </p:sp>
    </p:spTree>
    <p:extLst>
      <p:ext uri="{BB962C8B-B14F-4D97-AF65-F5344CB8AC3E}">
        <p14:creationId xmlns:p14="http://schemas.microsoft.com/office/powerpoint/2010/main" val="1678272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FDB70-DD07-E3CC-11A7-4851B0CFE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81627-D3EB-4504-4F75-2A9F4DF6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18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4F8874-0A2F-FC3A-721C-CBF16943D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5" y="1069368"/>
            <a:ext cx="11984610" cy="50674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AE4F24-C0A4-A075-CBAE-764111D84A8B}"/>
              </a:ext>
            </a:extLst>
          </p:cNvPr>
          <p:cNvSpPr txBox="1"/>
          <p:nvPr/>
        </p:nvSpPr>
        <p:spPr>
          <a:xfrm>
            <a:off x="484002" y="266977"/>
            <a:ext cx="7967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Data from Career Planning &amp; Development :</a:t>
            </a:r>
          </a:p>
        </p:txBody>
      </p:sp>
    </p:spTree>
    <p:extLst>
      <p:ext uri="{BB962C8B-B14F-4D97-AF65-F5344CB8AC3E}">
        <p14:creationId xmlns:p14="http://schemas.microsoft.com/office/powerpoint/2010/main" val="562164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51992-A7C0-0C97-FE78-EF2E77474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1385F-5CD0-BA5D-4156-E4EF3F163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19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9CF83F-435E-30FB-859C-D34D99A9B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2" y="1134540"/>
            <a:ext cx="11909195" cy="50588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1312E8-3EEE-77CF-0B7B-3A56370C22CF}"/>
              </a:ext>
            </a:extLst>
          </p:cNvPr>
          <p:cNvSpPr txBox="1"/>
          <p:nvPr/>
        </p:nvSpPr>
        <p:spPr>
          <a:xfrm>
            <a:off x="484002" y="266977"/>
            <a:ext cx="7967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Data from Career Planning &amp; Development :</a:t>
            </a:r>
          </a:p>
        </p:txBody>
      </p:sp>
    </p:spTree>
    <p:extLst>
      <p:ext uri="{BB962C8B-B14F-4D97-AF65-F5344CB8AC3E}">
        <p14:creationId xmlns:p14="http://schemas.microsoft.com/office/powerpoint/2010/main" val="1742817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4281A-534C-080F-2E4C-C2C91530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20C68-39DA-B69B-7DC0-9E127E2B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20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2015A5-0F1A-6548-D507-4C3FD9749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2" y="1087317"/>
            <a:ext cx="11852635" cy="54515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459F05-027F-AB60-1855-ED6181D1BF8B}"/>
              </a:ext>
            </a:extLst>
          </p:cNvPr>
          <p:cNvSpPr txBox="1"/>
          <p:nvPr/>
        </p:nvSpPr>
        <p:spPr>
          <a:xfrm>
            <a:off x="484002" y="266977"/>
            <a:ext cx="7967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Data from Career Planning &amp; Development :</a:t>
            </a:r>
          </a:p>
        </p:txBody>
      </p:sp>
    </p:spTree>
    <p:extLst>
      <p:ext uri="{BB962C8B-B14F-4D97-AF65-F5344CB8AC3E}">
        <p14:creationId xmlns:p14="http://schemas.microsoft.com/office/powerpoint/2010/main" val="1816504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CEEEB-95B0-011A-FFC0-185D9A1B3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21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B6601-8B5E-1C6B-45F2-8D33A61B7EE1}"/>
              </a:ext>
            </a:extLst>
          </p:cNvPr>
          <p:cNvSpPr txBox="1"/>
          <p:nvPr/>
        </p:nvSpPr>
        <p:spPr>
          <a:xfrm>
            <a:off x="557213" y="501134"/>
            <a:ext cx="101727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Georgia" panose="02040502050405020303" pitchFamily="18" charset="0"/>
              </a:rPr>
              <a:t>Git is important, and why it's important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3DD9FE-D116-D564-FB5D-1ACC622C8E9E}"/>
              </a:ext>
            </a:extLst>
          </p:cNvPr>
          <p:cNvSpPr txBox="1"/>
          <p:nvPr/>
        </p:nvSpPr>
        <p:spPr>
          <a:xfrm>
            <a:off x="300039" y="2551837"/>
            <a:ext cx="112299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latin typeface="Georgia" panose="02040502050405020303" pitchFamily="18" charset="0"/>
              </a:rPr>
              <a:t>What is Git?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>
                <a:latin typeface="Georgia" panose="02040502050405020303" pitchFamily="18" charset="0"/>
              </a:rPr>
              <a:t>Git</a:t>
            </a:r>
            <a:r>
              <a:rPr lang="en-GB" sz="2400" dirty="0">
                <a:latin typeface="Georgia" panose="02040502050405020303" pitchFamily="18" charset="0"/>
              </a:rPr>
              <a:t> is a </a:t>
            </a:r>
            <a:r>
              <a:rPr lang="en-GB" sz="2400" b="1" dirty="0">
                <a:latin typeface="Georgia" panose="02040502050405020303" pitchFamily="18" charset="0"/>
              </a:rPr>
              <a:t>version control system (VCS)</a:t>
            </a:r>
            <a:r>
              <a:rPr lang="en-GB" sz="2400" dirty="0">
                <a:latin typeface="Georgia" panose="02040502050405020303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>
              <a:latin typeface="Georgia" panose="020405020504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It helps developers </a:t>
            </a:r>
            <a:r>
              <a:rPr lang="en-GB" sz="2400" b="1" dirty="0">
                <a:latin typeface="Georgia" panose="02040502050405020303" pitchFamily="18" charset="0"/>
              </a:rPr>
              <a:t>track changes</a:t>
            </a:r>
            <a:r>
              <a:rPr lang="en-GB" sz="2400" dirty="0">
                <a:latin typeface="Georgia" panose="02040502050405020303" pitchFamily="18" charset="0"/>
              </a:rPr>
              <a:t> in their code, </a:t>
            </a:r>
            <a:r>
              <a:rPr lang="en-GB" sz="2400" b="1" dirty="0">
                <a:latin typeface="Georgia" panose="02040502050405020303" pitchFamily="18" charset="0"/>
              </a:rPr>
              <a:t>collaborate with teams</a:t>
            </a:r>
            <a:r>
              <a:rPr lang="en-GB" sz="2400" dirty="0">
                <a:latin typeface="Georgia" panose="02040502050405020303" pitchFamily="18" charset="0"/>
              </a:rPr>
              <a:t>, and </a:t>
            </a:r>
            <a:r>
              <a:rPr lang="en-GB" sz="2400" b="1" dirty="0">
                <a:latin typeface="Georgia" panose="02040502050405020303" pitchFamily="18" charset="0"/>
              </a:rPr>
              <a:t>manage project history</a:t>
            </a:r>
            <a:r>
              <a:rPr lang="en-GB" sz="2400" dirty="0">
                <a:latin typeface="Georgia" panose="02040502050405020303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>
              <a:latin typeface="Georgia" panose="020405020504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Originally created by </a:t>
            </a:r>
            <a:r>
              <a:rPr lang="en-GB" sz="2400" i="1" dirty="0">
                <a:latin typeface="Georgia" panose="02040502050405020303" pitchFamily="18" charset="0"/>
              </a:rPr>
              <a:t>Linus Torvalds</a:t>
            </a:r>
            <a:r>
              <a:rPr lang="en-GB" sz="2400" dirty="0">
                <a:latin typeface="Georgia" panose="02040502050405020303" pitchFamily="18" charset="0"/>
              </a:rPr>
              <a:t> (the creator of Linux kernel) in 2005.</a:t>
            </a:r>
          </a:p>
        </p:txBody>
      </p:sp>
    </p:spTree>
    <p:extLst>
      <p:ext uri="{BB962C8B-B14F-4D97-AF65-F5344CB8AC3E}">
        <p14:creationId xmlns:p14="http://schemas.microsoft.com/office/powerpoint/2010/main" val="1540512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C03487-9919-201A-6DA0-6A7B04AF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22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2C3F76-80B0-B662-D9D6-88B34A434F9A}"/>
              </a:ext>
            </a:extLst>
          </p:cNvPr>
          <p:cNvSpPr txBox="1"/>
          <p:nvPr/>
        </p:nvSpPr>
        <p:spPr>
          <a:xfrm>
            <a:off x="342900" y="136525"/>
            <a:ext cx="108966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000" b="1" dirty="0">
                <a:latin typeface="Georgia" panose="02040502050405020303" pitchFamily="18" charset="0"/>
              </a:rPr>
              <a:t>Why is Git Important?</a:t>
            </a:r>
          </a:p>
          <a:p>
            <a:pPr>
              <a:buNone/>
            </a:pPr>
            <a:endParaRPr lang="en-GB" sz="4000" b="1" dirty="0"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GB" sz="2400" b="1" dirty="0">
                <a:latin typeface="Georgia" panose="02040502050405020303" pitchFamily="18" charset="0"/>
              </a:rPr>
              <a:t>🔹 1. Version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Every change is recorded.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You can roll back to previous versions if something breaks.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Prevents loss of work.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GB" sz="2400" b="1" dirty="0">
                <a:latin typeface="Georgia" panose="02040502050405020303" pitchFamily="18" charset="0"/>
              </a:rPr>
              <a:t>🔹 2. Collaboration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Multiple developers can work on the </a:t>
            </a:r>
            <a:r>
              <a:rPr lang="en-GB" sz="2400" b="1" dirty="0">
                <a:latin typeface="Georgia" panose="02040502050405020303" pitchFamily="18" charset="0"/>
              </a:rPr>
              <a:t>same project at the same time</a:t>
            </a:r>
            <a:r>
              <a:rPr lang="en-GB" sz="2400" dirty="0">
                <a:latin typeface="Georgia" panose="02040502050405020303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Git merges everyone’s contributions smoothly.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Avoids overwriting code.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GB" sz="2400" b="1" dirty="0">
                <a:latin typeface="Georgia" panose="02040502050405020303" pitchFamily="18" charset="0"/>
              </a:rPr>
              <a:t>🔹 3. Branching and Experimentation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You can create a </a:t>
            </a:r>
            <a:r>
              <a:rPr lang="en-GB" sz="2400" b="1" dirty="0">
                <a:latin typeface="Georgia" panose="02040502050405020303" pitchFamily="18" charset="0"/>
              </a:rPr>
              <a:t>branch</a:t>
            </a:r>
            <a:r>
              <a:rPr lang="en-GB" sz="2400" dirty="0">
                <a:latin typeface="Georgia" panose="02040502050405020303" pitchFamily="18" charset="0"/>
              </a:rPr>
              <a:t> (a separate workspace) to test features/ideas.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If it works → merge into main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If not → discard without affecting the main code.</a:t>
            </a:r>
          </a:p>
        </p:txBody>
      </p:sp>
    </p:spTree>
    <p:extLst>
      <p:ext uri="{BB962C8B-B14F-4D97-AF65-F5344CB8AC3E}">
        <p14:creationId xmlns:p14="http://schemas.microsoft.com/office/powerpoint/2010/main" val="1122396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9AC684-D51D-93CF-5264-0CB6242A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23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E4899E-A303-CCE4-0A2E-9A9568EDC9A9}"/>
              </a:ext>
            </a:extLst>
          </p:cNvPr>
          <p:cNvSpPr txBox="1"/>
          <p:nvPr/>
        </p:nvSpPr>
        <p:spPr>
          <a:xfrm>
            <a:off x="271462" y="302003"/>
            <a:ext cx="10896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latin typeface="Georgia" panose="02040502050405020303" pitchFamily="18" charset="0"/>
              </a:rPr>
              <a:t>🔹 4. Backup &amp; Remote Repositories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With Git platforms (GitHub, GitLab, Bitbucket), your code is stored remotely.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Provides backup and access from anywhere.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GB" sz="2400" b="1" dirty="0">
                <a:latin typeface="Georgia" panose="02040502050405020303" pitchFamily="18" charset="0"/>
              </a:rPr>
              <a:t>🔹 5. Accountability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Each commit (change) records </a:t>
            </a:r>
            <a:r>
              <a:rPr lang="en-GB" sz="2400" b="1" dirty="0">
                <a:latin typeface="Georgia" panose="02040502050405020303" pitchFamily="18" charset="0"/>
              </a:rPr>
              <a:t>who made it, when, and why</a:t>
            </a:r>
            <a:r>
              <a:rPr lang="en-GB" sz="2400" dirty="0">
                <a:latin typeface="Georgia" panose="02040502050405020303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Makes tracking bugs and responsibilities easier.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GB" sz="2400" b="1" dirty="0">
                <a:latin typeface="Georgia" panose="02040502050405020303" pitchFamily="18" charset="0"/>
              </a:rPr>
              <a:t>🔹 6. Industry Standard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Almost all software companies expect developers to know Git.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Georgia" panose="02040502050405020303" pitchFamily="18" charset="0"/>
              </a:rPr>
              <a:t>It’s essential for open-source contributions, teamwork, and DevOps workflows.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B8989-5ED2-934D-D3CE-14D8BE41E2AD}"/>
              </a:ext>
            </a:extLst>
          </p:cNvPr>
          <p:cNvSpPr txBox="1"/>
          <p:nvPr/>
        </p:nvSpPr>
        <p:spPr>
          <a:xfrm>
            <a:off x="2141935" y="5406668"/>
            <a:ext cx="100500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https://www.youtube.com/watch?v=OHcrb1XroMg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105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CC24-BDE5-C01D-4F7F-62856C71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084" y="2103437"/>
            <a:ext cx="3562847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B1E72-2F77-FD16-AE18-E9715087E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A62B-704A-42DB-81DF-AA1448824319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9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21FCDA3ED69E4798C8BA45ED97C2B2" ma:contentTypeVersion="0" ma:contentTypeDescription="Create a new document." ma:contentTypeScope="" ma:versionID="9bdb16a2426fb4e0bdc71b33c9ef86a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986EC0-BEBA-4CBD-9E26-08A61D5CEF2F}"/>
</file>

<file path=customXml/itemProps2.xml><?xml version="1.0" encoding="utf-8"?>
<ds:datastoreItem xmlns:ds="http://schemas.openxmlformats.org/officeDocument/2006/customXml" ds:itemID="{8DA06883-3301-4E75-91CE-1D26DEDD8D04}"/>
</file>

<file path=customXml/itemProps3.xml><?xml version="1.0" encoding="utf-8"?>
<ds:datastoreItem xmlns:ds="http://schemas.openxmlformats.org/officeDocument/2006/customXml" ds:itemID="{FD2C347C-5BD0-4258-BA52-8FE5013516D5}"/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149</TotalTime>
  <Words>605</Words>
  <Application>Microsoft Office PowerPoint</Application>
  <PresentationFormat>Widescreen</PresentationFormat>
  <Paragraphs>102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Georgia</vt:lpstr>
      <vt:lpstr>Times New Roman</vt:lpstr>
      <vt:lpstr>Wingdings</vt:lpstr>
      <vt:lpstr>Office Theme</vt:lpstr>
      <vt:lpstr>Full Stack Development: FSD B.Tech 1st Semester  Odd, Session 2025-26  Day-0</vt:lpstr>
      <vt:lpstr>Detailed Syllabus  1st Semester</vt:lpstr>
      <vt:lpstr>Detailed Syllabus  1st Semester</vt:lpstr>
      <vt:lpstr>Detailed Syllabus  1st Semester</vt:lpstr>
      <vt:lpstr>Training Team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Popular apps built with React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QUALITATIVE METRICS (QLM)</dc:title>
  <dc:creator>Dean IQAC</dc:creator>
  <cp:lastModifiedBy>Jitendra Kumar Chauhan DS</cp:lastModifiedBy>
  <cp:revision>150</cp:revision>
  <cp:lastPrinted>2024-07-23T03:31:48Z</cp:lastPrinted>
  <dcterms:created xsi:type="dcterms:W3CDTF">2023-05-08T15:24:02Z</dcterms:created>
  <dcterms:modified xsi:type="dcterms:W3CDTF">2025-09-07T11:40:38Z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0x010100E521FCDA3ED69E4798C8BA45ED97C2B2</vt:lpwstr>
  </property>
</Properties>
</file>