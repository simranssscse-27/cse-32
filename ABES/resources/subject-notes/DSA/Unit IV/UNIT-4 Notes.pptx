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34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8" r:id="rId29"/>
    <p:sldId id="295" r:id="rId3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10458" y="1470101"/>
            <a:ext cx="2880994" cy="6974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4523" y="1523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9624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8768" y="1523"/>
            <a:ext cx="58419" cy="6858000"/>
          </a:xfrm>
          <a:custGeom>
            <a:avLst/>
            <a:gdLst/>
            <a:ahLst/>
            <a:cxnLst/>
            <a:rect l="l" t="t" r="r" b="b"/>
            <a:pathLst>
              <a:path w="58419" h="6858000">
                <a:moveTo>
                  <a:pt x="11582" y="0"/>
                </a:moveTo>
                <a:lnTo>
                  <a:pt x="0" y="0"/>
                </a:lnTo>
                <a:lnTo>
                  <a:pt x="0" y="6857987"/>
                </a:lnTo>
                <a:lnTo>
                  <a:pt x="11582" y="6857987"/>
                </a:lnTo>
                <a:lnTo>
                  <a:pt x="11582" y="0"/>
                </a:lnTo>
                <a:close/>
              </a:path>
              <a:path w="58419" h="6858000">
                <a:moveTo>
                  <a:pt x="57912" y="0"/>
                </a:moveTo>
                <a:lnTo>
                  <a:pt x="23164" y="0"/>
                </a:lnTo>
                <a:lnTo>
                  <a:pt x="23164" y="6857987"/>
                </a:lnTo>
                <a:lnTo>
                  <a:pt x="57912" y="6857987"/>
                </a:lnTo>
                <a:lnTo>
                  <a:pt x="57912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6923" y="1523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144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761" y="761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231" y="0"/>
            <a:ext cx="58419" cy="6858000"/>
          </a:xfrm>
          <a:custGeom>
            <a:avLst/>
            <a:gdLst/>
            <a:ahLst/>
            <a:cxnLst/>
            <a:rect l="l" t="t" r="r" b="b"/>
            <a:pathLst>
              <a:path w="58419" h="6858000">
                <a:moveTo>
                  <a:pt x="11595" y="0"/>
                </a:moveTo>
                <a:lnTo>
                  <a:pt x="0" y="0"/>
                </a:lnTo>
                <a:lnTo>
                  <a:pt x="12" y="6858000"/>
                </a:lnTo>
                <a:lnTo>
                  <a:pt x="11595" y="6858000"/>
                </a:lnTo>
                <a:lnTo>
                  <a:pt x="11595" y="0"/>
                </a:lnTo>
                <a:close/>
              </a:path>
              <a:path w="58419" h="6858000">
                <a:moveTo>
                  <a:pt x="57924" y="0"/>
                </a:moveTo>
                <a:lnTo>
                  <a:pt x="23177" y="0"/>
                </a:lnTo>
                <a:lnTo>
                  <a:pt x="23177" y="6858000"/>
                </a:lnTo>
                <a:lnTo>
                  <a:pt x="57924" y="6858000"/>
                </a:lnTo>
                <a:lnTo>
                  <a:pt x="57924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144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9740" y="237235"/>
            <a:ext cx="586740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9740" y="2878962"/>
            <a:ext cx="3829685" cy="2414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0"/>
            <a:ext cx="445134" cy="6858000"/>
          </a:xfrm>
          <a:custGeom>
            <a:avLst/>
            <a:gdLst/>
            <a:ahLst/>
            <a:cxnLst/>
            <a:rect l="l" t="t" r="r" b="b"/>
            <a:pathLst>
              <a:path w="445134" h="6858000">
                <a:moveTo>
                  <a:pt x="0" y="6858000"/>
                </a:moveTo>
                <a:lnTo>
                  <a:pt x="445007" y="6858000"/>
                </a:lnTo>
                <a:lnTo>
                  <a:pt x="44500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3919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048" y="6858000"/>
                </a:lnTo>
                <a:lnTo>
                  <a:pt x="3048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4880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0" y="6858000"/>
                </a:moveTo>
                <a:lnTo>
                  <a:pt x="45719" y="6858000"/>
                </a:lnTo>
                <a:lnTo>
                  <a:pt x="4571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7368" y="0"/>
            <a:ext cx="104139" cy="6858000"/>
          </a:xfrm>
          <a:custGeom>
            <a:avLst/>
            <a:gdLst/>
            <a:ahLst/>
            <a:cxnLst/>
            <a:rect l="l" t="t" r="r" b="b"/>
            <a:pathLst>
              <a:path w="104139" h="6858000">
                <a:moveTo>
                  <a:pt x="103632" y="0"/>
                </a:moveTo>
                <a:lnTo>
                  <a:pt x="0" y="0"/>
                </a:lnTo>
                <a:lnTo>
                  <a:pt x="0" y="6858000"/>
                </a:lnTo>
                <a:lnTo>
                  <a:pt x="103632" y="6858000"/>
                </a:lnTo>
                <a:lnTo>
                  <a:pt x="103632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90600" y="0"/>
            <a:ext cx="381000" cy="6858000"/>
            <a:chOff x="990600" y="0"/>
            <a:chExt cx="381000" cy="6858000"/>
          </a:xfrm>
        </p:grpSpPr>
        <p:sp>
          <p:nvSpPr>
            <p:cNvPr id="7" name="object 7"/>
            <p:cNvSpPr/>
            <p:nvPr/>
          </p:nvSpPr>
          <p:spPr>
            <a:xfrm>
              <a:off x="990600" y="0"/>
              <a:ext cx="182880" cy="6858000"/>
            </a:xfrm>
            <a:custGeom>
              <a:avLst/>
              <a:gdLst/>
              <a:ahLst/>
              <a:cxnLst/>
              <a:rect l="l" t="t" r="r" b="b"/>
              <a:pathLst>
                <a:path w="182880" h="6858000">
                  <a:moveTo>
                    <a:pt x="182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FFD9CE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39952" y="0"/>
              <a:ext cx="231775" cy="6858000"/>
            </a:xfrm>
            <a:custGeom>
              <a:avLst/>
              <a:gdLst/>
              <a:ahLst/>
              <a:cxnLst/>
              <a:rect l="l" t="t" r="r" b="b"/>
              <a:pathLst>
                <a:path w="231775" h="6858000">
                  <a:moveTo>
                    <a:pt x="231647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31647" y="6858000"/>
                  </a:lnTo>
                  <a:lnTo>
                    <a:pt x="231647" y="0"/>
                  </a:lnTo>
                  <a:close/>
                </a:path>
              </a:pathLst>
            </a:custGeom>
            <a:solidFill>
              <a:srgbClr val="FFECE8">
                <a:alpha val="7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08204" y="1523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912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826008" y="1523"/>
            <a:ext cx="119380" cy="6858000"/>
            <a:chOff x="826008" y="1523"/>
            <a:chExt cx="119380" cy="6858000"/>
          </a:xfrm>
        </p:grpSpPr>
        <p:sp>
          <p:nvSpPr>
            <p:cNvPr id="11" name="object 11"/>
            <p:cNvSpPr/>
            <p:nvPr/>
          </p:nvSpPr>
          <p:spPr>
            <a:xfrm>
              <a:off x="886968" y="1523"/>
              <a:ext cx="58419" cy="6858000"/>
            </a:xfrm>
            <a:custGeom>
              <a:avLst/>
              <a:gdLst/>
              <a:ahLst/>
              <a:cxnLst/>
              <a:rect l="l" t="t" r="r" b="b"/>
              <a:pathLst>
                <a:path w="58419" h="6858000">
                  <a:moveTo>
                    <a:pt x="0" y="6857999"/>
                  </a:moveTo>
                  <a:lnTo>
                    <a:pt x="57912" y="6857999"/>
                  </a:lnTo>
                  <a:lnTo>
                    <a:pt x="57912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solidFill>
              <a:srgbClr val="FFE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6008" y="1523"/>
              <a:ext cx="58419" cy="6858000"/>
            </a:xfrm>
            <a:custGeom>
              <a:avLst/>
              <a:gdLst/>
              <a:ahLst/>
              <a:cxnLst/>
              <a:rect l="l" t="t" r="r" b="b"/>
              <a:pathLst>
                <a:path w="58419" h="6858000">
                  <a:moveTo>
                    <a:pt x="0" y="6857999"/>
                  </a:moveTo>
                  <a:lnTo>
                    <a:pt x="57912" y="6857999"/>
                  </a:lnTo>
                  <a:lnTo>
                    <a:pt x="57912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solidFill>
              <a:srgbClr val="FDC3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726692" y="1523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7432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68324" y="1523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144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086088" y="1523"/>
            <a:ext cx="58419" cy="6858000"/>
          </a:xfrm>
          <a:custGeom>
            <a:avLst/>
            <a:gdLst/>
            <a:ahLst/>
            <a:cxnLst/>
            <a:rect l="l" t="t" r="r" b="b"/>
            <a:pathLst>
              <a:path w="58420" h="6858000">
                <a:moveTo>
                  <a:pt x="11557" y="0"/>
                </a:moveTo>
                <a:lnTo>
                  <a:pt x="0" y="0"/>
                </a:lnTo>
                <a:lnTo>
                  <a:pt x="0" y="6857987"/>
                </a:lnTo>
                <a:lnTo>
                  <a:pt x="11557" y="6857987"/>
                </a:lnTo>
                <a:lnTo>
                  <a:pt x="11557" y="0"/>
                </a:lnTo>
                <a:close/>
              </a:path>
              <a:path w="58420" h="6858000">
                <a:moveTo>
                  <a:pt x="57912" y="0"/>
                </a:moveTo>
                <a:lnTo>
                  <a:pt x="23114" y="0"/>
                </a:lnTo>
                <a:lnTo>
                  <a:pt x="23114" y="6857987"/>
                </a:lnTo>
                <a:lnTo>
                  <a:pt x="57912" y="6857987"/>
                </a:lnTo>
                <a:lnTo>
                  <a:pt x="57912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609600" y="0"/>
            <a:ext cx="1661160" cy="6858000"/>
            <a:chOff x="609600" y="0"/>
            <a:chExt cx="1661160" cy="6858000"/>
          </a:xfrm>
        </p:grpSpPr>
        <p:sp>
          <p:nvSpPr>
            <p:cNvPr id="17" name="object 17"/>
            <p:cNvSpPr/>
            <p:nvPr/>
          </p:nvSpPr>
          <p:spPr>
            <a:xfrm>
              <a:off x="1219200" y="0"/>
              <a:ext cx="76200" cy="6858000"/>
            </a:xfrm>
            <a:custGeom>
              <a:avLst/>
              <a:gdLst/>
              <a:ahLst/>
              <a:cxnLst/>
              <a:rect l="l" t="t" r="r" b="b"/>
              <a:pathLst>
                <a:path w="76200" h="6858000">
                  <a:moveTo>
                    <a:pt x="76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6200" y="68580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DC3AD">
                <a:alpha val="5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600" y="3429000"/>
              <a:ext cx="1341120" cy="2078989"/>
            </a:xfrm>
            <a:custGeom>
              <a:avLst/>
              <a:gdLst/>
              <a:ahLst/>
              <a:cxnLst/>
              <a:rect l="l" t="t" r="r" b="b"/>
              <a:pathLst>
                <a:path w="1341120" h="2078989">
                  <a:moveTo>
                    <a:pt x="1295400" y="647700"/>
                  </a:moveTo>
                  <a:lnTo>
                    <a:pt x="1293622" y="599363"/>
                  </a:lnTo>
                  <a:lnTo>
                    <a:pt x="1288376" y="551980"/>
                  </a:lnTo>
                  <a:lnTo>
                    <a:pt x="1279779" y="505701"/>
                  </a:lnTo>
                  <a:lnTo>
                    <a:pt x="1267968" y="460629"/>
                  </a:lnTo>
                  <a:lnTo>
                    <a:pt x="1253070" y="416890"/>
                  </a:lnTo>
                  <a:lnTo>
                    <a:pt x="1235202" y="374637"/>
                  </a:lnTo>
                  <a:lnTo>
                    <a:pt x="1214488" y="333959"/>
                  </a:lnTo>
                  <a:lnTo>
                    <a:pt x="1191056" y="295008"/>
                  </a:lnTo>
                  <a:lnTo>
                    <a:pt x="1165034" y="257898"/>
                  </a:lnTo>
                  <a:lnTo>
                    <a:pt x="1136535" y="222745"/>
                  </a:lnTo>
                  <a:lnTo>
                    <a:pt x="1105700" y="189699"/>
                  </a:lnTo>
                  <a:lnTo>
                    <a:pt x="1072654" y="158864"/>
                  </a:lnTo>
                  <a:lnTo>
                    <a:pt x="1037501" y="130365"/>
                  </a:lnTo>
                  <a:lnTo>
                    <a:pt x="1000391" y="104343"/>
                  </a:lnTo>
                  <a:lnTo>
                    <a:pt x="961440" y="80911"/>
                  </a:lnTo>
                  <a:lnTo>
                    <a:pt x="920762" y="60198"/>
                  </a:lnTo>
                  <a:lnTo>
                    <a:pt x="878509" y="42329"/>
                  </a:lnTo>
                  <a:lnTo>
                    <a:pt x="834771" y="27432"/>
                  </a:lnTo>
                  <a:lnTo>
                    <a:pt x="789698" y="15621"/>
                  </a:lnTo>
                  <a:lnTo>
                    <a:pt x="743419" y="7023"/>
                  </a:lnTo>
                  <a:lnTo>
                    <a:pt x="696036" y="1778"/>
                  </a:lnTo>
                  <a:lnTo>
                    <a:pt x="647700" y="0"/>
                  </a:lnTo>
                  <a:lnTo>
                    <a:pt x="599351" y="1778"/>
                  </a:lnTo>
                  <a:lnTo>
                    <a:pt x="551980" y="7023"/>
                  </a:lnTo>
                  <a:lnTo>
                    <a:pt x="505701" y="15621"/>
                  </a:lnTo>
                  <a:lnTo>
                    <a:pt x="460629" y="27432"/>
                  </a:lnTo>
                  <a:lnTo>
                    <a:pt x="416902" y="42329"/>
                  </a:lnTo>
                  <a:lnTo>
                    <a:pt x="374637" y="60198"/>
                  </a:lnTo>
                  <a:lnTo>
                    <a:pt x="333971" y="80911"/>
                  </a:lnTo>
                  <a:lnTo>
                    <a:pt x="295008" y="104343"/>
                  </a:lnTo>
                  <a:lnTo>
                    <a:pt x="257898" y="130365"/>
                  </a:lnTo>
                  <a:lnTo>
                    <a:pt x="222758" y="158864"/>
                  </a:lnTo>
                  <a:lnTo>
                    <a:pt x="189699" y="189699"/>
                  </a:lnTo>
                  <a:lnTo>
                    <a:pt x="158864" y="222745"/>
                  </a:lnTo>
                  <a:lnTo>
                    <a:pt x="130365" y="257898"/>
                  </a:lnTo>
                  <a:lnTo>
                    <a:pt x="104343" y="295008"/>
                  </a:lnTo>
                  <a:lnTo>
                    <a:pt x="80911" y="333959"/>
                  </a:lnTo>
                  <a:lnTo>
                    <a:pt x="60185" y="374637"/>
                  </a:lnTo>
                  <a:lnTo>
                    <a:pt x="42316" y="416890"/>
                  </a:lnTo>
                  <a:lnTo>
                    <a:pt x="27419" y="460629"/>
                  </a:lnTo>
                  <a:lnTo>
                    <a:pt x="15608" y="505701"/>
                  </a:lnTo>
                  <a:lnTo>
                    <a:pt x="7010" y="551980"/>
                  </a:lnTo>
                  <a:lnTo>
                    <a:pt x="1765" y="599363"/>
                  </a:lnTo>
                  <a:lnTo>
                    <a:pt x="0" y="647700"/>
                  </a:lnTo>
                  <a:lnTo>
                    <a:pt x="1765" y="696048"/>
                  </a:lnTo>
                  <a:lnTo>
                    <a:pt x="7010" y="743432"/>
                  </a:lnTo>
                  <a:lnTo>
                    <a:pt x="15608" y="789711"/>
                  </a:lnTo>
                  <a:lnTo>
                    <a:pt x="27419" y="834783"/>
                  </a:lnTo>
                  <a:lnTo>
                    <a:pt x="42316" y="878522"/>
                  </a:lnTo>
                  <a:lnTo>
                    <a:pt x="60185" y="920775"/>
                  </a:lnTo>
                  <a:lnTo>
                    <a:pt x="80911" y="961453"/>
                  </a:lnTo>
                  <a:lnTo>
                    <a:pt x="104343" y="1000404"/>
                  </a:lnTo>
                  <a:lnTo>
                    <a:pt x="130365" y="1037513"/>
                  </a:lnTo>
                  <a:lnTo>
                    <a:pt x="158864" y="1072667"/>
                  </a:lnTo>
                  <a:lnTo>
                    <a:pt x="189699" y="1105712"/>
                  </a:lnTo>
                  <a:lnTo>
                    <a:pt x="222758" y="1136548"/>
                  </a:lnTo>
                  <a:lnTo>
                    <a:pt x="257898" y="1165047"/>
                  </a:lnTo>
                  <a:lnTo>
                    <a:pt x="295008" y="1191069"/>
                  </a:lnTo>
                  <a:lnTo>
                    <a:pt x="333971" y="1214501"/>
                  </a:lnTo>
                  <a:lnTo>
                    <a:pt x="374637" y="1235214"/>
                  </a:lnTo>
                  <a:lnTo>
                    <a:pt x="416902" y="1253083"/>
                  </a:lnTo>
                  <a:lnTo>
                    <a:pt x="460629" y="1267980"/>
                  </a:lnTo>
                  <a:lnTo>
                    <a:pt x="505701" y="1279791"/>
                  </a:lnTo>
                  <a:lnTo>
                    <a:pt x="551980" y="1288389"/>
                  </a:lnTo>
                  <a:lnTo>
                    <a:pt x="599351" y="1293634"/>
                  </a:lnTo>
                  <a:lnTo>
                    <a:pt x="647700" y="1295400"/>
                  </a:lnTo>
                  <a:lnTo>
                    <a:pt x="696036" y="1293634"/>
                  </a:lnTo>
                  <a:lnTo>
                    <a:pt x="743419" y="1288389"/>
                  </a:lnTo>
                  <a:lnTo>
                    <a:pt x="789698" y="1279791"/>
                  </a:lnTo>
                  <a:lnTo>
                    <a:pt x="834771" y="1267980"/>
                  </a:lnTo>
                  <a:lnTo>
                    <a:pt x="878509" y="1253083"/>
                  </a:lnTo>
                  <a:lnTo>
                    <a:pt x="920762" y="1235214"/>
                  </a:lnTo>
                  <a:lnTo>
                    <a:pt x="961440" y="1214501"/>
                  </a:lnTo>
                  <a:lnTo>
                    <a:pt x="1000391" y="1191069"/>
                  </a:lnTo>
                  <a:lnTo>
                    <a:pt x="1037501" y="1165047"/>
                  </a:lnTo>
                  <a:lnTo>
                    <a:pt x="1072654" y="1136548"/>
                  </a:lnTo>
                  <a:lnTo>
                    <a:pt x="1105700" y="1105712"/>
                  </a:lnTo>
                  <a:lnTo>
                    <a:pt x="1136535" y="1072667"/>
                  </a:lnTo>
                  <a:lnTo>
                    <a:pt x="1165034" y="1037513"/>
                  </a:lnTo>
                  <a:lnTo>
                    <a:pt x="1191056" y="1000404"/>
                  </a:lnTo>
                  <a:lnTo>
                    <a:pt x="1214488" y="961453"/>
                  </a:lnTo>
                  <a:lnTo>
                    <a:pt x="1235202" y="920775"/>
                  </a:lnTo>
                  <a:lnTo>
                    <a:pt x="1253070" y="878522"/>
                  </a:lnTo>
                  <a:lnTo>
                    <a:pt x="1267968" y="834783"/>
                  </a:lnTo>
                  <a:lnTo>
                    <a:pt x="1279779" y="789711"/>
                  </a:lnTo>
                  <a:lnTo>
                    <a:pt x="1288376" y="743432"/>
                  </a:lnTo>
                  <a:lnTo>
                    <a:pt x="1293622" y="696048"/>
                  </a:lnTo>
                  <a:lnTo>
                    <a:pt x="1295400" y="647700"/>
                  </a:lnTo>
                  <a:close/>
                </a:path>
                <a:path w="1341120" h="2078989">
                  <a:moveTo>
                    <a:pt x="1341120" y="1758696"/>
                  </a:moveTo>
                  <a:lnTo>
                    <a:pt x="1337640" y="1711401"/>
                  </a:lnTo>
                  <a:lnTo>
                    <a:pt x="1327569" y="1666265"/>
                  </a:lnTo>
                  <a:lnTo>
                    <a:pt x="1311376" y="1623771"/>
                  </a:lnTo>
                  <a:lnTo>
                    <a:pt x="1289558" y="1584426"/>
                  </a:lnTo>
                  <a:lnTo>
                    <a:pt x="1262621" y="1548714"/>
                  </a:lnTo>
                  <a:lnTo>
                    <a:pt x="1231061" y="1517154"/>
                  </a:lnTo>
                  <a:lnTo>
                    <a:pt x="1195349" y="1490218"/>
                  </a:lnTo>
                  <a:lnTo>
                    <a:pt x="1156004" y="1468399"/>
                  </a:lnTo>
                  <a:lnTo>
                    <a:pt x="1113510" y="1452206"/>
                  </a:lnTo>
                  <a:lnTo>
                    <a:pt x="1068374" y="1442135"/>
                  </a:lnTo>
                  <a:lnTo>
                    <a:pt x="1021080" y="1438656"/>
                  </a:lnTo>
                  <a:lnTo>
                    <a:pt x="973772" y="1442135"/>
                  </a:lnTo>
                  <a:lnTo>
                    <a:pt x="928636" y="1452206"/>
                  </a:lnTo>
                  <a:lnTo>
                    <a:pt x="886142" y="1468399"/>
                  </a:lnTo>
                  <a:lnTo>
                    <a:pt x="846797" y="1490218"/>
                  </a:lnTo>
                  <a:lnTo>
                    <a:pt x="811085" y="1517154"/>
                  </a:lnTo>
                  <a:lnTo>
                    <a:pt x="779526" y="1548714"/>
                  </a:lnTo>
                  <a:lnTo>
                    <a:pt x="752589" y="1584426"/>
                  </a:lnTo>
                  <a:lnTo>
                    <a:pt x="730770" y="1623771"/>
                  </a:lnTo>
                  <a:lnTo>
                    <a:pt x="714578" y="1666265"/>
                  </a:lnTo>
                  <a:lnTo>
                    <a:pt x="704507" y="1711401"/>
                  </a:lnTo>
                  <a:lnTo>
                    <a:pt x="701040" y="1758696"/>
                  </a:lnTo>
                  <a:lnTo>
                    <a:pt x="704507" y="1806003"/>
                  </a:lnTo>
                  <a:lnTo>
                    <a:pt x="714578" y="1851139"/>
                  </a:lnTo>
                  <a:lnTo>
                    <a:pt x="730770" y="1893633"/>
                  </a:lnTo>
                  <a:lnTo>
                    <a:pt x="752589" y="1932978"/>
                  </a:lnTo>
                  <a:lnTo>
                    <a:pt x="779526" y="1968690"/>
                  </a:lnTo>
                  <a:lnTo>
                    <a:pt x="811085" y="2000250"/>
                  </a:lnTo>
                  <a:lnTo>
                    <a:pt x="846797" y="2027186"/>
                  </a:lnTo>
                  <a:lnTo>
                    <a:pt x="886142" y="2049005"/>
                  </a:lnTo>
                  <a:lnTo>
                    <a:pt x="928636" y="2065197"/>
                  </a:lnTo>
                  <a:lnTo>
                    <a:pt x="973772" y="2075268"/>
                  </a:lnTo>
                  <a:lnTo>
                    <a:pt x="1021080" y="2078736"/>
                  </a:lnTo>
                  <a:lnTo>
                    <a:pt x="1068374" y="2075268"/>
                  </a:lnTo>
                  <a:lnTo>
                    <a:pt x="1113510" y="2065197"/>
                  </a:lnTo>
                  <a:lnTo>
                    <a:pt x="1156004" y="2049005"/>
                  </a:lnTo>
                  <a:lnTo>
                    <a:pt x="1195349" y="2027186"/>
                  </a:lnTo>
                  <a:lnTo>
                    <a:pt x="1231061" y="2000250"/>
                  </a:lnTo>
                  <a:lnTo>
                    <a:pt x="1262621" y="1968690"/>
                  </a:lnTo>
                  <a:lnTo>
                    <a:pt x="1289558" y="1932978"/>
                  </a:lnTo>
                  <a:lnTo>
                    <a:pt x="1311376" y="1893633"/>
                  </a:lnTo>
                  <a:lnTo>
                    <a:pt x="1327569" y="1851139"/>
                  </a:lnTo>
                  <a:lnTo>
                    <a:pt x="1337640" y="1806003"/>
                  </a:lnTo>
                  <a:lnTo>
                    <a:pt x="1341120" y="1758696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1183" y="5501640"/>
              <a:ext cx="137159" cy="13715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64195" y="4495800"/>
              <a:ext cx="607060" cy="1567180"/>
            </a:xfrm>
            <a:custGeom>
              <a:avLst/>
              <a:gdLst/>
              <a:ahLst/>
              <a:cxnLst/>
              <a:rect l="l" t="t" r="r" b="b"/>
              <a:pathLst>
                <a:path w="607060" h="1567179">
                  <a:moveTo>
                    <a:pt x="274332" y="1429512"/>
                  </a:moveTo>
                  <a:lnTo>
                    <a:pt x="267322" y="1386166"/>
                  </a:lnTo>
                  <a:lnTo>
                    <a:pt x="247840" y="1348511"/>
                  </a:lnTo>
                  <a:lnTo>
                    <a:pt x="218147" y="1318818"/>
                  </a:lnTo>
                  <a:lnTo>
                    <a:pt x="180492" y="1299349"/>
                  </a:lnTo>
                  <a:lnTo>
                    <a:pt x="137172" y="1292352"/>
                  </a:lnTo>
                  <a:lnTo>
                    <a:pt x="93840" y="1299349"/>
                  </a:lnTo>
                  <a:lnTo>
                    <a:pt x="56184" y="1318818"/>
                  </a:lnTo>
                  <a:lnTo>
                    <a:pt x="26492" y="1348511"/>
                  </a:lnTo>
                  <a:lnTo>
                    <a:pt x="7010" y="1386166"/>
                  </a:lnTo>
                  <a:lnTo>
                    <a:pt x="0" y="1429512"/>
                  </a:lnTo>
                  <a:lnTo>
                    <a:pt x="7010" y="1472869"/>
                  </a:lnTo>
                  <a:lnTo>
                    <a:pt x="26492" y="1510525"/>
                  </a:lnTo>
                  <a:lnTo>
                    <a:pt x="56184" y="1540217"/>
                  </a:lnTo>
                  <a:lnTo>
                    <a:pt x="93840" y="1559687"/>
                  </a:lnTo>
                  <a:lnTo>
                    <a:pt x="137172" y="1566672"/>
                  </a:lnTo>
                  <a:lnTo>
                    <a:pt x="180492" y="1559687"/>
                  </a:lnTo>
                  <a:lnTo>
                    <a:pt x="218147" y="1540217"/>
                  </a:lnTo>
                  <a:lnTo>
                    <a:pt x="247840" y="1510525"/>
                  </a:lnTo>
                  <a:lnTo>
                    <a:pt x="267322" y="1472869"/>
                  </a:lnTo>
                  <a:lnTo>
                    <a:pt x="274332" y="1429512"/>
                  </a:lnTo>
                  <a:close/>
                </a:path>
                <a:path w="607060" h="1567179">
                  <a:moveTo>
                    <a:pt x="606564" y="182880"/>
                  </a:moveTo>
                  <a:lnTo>
                    <a:pt x="600024" y="134277"/>
                  </a:lnTo>
                  <a:lnTo>
                    <a:pt x="581583" y="90601"/>
                  </a:lnTo>
                  <a:lnTo>
                    <a:pt x="552983" y="53581"/>
                  </a:lnTo>
                  <a:lnTo>
                    <a:pt x="515962" y="24980"/>
                  </a:lnTo>
                  <a:lnTo>
                    <a:pt x="472287" y="6540"/>
                  </a:lnTo>
                  <a:lnTo>
                    <a:pt x="423684" y="0"/>
                  </a:lnTo>
                  <a:lnTo>
                    <a:pt x="375069" y="6540"/>
                  </a:lnTo>
                  <a:lnTo>
                    <a:pt x="331393" y="24980"/>
                  </a:lnTo>
                  <a:lnTo>
                    <a:pt x="294373" y="53581"/>
                  </a:lnTo>
                  <a:lnTo>
                    <a:pt x="265772" y="90601"/>
                  </a:lnTo>
                  <a:lnTo>
                    <a:pt x="247332" y="134277"/>
                  </a:lnTo>
                  <a:lnTo>
                    <a:pt x="240804" y="182880"/>
                  </a:lnTo>
                  <a:lnTo>
                    <a:pt x="247332" y="231495"/>
                  </a:lnTo>
                  <a:lnTo>
                    <a:pt x="265772" y="275170"/>
                  </a:lnTo>
                  <a:lnTo>
                    <a:pt x="294373" y="312191"/>
                  </a:lnTo>
                  <a:lnTo>
                    <a:pt x="331393" y="340791"/>
                  </a:lnTo>
                  <a:lnTo>
                    <a:pt x="375069" y="359232"/>
                  </a:lnTo>
                  <a:lnTo>
                    <a:pt x="423684" y="365760"/>
                  </a:lnTo>
                  <a:lnTo>
                    <a:pt x="472287" y="359232"/>
                  </a:lnTo>
                  <a:lnTo>
                    <a:pt x="515962" y="340791"/>
                  </a:lnTo>
                  <a:lnTo>
                    <a:pt x="552983" y="312191"/>
                  </a:lnTo>
                  <a:lnTo>
                    <a:pt x="581583" y="275170"/>
                  </a:lnTo>
                  <a:lnTo>
                    <a:pt x="600024" y="231495"/>
                  </a:lnTo>
                  <a:lnTo>
                    <a:pt x="606564" y="18288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505" dirty="0"/>
              <a:t>UNIT</a:t>
            </a:r>
            <a:r>
              <a:rPr sz="4400" spc="300" dirty="0"/>
              <a:t> </a:t>
            </a:r>
            <a:r>
              <a:rPr sz="4400" dirty="0"/>
              <a:t>–</a:t>
            </a:r>
            <a:r>
              <a:rPr sz="4400" spc="305" dirty="0"/>
              <a:t> </a:t>
            </a:r>
            <a:r>
              <a:rPr sz="4400" spc="450" dirty="0"/>
              <a:t>IV</a:t>
            </a:r>
            <a:endParaRPr sz="4400"/>
          </a:p>
        </p:txBody>
      </p:sp>
      <p:sp>
        <p:nvSpPr>
          <p:cNvPr id="22" name="object 22"/>
          <p:cNvSpPr txBox="1"/>
          <p:nvPr/>
        </p:nvSpPr>
        <p:spPr>
          <a:xfrm>
            <a:off x="2128520" y="5525820"/>
            <a:ext cx="549275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125" dirty="0">
                <a:latin typeface="Cambria"/>
                <a:cs typeface="Cambria"/>
              </a:rPr>
              <a:t>Department</a:t>
            </a:r>
            <a:r>
              <a:rPr sz="2800" spc="10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Computer</a:t>
            </a:r>
            <a:r>
              <a:rPr sz="2800" spc="114" dirty="0">
                <a:latin typeface="Cambria"/>
                <a:cs typeface="Cambria"/>
              </a:rPr>
              <a:t> </a:t>
            </a:r>
            <a:r>
              <a:rPr sz="2800" spc="90" dirty="0">
                <a:latin typeface="Cambria"/>
                <a:cs typeface="Cambria"/>
              </a:rPr>
              <a:t>Science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9996" y="3124200"/>
            <a:ext cx="1299361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1219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42335" y="2448560"/>
            <a:ext cx="28028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cap="small" spc="420" dirty="0"/>
              <a:t>Functions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spc="36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975182"/>
            <a:ext cx="8002905" cy="552196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87020" marR="5080" indent="-274320" algn="just">
              <a:lnSpc>
                <a:spcPts val="3030"/>
              </a:lnSpc>
              <a:spcBef>
                <a:spcPts val="484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114" dirty="0">
                <a:latin typeface="Cambria"/>
                <a:cs typeface="Cambria"/>
              </a:rPr>
              <a:t>Function</a:t>
            </a:r>
            <a:r>
              <a:rPr sz="2800" spc="470" dirty="0">
                <a:latin typeface="Cambria"/>
                <a:cs typeface="Cambria"/>
              </a:rPr>
              <a:t>   </a:t>
            </a:r>
            <a:r>
              <a:rPr sz="2800" spc="95" dirty="0">
                <a:latin typeface="Cambria"/>
                <a:cs typeface="Cambria"/>
              </a:rPr>
              <a:t>is</a:t>
            </a:r>
            <a:r>
              <a:rPr sz="2800" spc="480" dirty="0">
                <a:latin typeface="Cambria"/>
                <a:cs typeface="Cambria"/>
              </a:rPr>
              <a:t>   </a:t>
            </a:r>
            <a:r>
              <a:rPr sz="2800" spc="190" dirty="0">
                <a:latin typeface="Cambria"/>
                <a:cs typeface="Cambria"/>
              </a:rPr>
              <a:t>a</a:t>
            </a:r>
            <a:r>
              <a:rPr sz="2800" spc="470" dirty="0">
                <a:latin typeface="Cambria"/>
                <a:cs typeface="Cambria"/>
              </a:rPr>
              <a:t>   </a:t>
            </a:r>
            <a:r>
              <a:rPr sz="2800" spc="55" dirty="0">
                <a:latin typeface="Cambria"/>
                <a:cs typeface="Cambria"/>
              </a:rPr>
              <a:t>group</a:t>
            </a:r>
            <a:r>
              <a:rPr sz="2800" spc="470" dirty="0">
                <a:latin typeface="Cambria"/>
                <a:cs typeface="Cambria"/>
              </a:rPr>
              <a:t>  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480" dirty="0">
                <a:latin typeface="Cambria"/>
                <a:cs typeface="Cambria"/>
              </a:rPr>
              <a:t>   </a:t>
            </a:r>
            <a:r>
              <a:rPr sz="2800" spc="114" dirty="0">
                <a:latin typeface="Cambria"/>
                <a:cs typeface="Cambria"/>
              </a:rPr>
              <a:t>statement</a:t>
            </a:r>
            <a:r>
              <a:rPr sz="2800" spc="480" dirty="0">
                <a:latin typeface="Cambria"/>
                <a:cs typeface="Cambria"/>
              </a:rPr>
              <a:t>   </a:t>
            </a:r>
            <a:r>
              <a:rPr sz="2800" spc="-25" dirty="0">
                <a:latin typeface="Cambria"/>
                <a:cs typeface="Cambria"/>
              </a:rPr>
              <a:t>or </a:t>
            </a:r>
            <a:r>
              <a:rPr sz="2800" spc="85" dirty="0">
                <a:latin typeface="Cambria"/>
                <a:cs typeface="Cambria"/>
              </a:rPr>
              <a:t>instructions</a:t>
            </a:r>
            <a:r>
              <a:rPr sz="2800" spc="235" dirty="0">
                <a:latin typeface="Cambria"/>
                <a:cs typeface="Cambria"/>
              </a:rPr>
              <a:t> </a:t>
            </a:r>
            <a:r>
              <a:rPr sz="2800" spc="150" dirty="0">
                <a:latin typeface="Cambria"/>
                <a:cs typeface="Cambria"/>
              </a:rPr>
              <a:t>that</a:t>
            </a:r>
            <a:r>
              <a:rPr sz="2800" spc="250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are</a:t>
            </a:r>
            <a:r>
              <a:rPr sz="2800" spc="250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written</a:t>
            </a:r>
            <a:r>
              <a:rPr sz="2800" spc="254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with</a:t>
            </a:r>
            <a:r>
              <a:rPr sz="2800" spc="250" dirty="0">
                <a:latin typeface="Cambria"/>
                <a:cs typeface="Cambria"/>
              </a:rPr>
              <a:t> </a:t>
            </a:r>
            <a:r>
              <a:rPr sz="2800" spc="190" dirty="0">
                <a:latin typeface="Cambria"/>
                <a:cs typeface="Cambria"/>
              </a:rPr>
              <a:t>a</a:t>
            </a:r>
            <a:r>
              <a:rPr sz="2800" spc="23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purpose</a:t>
            </a:r>
            <a:r>
              <a:rPr sz="2800" spc="25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to </a:t>
            </a:r>
            <a:r>
              <a:rPr sz="2800" spc="50" dirty="0">
                <a:latin typeface="Cambria"/>
                <a:cs typeface="Cambria"/>
              </a:rPr>
              <a:t>perform</a:t>
            </a:r>
            <a:r>
              <a:rPr sz="2800" spc="114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certain </a:t>
            </a:r>
            <a:r>
              <a:rPr sz="2800" spc="155" dirty="0">
                <a:latin typeface="Cambria"/>
                <a:cs typeface="Cambria"/>
              </a:rPr>
              <a:t>task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75" dirty="0">
                <a:latin typeface="Cambria"/>
                <a:cs typeface="Cambria"/>
              </a:rPr>
              <a:t>whenever</a:t>
            </a:r>
            <a:r>
              <a:rPr sz="2800" spc="100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it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is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75" dirty="0">
                <a:latin typeface="Cambria"/>
                <a:cs typeface="Cambria"/>
              </a:rPr>
              <a:t>required.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FD8537"/>
              </a:buClr>
              <a:buFont typeface="Wingdings"/>
              <a:buChar char=""/>
            </a:pPr>
            <a:endParaRPr sz="2800" dirty="0">
              <a:latin typeface="Cambria"/>
              <a:cs typeface="Cambria"/>
            </a:endParaRPr>
          </a:p>
          <a:p>
            <a:pPr marL="287020" marR="8255" indent="-274320" algn="just">
              <a:lnSpc>
                <a:spcPts val="3020"/>
              </a:lnSpc>
              <a:spcBef>
                <a:spcPts val="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185" dirty="0">
                <a:latin typeface="Cambria"/>
                <a:cs typeface="Cambria"/>
              </a:rPr>
              <a:t>In</a:t>
            </a:r>
            <a:r>
              <a:rPr sz="2800" spc="545" dirty="0">
                <a:latin typeface="Cambria"/>
                <a:cs typeface="Cambria"/>
              </a:rPr>
              <a:t> </a:t>
            </a:r>
            <a:r>
              <a:rPr sz="2800" spc="315" dirty="0" smtClean="0">
                <a:latin typeface="Cambria"/>
                <a:cs typeface="Cambria"/>
              </a:rPr>
              <a:t>C</a:t>
            </a:r>
            <a:r>
              <a:rPr lang="en-US" sz="2800" spc="315" dirty="0" smtClean="0">
                <a:latin typeface="Cambria"/>
                <a:cs typeface="Cambria"/>
              </a:rPr>
              <a:t>++</a:t>
            </a:r>
            <a:r>
              <a:rPr sz="2800" spc="315" dirty="0" smtClean="0">
                <a:latin typeface="Cambria"/>
                <a:cs typeface="Cambria"/>
              </a:rPr>
              <a:t>,</a:t>
            </a:r>
            <a:r>
              <a:rPr sz="2800" spc="540" dirty="0" smtClean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we</a:t>
            </a:r>
            <a:r>
              <a:rPr sz="2800" spc="545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can</a:t>
            </a:r>
            <a:r>
              <a:rPr sz="2800" spc="545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divide</a:t>
            </a:r>
            <a:r>
              <a:rPr sz="2800" spc="570" dirty="0">
                <a:latin typeface="Cambria"/>
                <a:cs typeface="Cambria"/>
              </a:rPr>
              <a:t> </a:t>
            </a:r>
            <a:r>
              <a:rPr sz="2800" spc="190" dirty="0">
                <a:latin typeface="Cambria"/>
                <a:cs typeface="Cambria"/>
              </a:rPr>
              <a:t>a</a:t>
            </a:r>
            <a:r>
              <a:rPr sz="2800" spc="555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large</a:t>
            </a:r>
            <a:r>
              <a:rPr sz="2800" spc="570" dirty="0">
                <a:latin typeface="Cambria"/>
                <a:cs typeface="Cambria"/>
              </a:rPr>
              <a:t> </a:t>
            </a:r>
            <a:r>
              <a:rPr sz="2800" spc="75" dirty="0">
                <a:latin typeface="Cambria"/>
                <a:cs typeface="Cambria"/>
              </a:rPr>
              <a:t>program</a:t>
            </a:r>
            <a:r>
              <a:rPr sz="2800" spc="550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into</a:t>
            </a:r>
            <a:r>
              <a:rPr sz="2800" spc="550" dirty="0">
                <a:latin typeface="Cambria"/>
                <a:cs typeface="Cambria"/>
              </a:rPr>
              <a:t> </a:t>
            </a:r>
            <a:r>
              <a:rPr sz="2800" spc="80" dirty="0">
                <a:latin typeface="Cambria"/>
                <a:cs typeface="Cambria"/>
              </a:rPr>
              <a:t>the </a:t>
            </a:r>
            <a:r>
              <a:rPr sz="2800" spc="70" dirty="0">
                <a:latin typeface="Cambria"/>
                <a:cs typeface="Cambria"/>
              </a:rPr>
              <a:t>basic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building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50" dirty="0">
                <a:latin typeface="Cambria"/>
                <a:cs typeface="Cambria"/>
              </a:rPr>
              <a:t>blocks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known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135" dirty="0">
                <a:latin typeface="Cambria"/>
                <a:cs typeface="Cambria"/>
              </a:rPr>
              <a:t>as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function.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5"/>
              </a:spcBef>
              <a:buClr>
                <a:srgbClr val="FD8537"/>
              </a:buClr>
              <a:buFont typeface="Wingdings"/>
              <a:buChar char=""/>
            </a:pPr>
            <a:endParaRPr sz="2800" dirty="0">
              <a:latin typeface="Cambria"/>
              <a:cs typeface="Cambria"/>
            </a:endParaRPr>
          </a:p>
          <a:p>
            <a:pPr marL="287020" marR="7620" indent="-274320" algn="just">
              <a:lnSpc>
                <a:spcPct val="9000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260" dirty="0">
                <a:latin typeface="Cambria"/>
                <a:cs typeface="Cambria"/>
              </a:rPr>
              <a:t>A</a:t>
            </a:r>
            <a:r>
              <a:rPr sz="2800" spc="254" dirty="0">
                <a:latin typeface="Cambria"/>
                <a:cs typeface="Cambria"/>
              </a:rPr>
              <a:t>  </a:t>
            </a:r>
            <a:r>
              <a:rPr sz="2800" spc="85" dirty="0">
                <a:latin typeface="Cambria"/>
                <a:cs typeface="Cambria"/>
              </a:rPr>
              <a:t>function</a:t>
            </a:r>
            <a:r>
              <a:rPr sz="2800" spc="260" dirty="0">
                <a:latin typeface="Cambria"/>
                <a:cs typeface="Cambria"/>
              </a:rPr>
              <a:t>  </a:t>
            </a:r>
            <a:r>
              <a:rPr sz="2800" spc="110" dirty="0">
                <a:latin typeface="Cambria"/>
                <a:cs typeface="Cambria"/>
              </a:rPr>
              <a:t>can</a:t>
            </a:r>
            <a:r>
              <a:rPr sz="2800" spc="260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be</a:t>
            </a:r>
            <a:r>
              <a:rPr sz="2800" spc="270" dirty="0">
                <a:latin typeface="Cambria"/>
                <a:cs typeface="Cambria"/>
              </a:rPr>
              <a:t>  </a:t>
            </a:r>
            <a:r>
              <a:rPr sz="2800" spc="80" dirty="0">
                <a:latin typeface="Cambria"/>
                <a:cs typeface="Cambria"/>
              </a:rPr>
              <a:t>called</a:t>
            </a:r>
            <a:r>
              <a:rPr sz="2800" spc="254" dirty="0">
                <a:latin typeface="Cambria"/>
                <a:cs typeface="Cambria"/>
              </a:rPr>
              <a:t>  </a:t>
            </a:r>
            <a:r>
              <a:rPr sz="2800" spc="105" dirty="0">
                <a:latin typeface="Cambria"/>
                <a:cs typeface="Cambria"/>
              </a:rPr>
              <a:t>multiple</a:t>
            </a:r>
            <a:r>
              <a:rPr sz="2800" spc="260" dirty="0">
                <a:latin typeface="Cambria"/>
                <a:cs typeface="Cambria"/>
              </a:rPr>
              <a:t>  </a:t>
            </a:r>
            <a:r>
              <a:rPr sz="2800" spc="105" dirty="0">
                <a:latin typeface="Cambria"/>
                <a:cs typeface="Cambria"/>
              </a:rPr>
              <a:t>times</a:t>
            </a:r>
            <a:r>
              <a:rPr sz="2800" spc="254" dirty="0">
                <a:latin typeface="Cambria"/>
                <a:cs typeface="Cambria"/>
              </a:rPr>
              <a:t>  </a:t>
            </a:r>
            <a:r>
              <a:rPr sz="2800" spc="-25" dirty="0">
                <a:latin typeface="Cambria"/>
                <a:cs typeface="Cambria"/>
              </a:rPr>
              <a:t>to </a:t>
            </a:r>
            <a:r>
              <a:rPr sz="2800" dirty="0">
                <a:latin typeface="Cambria"/>
                <a:cs typeface="Cambria"/>
              </a:rPr>
              <a:t>provide</a:t>
            </a:r>
            <a:r>
              <a:rPr sz="2800" spc="165" dirty="0">
                <a:latin typeface="Cambria"/>
                <a:cs typeface="Cambria"/>
              </a:rPr>
              <a:t>  </a:t>
            </a:r>
            <a:r>
              <a:rPr sz="2800" spc="100" dirty="0">
                <a:latin typeface="Cambria"/>
                <a:cs typeface="Cambria"/>
              </a:rPr>
              <a:t>reusability</a:t>
            </a:r>
            <a:r>
              <a:rPr sz="2800" spc="165" dirty="0">
                <a:latin typeface="Cambria"/>
                <a:cs typeface="Cambria"/>
              </a:rPr>
              <a:t>  </a:t>
            </a:r>
            <a:r>
              <a:rPr sz="2800" spc="130" dirty="0">
                <a:latin typeface="Cambria"/>
                <a:cs typeface="Cambria"/>
              </a:rPr>
              <a:t>and</a:t>
            </a:r>
            <a:r>
              <a:rPr sz="2800" spc="155" dirty="0">
                <a:latin typeface="Cambria"/>
                <a:cs typeface="Cambria"/>
              </a:rPr>
              <a:t>  </a:t>
            </a:r>
            <a:r>
              <a:rPr sz="2800" spc="90" dirty="0">
                <a:latin typeface="Cambria"/>
                <a:cs typeface="Cambria"/>
              </a:rPr>
              <a:t>modularity</a:t>
            </a:r>
            <a:r>
              <a:rPr sz="2800" spc="150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to</a:t>
            </a:r>
            <a:r>
              <a:rPr sz="2800" spc="155" dirty="0">
                <a:latin typeface="Cambria"/>
                <a:cs typeface="Cambria"/>
              </a:rPr>
              <a:t>  </a:t>
            </a:r>
            <a:r>
              <a:rPr sz="2800" spc="110" dirty="0">
                <a:latin typeface="Cambria"/>
                <a:cs typeface="Cambria"/>
              </a:rPr>
              <a:t>the</a:t>
            </a:r>
            <a:r>
              <a:rPr sz="2800" spc="160" dirty="0">
                <a:latin typeface="Cambria"/>
                <a:cs typeface="Cambria"/>
              </a:rPr>
              <a:t>  </a:t>
            </a:r>
            <a:r>
              <a:rPr sz="2800" spc="390" dirty="0" smtClean="0">
                <a:latin typeface="Cambria"/>
                <a:cs typeface="Cambria"/>
              </a:rPr>
              <a:t>C</a:t>
            </a:r>
            <a:r>
              <a:rPr lang="en-US" sz="2800" spc="390" dirty="0" smtClean="0">
                <a:latin typeface="Cambria"/>
                <a:cs typeface="Cambria"/>
              </a:rPr>
              <a:t>++</a:t>
            </a:r>
            <a:r>
              <a:rPr sz="2800" spc="390" dirty="0" smtClean="0">
                <a:latin typeface="Cambria"/>
                <a:cs typeface="Cambria"/>
              </a:rPr>
              <a:t> </a:t>
            </a:r>
            <a:r>
              <a:rPr sz="2800" spc="90" dirty="0">
                <a:latin typeface="Cambria"/>
                <a:cs typeface="Cambria"/>
              </a:rPr>
              <a:t>program.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85"/>
              </a:spcBef>
              <a:buClr>
                <a:srgbClr val="FD8537"/>
              </a:buClr>
              <a:buFont typeface="Wingdings"/>
              <a:buChar char=""/>
            </a:pPr>
            <a:endParaRPr sz="2800" dirty="0">
              <a:latin typeface="Cambria"/>
              <a:cs typeface="Cambria"/>
            </a:endParaRPr>
          </a:p>
          <a:p>
            <a:pPr marL="287020" marR="8255" indent="-274320" algn="just">
              <a:lnSpc>
                <a:spcPts val="303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185" dirty="0">
                <a:latin typeface="Cambria"/>
                <a:cs typeface="Cambria"/>
              </a:rPr>
              <a:t>In</a:t>
            </a:r>
            <a:r>
              <a:rPr sz="2800" spc="405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other</a:t>
            </a:r>
            <a:r>
              <a:rPr sz="2800" spc="390" dirty="0">
                <a:latin typeface="Cambria"/>
                <a:cs typeface="Cambria"/>
              </a:rPr>
              <a:t> </a:t>
            </a:r>
            <a:r>
              <a:rPr sz="2800" spc="50" dirty="0">
                <a:latin typeface="Cambria"/>
                <a:cs typeface="Cambria"/>
              </a:rPr>
              <a:t>words,</a:t>
            </a:r>
            <a:r>
              <a:rPr sz="2800" spc="409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we</a:t>
            </a:r>
            <a:r>
              <a:rPr sz="2800" spc="405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can</a:t>
            </a:r>
            <a:r>
              <a:rPr sz="2800" spc="400" dirty="0">
                <a:latin typeface="Cambria"/>
                <a:cs typeface="Cambria"/>
              </a:rPr>
              <a:t> </a:t>
            </a:r>
            <a:r>
              <a:rPr sz="2800" spc="125" dirty="0">
                <a:latin typeface="Cambria"/>
                <a:cs typeface="Cambria"/>
              </a:rPr>
              <a:t>say</a:t>
            </a:r>
            <a:r>
              <a:rPr sz="2800" spc="390" dirty="0">
                <a:latin typeface="Cambria"/>
                <a:cs typeface="Cambria"/>
              </a:rPr>
              <a:t> </a:t>
            </a:r>
            <a:r>
              <a:rPr sz="2800" spc="150" dirty="0">
                <a:latin typeface="Cambria"/>
                <a:cs typeface="Cambria"/>
              </a:rPr>
              <a:t>that</a:t>
            </a:r>
            <a:r>
              <a:rPr sz="2800" spc="405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the</a:t>
            </a:r>
            <a:r>
              <a:rPr sz="2800" spc="409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collection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functions</a:t>
            </a:r>
            <a:r>
              <a:rPr sz="2800" spc="130" dirty="0">
                <a:latin typeface="Cambria"/>
                <a:cs typeface="Cambria"/>
              </a:rPr>
              <a:t> </a:t>
            </a:r>
            <a:r>
              <a:rPr sz="2800" spc="80" dirty="0">
                <a:latin typeface="Cambria"/>
                <a:cs typeface="Cambria"/>
              </a:rPr>
              <a:t>creates</a:t>
            </a:r>
            <a:r>
              <a:rPr sz="2800" spc="120" dirty="0">
                <a:latin typeface="Cambria"/>
                <a:cs typeface="Cambria"/>
              </a:rPr>
              <a:t> </a:t>
            </a:r>
            <a:r>
              <a:rPr sz="2800" spc="190" dirty="0">
                <a:latin typeface="Cambria"/>
                <a:cs typeface="Cambria"/>
              </a:rPr>
              <a:t>a</a:t>
            </a:r>
            <a:r>
              <a:rPr sz="2800" spc="185" dirty="0">
                <a:latin typeface="Cambria"/>
                <a:cs typeface="Cambria"/>
              </a:rPr>
              <a:t> </a:t>
            </a:r>
            <a:r>
              <a:rPr sz="2800" spc="90" dirty="0">
                <a:latin typeface="Cambria"/>
                <a:cs typeface="Cambria"/>
              </a:rPr>
              <a:t>program.</a:t>
            </a:r>
            <a:endParaRPr sz="28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707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9855" algn="l"/>
              </a:tabLst>
            </a:pPr>
            <a:r>
              <a:rPr cap="small" spc="395" dirty="0"/>
              <a:t>Functions</a:t>
            </a:r>
            <a:r>
              <a:rPr cap="small" dirty="0"/>
              <a:t>	</a:t>
            </a:r>
            <a:r>
              <a:rPr cap="small" spc="280" dirty="0"/>
              <a:t>(Cont…)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0044" y="938911"/>
            <a:ext cx="7845756" cy="7348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1" spc="155" dirty="0">
                <a:latin typeface="Cambria"/>
                <a:cs typeface="Cambria"/>
              </a:rPr>
              <a:t>Types</a:t>
            </a:r>
            <a:r>
              <a:rPr sz="2600" b="1" spc="200" dirty="0">
                <a:latin typeface="Cambria"/>
                <a:cs typeface="Cambria"/>
              </a:rPr>
              <a:t> </a:t>
            </a:r>
            <a:r>
              <a:rPr sz="2600" b="1" spc="125" dirty="0">
                <a:latin typeface="Cambria"/>
                <a:cs typeface="Cambria"/>
              </a:rPr>
              <a:t>of</a:t>
            </a:r>
            <a:r>
              <a:rPr sz="2600" b="1" spc="200" dirty="0">
                <a:latin typeface="Cambria"/>
                <a:cs typeface="Cambria"/>
              </a:rPr>
              <a:t> </a:t>
            </a:r>
            <a:r>
              <a:rPr sz="2600" b="1" spc="175" dirty="0">
                <a:latin typeface="Cambria"/>
                <a:cs typeface="Cambria"/>
              </a:rPr>
              <a:t>Functions</a:t>
            </a:r>
            <a:endParaRPr sz="2600" dirty="0">
              <a:latin typeface="Cambria"/>
              <a:cs typeface="Cambria"/>
            </a:endParaRPr>
          </a:p>
          <a:p>
            <a:pPr marL="287020" marR="5080" indent="-274320">
              <a:lnSpc>
                <a:spcPct val="80000"/>
              </a:lnSpc>
              <a:spcBef>
                <a:spcPts val="62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  <a:tab pos="1570355" algn="l"/>
                <a:tab pos="2451100" algn="l"/>
                <a:tab pos="3393440" algn="l"/>
                <a:tab pos="4591685" algn="l"/>
              </a:tabLst>
            </a:pPr>
            <a:r>
              <a:rPr sz="2600" spc="80" dirty="0">
                <a:latin typeface="Cambria"/>
                <a:cs typeface="Cambria"/>
              </a:rPr>
              <a:t>There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5" dirty="0">
                <a:latin typeface="Cambria"/>
                <a:cs typeface="Cambria"/>
              </a:rPr>
              <a:t>are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two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0" dirty="0">
                <a:latin typeface="Cambria"/>
                <a:cs typeface="Cambria"/>
              </a:rPr>
              <a:t>types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of </a:t>
            </a:r>
            <a:r>
              <a:rPr sz="2600" spc="65" dirty="0" smtClean="0">
                <a:latin typeface="Cambria"/>
                <a:cs typeface="Cambria"/>
              </a:rPr>
              <a:t>programmin</a:t>
            </a:r>
            <a:r>
              <a:rPr lang="en-US" sz="2600" spc="65" dirty="0" smtClean="0">
                <a:latin typeface="Cambria"/>
                <a:cs typeface="Cambria"/>
              </a:rPr>
              <a:t>g functions</a:t>
            </a:r>
            <a:r>
              <a:rPr lang="en-US" sz="2600" dirty="0" smtClean="0">
                <a:latin typeface="Cambria"/>
                <a:cs typeface="Cambria"/>
              </a:rPr>
              <a:t>	</a:t>
            </a:r>
            <a:r>
              <a:rPr lang="en-US" sz="2600" spc="70" dirty="0" smtClean="0">
                <a:latin typeface="Cambria"/>
                <a:cs typeface="Cambria"/>
              </a:rPr>
              <a:t>in</a:t>
            </a:r>
            <a:r>
              <a:rPr lang="en-US" sz="2600" dirty="0" smtClean="0">
                <a:latin typeface="Cambria"/>
                <a:cs typeface="Cambria"/>
              </a:rPr>
              <a:t>	</a:t>
            </a:r>
            <a:r>
              <a:rPr lang="en-US" sz="2600" spc="340" dirty="0" smtClean="0">
                <a:latin typeface="Cambria"/>
                <a:cs typeface="Cambria"/>
              </a:rPr>
              <a:t>C++.</a:t>
            </a:r>
          </a:p>
          <a:p>
            <a:pPr marL="12700" marR="5080">
              <a:lnSpc>
                <a:spcPct val="80000"/>
              </a:lnSpc>
              <a:spcBef>
                <a:spcPts val="625"/>
              </a:spcBef>
              <a:buClr>
                <a:srgbClr val="FD8537"/>
              </a:buClr>
              <a:buSzPct val="69230"/>
              <a:tabLst>
                <a:tab pos="287020" algn="l"/>
                <a:tab pos="1570355" algn="l"/>
                <a:tab pos="2451100" algn="l"/>
                <a:tab pos="3393440" algn="l"/>
                <a:tab pos="4591685" algn="l"/>
              </a:tabLst>
            </a:pPr>
            <a:endParaRPr lang="en-US" sz="2600" spc="340" dirty="0" smtClean="0">
              <a:latin typeface="Cambria"/>
              <a:cs typeface="Cambria"/>
            </a:endParaRPr>
          </a:p>
          <a:p>
            <a:pPr marL="12700" marR="5080">
              <a:lnSpc>
                <a:spcPct val="80000"/>
              </a:lnSpc>
              <a:spcBef>
                <a:spcPts val="625"/>
              </a:spcBef>
              <a:buClr>
                <a:srgbClr val="FD8537"/>
              </a:buClr>
              <a:buSzPct val="69230"/>
              <a:tabLst>
                <a:tab pos="287020" algn="l"/>
                <a:tab pos="1570355" algn="l"/>
                <a:tab pos="2451100" algn="l"/>
                <a:tab pos="3393440" algn="l"/>
                <a:tab pos="4591685" algn="l"/>
              </a:tabLst>
            </a:pPr>
            <a:r>
              <a:rPr lang="en-US" sz="2400" u="sng" dirty="0" smtClean="0">
                <a:latin typeface="+mn-lt"/>
              </a:rPr>
              <a:t>Library (or Built-in) Functions </a:t>
            </a:r>
            <a:r>
              <a:rPr lang="en-US" sz="2400" dirty="0" smtClean="0">
                <a:latin typeface="+mn-lt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Library (or Built-in) functions are predefined functions provided by the C++ Standard Library.</a:t>
            </a:r>
            <a:r>
              <a:rPr kumimoji="0" lang="en-US" sz="20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They are stored in header files like &lt;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iostream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&gt;, &lt;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cmath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&gt;, &lt;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cstring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&gt;, &lt;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cctype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&gt;, &lt;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ctime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&gt;.</a:t>
            </a:r>
            <a:r>
              <a:rPr kumimoji="0" lang="en-US" sz="20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They make programming easier, faster, and more reliable since they are already tested and optimized.</a:t>
            </a:r>
            <a:r>
              <a:rPr kumimoji="0" lang="en-US" sz="20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Common categories include: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Input/Output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functions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cin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cout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)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Mathematical functions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sqrt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(), pow(), abs()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)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String functions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strlen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(),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strcpy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(),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strcmp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)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Character functions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isalpha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(),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isdigit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(),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toupper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)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Time functions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(time(),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ctime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)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55600" marR="5080" indent="-342900">
              <a:lnSpc>
                <a:spcPct val="80000"/>
              </a:lnSpc>
              <a:spcBef>
                <a:spcPts val="625"/>
              </a:spcBef>
              <a:buClr>
                <a:srgbClr val="FD8537"/>
              </a:buClr>
              <a:buSzPct val="69230"/>
              <a:buFont typeface="Wingdings" panose="05000000000000000000" pitchFamily="2" charset="2"/>
              <a:buChar char="§"/>
              <a:tabLst>
                <a:tab pos="287020" algn="l"/>
                <a:tab pos="1570355" algn="l"/>
                <a:tab pos="2451100" algn="l"/>
                <a:tab pos="3393440" algn="l"/>
                <a:tab pos="4591685" algn="l"/>
              </a:tabLst>
            </a:pPr>
            <a:endParaRPr lang="en-US" sz="2400" dirty="0" smtClean="0">
              <a:latin typeface="+mn-lt"/>
            </a:endParaRPr>
          </a:p>
          <a:p>
            <a:pPr marL="355600" marR="5080" indent="-342900">
              <a:lnSpc>
                <a:spcPct val="80000"/>
              </a:lnSpc>
              <a:spcBef>
                <a:spcPts val="625"/>
              </a:spcBef>
              <a:buClr>
                <a:srgbClr val="FD8537"/>
              </a:buClr>
              <a:buSzPct val="69230"/>
              <a:buFont typeface="Wingdings" panose="05000000000000000000" pitchFamily="2" charset="2"/>
              <a:buChar char="§"/>
              <a:tabLst>
                <a:tab pos="287020" algn="l"/>
                <a:tab pos="1570355" algn="l"/>
                <a:tab pos="2451100" algn="l"/>
                <a:tab pos="3393440" algn="l"/>
                <a:tab pos="4591685" algn="l"/>
              </a:tabLst>
            </a:pPr>
            <a:endParaRPr lang="en-US" sz="2400" dirty="0" smtClean="0">
              <a:latin typeface="+mn-lt"/>
              <a:cs typeface="Cambria"/>
            </a:endParaRPr>
          </a:p>
          <a:p>
            <a:pPr marL="287020" marR="5080" indent="-274320">
              <a:lnSpc>
                <a:spcPct val="80000"/>
              </a:lnSpc>
              <a:spcBef>
                <a:spcPts val="62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  <a:tab pos="1570355" algn="l"/>
                <a:tab pos="2451100" algn="l"/>
                <a:tab pos="3393440" algn="l"/>
                <a:tab pos="4591685" algn="l"/>
              </a:tabLst>
            </a:pPr>
            <a:endParaRPr sz="26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371600"/>
            <a:ext cx="8379460" cy="7161521"/>
          </a:xfrm>
        </p:spPr>
        <p:txBody>
          <a:bodyPr/>
          <a:lstStyle/>
          <a:p>
            <a:pPr algn="just"/>
            <a:r>
              <a:rPr lang="en-US" b="1" spc="135" dirty="0"/>
              <a:t>User-</a:t>
            </a:r>
            <a:r>
              <a:rPr lang="en-US" b="1" spc="155" dirty="0"/>
              <a:t>defined</a:t>
            </a:r>
            <a:r>
              <a:rPr lang="en-US" b="1" spc="210" dirty="0"/>
              <a:t> </a:t>
            </a:r>
            <a:r>
              <a:rPr lang="en-US" b="1" spc="150" dirty="0"/>
              <a:t>functions</a:t>
            </a:r>
            <a:r>
              <a:rPr lang="en-US" spc="150" dirty="0"/>
              <a:t>:</a:t>
            </a:r>
            <a:r>
              <a:rPr lang="en-US" spc="185" dirty="0"/>
              <a:t> </a:t>
            </a:r>
            <a:r>
              <a:rPr lang="en-US" spc="80" dirty="0"/>
              <a:t>are</a:t>
            </a:r>
            <a:r>
              <a:rPr lang="en-US" spc="190" dirty="0"/>
              <a:t> </a:t>
            </a:r>
            <a:r>
              <a:rPr lang="en-US" spc="90" dirty="0"/>
              <a:t>the</a:t>
            </a:r>
            <a:r>
              <a:rPr lang="en-US" spc="190" dirty="0"/>
              <a:t> </a:t>
            </a:r>
            <a:r>
              <a:rPr lang="en-US" spc="75" dirty="0"/>
              <a:t>functions</a:t>
            </a:r>
            <a:r>
              <a:rPr lang="en-US" spc="175" dirty="0"/>
              <a:t> </a:t>
            </a:r>
            <a:r>
              <a:rPr lang="en-US" spc="65" dirty="0"/>
              <a:t>which </a:t>
            </a:r>
            <a:r>
              <a:rPr lang="en-US" spc="80" dirty="0"/>
              <a:t>are</a:t>
            </a:r>
            <a:r>
              <a:rPr lang="en-US" spc="470" dirty="0"/>
              <a:t> </a:t>
            </a:r>
            <a:r>
              <a:rPr lang="en-US" spc="65" dirty="0"/>
              <a:t>created</a:t>
            </a:r>
            <a:r>
              <a:rPr lang="en-US" spc="465" dirty="0"/>
              <a:t> </a:t>
            </a:r>
            <a:r>
              <a:rPr lang="en-US" spc="50" dirty="0"/>
              <a:t>by</a:t>
            </a:r>
            <a:r>
              <a:rPr lang="en-US" spc="475" dirty="0"/>
              <a:t> </a:t>
            </a:r>
            <a:r>
              <a:rPr lang="en-US" spc="90" dirty="0"/>
              <a:t>the</a:t>
            </a:r>
            <a:r>
              <a:rPr lang="en-US" spc="495" dirty="0"/>
              <a:t> </a:t>
            </a:r>
            <a:r>
              <a:rPr lang="en-US" spc="405" dirty="0"/>
              <a:t>C</a:t>
            </a:r>
            <a:r>
              <a:rPr lang="en-US" spc="470" dirty="0"/>
              <a:t> </a:t>
            </a:r>
            <a:r>
              <a:rPr lang="en-US" spc="75" dirty="0"/>
              <a:t>programmer,</a:t>
            </a:r>
            <a:r>
              <a:rPr lang="en-US" spc="475" dirty="0"/>
              <a:t> </a:t>
            </a:r>
            <a:r>
              <a:rPr lang="en-US" dirty="0"/>
              <a:t>so</a:t>
            </a:r>
            <a:r>
              <a:rPr lang="en-US" spc="475" dirty="0"/>
              <a:t> </a:t>
            </a:r>
            <a:r>
              <a:rPr lang="en-US" spc="140" dirty="0"/>
              <a:t>that</a:t>
            </a:r>
            <a:r>
              <a:rPr lang="en-US" spc="465" dirty="0"/>
              <a:t> </a:t>
            </a:r>
            <a:r>
              <a:rPr lang="en-US" spc="-10" dirty="0"/>
              <a:t>he/she </a:t>
            </a:r>
            <a:r>
              <a:rPr lang="en-US" spc="90" dirty="0"/>
              <a:t>can</a:t>
            </a:r>
            <a:r>
              <a:rPr lang="en-US" spc="484" dirty="0"/>
              <a:t> </a:t>
            </a:r>
            <a:r>
              <a:rPr lang="en-US" spc="75" dirty="0"/>
              <a:t>use</a:t>
            </a:r>
            <a:r>
              <a:rPr lang="en-US" spc="509" dirty="0"/>
              <a:t> </a:t>
            </a:r>
            <a:r>
              <a:rPr lang="en-US" spc="120" dirty="0"/>
              <a:t>it</a:t>
            </a:r>
            <a:r>
              <a:rPr lang="en-US" spc="509" dirty="0"/>
              <a:t> </a:t>
            </a:r>
            <a:r>
              <a:rPr lang="en-US" spc="130" dirty="0"/>
              <a:t>many</a:t>
            </a:r>
            <a:r>
              <a:rPr lang="en-US" spc="490" dirty="0"/>
              <a:t> </a:t>
            </a:r>
            <a:r>
              <a:rPr lang="en-US" spc="110" dirty="0"/>
              <a:t>times.</a:t>
            </a:r>
            <a:r>
              <a:rPr lang="en-US" spc="505" dirty="0"/>
              <a:t> </a:t>
            </a:r>
            <a:r>
              <a:rPr lang="en-US" spc="170" dirty="0"/>
              <a:t>It</a:t>
            </a:r>
            <a:r>
              <a:rPr lang="en-US" spc="509" dirty="0"/>
              <a:t> </a:t>
            </a:r>
            <a:r>
              <a:rPr lang="en-US" dirty="0"/>
              <a:t>reduces</a:t>
            </a:r>
            <a:r>
              <a:rPr lang="en-US" spc="515" dirty="0"/>
              <a:t> </a:t>
            </a:r>
            <a:r>
              <a:rPr lang="en-US" spc="90" dirty="0"/>
              <a:t>the</a:t>
            </a:r>
            <a:r>
              <a:rPr lang="en-US" spc="509" dirty="0"/>
              <a:t> </a:t>
            </a:r>
            <a:r>
              <a:rPr lang="en-US" spc="55" dirty="0"/>
              <a:t>complexity </a:t>
            </a:r>
            <a:r>
              <a:rPr lang="en-US" dirty="0"/>
              <a:t>of</a:t>
            </a:r>
            <a:r>
              <a:rPr lang="en-US" spc="145" dirty="0"/>
              <a:t> </a:t>
            </a:r>
            <a:r>
              <a:rPr lang="en-US" spc="165" dirty="0"/>
              <a:t>a</a:t>
            </a:r>
            <a:r>
              <a:rPr lang="en-US" spc="175" dirty="0"/>
              <a:t> </a:t>
            </a:r>
            <a:r>
              <a:rPr lang="en-US" spc="65" dirty="0"/>
              <a:t>big</a:t>
            </a:r>
            <a:r>
              <a:rPr lang="en-US" spc="165" dirty="0"/>
              <a:t> </a:t>
            </a:r>
            <a:r>
              <a:rPr lang="en-US" spc="65" dirty="0"/>
              <a:t>program</a:t>
            </a:r>
            <a:r>
              <a:rPr lang="en-US" spc="195" dirty="0"/>
              <a:t> </a:t>
            </a:r>
            <a:r>
              <a:rPr lang="en-US" spc="105" dirty="0"/>
              <a:t>and</a:t>
            </a:r>
            <a:r>
              <a:rPr lang="en-US" spc="150" dirty="0"/>
              <a:t> </a:t>
            </a:r>
            <a:r>
              <a:rPr lang="en-US" spc="55" dirty="0"/>
              <a:t>optimizes</a:t>
            </a:r>
            <a:r>
              <a:rPr lang="en-US" spc="190" dirty="0"/>
              <a:t> </a:t>
            </a:r>
            <a:r>
              <a:rPr lang="en-US" spc="95" dirty="0"/>
              <a:t>the</a:t>
            </a:r>
            <a:r>
              <a:rPr lang="en-US" spc="175" dirty="0"/>
              <a:t> </a:t>
            </a:r>
            <a:r>
              <a:rPr lang="en-US" spc="-10" dirty="0"/>
              <a:t>code.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349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707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9855" algn="l"/>
              </a:tabLst>
            </a:pPr>
            <a:r>
              <a:rPr cap="small" spc="395" dirty="0"/>
              <a:t>Functions</a:t>
            </a:r>
            <a:r>
              <a:rPr cap="small" dirty="0"/>
              <a:t>	</a:t>
            </a:r>
            <a:r>
              <a:rPr cap="small" spc="280" dirty="0"/>
              <a:t>(Cont…)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920318"/>
            <a:ext cx="8001000" cy="529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210" dirty="0">
                <a:latin typeface="Cambria"/>
                <a:cs typeface="Cambria"/>
              </a:rPr>
              <a:t>Advantages</a:t>
            </a:r>
            <a:r>
              <a:rPr sz="3200" b="1" spc="285" dirty="0">
                <a:latin typeface="Cambria"/>
                <a:cs typeface="Cambria"/>
              </a:rPr>
              <a:t> </a:t>
            </a:r>
            <a:r>
              <a:rPr sz="3200" b="1" spc="150" dirty="0">
                <a:latin typeface="Cambria"/>
                <a:cs typeface="Cambria"/>
              </a:rPr>
              <a:t>of</a:t>
            </a:r>
            <a:r>
              <a:rPr sz="3200" b="1" spc="254" dirty="0">
                <a:latin typeface="Cambria"/>
                <a:cs typeface="Cambria"/>
              </a:rPr>
              <a:t> </a:t>
            </a:r>
            <a:r>
              <a:rPr sz="3200" b="1" spc="204" dirty="0">
                <a:latin typeface="Cambria"/>
                <a:cs typeface="Cambria"/>
              </a:rPr>
              <a:t>using</a:t>
            </a:r>
            <a:r>
              <a:rPr sz="3200" b="1" spc="240" dirty="0">
                <a:latin typeface="Cambria"/>
                <a:cs typeface="Cambria"/>
              </a:rPr>
              <a:t> </a:t>
            </a:r>
            <a:r>
              <a:rPr sz="3200" b="1" spc="220" dirty="0">
                <a:latin typeface="Cambria"/>
                <a:cs typeface="Cambria"/>
              </a:rPr>
              <a:t>Functions</a:t>
            </a:r>
            <a:endParaRPr sz="3200">
              <a:latin typeface="Cambria"/>
              <a:cs typeface="Cambria"/>
            </a:endParaRPr>
          </a:p>
          <a:p>
            <a:pPr marL="287020" marR="5080" indent="-274320" algn="just">
              <a:lnSpc>
                <a:spcPct val="80000"/>
              </a:lnSpc>
              <a:spcBef>
                <a:spcPts val="6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b="1" spc="170" dirty="0">
                <a:latin typeface="Cambria"/>
                <a:cs typeface="Cambria"/>
              </a:rPr>
              <a:t>Support</a:t>
            </a:r>
            <a:r>
              <a:rPr sz="2400" b="1" spc="480" dirty="0">
                <a:latin typeface="Cambria"/>
                <a:cs typeface="Cambria"/>
              </a:rPr>
              <a:t>     </a:t>
            </a:r>
            <a:r>
              <a:rPr sz="2400" b="1" spc="114" dirty="0">
                <a:latin typeface="Cambria"/>
                <a:cs typeface="Cambria"/>
              </a:rPr>
              <a:t>for</a:t>
            </a:r>
            <a:r>
              <a:rPr sz="2400" b="1" spc="470" dirty="0">
                <a:latin typeface="Cambria"/>
                <a:cs typeface="Cambria"/>
              </a:rPr>
              <a:t>     </a:t>
            </a:r>
            <a:r>
              <a:rPr sz="2400" b="1" spc="160" dirty="0">
                <a:latin typeface="Cambria"/>
                <a:cs typeface="Cambria"/>
              </a:rPr>
              <a:t>Modularity</a:t>
            </a:r>
            <a:r>
              <a:rPr sz="2400" b="1" spc="475" dirty="0">
                <a:latin typeface="Cambria"/>
                <a:cs typeface="Cambria"/>
              </a:rPr>
              <a:t>     </a:t>
            </a:r>
            <a:r>
              <a:rPr sz="2400" b="1" spc="265" dirty="0">
                <a:latin typeface="Cambria"/>
                <a:cs typeface="Cambria"/>
              </a:rPr>
              <a:t>&amp;</a:t>
            </a:r>
            <a:r>
              <a:rPr sz="2400" b="1" spc="475" dirty="0">
                <a:latin typeface="Cambria"/>
                <a:cs typeface="Cambria"/>
              </a:rPr>
              <a:t>     </a:t>
            </a:r>
            <a:r>
              <a:rPr sz="2400" b="1" spc="150" dirty="0">
                <a:latin typeface="Cambria"/>
                <a:cs typeface="Cambria"/>
              </a:rPr>
              <a:t>Modular </a:t>
            </a:r>
            <a:r>
              <a:rPr sz="2400" b="1" spc="155" dirty="0">
                <a:latin typeface="Cambria"/>
                <a:cs typeface="Cambria"/>
              </a:rPr>
              <a:t>Programming:</a:t>
            </a:r>
            <a:r>
              <a:rPr sz="2400" b="1" spc="70" dirty="0">
                <a:latin typeface="Cambria"/>
                <a:cs typeface="Cambria"/>
              </a:rPr>
              <a:t>  </a:t>
            </a:r>
            <a:r>
              <a:rPr sz="2400" spc="160" dirty="0">
                <a:latin typeface="Cambria"/>
                <a:cs typeface="Cambria"/>
              </a:rPr>
              <a:t>It</a:t>
            </a:r>
            <a:r>
              <a:rPr sz="2400" spc="70" dirty="0">
                <a:latin typeface="Cambria"/>
                <a:cs typeface="Cambria"/>
              </a:rPr>
              <a:t> 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50" dirty="0">
                <a:latin typeface="Cambria"/>
                <a:cs typeface="Cambria"/>
              </a:rPr>
              <a:t> 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75" dirty="0">
                <a:latin typeface="Cambria"/>
                <a:cs typeface="Cambria"/>
              </a:rPr>
              <a:t>  programming  </a:t>
            </a:r>
            <a:r>
              <a:rPr sz="2400" spc="85" dirty="0">
                <a:latin typeface="Cambria"/>
                <a:cs typeface="Cambria"/>
              </a:rPr>
              <a:t>paradigm</a:t>
            </a:r>
            <a:r>
              <a:rPr sz="2400" spc="75" dirty="0">
                <a:latin typeface="Cambria"/>
                <a:cs typeface="Cambria"/>
              </a:rPr>
              <a:t>  </a:t>
            </a:r>
            <a:r>
              <a:rPr sz="2400" spc="105" dirty="0">
                <a:latin typeface="Cambria"/>
                <a:cs typeface="Cambria"/>
              </a:rPr>
              <a:t>that </a:t>
            </a:r>
            <a:r>
              <a:rPr sz="2400" spc="75" dirty="0">
                <a:latin typeface="Cambria"/>
                <a:cs typeface="Cambria"/>
              </a:rPr>
              <a:t>breaks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down</a:t>
            </a:r>
            <a:r>
              <a:rPr sz="2400" spc="36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bigger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problem</a:t>
            </a:r>
            <a:r>
              <a:rPr sz="2400" spc="34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into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smaller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sub- </a:t>
            </a:r>
            <a:r>
              <a:rPr sz="2400" spc="55" dirty="0">
                <a:latin typeface="Cambria"/>
                <a:cs typeface="Cambria"/>
              </a:rPr>
              <a:t>problems.</a:t>
            </a:r>
            <a:r>
              <a:rPr sz="2400" spc="375" dirty="0">
                <a:latin typeface="Cambria"/>
                <a:cs typeface="Cambria"/>
              </a:rPr>
              <a:t>     </a:t>
            </a:r>
            <a:r>
              <a:rPr sz="2400" spc="75" dirty="0">
                <a:latin typeface="Cambria"/>
                <a:cs typeface="Cambria"/>
              </a:rPr>
              <a:t>These</a:t>
            </a:r>
            <a:r>
              <a:rPr sz="2400" spc="380" dirty="0">
                <a:latin typeface="Cambria"/>
                <a:cs typeface="Cambria"/>
              </a:rPr>
              <a:t>     </a:t>
            </a:r>
            <a:r>
              <a:rPr sz="2400" spc="50" dirty="0">
                <a:latin typeface="Cambria"/>
                <a:cs typeface="Cambria"/>
              </a:rPr>
              <a:t>sub-</a:t>
            </a:r>
            <a:r>
              <a:rPr sz="2400" dirty="0">
                <a:latin typeface="Cambria"/>
                <a:cs typeface="Cambria"/>
              </a:rPr>
              <a:t>problems</a:t>
            </a:r>
            <a:r>
              <a:rPr sz="2400" spc="375" dirty="0">
                <a:latin typeface="Cambria"/>
                <a:cs typeface="Cambria"/>
              </a:rPr>
              <a:t>     </a:t>
            </a:r>
            <a:r>
              <a:rPr sz="2400" spc="80" dirty="0">
                <a:latin typeface="Cambria"/>
                <a:cs typeface="Cambria"/>
              </a:rPr>
              <a:t>are</a:t>
            </a:r>
            <a:r>
              <a:rPr sz="2400" spc="375" dirty="0">
                <a:latin typeface="Cambria"/>
                <a:cs typeface="Cambria"/>
              </a:rPr>
              <a:t>     </a:t>
            </a:r>
            <a:r>
              <a:rPr sz="2400" spc="-10" dirty="0">
                <a:latin typeface="Cambria"/>
                <a:cs typeface="Cambria"/>
              </a:rPr>
              <a:t>solved </a:t>
            </a:r>
            <a:r>
              <a:rPr sz="2400" spc="60" dirty="0">
                <a:latin typeface="Cambria"/>
                <a:cs typeface="Cambria"/>
              </a:rPr>
              <a:t>(programmatically)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separately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their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solutions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are </a:t>
            </a:r>
            <a:r>
              <a:rPr sz="2400" dirty="0">
                <a:latin typeface="Cambria"/>
                <a:cs typeface="Cambria"/>
              </a:rPr>
              <a:t>combine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solve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bigger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problem.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Clr>
                <a:srgbClr val="FD8537"/>
              </a:buClr>
              <a:buFont typeface="Wingdings"/>
              <a:buChar char=""/>
            </a:pPr>
            <a:endParaRPr sz="24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400" b="1" spc="165" dirty="0">
                <a:latin typeface="Cambria"/>
                <a:cs typeface="Cambria"/>
              </a:rPr>
              <a:t>Easier</a:t>
            </a:r>
            <a:r>
              <a:rPr sz="2400" b="1" spc="190" dirty="0">
                <a:latin typeface="Cambria"/>
                <a:cs typeface="Cambria"/>
              </a:rPr>
              <a:t> </a:t>
            </a:r>
            <a:r>
              <a:rPr sz="2400" b="1" spc="125" dirty="0">
                <a:latin typeface="Cambria"/>
                <a:cs typeface="Cambria"/>
              </a:rPr>
              <a:t>to</a:t>
            </a:r>
            <a:r>
              <a:rPr sz="2400" b="1" spc="150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write</a:t>
            </a:r>
            <a:r>
              <a:rPr sz="2400" b="1" spc="175" dirty="0">
                <a:latin typeface="Cambria"/>
                <a:cs typeface="Cambria"/>
              </a:rPr>
              <a:t> </a:t>
            </a:r>
            <a:r>
              <a:rPr sz="2400" b="1" spc="170" dirty="0">
                <a:latin typeface="Cambria"/>
                <a:cs typeface="Cambria"/>
              </a:rPr>
              <a:t>and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55" dirty="0">
                <a:latin typeface="Cambria"/>
                <a:cs typeface="Cambria"/>
              </a:rPr>
              <a:t>understand</a:t>
            </a:r>
            <a:r>
              <a:rPr sz="2400" b="1" spc="13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the</a:t>
            </a:r>
            <a:r>
              <a:rPr sz="2400" b="1" spc="175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program.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Clr>
                <a:srgbClr val="FD8537"/>
              </a:buClr>
              <a:buFont typeface="Wingdings"/>
              <a:buChar char=""/>
            </a:pPr>
            <a:endParaRPr sz="24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400" b="1" spc="200" dirty="0">
                <a:latin typeface="Cambria"/>
                <a:cs typeface="Cambria"/>
              </a:rPr>
              <a:t>Fault</a:t>
            </a:r>
            <a:r>
              <a:rPr sz="2400" b="1" spc="185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detection</a:t>
            </a:r>
            <a:r>
              <a:rPr sz="2400" b="1" spc="175" dirty="0">
                <a:latin typeface="Cambria"/>
                <a:cs typeface="Cambria"/>
              </a:rPr>
              <a:t> </a:t>
            </a:r>
            <a:r>
              <a:rPr sz="2400" b="1" spc="170" dirty="0">
                <a:latin typeface="Cambria"/>
                <a:cs typeface="Cambria"/>
              </a:rPr>
              <a:t>and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25" dirty="0">
                <a:latin typeface="Cambria"/>
                <a:cs typeface="Cambria"/>
              </a:rPr>
              <a:t>isolation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10" dirty="0">
                <a:latin typeface="Cambria"/>
                <a:cs typeface="Cambria"/>
              </a:rPr>
              <a:t>is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00" dirty="0">
                <a:latin typeface="Cambria"/>
                <a:cs typeface="Cambria"/>
              </a:rPr>
              <a:t>easy.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Clr>
                <a:srgbClr val="FD8537"/>
              </a:buClr>
              <a:buFont typeface="Wingdings"/>
              <a:buChar char=""/>
            </a:pPr>
            <a:endParaRPr sz="24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400" b="1" spc="180" dirty="0">
                <a:latin typeface="Cambria"/>
                <a:cs typeface="Cambria"/>
              </a:rPr>
              <a:t>Debugging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and</a:t>
            </a:r>
            <a:r>
              <a:rPr sz="2400" b="1" spc="175" dirty="0">
                <a:latin typeface="Cambria"/>
                <a:cs typeface="Cambria"/>
              </a:rPr>
              <a:t> </a:t>
            </a:r>
            <a:r>
              <a:rPr sz="2400" b="1" spc="160" dirty="0">
                <a:latin typeface="Cambria"/>
                <a:cs typeface="Cambria"/>
              </a:rPr>
              <a:t>maintenance </a:t>
            </a:r>
            <a:r>
              <a:rPr sz="2400" b="1" spc="105" dirty="0">
                <a:latin typeface="Cambria"/>
                <a:cs typeface="Cambria"/>
              </a:rPr>
              <a:t>is</a:t>
            </a:r>
            <a:r>
              <a:rPr sz="2400" b="1" spc="185" dirty="0">
                <a:latin typeface="Cambria"/>
                <a:cs typeface="Cambria"/>
              </a:rPr>
              <a:t> </a:t>
            </a:r>
            <a:r>
              <a:rPr sz="2400" b="1" spc="100" dirty="0">
                <a:latin typeface="Cambria"/>
                <a:cs typeface="Cambria"/>
              </a:rPr>
              <a:t>easier.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Clr>
                <a:srgbClr val="FD8537"/>
              </a:buClr>
              <a:buFont typeface="Wingdings"/>
              <a:buChar char=""/>
            </a:pPr>
            <a:endParaRPr sz="24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400" b="1" spc="160" dirty="0">
                <a:latin typeface="Cambria"/>
                <a:cs typeface="Cambria"/>
              </a:rPr>
              <a:t>Facilitates</a:t>
            </a:r>
            <a:r>
              <a:rPr sz="2400" b="1" spc="175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reusability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14" dirty="0">
                <a:latin typeface="Cambria"/>
                <a:cs typeface="Cambria"/>
              </a:rPr>
              <a:t>of</a:t>
            </a:r>
            <a:r>
              <a:rPr sz="2400" b="1" spc="175" dirty="0">
                <a:latin typeface="Cambria"/>
                <a:cs typeface="Cambria"/>
              </a:rPr>
              <a:t> </a:t>
            </a:r>
            <a:r>
              <a:rPr sz="2400" b="1" spc="120" dirty="0">
                <a:latin typeface="Cambria"/>
                <a:cs typeface="Cambria"/>
              </a:rPr>
              <a:t>code.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707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9855" algn="l"/>
              </a:tabLst>
            </a:pPr>
            <a:r>
              <a:rPr cap="small" spc="395" dirty="0"/>
              <a:t>Functions</a:t>
            </a:r>
            <a:r>
              <a:rPr cap="small" dirty="0"/>
              <a:t>	</a:t>
            </a:r>
            <a:r>
              <a:rPr cap="small" spc="280" dirty="0"/>
              <a:t>(Cont…)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929983"/>
            <a:ext cx="7999730" cy="585609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8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800" b="1" spc="229" dirty="0">
                <a:latin typeface="+mn-lt"/>
                <a:cs typeface="Cambria"/>
              </a:rPr>
              <a:t>Functional</a:t>
            </a:r>
            <a:r>
              <a:rPr sz="2800" b="1" spc="285" dirty="0">
                <a:latin typeface="+mn-lt"/>
                <a:cs typeface="Cambria"/>
              </a:rPr>
              <a:t> </a:t>
            </a:r>
            <a:r>
              <a:rPr sz="2800" b="1" spc="180" dirty="0">
                <a:latin typeface="+mn-lt"/>
                <a:cs typeface="Cambria"/>
              </a:rPr>
              <a:t>Aspects</a:t>
            </a:r>
            <a:endParaRPr sz="2800" dirty="0">
              <a:latin typeface="+mn-lt"/>
              <a:cs typeface="Cambria"/>
            </a:endParaRPr>
          </a:p>
          <a:p>
            <a:pPr marL="12700" marR="5080">
              <a:lnSpc>
                <a:spcPct val="100000"/>
              </a:lnSpc>
              <a:spcBef>
                <a:spcPts val="620"/>
              </a:spcBef>
              <a:buClr>
                <a:srgbClr val="FD8537"/>
              </a:buClr>
              <a:buSzPct val="69642"/>
              <a:tabLst>
                <a:tab pos="287020" algn="l"/>
                <a:tab pos="850900" algn="l"/>
                <a:tab pos="1875155" algn="l"/>
                <a:tab pos="3390265" algn="l"/>
                <a:tab pos="5055235" algn="l"/>
                <a:tab pos="6808470" algn="l"/>
              </a:tabLst>
            </a:pPr>
            <a:r>
              <a:rPr lang="en-US" sz="2800" spc="210" dirty="0" smtClean="0">
                <a:latin typeface="+mn-lt"/>
                <a:cs typeface="Cambria"/>
              </a:rPr>
              <a:t>    </a:t>
            </a:r>
            <a:r>
              <a:rPr sz="2800" spc="210" dirty="0" smtClean="0">
                <a:latin typeface="+mn-lt"/>
                <a:cs typeface="Cambria"/>
              </a:rPr>
              <a:t>A</a:t>
            </a:r>
            <a:r>
              <a:rPr sz="2800" dirty="0">
                <a:latin typeface="+mn-lt"/>
                <a:cs typeface="Cambria"/>
              </a:rPr>
              <a:t>	</a:t>
            </a:r>
            <a:r>
              <a:rPr sz="2800" spc="70" dirty="0">
                <a:latin typeface="+mn-lt"/>
                <a:cs typeface="Cambria"/>
              </a:rPr>
              <a:t>user</a:t>
            </a:r>
            <a:r>
              <a:rPr sz="2800" dirty="0">
                <a:latin typeface="+mn-lt"/>
                <a:cs typeface="Cambria"/>
              </a:rPr>
              <a:t>	</a:t>
            </a:r>
            <a:r>
              <a:rPr sz="2800" spc="55" dirty="0">
                <a:latin typeface="+mn-lt"/>
                <a:cs typeface="Cambria"/>
              </a:rPr>
              <a:t>defined</a:t>
            </a:r>
            <a:r>
              <a:rPr sz="2800" dirty="0">
                <a:latin typeface="+mn-lt"/>
                <a:cs typeface="Cambria"/>
              </a:rPr>
              <a:t>	</a:t>
            </a:r>
            <a:r>
              <a:rPr sz="2800" spc="75" dirty="0">
                <a:latin typeface="+mn-lt"/>
                <a:cs typeface="Cambria"/>
              </a:rPr>
              <a:t>function</a:t>
            </a:r>
            <a:r>
              <a:rPr sz="2800" dirty="0">
                <a:latin typeface="+mn-lt"/>
                <a:cs typeface="Cambria"/>
              </a:rPr>
              <a:t>	</a:t>
            </a:r>
            <a:r>
              <a:rPr sz="2800" spc="85" dirty="0">
                <a:latin typeface="+mn-lt"/>
                <a:cs typeface="Cambria"/>
              </a:rPr>
              <a:t>basically</a:t>
            </a:r>
            <a:r>
              <a:rPr sz="2800" dirty="0">
                <a:latin typeface="+mn-lt"/>
                <a:cs typeface="Cambria"/>
              </a:rPr>
              <a:t>	</a:t>
            </a:r>
            <a:r>
              <a:rPr sz="2800" spc="50" dirty="0">
                <a:latin typeface="+mn-lt"/>
                <a:cs typeface="Cambria"/>
              </a:rPr>
              <a:t>involve </a:t>
            </a:r>
            <a:r>
              <a:rPr sz="2800" spc="60" dirty="0">
                <a:latin typeface="+mn-lt"/>
                <a:cs typeface="Cambria"/>
              </a:rPr>
              <a:t>following</a:t>
            </a:r>
            <a:r>
              <a:rPr sz="2800" spc="125" dirty="0">
                <a:latin typeface="+mn-lt"/>
                <a:cs typeface="Cambria"/>
              </a:rPr>
              <a:t> </a:t>
            </a:r>
            <a:r>
              <a:rPr sz="2800" spc="85" dirty="0">
                <a:latin typeface="+mn-lt"/>
                <a:cs typeface="Cambria"/>
              </a:rPr>
              <a:t>three</a:t>
            </a:r>
            <a:r>
              <a:rPr sz="2800" spc="155" dirty="0">
                <a:latin typeface="+mn-lt"/>
                <a:cs typeface="Cambria"/>
              </a:rPr>
              <a:t> </a:t>
            </a:r>
            <a:r>
              <a:rPr sz="2800" spc="65" dirty="0">
                <a:latin typeface="+mn-lt"/>
                <a:cs typeface="Cambria"/>
              </a:rPr>
              <a:t>aspects</a:t>
            </a:r>
            <a:r>
              <a:rPr sz="2800" spc="65" dirty="0" smtClean="0">
                <a:latin typeface="+mn-lt"/>
                <a:cs typeface="Cambria"/>
              </a:rPr>
              <a:t>:</a:t>
            </a:r>
            <a:endParaRPr lang="en-US" sz="2800" dirty="0">
              <a:latin typeface="+mn-lt"/>
              <a:cs typeface="Cambria"/>
            </a:endParaRPr>
          </a:p>
          <a:p>
            <a:pPr marL="12700" marR="5080">
              <a:lnSpc>
                <a:spcPct val="100000"/>
              </a:lnSpc>
              <a:spcBef>
                <a:spcPts val="620"/>
              </a:spcBef>
              <a:buClr>
                <a:srgbClr val="FD8537"/>
              </a:buClr>
              <a:buSzPct val="69642"/>
              <a:tabLst>
                <a:tab pos="287020" algn="l"/>
                <a:tab pos="850900" algn="l"/>
                <a:tab pos="1875155" algn="l"/>
                <a:tab pos="3390265" algn="l"/>
                <a:tab pos="5055235" algn="l"/>
                <a:tab pos="6808470" algn="l"/>
              </a:tabLst>
            </a:pPr>
            <a:endParaRPr sz="3200" dirty="0">
              <a:latin typeface="+mn-lt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b="1" dirty="0">
                <a:latin typeface="+mn-lt"/>
                <a:cs typeface="Cambria"/>
              </a:rPr>
              <a:t>1)</a:t>
            </a:r>
            <a:r>
              <a:rPr sz="2800" b="1" spc="130" dirty="0">
                <a:latin typeface="+mn-lt"/>
                <a:cs typeface="Cambria"/>
              </a:rPr>
              <a:t> </a:t>
            </a:r>
            <a:r>
              <a:rPr sz="2800" b="1" spc="120" dirty="0">
                <a:latin typeface="+mn-lt"/>
                <a:cs typeface="Cambria"/>
              </a:rPr>
              <a:t>Function</a:t>
            </a:r>
            <a:r>
              <a:rPr sz="2800" b="1" spc="60" dirty="0">
                <a:latin typeface="+mn-lt"/>
                <a:cs typeface="Cambria"/>
              </a:rPr>
              <a:t> </a:t>
            </a:r>
            <a:r>
              <a:rPr sz="2800" b="1" spc="55" dirty="0" smtClean="0">
                <a:latin typeface="+mn-lt"/>
                <a:cs typeface="Cambria"/>
              </a:rPr>
              <a:t>Declaration/Prototyping</a:t>
            </a:r>
            <a:endParaRPr lang="en-US" sz="2800" b="1" spc="55" dirty="0" smtClean="0">
              <a:latin typeface="+mn-lt"/>
              <a:cs typeface="Cambria"/>
            </a:endParaRPr>
          </a:p>
          <a:p>
            <a:pPr marL="12700">
              <a:lnSpc>
                <a:spcPct val="100000"/>
              </a:lnSpc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3200" spc="55" dirty="0">
                <a:latin typeface="+mn-lt"/>
                <a:cs typeface="Cambria"/>
              </a:rPr>
              <a:t> </a:t>
            </a:r>
            <a:r>
              <a:rPr lang="en-US" sz="2400" spc="55" dirty="0" err="1" smtClean="0">
                <a:latin typeface="+mn-lt"/>
                <a:cs typeface="Cambria"/>
              </a:rPr>
              <a:t>return_type</a:t>
            </a:r>
            <a:r>
              <a:rPr lang="en-US" sz="2400" spc="55" dirty="0" smtClean="0">
                <a:latin typeface="+mn-lt"/>
                <a:cs typeface="Cambria"/>
              </a:rPr>
              <a:t> </a:t>
            </a:r>
            <a:r>
              <a:rPr lang="en-US" sz="2400" spc="55" dirty="0" err="1" smtClean="0">
                <a:latin typeface="+mn-lt"/>
                <a:cs typeface="Cambria"/>
              </a:rPr>
              <a:t>function_name</a:t>
            </a:r>
            <a:r>
              <a:rPr lang="en-US" sz="2400" spc="55" dirty="0" smtClean="0">
                <a:latin typeface="+mn-lt"/>
                <a:cs typeface="Cambria"/>
              </a:rPr>
              <a:t>(</a:t>
            </a:r>
            <a:r>
              <a:rPr lang="en-US" sz="2400" spc="55" dirty="0" err="1" smtClean="0">
                <a:latin typeface="+mn-lt"/>
                <a:cs typeface="Cambria"/>
              </a:rPr>
              <a:t>parameter_list</a:t>
            </a:r>
            <a:r>
              <a:rPr lang="en-US" sz="2400" spc="55" dirty="0" smtClean="0">
                <a:latin typeface="+mn-lt"/>
                <a:cs typeface="Cambria"/>
              </a:rPr>
              <a:t>);</a:t>
            </a:r>
          </a:p>
          <a:p>
            <a:pPr marL="12700">
              <a:lnSpc>
                <a:spcPct val="100000"/>
              </a:lnSpc>
              <a:buClr>
                <a:srgbClr val="FD8537"/>
              </a:buClr>
              <a:buSzPct val="69642"/>
              <a:tabLst>
                <a:tab pos="286385" algn="l"/>
              </a:tabLst>
            </a:pPr>
            <a:endParaRPr sz="3200" dirty="0">
              <a:latin typeface="+mn-lt"/>
              <a:cs typeface="Cambria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b="1" dirty="0">
                <a:latin typeface="+mn-lt"/>
                <a:cs typeface="Cambria"/>
              </a:rPr>
              <a:t>2)</a:t>
            </a:r>
            <a:r>
              <a:rPr sz="2800" b="1" spc="130" dirty="0">
                <a:latin typeface="+mn-lt"/>
                <a:cs typeface="Cambria"/>
              </a:rPr>
              <a:t> </a:t>
            </a:r>
            <a:r>
              <a:rPr sz="2800" b="1" spc="114" dirty="0">
                <a:latin typeface="+mn-lt"/>
                <a:cs typeface="Cambria"/>
              </a:rPr>
              <a:t>Function</a:t>
            </a:r>
            <a:r>
              <a:rPr sz="2800" b="1" spc="65" dirty="0">
                <a:latin typeface="+mn-lt"/>
                <a:cs typeface="Cambria"/>
              </a:rPr>
              <a:t> </a:t>
            </a:r>
            <a:r>
              <a:rPr sz="2800" b="1" spc="100" dirty="0" smtClean="0">
                <a:latin typeface="+mn-lt"/>
                <a:cs typeface="Cambria"/>
              </a:rPr>
              <a:t>Definition</a:t>
            </a:r>
            <a:endParaRPr lang="en-US" sz="2800" b="1" spc="100" dirty="0" smtClean="0">
              <a:latin typeface="+mn-lt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400" dirty="0" smtClean="0">
                <a:latin typeface="+mn-lt"/>
                <a:cs typeface="Cambria"/>
              </a:rPr>
              <a:t>                          </a:t>
            </a:r>
            <a:r>
              <a:rPr lang="en-US" sz="2400" dirty="0" err="1" smtClean="0">
                <a:latin typeface="+mn-lt"/>
                <a:cs typeface="Cambria"/>
              </a:rPr>
              <a:t>int</a:t>
            </a:r>
            <a:r>
              <a:rPr lang="en-US" sz="2400" dirty="0" smtClean="0">
                <a:latin typeface="+mn-lt"/>
                <a:cs typeface="Cambria"/>
              </a:rPr>
              <a:t> add(</a:t>
            </a:r>
            <a:r>
              <a:rPr lang="en-US" sz="2400" dirty="0" err="1" smtClean="0">
                <a:latin typeface="+mn-lt"/>
                <a:cs typeface="Cambria"/>
              </a:rPr>
              <a:t>int</a:t>
            </a:r>
            <a:r>
              <a:rPr lang="en-US" sz="2400" dirty="0" smtClean="0">
                <a:latin typeface="+mn-lt"/>
                <a:cs typeface="Cambria"/>
              </a:rPr>
              <a:t> a, </a:t>
            </a:r>
            <a:r>
              <a:rPr lang="en-US" sz="2400" dirty="0" err="1" smtClean="0">
                <a:latin typeface="+mn-lt"/>
                <a:cs typeface="Cambria"/>
              </a:rPr>
              <a:t>int</a:t>
            </a:r>
            <a:r>
              <a:rPr lang="en-US" sz="2400" dirty="0" smtClean="0">
                <a:latin typeface="+mn-lt"/>
                <a:cs typeface="Cambria"/>
              </a:rPr>
              <a:t> b) {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400" dirty="0" smtClean="0">
                <a:latin typeface="+mn-lt"/>
                <a:cs typeface="Cambria"/>
              </a:rPr>
              <a:t>                                                       return a + b; }</a:t>
            </a:r>
            <a:endParaRPr sz="3200" dirty="0">
              <a:latin typeface="+mn-lt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b="1" dirty="0">
                <a:latin typeface="+mn-lt"/>
                <a:cs typeface="Cambria"/>
              </a:rPr>
              <a:t>3)</a:t>
            </a:r>
            <a:r>
              <a:rPr sz="2800" b="1" spc="130" dirty="0">
                <a:latin typeface="+mn-lt"/>
                <a:cs typeface="Cambria"/>
              </a:rPr>
              <a:t> </a:t>
            </a:r>
            <a:r>
              <a:rPr sz="2800" b="1" spc="120" dirty="0">
                <a:latin typeface="+mn-lt"/>
                <a:cs typeface="Cambria"/>
              </a:rPr>
              <a:t>Function</a:t>
            </a:r>
            <a:r>
              <a:rPr sz="2800" b="1" spc="60" dirty="0">
                <a:latin typeface="+mn-lt"/>
                <a:cs typeface="Cambria"/>
              </a:rPr>
              <a:t> </a:t>
            </a:r>
            <a:r>
              <a:rPr sz="2800" b="1" spc="160" dirty="0" smtClean="0">
                <a:latin typeface="+mn-lt"/>
                <a:cs typeface="Cambria"/>
              </a:rPr>
              <a:t>Calling</a:t>
            </a:r>
            <a:endParaRPr lang="en-US" sz="2800" b="1" spc="160" dirty="0" smtClean="0">
              <a:latin typeface="+mn-lt"/>
              <a:cs typeface="Cambria"/>
            </a:endParaRPr>
          </a:p>
          <a:p>
            <a:pPr marL="12700">
              <a:lnSpc>
                <a:spcPct val="100000"/>
              </a:lnSpc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800" b="1" spc="160" dirty="0" smtClean="0">
                <a:latin typeface="+mn-lt"/>
                <a:cs typeface="Cambria"/>
              </a:rPr>
              <a:t>                   </a:t>
            </a:r>
            <a:r>
              <a:rPr lang="en-US" sz="2400" spc="160" dirty="0" err="1" smtClean="0">
                <a:latin typeface="+mn-lt"/>
                <a:cs typeface="Cambria"/>
              </a:rPr>
              <a:t>int</a:t>
            </a:r>
            <a:r>
              <a:rPr lang="en-US" sz="2400" spc="160" dirty="0" smtClean="0">
                <a:latin typeface="+mn-lt"/>
                <a:cs typeface="Cambria"/>
              </a:rPr>
              <a:t> result = add(5, 10);</a:t>
            </a:r>
          </a:p>
          <a:p>
            <a:pPr marL="12700">
              <a:lnSpc>
                <a:spcPct val="100000"/>
              </a:lnSpc>
              <a:buClr>
                <a:srgbClr val="FD8537"/>
              </a:buClr>
              <a:buSzPct val="69642"/>
              <a:tabLst>
                <a:tab pos="286385" algn="l"/>
              </a:tabLst>
            </a:pPr>
            <a:endParaRPr lang="en-US" sz="2400" b="1" spc="16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707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9855" algn="l"/>
              </a:tabLst>
            </a:pPr>
            <a:r>
              <a:rPr cap="small" spc="395" dirty="0"/>
              <a:t>Functions</a:t>
            </a:r>
            <a:r>
              <a:rPr cap="small" dirty="0"/>
              <a:t>	</a:t>
            </a:r>
            <a:r>
              <a:rPr cap="small" spc="280" dirty="0"/>
              <a:t>(Cont…)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926414"/>
            <a:ext cx="7995920" cy="568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595"/>
              </a:lnSpc>
              <a:spcBef>
                <a:spcPts val="100"/>
              </a:spcBef>
            </a:pPr>
            <a:r>
              <a:rPr sz="3000" b="1" spc="240" dirty="0">
                <a:latin typeface="Cambria"/>
                <a:cs typeface="Cambria"/>
              </a:rPr>
              <a:t>Function</a:t>
            </a:r>
            <a:r>
              <a:rPr sz="3000" b="1" spc="195" dirty="0">
                <a:latin typeface="Cambria"/>
                <a:cs typeface="Cambria"/>
              </a:rPr>
              <a:t> </a:t>
            </a:r>
            <a:r>
              <a:rPr sz="3000" b="1" spc="150" dirty="0">
                <a:latin typeface="Cambria"/>
                <a:cs typeface="Cambria"/>
              </a:rPr>
              <a:t>Declaration/Prototyping</a:t>
            </a:r>
            <a:endParaRPr sz="3000">
              <a:latin typeface="Cambria"/>
              <a:cs typeface="Cambria"/>
            </a:endParaRPr>
          </a:p>
          <a:p>
            <a:pPr marL="287020" marR="5080" indent="-274320">
              <a:lnSpc>
                <a:spcPct val="80000"/>
              </a:lnSpc>
              <a:spcBef>
                <a:spcPts val="620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  <a:tab pos="680085" algn="l"/>
                <a:tab pos="2091689" algn="l"/>
                <a:tab pos="3970020" algn="l"/>
                <a:tab pos="4780915" algn="l"/>
                <a:tab pos="5119370" algn="l"/>
                <a:tab pos="6595109" algn="l"/>
              </a:tabLst>
            </a:pPr>
            <a:r>
              <a:rPr sz="2600" spc="190" dirty="0">
                <a:latin typeface="Cambria"/>
                <a:cs typeface="Cambria"/>
              </a:rPr>
              <a:t>A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5" dirty="0">
                <a:latin typeface="Cambria"/>
                <a:cs typeface="Cambria"/>
              </a:rPr>
              <a:t>function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70" dirty="0">
                <a:latin typeface="Cambria"/>
                <a:cs typeface="Cambria"/>
              </a:rPr>
              <a:t>declaration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75" dirty="0">
                <a:latin typeface="Cambria"/>
                <a:cs typeface="Cambria"/>
              </a:rPr>
              <a:t>tells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114" dirty="0">
                <a:latin typeface="Cambria"/>
                <a:cs typeface="Cambria"/>
              </a:rPr>
              <a:t>a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0" dirty="0">
                <a:latin typeface="Cambria"/>
                <a:cs typeface="Cambria"/>
              </a:rPr>
              <a:t>compiler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0" dirty="0">
                <a:latin typeface="Cambria"/>
                <a:cs typeface="Cambria"/>
              </a:rPr>
              <a:t>following </a:t>
            </a:r>
            <a:r>
              <a:rPr sz="2600" spc="80" dirty="0">
                <a:latin typeface="Cambria"/>
                <a:cs typeface="Cambria"/>
              </a:rPr>
              <a:t>three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things:</a:t>
            </a:r>
            <a:endParaRPr sz="2600">
              <a:latin typeface="Cambria"/>
              <a:cs typeface="Cambria"/>
            </a:endParaRPr>
          </a:p>
          <a:p>
            <a:pPr marL="287020" marR="7620" indent="-274320">
              <a:lnSpc>
                <a:spcPts val="2520"/>
              </a:lnSpc>
              <a:spcBef>
                <a:spcPts val="540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  <a:tab pos="707390" algn="l"/>
                <a:tab pos="1863089" algn="l"/>
                <a:tab pos="2362835" algn="l"/>
                <a:tab pos="4192270" algn="l"/>
                <a:tab pos="4628515" algn="l"/>
                <a:tab pos="5058410" algn="l"/>
                <a:tab pos="5616575" algn="l"/>
                <a:tab pos="7205345" algn="l"/>
              </a:tabLst>
            </a:pPr>
            <a:r>
              <a:rPr sz="2600" b="1" spc="-25" dirty="0">
                <a:latin typeface="Cambria"/>
                <a:cs typeface="Cambria"/>
              </a:rPr>
              <a:t>i)</a:t>
            </a:r>
            <a:r>
              <a:rPr sz="2600" b="1" dirty="0">
                <a:latin typeface="Cambria"/>
                <a:cs typeface="Cambria"/>
              </a:rPr>
              <a:t>	</a:t>
            </a:r>
            <a:r>
              <a:rPr sz="2600" b="1" spc="200" dirty="0">
                <a:latin typeface="Cambria"/>
                <a:cs typeface="Cambria"/>
              </a:rPr>
              <a:t>Name</a:t>
            </a:r>
            <a:r>
              <a:rPr sz="2600" b="1" dirty="0">
                <a:latin typeface="Cambria"/>
                <a:cs typeface="Cambria"/>
              </a:rPr>
              <a:t>	</a:t>
            </a:r>
            <a:r>
              <a:rPr sz="2600" b="1" spc="100" dirty="0">
                <a:latin typeface="Cambria"/>
                <a:cs typeface="Cambria"/>
              </a:rPr>
              <a:t>of</a:t>
            </a:r>
            <a:r>
              <a:rPr sz="2600" b="1" dirty="0">
                <a:latin typeface="Cambria"/>
                <a:cs typeface="Cambria"/>
              </a:rPr>
              <a:t>	</a:t>
            </a:r>
            <a:r>
              <a:rPr sz="2600" b="1" spc="170" dirty="0">
                <a:latin typeface="Cambria"/>
                <a:cs typeface="Cambria"/>
              </a:rPr>
              <a:t>Function:</a:t>
            </a:r>
            <a:r>
              <a:rPr sz="2600" b="1" dirty="0">
                <a:latin typeface="Cambria"/>
                <a:cs typeface="Cambria"/>
              </a:rPr>
              <a:t>	</a:t>
            </a:r>
            <a:r>
              <a:rPr sz="2600" spc="145" dirty="0">
                <a:latin typeface="Cambria"/>
                <a:cs typeface="Cambria"/>
              </a:rPr>
              <a:t>It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5" dirty="0">
                <a:latin typeface="Cambria"/>
                <a:cs typeface="Cambria"/>
              </a:rPr>
              <a:t>is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120" dirty="0">
                <a:latin typeface="Cambria"/>
                <a:cs typeface="Cambria"/>
              </a:rPr>
              <a:t>an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5" dirty="0">
                <a:latin typeface="Cambria"/>
                <a:cs typeface="Cambria"/>
              </a:rPr>
              <a:t>identifier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(user </a:t>
            </a:r>
            <a:r>
              <a:rPr sz="2600" spc="55" dirty="0">
                <a:latin typeface="Cambria"/>
                <a:cs typeface="Cambria"/>
              </a:rPr>
              <a:t>defined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name)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given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16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185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function.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Font typeface="Wingdings"/>
              <a:buChar char=""/>
            </a:pPr>
            <a:endParaRPr sz="2600">
              <a:latin typeface="Cambria"/>
              <a:cs typeface="Cambria"/>
            </a:endParaRPr>
          </a:p>
          <a:p>
            <a:pPr marL="287020" marR="5080" indent="-274320">
              <a:lnSpc>
                <a:spcPts val="2520"/>
              </a:lnSpc>
              <a:spcBef>
                <a:spcPts val="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b="1" spc="75" dirty="0">
                <a:latin typeface="Cambria"/>
                <a:cs typeface="Cambria"/>
              </a:rPr>
              <a:t>ii)</a:t>
            </a:r>
            <a:r>
              <a:rPr sz="2600" b="1" spc="295" dirty="0">
                <a:latin typeface="Cambria"/>
                <a:cs typeface="Cambria"/>
              </a:rPr>
              <a:t> </a:t>
            </a:r>
            <a:r>
              <a:rPr sz="2600" b="1" spc="190" dirty="0">
                <a:latin typeface="Cambria"/>
                <a:cs typeface="Cambria"/>
              </a:rPr>
              <a:t>Return</a:t>
            </a:r>
            <a:r>
              <a:rPr sz="2600" b="1" spc="290" dirty="0">
                <a:latin typeface="Cambria"/>
                <a:cs typeface="Cambria"/>
              </a:rPr>
              <a:t> </a:t>
            </a:r>
            <a:r>
              <a:rPr sz="2600" b="1" spc="135" dirty="0">
                <a:latin typeface="Cambria"/>
                <a:cs typeface="Cambria"/>
              </a:rPr>
              <a:t>Type:</a:t>
            </a:r>
            <a:r>
              <a:rPr sz="2600" b="1" spc="295" dirty="0">
                <a:latin typeface="Cambria"/>
                <a:cs typeface="Cambria"/>
              </a:rPr>
              <a:t> </a:t>
            </a:r>
            <a:r>
              <a:rPr sz="2600" spc="180" dirty="0">
                <a:latin typeface="Cambria"/>
                <a:cs typeface="Cambria"/>
              </a:rPr>
              <a:t>It</a:t>
            </a:r>
            <a:r>
              <a:rPr sz="2600" spc="295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is</a:t>
            </a:r>
            <a:r>
              <a:rPr sz="2600" spc="295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specify</a:t>
            </a:r>
            <a:r>
              <a:rPr sz="2600" spc="295" dirty="0">
                <a:latin typeface="Cambria"/>
                <a:cs typeface="Cambria"/>
              </a:rPr>
              <a:t> </a:t>
            </a:r>
            <a:r>
              <a:rPr sz="2600" spc="95" dirty="0">
                <a:latin typeface="Cambria"/>
                <a:cs typeface="Cambria"/>
              </a:rPr>
              <a:t>the</a:t>
            </a:r>
            <a:r>
              <a:rPr sz="2600" spc="295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datatype</a:t>
            </a:r>
            <a:r>
              <a:rPr sz="2600" spc="30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295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the </a:t>
            </a:r>
            <a:r>
              <a:rPr sz="2600" spc="105" dirty="0">
                <a:latin typeface="Cambria"/>
                <a:cs typeface="Cambria"/>
              </a:rPr>
              <a:t>value</a:t>
            </a:r>
            <a:r>
              <a:rPr sz="2600" spc="225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returned</a:t>
            </a:r>
            <a:r>
              <a:rPr sz="2600" spc="1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by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200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function.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Font typeface="Wingdings"/>
              <a:buChar char=""/>
            </a:pPr>
            <a:endParaRPr sz="2600">
              <a:latin typeface="Cambria"/>
              <a:cs typeface="Cambria"/>
            </a:endParaRPr>
          </a:p>
          <a:p>
            <a:pPr marL="287020" marR="7620" indent="-274320">
              <a:lnSpc>
                <a:spcPts val="2520"/>
              </a:lnSpc>
              <a:spcBef>
                <a:spcPts val="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b="1" spc="90" dirty="0">
                <a:latin typeface="Cambria"/>
                <a:cs typeface="Cambria"/>
              </a:rPr>
              <a:t>iii)</a:t>
            </a:r>
            <a:r>
              <a:rPr sz="2600" b="1" spc="350" dirty="0">
                <a:latin typeface="Cambria"/>
                <a:cs typeface="Cambria"/>
              </a:rPr>
              <a:t> </a:t>
            </a:r>
            <a:r>
              <a:rPr sz="2600" b="1" spc="135" dirty="0">
                <a:latin typeface="Cambria"/>
                <a:cs typeface="Cambria"/>
              </a:rPr>
              <a:t>Arguments/Parameter</a:t>
            </a:r>
            <a:r>
              <a:rPr sz="2600" b="1" spc="355" dirty="0">
                <a:latin typeface="Cambria"/>
                <a:cs typeface="Cambria"/>
              </a:rPr>
              <a:t> </a:t>
            </a:r>
            <a:r>
              <a:rPr sz="2600" b="1" spc="165" dirty="0">
                <a:latin typeface="Cambria"/>
                <a:cs typeface="Cambria"/>
              </a:rPr>
              <a:t>List:</a:t>
            </a:r>
            <a:r>
              <a:rPr sz="2600" b="1" spc="350" dirty="0">
                <a:latin typeface="Cambria"/>
                <a:cs typeface="Cambria"/>
              </a:rPr>
              <a:t> </a:t>
            </a:r>
            <a:r>
              <a:rPr sz="2600" spc="180" dirty="0">
                <a:latin typeface="Cambria"/>
                <a:cs typeface="Cambria"/>
              </a:rPr>
              <a:t>It</a:t>
            </a:r>
            <a:r>
              <a:rPr sz="2600" spc="350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specifies</a:t>
            </a:r>
            <a:r>
              <a:rPr sz="2600" spc="340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the </a:t>
            </a:r>
            <a:r>
              <a:rPr sz="2600" spc="85" dirty="0">
                <a:latin typeface="Cambria"/>
                <a:cs typeface="Cambria"/>
              </a:rPr>
              <a:t>number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100" dirty="0">
                <a:latin typeface="Cambria"/>
                <a:cs typeface="Cambria"/>
              </a:rPr>
              <a:t>arguments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along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with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their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114" dirty="0">
                <a:latin typeface="Cambria"/>
                <a:cs typeface="Cambria"/>
              </a:rPr>
              <a:t>data</a:t>
            </a:r>
            <a:r>
              <a:rPr sz="2600" spc="195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types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D8537"/>
              </a:buClr>
              <a:buFont typeface="Wingdings"/>
              <a:buChar char=""/>
            </a:pPr>
            <a:endParaRPr sz="26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6385" algn="l"/>
              </a:tabLst>
            </a:pPr>
            <a:r>
              <a:rPr sz="2600" b="1" spc="180" dirty="0">
                <a:latin typeface="Cambria"/>
                <a:cs typeface="Cambria"/>
              </a:rPr>
              <a:t>Syntax:</a:t>
            </a:r>
            <a:endParaRPr sz="2600">
              <a:latin typeface="Cambria"/>
              <a:cs typeface="Cambria"/>
            </a:endParaRPr>
          </a:p>
          <a:p>
            <a:pPr marL="286385" indent="-273685">
              <a:lnSpc>
                <a:spcPts val="3095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6385" algn="l"/>
              </a:tabLst>
            </a:pPr>
            <a:r>
              <a:rPr sz="2600" spc="100" dirty="0">
                <a:latin typeface="Cambria"/>
                <a:cs typeface="Cambria"/>
              </a:rPr>
              <a:t>return_type</a:t>
            </a:r>
            <a:r>
              <a:rPr sz="2600" spc="215" dirty="0">
                <a:latin typeface="Cambria"/>
                <a:cs typeface="Cambria"/>
              </a:rPr>
              <a:t> </a:t>
            </a:r>
            <a:r>
              <a:rPr sz="2600" spc="100" dirty="0">
                <a:latin typeface="Cambria"/>
                <a:cs typeface="Cambria"/>
              </a:rPr>
              <a:t>function_name</a:t>
            </a:r>
            <a:r>
              <a:rPr sz="2600" spc="215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(Argument_List);</a:t>
            </a:r>
            <a:endParaRPr sz="2600">
              <a:latin typeface="Cambria"/>
              <a:cs typeface="Cambria"/>
            </a:endParaRPr>
          </a:p>
          <a:p>
            <a:pPr marL="286385" indent="-273685">
              <a:lnSpc>
                <a:spcPts val="3095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6385" algn="l"/>
              </a:tabLst>
            </a:pPr>
            <a:r>
              <a:rPr sz="2600" spc="110" dirty="0">
                <a:latin typeface="Cambria"/>
                <a:cs typeface="Cambria"/>
              </a:rPr>
              <a:t>int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110" dirty="0">
                <a:latin typeface="Cambria"/>
                <a:cs typeface="Cambria"/>
              </a:rPr>
              <a:t>sum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(int</a:t>
            </a:r>
            <a:r>
              <a:rPr sz="2600" spc="150" dirty="0">
                <a:latin typeface="Cambria"/>
                <a:cs typeface="Cambria"/>
              </a:rPr>
              <a:t> x,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110" dirty="0">
                <a:latin typeface="Cambria"/>
                <a:cs typeface="Cambria"/>
              </a:rPr>
              <a:t>int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y);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b="1" spc="350" dirty="0">
                <a:latin typeface="Cambria"/>
                <a:cs typeface="Cambria"/>
              </a:rPr>
              <a:t>OR</a:t>
            </a:r>
            <a:r>
              <a:rPr sz="2600" b="1" spc="175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int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sum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(int,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int);</a:t>
            </a:r>
            <a:endParaRPr sz="26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707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9855" algn="l"/>
              </a:tabLst>
            </a:pPr>
            <a:r>
              <a:rPr cap="small" spc="395" dirty="0"/>
              <a:t>Functions</a:t>
            </a:r>
            <a:r>
              <a:rPr cap="small" dirty="0"/>
              <a:t>	</a:t>
            </a:r>
            <a:r>
              <a:rPr cap="small" spc="280" dirty="0"/>
              <a:t>(Cont…)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941959"/>
            <a:ext cx="8147050" cy="5587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190" dirty="0">
                <a:latin typeface="Cambria"/>
                <a:cs typeface="Cambria"/>
              </a:rPr>
              <a:t>Function</a:t>
            </a:r>
            <a:r>
              <a:rPr sz="2500" b="1" spc="220" dirty="0">
                <a:latin typeface="Cambria"/>
                <a:cs typeface="Cambria"/>
              </a:rPr>
              <a:t> </a:t>
            </a:r>
            <a:r>
              <a:rPr sz="2500" b="1" spc="125" dirty="0">
                <a:latin typeface="Cambria"/>
                <a:cs typeface="Cambria"/>
              </a:rPr>
              <a:t>Definition:</a:t>
            </a:r>
            <a:endParaRPr sz="2500">
              <a:latin typeface="Cambria"/>
              <a:cs typeface="Cambria"/>
            </a:endParaRPr>
          </a:p>
          <a:p>
            <a:pPr marL="286385" indent="-273685">
              <a:lnSpc>
                <a:spcPts val="2375"/>
              </a:lnSpc>
              <a:spcBef>
                <a:spcPts val="8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6385" algn="l"/>
                <a:tab pos="661670" algn="l"/>
                <a:tab pos="1905635" algn="l"/>
                <a:tab pos="3323590" algn="l"/>
                <a:tab pos="3716654" algn="l"/>
                <a:tab pos="4488180" algn="l"/>
                <a:tab pos="4909185" algn="l"/>
                <a:tab pos="5967095" algn="l"/>
                <a:tab pos="6558280" algn="l"/>
                <a:tab pos="7906384" algn="l"/>
              </a:tabLst>
            </a:pPr>
            <a:r>
              <a:rPr sz="2200" spc="170" dirty="0">
                <a:latin typeface="Cambria"/>
                <a:cs typeface="Cambria"/>
              </a:rPr>
              <a:t>A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55" dirty="0">
                <a:latin typeface="Cambria"/>
                <a:cs typeface="Cambria"/>
              </a:rPr>
              <a:t>function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45" dirty="0">
                <a:latin typeface="Cambria"/>
                <a:cs typeface="Cambria"/>
              </a:rPr>
              <a:t>definition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50" dirty="0">
                <a:latin typeface="Cambria"/>
                <a:cs typeface="Cambria"/>
              </a:rPr>
              <a:t>is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35" dirty="0">
                <a:latin typeface="Cambria"/>
                <a:cs typeface="Cambria"/>
              </a:rPr>
              <a:t>used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25" dirty="0">
                <a:latin typeface="Cambria"/>
                <a:cs typeface="Cambria"/>
              </a:rPr>
              <a:t>to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10" dirty="0">
                <a:latin typeface="Cambria"/>
                <a:cs typeface="Cambria"/>
              </a:rPr>
              <a:t>specify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65" dirty="0">
                <a:latin typeface="Cambria"/>
                <a:cs typeface="Cambria"/>
              </a:rPr>
              <a:t>the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10" dirty="0">
                <a:latin typeface="Cambria"/>
                <a:cs typeface="Cambria"/>
              </a:rPr>
              <a:t>sequence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25" dirty="0">
                <a:latin typeface="Cambria"/>
                <a:cs typeface="Cambria"/>
              </a:rPr>
              <a:t>of</a:t>
            </a:r>
            <a:endParaRPr sz="2200">
              <a:latin typeface="Cambria"/>
              <a:cs typeface="Cambria"/>
            </a:endParaRPr>
          </a:p>
          <a:p>
            <a:pPr marL="287020">
              <a:lnSpc>
                <a:spcPts val="2375"/>
              </a:lnSpc>
            </a:pPr>
            <a:r>
              <a:rPr sz="2200" spc="85" dirty="0">
                <a:latin typeface="Cambria"/>
                <a:cs typeface="Cambria"/>
              </a:rPr>
              <a:t>statements</a:t>
            </a:r>
            <a:r>
              <a:rPr sz="2200" spc="50" dirty="0">
                <a:latin typeface="Cambria"/>
                <a:cs typeface="Cambria"/>
              </a:rPr>
              <a:t> </a:t>
            </a:r>
            <a:r>
              <a:rPr sz="2200" spc="114" dirty="0">
                <a:latin typeface="Cambria"/>
                <a:cs typeface="Cambria"/>
              </a:rPr>
              <a:t>that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are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written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in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the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body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the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function.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2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"/>
              <a:tabLst>
                <a:tab pos="286385" algn="l"/>
              </a:tabLst>
            </a:pPr>
            <a:r>
              <a:rPr sz="2200" b="1" spc="155" dirty="0">
                <a:latin typeface="Cambria"/>
                <a:cs typeface="Cambria"/>
              </a:rPr>
              <a:t>Syntax:</a:t>
            </a:r>
            <a:endParaRPr sz="220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  <a:spcBef>
                <a:spcPts val="15"/>
              </a:spcBef>
            </a:pPr>
            <a:r>
              <a:rPr sz="1900" spc="70" dirty="0">
                <a:latin typeface="Cambria"/>
                <a:cs typeface="Cambria"/>
              </a:rPr>
              <a:t>return_type</a:t>
            </a:r>
            <a:r>
              <a:rPr sz="1900" spc="165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function_name(Argument_List)</a:t>
            </a:r>
            <a:endParaRPr sz="190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</a:pPr>
            <a:r>
              <a:rPr sz="1900" spc="-50" dirty="0">
                <a:latin typeface="Cambria"/>
                <a:cs typeface="Cambria"/>
              </a:rPr>
              <a:t>{</a:t>
            </a:r>
            <a:endParaRPr sz="1900">
              <a:latin typeface="Cambria"/>
              <a:cs typeface="Cambria"/>
            </a:endParaRPr>
          </a:p>
          <a:p>
            <a:pPr marL="579120">
              <a:lnSpc>
                <a:spcPct val="100000"/>
              </a:lnSpc>
            </a:pPr>
            <a:r>
              <a:rPr sz="1900" spc="-90" dirty="0">
                <a:latin typeface="Cambria"/>
                <a:cs typeface="Cambria"/>
              </a:rPr>
              <a:t>//Body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8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the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Function</a:t>
            </a:r>
            <a:endParaRPr sz="1900">
              <a:latin typeface="Cambria"/>
              <a:cs typeface="Cambria"/>
            </a:endParaRPr>
          </a:p>
          <a:p>
            <a:pPr marL="579120">
              <a:lnSpc>
                <a:spcPct val="100000"/>
              </a:lnSpc>
              <a:spcBef>
                <a:spcPts val="200"/>
              </a:spcBef>
            </a:pPr>
            <a:r>
              <a:rPr sz="1700" spc="80" dirty="0">
                <a:latin typeface="Cambria"/>
                <a:cs typeface="Cambria"/>
              </a:rPr>
              <a:t>Return_value</a:t>
            </a:r>
            <a:endParaRPr sz="170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  <a:spcBef>
                <a:spcPts val="40"/>
              </a:spcBef>
            </a:pPr>
            <a:r>
              <a:rPr sz="1900" spc="-50" dirty="0">
                <a:latin typeface="Cambria"/>
                <a:cs typeface="Cambria"/>
              </a:rPr>
              <a:t>}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9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"/>
              <a:tabLst>
                <a:tab pos="286385" algn="l"/>
              </a:tabLst>
            </a:pPr>
            <a:r>
              <a:rPr sz="2200" b="1" spc="145" dirty="0">
                <a:latin typeface="Cambria"/>
                <a:cs typeface="Cambria"/>
              </a:rPr>
              <a:t>Example:</a:t>
            </a:r>
            <a:endParaRPr sz="220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  <a:spcBef>
                <a:spcPts val="15"/>
              </a:spcBef>
            </a:pPr>
            <a:r>
              <a:rPr sz="1900" spc="85" dirty="0">
                <a:latin typeface="Cambria"/>
                <a:cs typeface="Cambria"/>
              </a:rPr>
              <a:t>int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sum(int</a:t>
            </a:r>
            <a:r>
              <a:rPr sz="1900" spc="140" dirty="0">
                <a:latin typeface="Cambria"/>
                <a:cs typeface="Cambria"/>
              </a:rPr>
              <a:t> </a:t>
            </a:r>
            <a:r>
              <a:rPr sz="1900" spc="110" dirty="0">
                <a:latin typeface="Cambria"/>
                <a:cs typeface="Cambria"/>
              </a:rPr>
              <a:t>x,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int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-25" dirty="0">
                <a:latin typeface="Cambria"/>
                <a:cs typeface="Cambria"/>
              </a:rPr>
              <a:t>y)</a:t>
            </a:r>
            <a:endParaRPr sz="190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</a:pPr>
            <a:r>
              <a:rPr sz="1900" spc="-50" dirty="0">
                <a:latin typeface="Cambria"/>
                <a:cs typeface="Cambria"/>
              </a:rPr>
              <a:t>{</a:t>
            </a:r>
            <a:endParaRPr sz="1900">
              <a:latin typeface="Cambria"/>
              <a:cs typeface="Cambria"/>
            </a:endParaRPr>
          </a:p>
          <a:p>
            <a:pPr marL="927100" marR="6238875">
              <a:lnSpc>
                <a:spcPct val="100000"/>
              </a:lnSpc>
            </a:pPr>
            <a:r>
              <a:rPr sz="1900" spc="80" dirty="0">
                <a:latin typeface="Cambria"/>
                <a:cs typeface="Cambria"/>
              </a:rPr>
              <a:t>int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-25" dirty="0">
                <a:latin typeface="Cambria"/>
                <a:cs typeface="Cambria"/>
              </a:rPr>
              <a:t>z; </a:t>
            </a:r>
            <a:r>
              <a:rPr sz="1900" spc="50" dirty="0">
                <a:latin typeface="Cambria"/>
                <a:cs typeface="Cambria"/>
              </a:rPr>
              <a:t>z=x+y; </a:t>
            </a:r>
            <a:r>
              <a:rPr sz="1900" spc="70" dirty="0">
                <a:latin typeface="Cambria"/>
                <a:cs typeface="Cambria"/>
              </a:rPr>
              <a:t>return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-35" dirty="0">
                <a:latin typeface="Cambria"/>
                <a:cs typeface="Cambria"/>
              </a:rPr>
              <a:t>z;</a:t>
            </a:r>
            <a:endParaRPr sz="190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  <a:spcBef>
                <a:spcPts val="5"/>
              </a:spcBef>
            </a:pPr>
            <a:r>
              <a:rPr sz="1900" spc="-50" dirty="0">
                <a:latin typeface="Cambria"/>
                <a:cs typeface="Cambria"/>
              </a:rPr>
              <a:t>}</a:t>
            </a:r>
            <a:endParaRPr sz="19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707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9855" algn="l"/>
              </a:tabLst>
            </a:pPr>
            <a:r>
              <a:rPr cap="small" spc="395" dirty="0"/>
              <a:t>Functions</a:t>
            </a:r>
            <a:r>
              <a:rPr cap="small" dirty="0"/>
              <a:t>	</a:t>
            </a:r>
            <a:r>
              <a:rPr cap="small" spc="280" dirty="0"/>
              <a:t>(Cont…)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926012"/>
            <a:ext cx="7998459" cy="549846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65"/>
              </a:spcBef>
            </a:pPr>
            <a:r>
              <a:rPr sz="3000" b="1" spc="240" dirty="0">
                <a:latin typeface="Cambria"/>
                <a:cs typeface="Cambria"/>
              </a:rPr>
              <a:t>Function</a:t>
            </a:r>
            <a:r>
              <a:rPr sz="3000" b="1" spc="195" dirty="0">
                <a:latin typeface="Cambria"/>
                <a:cs typeface="Cambria"/>
              </a:rPr>
              <a:t> </a:t>
            </a:r>
            <a:r>
              <a:rPr sz="3000" b="1" spc="200" dirty="0">
                <a:latin typeface="Cambria"/>
                <a:cs typeface="Cambria"/>
              </a:rPr>
              <a:t>Calling:</a:t>
            </a:r>
            <a:endParaRPr sz="3000">
              <a:latin typeface="Cambria"/>
              <a:cs typeface="Cambria"/>
            </a:endParaRPr>
          </a:p>
          <a:p>
            <a:pPr marL="287020" marR="7620" indent="-274320" algn="just">
              <a:lnSpc>
                <a:spcPct val="90000"/>
              </a:lnSpc>
              <a:spcBef>
                <a:spcPts val="61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spc="70" dirty="0">
                <a:latin typeface="Cambria"/>
                <a:cs typeface="Cambria"/>
              </a:rPr>
              <a:t>Whenever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there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is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requirements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performing</a:t>
            </a:r>
            <a:r>
              <a:rPr sz="2600" spc="185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the </a:t>
            </a:r>
            <a:r>
              <a:rPr sz="2600" spc="135" dirty="0">
                <a:latin typeface="Cambria"/>
                <a:cs typeface="Cambria"/>
              </a:rPr>
              <a:t>task</a:t>
            </a:r>
            <a:r>
              <a:rPr sz="2600" spc="270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written</a:t>
            </a:r>
            <a:r>
              <a:rPr sz="2600" spc="285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in</a:t>
            </a:r>
            <a:r>
              <a:rPr sz="2600" spc="275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305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function,</a:t>
            </a:r>
            <a:r>
              <a:rPr sz="2600" spc="275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280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function</a:t>
            </a:r>
            <a:r>
              <a:rPr sz="2600" spc="260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is</a:t>
            </a:r>
            <a:r>
              <a:rPr sz="2600" spc="280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called </a:t>
            </a:r>
            <a:r>
              <a:rPr sz="2600" spc="90" dirty="0">
                <a:latin typeface="Cambria"/>
                <a:cs typeface="Cambria"/>
              </a:rPr>
              <a:t>during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execution</a:t>
            </a:r>
            <a:r>
              <a:rPr sz="2600" spc="20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program.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buClr>
                <a:srgbClr val="FD8537"/>
              </a:buClr>
              <a:buFont typeface="Wingdings"/>
              <a:buChar char=""/>
            </a:pPr>
            <a:endParaRPr sz="26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6385" algn="l"/>
              </a:tabLst>
            </a:pPr>
            <a:r>
              <a:rPr sz="2600" b="1" spc="180" dirty="0">
                <a:latin typeface="Cambria"/>
                <a:cs typeface="Cambria"/>
              </a:rPr>
              <a:t>Syntax:</a:t>
            </a:r>
            <a:endParaRPr sz="26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spcBef>
                <a:spcPts val="310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6385" algn="l"/>
              </a:tabLst>
            </a:pPr>
            <a:r>
              <a:rPr sz="2600" spc="114" dirty="0">
                <a:latin typeface="Cambria"/>
                <a:cs typeface="Cambria"/>
              </a:rPr>
              <a:t>Function_name</a:t>
            </a:r>
            <a:r>
              <a:rPr sz="2600" spc="254" dirty="0">
                <a:latin typeface="Cambria"/>
                <a:cs typeface="Cambria"/>
              </a:rPr>
              <a:t> </a:t>
            </a:r>
            <a:r>
              <a:rPr sz="2600" spc="100" dirty="0">
                <a:latin typeface="Cambria"/>
                <a:cs typeface="Cambria"/>
              </a:rPr>
              <a:t>(Actual_Argument_List);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30"/>
              </a:spcBef>
              <a:buClr>
                <a:srgbClr val="FD8537"/>
              </a:buClr>
              <a:buFont typeface="Wingdings"/>
              <a:buChar char=""/>
            </a:pPr>
            <a:endParaRPr sz="26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6385" algn="l"/>
              </a:tabLst>
            </a:pPr>
            <a:r>
              <a:rPr sz="2600" b="1" spc="165" dirty="0">
                <a:latin typeface="Cambria"/>
                <a:cs typeface="Cambria"/>
              </a:rPr>
              <a:t>Example:</a:t>
            </a:r>
            <a:endParaRPr sz="26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spcBef>
                <a:spcPts val="31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6385" algn="l"/>
              </a:tabLst>
            </a:pPr>
            <a:r>
              <a:rPr sz="2600" spc="60" dirty="0">
                <a:latin typeface="Cambria"/>
                <a:cs typeface="Cambria"/>
              </a:rPr>
              <a:t>sum(5,</a:t>
            </a:r>
            <a:r>
              <a:rPr sz="2600" spc="195" dirty="0">
                <a:latin typeface="Cambria"/>
                <a:cs typeface="Cambria"/>
              </a:rPr>
              <a:t> </a:t>
            </a:r>
            <a:r>
              <a:rPr sz="2600" spc="-20" dirty="0">
                <a:latin typeface="Cambria"/>
                <a:cs typeface="Cambria"/>
              </a:rPr>
              <a:t>10);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60"/>
              </a:spcBef>
              <a:buClr>
                <a:srgbClr val="FD8537"/>
              </a:buClr>
              <a:buFont typeface="Wingdings"/>
              <a:buChar char=""/>
            </a:pPr>
            <a:endParaRPr sz="2600">
              <a:latin typeface="Cambria"/>
              <a:cs typeface="Cambria"/>
            </a:endParaRPr>
          </a:p>
          <a:p>
            <a:pPr marL="287020" marR="5080" indent="-274320" algn="just">
              <a:lnSpc>
                <a:spcPts val="2830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b="1" spc="140" dirty="0">
                <a:latin typeface="Cambria"/>
                <a:cs typeface="Cambria"/>
              </a:rPr>
              <a:t>Note:</a:t>
            </a:r>
            <a:r>
              <a:rPr sz="2600" b="1" spc="195" dirty="0">
                <a:latin typeface="Cambria"/>
                <a:cs typeface="Cambria"/>
              </a:rPr>
              <a:t>  </a:t>
            </a:r>
            <a:r>
              <a:rPr sz="2600" spc="170" dirty="0">
                <a:latin typeface="Cambria"/>
                <a:cs typeface="Cambria"/>
              </a:rPr>
              <a:t>In</a:t>
            </a:r>
            <a:r>
              <a:rPr sz="2600" spc="204" dirty="0">
                <a:latin typeface="Cambria"/>
                <a:cs typeface="Cambria"/>
              </a:rPr>
              <a:t>  </a:t>
            </a:r>
            <a:r>
              <a:rPr sz="2600" spc="80" dirty="0">
                <a:latin typeface="Cambria"/>
                <a:cs typeface="Cambria"/>
              </a:rPr>
              <a:t>declaration</a:t>
            </a:r>
            <a:r>
              <a:rPr sz="2600" spc="200" dirty="0">
                <a:latin typeface="Cambria"/>
                <a:cs typeface="Cambria"/>
              </a:rPr>
              <a:t>  </a:t>
            </a:r>
            <a:r>
              <a:rPr sz="2600" spc="114" dirty="0">
                <a:latin typeface="Cambria"/>
                <a:cs typeface="Cambria"/>
              </a:rPr>
              <a:t>name</a:t>
            </a:r>
            <a:r>
              <a:rPr sz="2600" spc="19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210" dirty="0">
                <a:latin typeface="Cambria"/>
                <a:cs typeface="Cambria"/>
              </a:rPr>
              <a:t>  </a:t>
            </a:r>
            <a:r>
              <a:rPr sz="2600" spc="105" dirty="0">
                <a:latin typeface="Cambria"/>
                <a:cs typeface="Cambria"/>
              </a:rPr>
              <a:t>argument</a:t>
            </a:r>
            <a:r>
              <a:rPr sz="2600" spc="200" dirty="0">
                <a:latin typeface="Cambria"/>
                <a:cs typeface="Cambria"/>
              </a:rPr>
              <a:t>  </a:t>
            </a:r>
            <a:r>
              <a:rPr sz="2600" spc="80" dirty="0">
                <a:latin typeface="Cambria"/>
                <a:cs typeface="Cambria"/>
              </a:rPr>
              <a:t>is</a:t>
            </a:r>
            <a:r>
              <a:rPr sz="2600" spc="195" dirty="0">
                <a:latin typeface="Cambria"/>
                <a:cs typeface="Cambria"/>
              </a:rPr>
              <a:t>  </a:t>
            </a:r>
            <a:r>
              <a:rPr sz="2600" spc="55" dirty="0">
                <a:latin typeface="Cambria"/>
                <a:cs typeface="Cambria"/>
              </a:rPr>
              <a:t>not </a:t>
            </a:r>
            <a:r>
              <a:rPr sz="2600" dirty="0">
                <a:latin typeface="Cambria"/>
                <a:cs typeface="Cambria"/>
              </a:rPr>
              <a:t>compulsory</a:t>
            </a:r>
            <a:r>
              <a:rPr sz="2600" spc="285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but</a:t>
            </a:r>
            <a:r>
              <a:rPr sz="2600" spc="250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in</a:t>
            </a:r>
            <a:r>
              <a:rPr sz="2600" spc="225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250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definition</a:t>
            </a:r>
            <a:r>
              <a:rPr sz="2600" spc="275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it</a:t>
            </a:r>
            <a:r>
              <a:rPr sz="2600" spc="250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is</a:t>
            </a:r>
            <a:r>
              <a:rPr sz="2600" spc="220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compulsory.</a:t>
            </a:r>
            <a:endParaRPr sz="26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707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9855" algn="l"/>
              </a:tabLst>
            </a:pPr>
            <a:r>
              <a:rPr cap="small" spc="395" dirty="0"/>
              <a:t>Functions</a:t>
            </a:r>
            <a:r>
              <a:rPr cap="small" dirty="0"/>
              <a:t>	</a:t>
            </a:r>
            <a:r>
              <a:rPr cap="small" spc="280" dirty="0"/>
              <a:t>(Cont…)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0044" y="935655"/>
            <a:ext cx="6541770" cy="94678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28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</a:tabLst>
            </a:pPr>
            <a:r>
              <a:rPr sz="2000" b="1" spc="160" dirty="0">
                <a:latin typeface="Cambria"/>
                <a:cs typeface="Cambria"/>
              </a:rPr>
              <a:t>WAP</a:t>
            </a:r>
            <a:r>
              <a:rPr sz="2000" b="1" spc="165" dirty="0">
                <a:latin typeface="Cambria"/>
                <a:cs typeface="Cambria"/>
              </a:rPr>
              <a:t> </a:t>
            </a:r>
            <a:r>
              <a:rPr sz="2000" b="1" spc="130" dirty="0">
                <a:latin typeface="Cambria"/>
                <a:cs typeface="Cambria"/>
              </a:rPr>
              <a:t>in</a:t>
            </a:r>
            <a:r>
              <a:rPr sz="2000" b="1" spc="145" dirty="0">
                <a:latin typeface="Cambria"/>
                <a:cs typeface="Cambria"/>
              </a:rPr>
              <a:t> </a:t>
            </a:r>
            <a:r>
              <a:rPr sz="2000" b="1" spc="390" dirty="0">
                <a:latin typeface="Cambria"/>
                <a:cs typeface="Cambria"/>
              </a:rPr>
              <a:t>C</a:t>
            </a:r>
            <a:r>
              <a:rPr sz="2000" b="1" spc="125" dirty="0">
                <a:latin typeface="Cambria"/>
                <a:cs typeface="Cambria"/>
              </a:rPr>
              <a:t> </a:t>
            </a:r>
            <a:r>
              <a:rPr sz="2000" b="1" spc="85" dirty="0">
                <a:latin typeface="Cambria"/>
                <a:cs typeface="Cambria"/>
              </a:rPr>
              <a:t>to</a:t>
            </a:r>
            <a:r>
              <a:rPr sz="2000" b="1" spc="175" dirty="0">
                <a:latin typeface="Cambria"/>
                <a:cs typeface="Cambria"/>
              </a:rPr>
              <a:t> </a:t>
            </a:r>
            <a:r>
              <a:rPr sz="2000" b="1" spc="145" dirty="0">
                <a:latin typeface="Cambria"/>
                <a:cs typeface="Cambria"/>
              </a:rPr>
              <a:t>Add</a:t>
            </a:r>
            <a:r>
              <a:rPr sz="2000" b="1" spc="155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Two</a:t>
            </a:r>
            <a:r>
              <a:rPr sz="2000" b="1" spc="175" dirty="0">
                <a:latin typeface="Cambria"/>
                <a:cs typeface="Cambria"/>
              </a:rPr>
              <a:t> </a:t>
            </a:r>
            <a:r>
              <a:rPr sz="2000" b="1" spc="130" dirty="0">
                <a:latin typeface="Cambria"/>
                <a:cs typeface="Cambria"/>
              </a:rPr>
              <a:t>Numbers</a:t>
            </a:r>
            <a:r>
              <a:rPr sz="2000" b="1" spc="155" dirty="0">
                <a:latin typeface="Cambria"/>
                <a:cs typeface="Cambria"/>
              </a:rPr>
              <a:t> </a:t>
            </a:r>
            <a:r>
              <a:rPr sz="2000" b="1" spc="130" dirty="0">
                <a:latin typeface="Cambria"/>
                <a:cs typeface="Cambria"/>
              </a:rPr>
              <a:t>using</a:t>
            </a:r>
            <a:r>
              <a:rPr sz="2000" b="1" spc="160" dirty="0">
                <a:latin typeface="Cambria"/>
                <a:cs typeface="Cambria"/>
              </a:rPr>
              <a:t> </a:t>
            </a:r>
            <a:r>
              <a:rPr sz="2000" b="1" spc="135" dirty="0">
                <a:latin typeface="Cambria"/>
                <a:cs typeface="Cambria"/>
              </a:rPr>
              <a:t>Function.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800" spc="40" dirty="0">
                <a:latin typeface="Cambria"/>
                <a:cs typeface="Cambria"/>
              </a:rPr>
              <a:t>#include&lt;stdio.h&gt;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  <a:tabLst>
                <a:tab pos="2847975" algn="l"/>
              </a:tabLst>
            </a:pPr>
            <a:r>
              <a:rPr sz="1800" spc="80" dirty="0">
                <a:latin typeface="Cambria"/>
                <a:cs typeface="Cambria"/>
              </a:rPr>
              <a:t>int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sum(int,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int);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b="1" dirty="0">
                <a:latin typeface="Cambria"/>
                <a:cs typeface="Cambria"/>
              </a:rPr>
              <a:t>//Global</a:t>
            </a:r>
            <a:r>
              <a:rPr sz="1800" b="1" spc="105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Declaration</a:t>
            </a:r>
            <a:r>
              <a:rPr sz="1800" b="1" spc="120" dirty="0">
                <a:latin typeface="Cambria"/>
                <a:cs typeface="Cambria"/>
              </a:rPr>
              <a:t> </a:t>
            </a:r>
            <a:r>
              <a:rPr sz="1800" b="1" spc="85" dirty="0">
                <a:latin typeface="Cambria"/>
                <a:cs typeface="Cambria"/>
              </a:rPr>
              <a:t>of </a:t>
            </a:r>
            <a:r>
              <a:rPr sz="1800" b="1" spc="-10" dirty="0">
                <a:latin typeface="Cambria"/>
                <a:cs typeface="Cambria"/>
              </a:rPr>
              <a:t>sum()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0044" y="2152650"/>
            <a:ext cx="2103120" cy="1800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800" spc="80" dirty="0">
                <a:latin typeface="Cambria"/>
                <a:cs typeface="Cambria"/>
              </a:rPr>
              <a:t>int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sum(int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125" dirty="0">
                <a:latin typeface="Cambria"/>
                <a:cs typeface="Cambria"/>
              </a:rPr>
              <a:t>a,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int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b)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800" spc="-50" dirty="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40335" marR="1039494">
              <a:lnSpc>
                <a:spcPct val="107800"/>
              </a:lnSpc>
            </a:pPr>
            <a:r>
              <a:rPr sz="1800" spc="80" dirty="0">
                <a:latin typeface="Cambria"/>
                <a:cs typeface="Cambria"/>
              </a:rPr>
              <a:t>int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c; </a:t>
            </a:r>
            <a:r>
              <a:rPr sz="1800" spc="40" dirty="0">
                <a:latin typeface="Cambria"/>
                <a:cs typeface="Cambria"/>
              </a:rPr>
              <a:t>c=a+b; </a:t>
            </a:r>
            <a:r>
              <a:rPr sz="1800" spc="60" dirty="0">
                <a:latin typeface="Cambria"/>
                <a:cs typeface="Cambria"/>
              </a:rPr>
              <a:t>return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c;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800" spc="-5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95650" y="2173985"/>
            <a:ext cx="35452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//Function</a:t>
            </a:r>
            <a:r>
              <a:rPr sz="1800" b="1" spc="229" dirty="0">
                <a:latin typeface="Cambria"/>
                <a:cs typeface="Cambria"/>
              </a:rPr>
              <a:t> </a:t>
            </a:r>
            <a:r>
              <a:rPr sz="1800" b="1" spc="110" dirty="0">
                <a:latin typeface="Cambria"/>
                <a:cs typeface="Cambria"/>
              </a:rPr>
              <a:t>Definition</a:t>
            </a:r>
            <a:r>
              <a:rPr sz="1800" b="1" spc="240" dirty="0">
                <a:latin typeface="Cambria"/>
                <a:cs typeface="Cambria"/>
              </a:rPr>
              <a:t> </a:t>
            </a:r>
            <a:r>
              <a:rPr sz="1800" b="1" spc="85" dirty="0">
                <a:latin typeface="Cambria"/>
                <a:cs typeface="Cambria"/>
              </a:rPr>
              <a:t>of</a:t>
            </a:r>
            <a:r>
              <a:rPr sz="1800" b="1" spc="20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sum()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0044" y="4223463"/>
            <a:ext cx="5160010" cy="239141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latin typeface="Cambria"/>
                <a:cs typeface="Cambria"/>
              </a:rPr>
              <a:t>void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main()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800" spc="-50" dirty="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40335">
              <a:lnSpc>
                <a:spcPct val="100000"/>
              </a:lnSpc>
              <a:spcBef>
                <a:spcPts val="170"/>
              </a:spcBef>
            </a:pPr>
            <a:r>
              <a:rPr sz="1800" spc="80" dirty="0">
                <a:latin typeface="Cambria"/>
                <a:cs typeface="Cambria"/>
              </a:rPr>
              <a:t>int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a,b,c;</a:t>
            </a:r>
            <a:endParaRPr sz="1800">
              <a:latin typeface="Cambria"/>
              <a:cs typeface="Cambria"/>
            </a:endParaRPr>
          </a:p>
          <a:p>
            <a:pPr marL="140335" marR="1508125">
              <a:lnSpc>
                <a:spcPts val="2330"/>
              </a:lnSpc>
              <a:spcBef>
                <a:spcPts val="105"/>
              </a:spcBef>
            </a:pPr>
            <a:r>
              <a:rPr sz="1800" spc="55" dirty="0">
                <a:latin typeface="Cambria"/>
                <a:cs typeface="Cambria"/>
              </a:rPr>
              <a:t>printf("Enter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Two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Numbers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\n"); scanf("%d%d",&amp;a,&amp;b);</a:t>
            </a:r>
            <a:endParaRPr sz="1800">
              <a:latin typeface="Cambria"/>
              <a:cs typeface="Cambria"/>
            </a:endParaRPr>
          </a:p>
          <a:p>
            <a:pPr marL="140335">
              <a:lnSpc>
                <a:spcPct val="100000"/>
              </a:lnSpc>
              <a:spcBef>
                <a:spcPts val="65"/>
              </a:spcBef>
              <a:tabLst>
                <a:tab pos="3012440" algn="l"/>
              </a:tabLst>
            </a:pPr>
            <a:r>
              <a:rPr sz="1800" spc="-10" dirty="0">
                <a:latin typeface="Cambria"/>
                <a:cs typeface="Cambria"/>
              </a:rPr>
              <a:t>c=sum(a,b);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b="1" dirty="0">
                <a:latin typeface="Cambria"/>
                <a:cs typeface="Cambria"/>
              </a:rPr>
              <a:t>//Function</a:t>
            </a:r>
            <a:r>
              <a:rPr sz="1800" b="1" spc="405" dirty="0">
                <a:latin typeface="Cambria"/>
                <a:cs typeface="Cambria"/>
              </a:rPr>
              <a:t> </a:t>
            </a:r>
            <a:r>
              <a:rPr sz="1800" b="1" spc="135" dirty="0">
                <a:latin typeface="Cambria"/>
                <a:cs typeface="Cambria"/>
              </a:rPr>
              <a:t>Calling</a:t>
            </a:r>
            <a:endParaRPr sz="1800">
              <a:latin typeface="Cambria"/>
              <a:cs typeface="Cambria"/>
            </a:endParaRPr>
          </a:p>
          <a:p>
            <a:pPr marL="140335">
              <a:lnSpc>
                <a:spcPct val="100000"/>
              </a:lnSpc>
              <a:spcBef>
                <a:spcPts val="165"/>
              </a:spcBef>
            </a:pPr>
            <a:r>
              <a:rPr sz="1800" spc="60" dirty="0">
                <a:latin typeface="Cambria"/>
                <a:cs typeface="Cambria"/>
              </a:rPr>
              <a:t>printf("Sum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Two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Numbers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=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%d",c);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800" spc="-5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707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9855" algn="l"/>
              </a:tabLst>
            </a:pPr>
            <a:r>
              <a:rPr cap="small" spc="395" dirty="0"/>
              <a:t>Functions</a:t>
            </a:r>
            <a:r>
              <a:rPr cap="small" dirty="0"/>
              <a:t>	</a:t>
            </a:r>
            <a:r>
              <a:rPr cap="small" spc="280" dirty="0"/>
              <a:t>(Cont…)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841853"/>
            <a:ext cx="7833995" cy="57334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340"/>
              </a:spcBef>
              <a:buClr>
                <a:srgbClr val="FD8537"/>
              </a:buClr>
              <a:buSzPct val="69565"/>
              <a:buFont typeface="Wingdings"/>
              <a:buChar char=""/>
              <a:tabLst>
                <a:tab pos="286385" algn="l"/>
              </a:tabLst>
            </a:pPr>
            <a:r>
              <a:rPr sz="2300" b="1" spc="204" dirty="0">
                <a:latin typeface="Cambria"/>
                <a:cs typeface="Cambria"/>
              </a:rPr>
              <a:t>WAP</a:t>
            </a:r>
            <a:r>
              <a:rPr sz="2300" b="1" spc="150" dirty="0">
                <a:latin typeface="Cambria"/>
                <a:cs typeface="Cambria"/>
              </a:rPr>
              <a:t> </a:t>
            </a:r>
            <a:r>
              <a:rPr sz="2300" b="1" spc="160" dirty="0">
                <a:latin typeface="Cambria"/>
                <a:cs typeface="Cambria"/>
              </a:rPr>
              <a:t>using</a:t>
            </a:r>
            <a:r>
              <a:rPr sz="2300" b="1" spc="140" dirty="0">
                <a:latin typeface="Cambria"/>
                <a:cs typeface="Cambria"/>
              </a:rPr>
              <a:t> </a:t>
            </a:r>
            <a:r>
              <a:rPr sz="2300" b="1" spc="155" dirty="0">
                <a:latin typeface="Cambria"/>
                <a:cs typeface="Cambria"/>
              </a:rPr>
              <a:t>function</a:t>
            </a:r>
            <a:r>
              <a:rPr sz="2300" b="1" spc="120" dirty="0">
                <a:latin typeface="Cambria"/>
                <a:cs typeface="Cambria"/>
              </a:rPr>
              <a:t> </a:t>
            </a:r>
            <a:r>
              <a:rPr sz="2300" b="1" spc="160" dirty="0">
                <a:latin typeface="Cambria"/>
                <a:cs typeface="Cambria"/>
              </a:rPr>
              <a:t>that</a:t>
            </a:r>
            <a:r>
              <a:rPr sz="2300" b="1" spc="120" dirty="0">
                <a:latin typeface="Cambria"/>
                <a:cs typeface="Cambria"/>
              </a:rPr>
              <a:t> </a:t>
            </a:r>
            <a:r>
              <a:rPr sz="2300" b="1" spc="135" dirty="0">
                <a:latin typeface="Cambria"/>
                <a:cs typeface="Cambria"/>
              </a:rPr>
              <a:t>compares</a:t>
            </a:r>
            <a:r>
              <a:rPr sz="2300" b="1" spc="160" dirty="0">
                <a:latin typeface="Cambria"/>
                <a:cs typeface="Cambria"/>
              </a:rPr>
              <a:t> </a:t>
            </a:r>
            <a:r>
              <a:rPr sz="2300" b="1" spc="145" dirty="0">
                <a:latin typeface="Cambria"/>
                <a:cs typeface="Cambria"/>
              </a:rPr>
              <a:t>two</a:t>
            </a:r>
            <a:r>
              <a:rPr sz="2300" b="1" spc="155" dirty="0">
                <a:latin typeface="Cambria"/>
                <a:cs typeface="Cambria"/>
              </a:rPr>
              <a:t> </a:t>
            </a:r>
            <a:r>
              <a:rPr sz="2300" b="1" spc="120" dirty="0">
                <a:latin typeface="Cambria"/>
                <a:cs typeface="Cambria"/>
              </a:rPr>
              <a:t>numbers.</a:t>
            </a:r>
            <a:endParaRPr sz="2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800" spc="40" dirty="0">
                <a:latin typeface="Cambria"/>
                <a:cs typeface="Cambria"/>
              </a:rPr>
              <a:t>#include&lt;stdio.h&gt;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  <a:tabLst>
                <a:tab pos="2542540" algn="l"/>
              </a:tabLst>
            </a:pPr>
            <a:r>
              <a:rPr sz="1800" dirty="0">
                <a:latin typeface="Cambria"/>
                <a:cs typeface="Cambria"/>
              </a:rPr>
              <a:t>void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compare(int,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int);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b="1" dirty="0">
                <a:latin typeface="Cambria"/>
                <a:cs typeface="Cambria"/>
              </a:rPr>
              <a:t>//Global</a:t>
            </a:r>
            <a:r>
              <a:rPr sz="1800" b="1" spc="105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Declaration</a:t>
            </a:r>
            <a:r>
              <a:rPr sz="1800" b="1" spc="120" dirty="0">
                <a:latin typeface="Cambria"/>
                <a:cs typeface="Cambria"/>
              </a:rPr>
              <a:t> </a:t>
            </a:r>
            <a:r>
              <a:rPr sz="1800" b="1" spc="85" dirty="0">
                <a:latin typeface="Cambria"/>
                <a:cs typeface="Cambria"/>
              </a:rPr>
              <a:t>of</a:t>
            </a:r>
            <a:r>
              <a:rPr sz="1800" b="1" spc="90" dirty="0">
                <a:latin typeface="Cambria"/>
                <a:cs typeface="Cambria"/>
              </a:rPr>
              <a:t> </a:t>
            </a:r>
            <a:r>
              <a:rPr sz="1800" b="1" spc="60" dirty="0">
                <a:latin typeface="Cambria"/>
                <a:cs typeface="Cambria"/>
              </a:rPr>
              <a:t>compare()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mbria"/>
                <a:cs typeface="Cambria"/>
              </a:rPr>
              <a:t>void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compare(int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num1,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int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num2)</a:t>
            </a:r>
            <a:r>
              <a:rPr sz="1800" spc="195" dirty="0">
                <a:latin typeface="Cambria"/>
                <a:cs typeface="Cambria"/>
              </a:rPr>
              <a:t>  </a:t>
            </a:r>
            <a:r>
              <a:rPr sz="1800" b="1" dirty="0">
                <a:latin typeface="Cambria"/>
                <a:cs typeface="Cambria"/>
              </a:rPr>
              <a:t>//Function</a:t>
            </a:r>
            <a:r>
              <a:rPr sz="1800" b="1" spc="250" dirty="0">
                <a:latin typeface="Cambria"/>
                <a:cs typeface="Cambria"/>
              </a:rPr>
              <a:t> </a:t>
            </a:r>
            <a:r>
              <a:rPr sz="1800" b="1" spc="110" dirty="0">
                <a:latin typeface="Cambria"/>
                <a:cs typeface="Cambria"/>
              </a:rPr>
              <a:t>Definition</a:t>
            </a:r>
            <a:r>
              <a:rPr sz="1800" b="1" spc="260" dirty="0">
                <a:latin typeface="Cambria"/>
                <a:cs typeface="Cambria"/>
              </a:rPr>
              <a:t> </a:t>
            </a:r>
            <a:r>
              <a:rPr sz="1800" b="1" spc="85" dirty="0">
                <a:latin typeface="Cambria"/>
                <a:cs typeface="Cambria"/>
              </a:rPr>
              <a:t>of</a:t>
            </a:r>
            <a:r>
              <a:rPr sz="1800" b="1" spc="215" dirty="0">
                <a:latin typeface="Cambria"/>
                <a:cs typeface="Cambria"/>
              </a:rPr>
              <a:t> </a:t>
            </a:r>
            <a:r>
              <a:rPr sz="1800" b="1" spc="60" dirty="0">
                <a:latin typeface="Cambria"/>
                <a:cs typeface="Cambria"/>
              </a:rPr>
              <a:t>compare()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800" spc="-50" dirty="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40335">
              <a:lnSpc>
                <a:spcPct val="100000"/>
              </a:lnSpc>
              <a:spcBef>
                <a:spcPts val="165"/>
              </a:spcBef>
            </a:pPr>
            <a:r>
              <a:rPr sz="1800" spc="35" dirty="0">
                <a:latin typeface="Cambria"/>
                <a:cs typeface="Cambria"/>
              </a:rPr>
              <a:t>if(num1&gt;num2)</a:t>
            </a:r>
            <a:endParaRPr sz="1800">
              <a:latin typeface="Cambria"/>
              <a:cs typeface="Cambria"/>
            </a:endParaRPr>
          </a:p>
          <a:p>
            <a:pPr marL="140335">
              <a:lnSpc>
                <a:spcPct val="100000"/>
              </a:lnSpc>
              <a:spcBef>
                <a:spcPts val="170"/>
              </a:spcBef>
            </a:pPr>
            <a:r>
              <a:rPr sz="1800" spc="85" dirty="0">
                <a:latin typeface="Cambria"/>
                <a:cs typeface="Cambria"/>
              </a:rPr>
              <a:t>printf("NUM1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is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greater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than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190" dirty="0">
                <a:latin typeface="Cambria"/>
                <a:cs typeface="Cambria"/>
              </a:rPr>
              <a:t>NUM2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\n");</a:t>
            </a:r>
            <a:endParaRPr sz="1800">
              <a:latin typeface="Cambria"/>
              <a:cs typeface="Cambria"/>
            </a:endParaRPr>
          </a:p>
          <a:p>
            <a:pPr marL="140335">
              <a:lnSpc>
                <a:spcPct val="100000"/>
              </a:lnSpc>
              <a:spcBef>
                <a:spcPts val="170"/>
              </a:spcBef>
            </a:pPr>
            <a:r>
              <a:rPr sz="1800" spc="-20" dirty="0">
                <a:latin typeface="Cambria"/>
                <a:cs typeface="Cambria"/>
              </a:rPr>
              <a:t>else</a:t>
            </a:r>
            <a:endParaRPr sz="1800">
              <a:latin typeface="Cambria"/>
              <a:cs typeface="Cambria"/>
            </a:endParaRPr>
          </a:p>
          <a:p>
            <a:pPr marL="140335">
              <a:lnSpc>
                <a:spcPct val="100000"/>
              </a:lnSpc>
              <a:spcBef>
                <a:spcPts val="170"/>
              </a:spcBef>
            </a:pPr>
            <a:r>
              <a:rPr sz="1800" spc="85" dirty="0">
                <a:latin typeface="Cambria"/>
                <a:cs typeface="Cambria"/>
              </a:rPr>
              <a:t>printf("NUM2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is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greater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than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190" dirty="0">
                <a:latin typeface="Cambria"/>
                <a:cs typeface="Cambria"/>
              </a:rPr>
              <a:t>NUM1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\n");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800" spc="-5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mbria"/>
                <a:cs typeface="Cambria"/>
              </a:rPr>
              <a:t>void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main()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800" spc="-50" dirty="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40335">
              <a:lnSpc>
                <a:spcPct val="100000"/>
              </a:lnSpc>
              <a:spcBef>
                <a:spcPts val="170"/>
              </a:spcBef>
            </a:pPr>
            <a:r>
              <a:rPr sz="1800" spc="80" dirty="0">
                <a:latin typeface="Cambria"/>
                <a:cs typeface="Cambria"/>
              </a:rPr>
              <a:t>int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a,b;</a:t>
            </a:r>
            <a:endParaRPr sz="1800">
              <a:latin typeface="Cambria"/>
              <a:cs typeface="Cambria"/>
            </a:endParaRPr>
          </a:p>
          <a:p>
            <a:pPr marL="140335" marR="4182110">
              <a:lnSpc>
                <a:spcPct val="107800"/>
              </a:lnSpc>
            </a:pPr>
            <a:r>
              <a:rPr sz="1800" spc="55" dirty="0">
                <a:latin typeface="Cambria"/>
                <a:cs typeface="Cambria"/>
              </a:rPr>
              <a:t>printf("Enter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Two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Numbers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\n"); scanf("%d%d",&amp;a,&amp;b);</a:t>
            </a:r>
            <a:endParaRPr sz="1800">
              <a:latin typeface="Cambria"/>
              <a:cs typeface="Cambria"/>
            </a:endParaRPr>
          </a:p>
          <a:p>
            <a:pPr marL="140335">
              <a:lnSpc>
                <a:spcPct val="100000"/>
              </a:lnSpc>
              <a:spcBef>
                <a:spcPts val="170"/>
              </a:spcBef>
              <a:tabLst>
                <a:tab pos="2265680" algn="l"/>
              </a:tabLst>
            </a:pPr>
            <a:r>
              <a:rPr sz="1800" spc="-10" dirty="0">
                <a:latin typeface="Cambria"/>
                <a:cs typeface="Cambria"/>
              </a:rPr>
              <a:t>compare(a,b);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b="1" dirty="0">
                <a:latin typeface="Cambria"/>
                <a:cs typeface="Cambria"/>
              </a:rPr>
              <a:t>//Function</a:t>
            </a:r>
            <a:r>
              <a:rPr sz="1800" b="1" spc="405" dirty="0">
                <a:latin typeface="Cambria"/>
                <a:cs typeface="Cambria"/>
              </a:rPr>
              <a:t> </a:t>
            </a:r>
            <a:r>
              <a:rPr sz="1800" b="1" spc="130" dirty="0">
                <a:latin typeface="Cambria"/>
                <a:cs typeface="Cambria"/>
              </a:rPr>
              <a:t>Calling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800" spc="-5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61296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12110" algn="l"/>
                <a:tab pos="3613150" algn="l"/>
              </a:tabLst>
            </a:pPr>
            <a:r>
              <a:rPr cap="small" spc="415" dirty="0"/>
              <a:t>Categories</a:t>
            </a:r>
            <a:r>
              <a:rPr cap="small" dirty="0"/>
              <a:t>	</a:t>
            </a:r>
            <a:r>
              <a:rPr cap="small" spc="390" dirty="0"/>
              <a:t>of</a:t>
            </a:r>
            <a:r>
              <a:rPr cap="small" dirty="0"/>
              <a:t>	</a:t>
            </a:r>
            <a:r>
              <a:rPr cap="small" spc="36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975182"/>
            <a:ext cx="8150859" cy="51936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87020" marR="5080" indent="-274320">
              <a:lnSpc>
                <a:spcPts val="3030"/>
              </a:lnSpc>
              <a:spcBef>
                <a:spcPts val="484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  <a:tab pos="875030" algn="l"/>
                <a:tab pos="2564130" algn="l"/>
                <a:tab pos="3601085" algn="l"/>
                <a:tab pos="4268470" algn="l"/>
                <a:tab pos="5305425" algn="l"/>
                <a:tab pos="6168390" algn="l"/>
                <a:tab pos="7531100" algn="l"/>
              </a:tabLst>
            </a:pPr>
            <a:r>
              <a:rPr sz="2800" spc="210" dirty="0">
                <a:latin typeface="Cambria"/>
                <a:cs typeface="Cambria"/>
              </a:rPr>
              <a:t>A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70" dirty="0">
                <a:latin typeface="Cambria"/>
                <a:cs typeface="Cambria"/>
              </a:rPr>
              <a:t>function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120" dirty="0">
                <a:latin typeface="Cambria"/>
                <a:cs typeface="Cambria"/>
              </a:rPr>
              <a:t>may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-35" dirty="0">
                <a:latin typeface="Cambria"/>
                <a:cs typeface="Cambria"/>
              </a:rPr>
              <a:t>or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110" dirty="0">
                <a:latin typeface="Cambria"/>
                <a:cs typeface="Cambria"/>
              </a:rPr>
              <a:t>may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25" dirty="0">
                <a:latin typeface="Cambria"/>
                <a:cs typeface="Cambria"/>
              </a:rPr>
              <a:t>not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45" dirty="0">
                <a:latin typeface="Cambria"/>
                <a:cs typeface="Cambria"/>
              </a:rPr>
              <a:t>accept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110" dirty="0">
                <a:latin typeface="Cambria"/>
                <a:cs typeface="Cambria"/>
              </a:rPr>
              <a:t>any </a:t>
            </a:r>
            <a:r>
              <a:rPr sz="2800" spc="135" dirty="0">
                <a:latin typeface="Cambria"/>
                <a:cs typeface="Cambria"/>
              </a:rPr>
              <a:t>argument.</a:t>
            </a:r>
            <a:r>
              <a:rPr sz="2800" spc="125" dirty="0">
                <a:latin typeface="Cambria"/>
                <a:cs typeface="Cambria"/>
              </a:rPr>
              <a:t> </a:t>
            </a:r>
            <a:r>
              <a:rPr sz="2800" spc="185" dirty="0">
                <a:latin typeface="Cambria"/>
                <a:cs typeface="Cambria"/>
              </a:rPr>
              <a:t>It</a:t>
            </a:r>
            <a:r>
              <a:rPr sz="2800" spc="145" dirty="0">
                <a:latin typeface="Cambria"/>
                <a:cs typeface="Cambria"/>
              </a:rPr>
              <a:t> </a:t>
            </a:r>
            <a:r>
              <a:rPr sz="2800" spc="150" dirty="0">
                <a:latin typeface="Cambria"/>
                <a:cs typeface="Cambria"/>
              </a:rPr>
              <a:t>may</a:t>
            </a:r>
            <a:r>
              <a:rPr sz="2800" spc="13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or</a:t>
            </a:r>
            <a:r>
              <a:rPr sz="2800" spc="140" dirty="0">
                <a:latin typeface="Cambria"/>
                <a:cs typeface="Cambria"/>
              </a:rPr>
              <a:t> </a:t>
            </a:r>
            <a:r>
              <a:rPr sz="2800" spc="145" dirty="0">
                <a:latin typeface="Cambria"/>
                <a:cs typeface="Cambria"/>
              </a:rPr>
              <a:t>may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60" dirty="0">
                <a:latin typeface="Cambria"/>
                <a:cs typeface="Cambria"/>
              </a:rPr>
              <a:t>not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return</a:t>
            </a:r>
            <a:r>
              <a:rPr sz="2800" spc="125" dirty="0">
                <a:latin typeface="Cambria"/>
                <a:cs typeface="Cambria"/>
              </a:rPr>
              <a:t> </a:t>
            </a:r>
            <a:r>
              <a:rPr sz="2800" spc="140" dirty="0">
                <a:latin typeface="Cambria"/>
                <a:cs typeface="Cambria"/>
              </a:rPr>
              <a:t>any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value.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55"/>
              </a:spcBef>
              <a:buClr>
                <a:srgbClr val="FD8537"/>
              </a:buClr>
              <a:buFont typeface="Wingdings"/>
              <a:buChar char=""/>
            </a:pPr>
            <a:endParaRPr sz="2800">
              <a:latin typeface="Cambria"/>
              <a:cs typeface="Cambria"/>
            </a:endParaRPr>
          </a:p>
          <a:p>
            <a:pPr marL="287020" marR="5715" indent="-274320">
              <a:lnSpc>
                <a:spcPts val="3000"/>
              </a:lnSpc>
              <a:spcBef>
                <a:spcPts val="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  <a:tab pos="1417955" algn="l"/>
                <a:tab pos="4939665" algn="l"/>
              </a:tabLst>
            </a:pPr>
            <a:r>
              <a:rPr sz="2800" spc="120" dirty="0">
                <a:latin typeface="Cambria"/>
                <a:cs typeface="Cambria"/>
              </a:rPr>
              <a:t>Based</a:t>
            </a:r>
            <a:r>
              <a:rPr sz="2800" dirty="0">
                <a:latin typeface="Cambria"/>
                <a:cs typeface="Cambria"/>
              </a:rPr>
              <a:t>	on</a:t>
            </a:r>
            <a:r>
              <a:rPr sz="2800" spc="37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these</a:t>
            </a:r>
            <a:r>
              <a:rPr sz="2800" spc="405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facts,</a:t>
            </a:r>
            <a:r>
              <a:rPr sz="2800" spc="409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there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95" dirty="0">
                <a:latin typeface="Cambria"/>
                <a:cs typeface="Cambria"/>
              </a:rPr>
              <a:t>are</a:t>
            </a:r>
            <a:r>
              <a:rPr sz="2800" spc="345" dirty="0">
                <a:latin typeface="Cambria"/>
                <a:cs typeface="Cambria"/>
              </a:rPr>
              <a:t> </a:t>
            </a:r>
            <a:r>
              <a:rPr sz="2800" b="1" spc="160" dirty="0">
                <a:latin typeface="Cambria"/>
                <a:cs typeface="Cambria"/>
              </a:rPr>
              <a:t>four</a:t>
            </a:r>
            <a:r>
              <a:rPr sz="2800" b="1" spc="375" dirty="0">
                <a:latin typeface="Cambria"/>
                <a:cs typeface="Cambria"/>
              </a:rPr>
              <a:t> </a:t>
            </a:r>
            <a:r>
              <a:rPr sz="2800" b="1" spc="150" dirty="0">
                <a:latin typeface="Cambria"/>
                <a:cs typeface="Cambria"/>
              </a:rPr>
              <a:t>different </a:t>
            </a:r>
            <a:r>
              <a:rPr sz="2800" b="1" spc="160" dirty="0">
                <a:latin typeface="Cambria"/>
                <a:cs typeface="Cambria"/>
              </a:rPr>
              <a:t>aspects</a:t>
            </a:r>
            <a:r>
              <a:rPr sz="2800" b="1" spc="175" dirty="0">
                <a:latin typeface="Cambria"/>
                <a:cs typeface="Cambria"/>
              </a:rPr>
              <a:t> </a:t>
            </a:r>
            <a:r>
              <a:rPr sz="2800" b="1" spc="130" dirty="0">
                <a:latin typeface="Cambria"/>
                <a:cs typeface="Cambria"/>
              </a:rPr>
              <a:t>of</a:t>
            </a:r>
            <a:r>
              <a:rPr sz="2800" b="1" spc="200" dirty="0">
                <a:latin typeface="Cambria"/>
                <a:cs typeface="Cambria"/>
              </a:rPr>
              <a:t> </a:t>
            </a:r>
            <a:r>
              <a:rPr sz="2800" b="1" spc="185" dirty="0">
                <a:latin typeface="Cambria"/>
                <a:cs typeface="Cambria"/>
              </a:rPr>
              <a:t>function</a:t>
            </a:r>
            <a:r>
              <a:rPr sz="2800" b="1" spc="170" dirty="0">
                <a:latin typeface="Cambria"/>
                <a:cs typeface="Cambria"/>
              </a:rPr>
              <a:t> </a:t>
            </a:r>
            <a:r>
              <a:rPr sz="2800" b="1" spc="140" dirty="0">
                <a:latin typeface="Cambria"/>
                <a:cs typeface="Cambria"/>
              </a:rPr>
              <a:t>calls.</a:t>
            </a:r>
            <a:endParaRPr sz="2800">
              <a:latin typeface="Cambria"/>
              <a:cs typeface="Cambria"/>
            </a:endParaRPr>
          </a:p>
          <a:p>
            <a:pPr marL="652780" marR="5080" lvl="1" indent="-274320">
              <a:lnSpc>
                <a:spcPts val="2710"/>
              </a:lnSpc>
              <a:spcBef>
                <a:spcPts val="615"/>
              </a:spcBef>
              <a:buClr>
                <a:srgbClr val="FD8537"/>
              </a:buClr>
              <a:buSzPct val="80000"/>
              <a:buFont typeface="Wingdings"/>
              <a:buChar char=""/>
              <a:tabLst>
                <a:tab pos="652780" algn="l"/>
                <a:tab pos="1219835" algn="l"/>
                <a:tab pos="2829560" algn="l"/>
                <a:tab pos="4262755" algn="l"/>
                <a:tab pos="6144260" algn="l"/>
                <a:tab pos="6991350" algn="l"/>
              </a:tabLst>
            </a:pPr>
            <a:r>
              <a:rPr sz="2500" b="1" spc="-25" dirty="0">
                <a:latin typeface="Cambria"/>
                <a:cs typeface="Cambria"/>
              </a:rPr>
              <a:t>1.</a:t>
            </a:r>
            <a:r>
              <a:rPr sz="2500" b="1" dirty="0">
                <a:latin typeface="Cambria"/>
                <a:cs typeface="Cambria"/>
              </a:rPr>
              <a:t>	</a:t>
            </a:r>
            <a:r>
              <a:rPr sz="2500" spc="90" dirty="0">
                <a:latin typeface="Cambria"/>
                <a:cs typeface="Cambria"/>
              </a:rPr>
              <a:t>Function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60" dirty="0">
                <a:latin typeface="Cambria"/>
                <a:cs typeface="Cambria"/>
              </a:rPr>
              <a:t>without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95" dirty="0">
                <a:latin typeface="Cambria"/>
                <a:cs typeface="Cambria"/>
              </a:rPr>
              <a:t>arguments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85" dirty="0">
                <a:latin typeface="Cambria"/>
                <a:cs typeface="Cambria"/>
              </a:rPr>
              <a:t>and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65" dirty="0">
                <a:latin typeface="Cambria"/>
                <a:cs typeface="Cambria"/>
              </a:rPr>
              <a:t>without </a:t>
            </a:r>
            <a:r>
              <a:rPr sz="2500" spc="80" dirty="0">
                <a:latin typeface="Cambria"/>
                <a:cs typeface="Cambria"/>
              </a:rPr>
              <a:t>return</a:t>
            </a:r>
            <a:r>
              <a:rPr sz="2500" spc="195" dirty="0">
                <a:latin typeface="Cambria"/>
                <a:cs typeface="Cambria"/>
              </a:rPr>
              <a:t> </a:t>
            </a:r>
            <a:r>
              <a:rPr sz="2500" spc="100" dirty="0">
                <a:latin typeface="Cambria"/>
                <a:cs typeface="Cambria"/>
              </a:rPr>
              <a:t>value.</a:t>
            </a:r>
            <a:endParaRPr sz="2500">
              <a:latin typeface="Cambria"/>
              <a:cs typeface="Cambria"/>
            </a:endParaRPr>
          </a:p>
          <a:p>
            <a:pPr marL="652780" marR="8255" lvl="1" indent="-274320">
              <a:lnSpc>
                <a:spcPts val="2720"/>
              </a:lnSpc>
              <a:spcBef>
                <a:spcPts val="575"/>
              </a:spcBef>
              <a:buClr>
                <a:srgbClr val="FD8537"/>
              </a:buClr>
              <a:buSzPct val="80000"/>
              <a:buFont typeface="Wingdings"/>
              <a:buChar char=""/>
              <a:tabLst>
                <a:tab pos="652780" algn="l"/>
                <a:tab pos="1091565" algn="l"/>
                <a:tab pos="2573020" algn="l"/>
                <a:tab pos="3878579" algn="l"/>
                <a:tab pos="5631815" algn="l"/>
                <a:tab pos="6351270" algn="l"/>
                <a:tab pos="7183755" algn="l"/>
              </a:tabLst>
            </a:pPr>
            <a:r>
              <a:rPr sz="2500" b="1" spc="-25" dirty="0">
                <a:latin typeface="Cambria"/>
                <a:cs typeface="Cambria"/>
              </a:rPr>
              <a:t>2.</a:t>
            </a:r>
            <a:r>
              <a:rPr sz="2500" b="1" dirty="0">
                <a:latin typeface="Cambria"/>
                <a:cs typeface="Cambria"/>
              </a:rPr>
              <a:t>	</a:t>
            </a:r>
            <a:r>
              <a:rPr sz="2500" spc="90" dirty="0">
                <a:latin typeface="Cambria"/>
                <a:cs typeface="Cambria"/>
              </a:rPr>
              <a:t>Function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60" dirty="0">
                <a:latin typeface="Cambria"/>
                <a:cs typeface="Cambria"/>
              </a:rPr>
              <a:t>without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90" dirty="0">
                <a:latin typeface="Cambria"/>
                <a:cs typeface="Cambria"/>
              </a:rPr>
              <a:t>arguments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85" dirty="0">
                <a:latin typeface="Cambria"/>
                <a:cs typeface="Cambria"/>
              </a:rPr>
              <a:t>and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65" dirty="0">
                <a:latin typeface="Cambria"/>
                <a:cs typeface="Cambria"/>
              </a:rPr>
              <a:t>with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75" dirty="0">
                <a:latin typeface="Cambria"/>
                <a:cs typeface="Cambria"/>
              </a:rPr>
              <a:t>return </a:t>
            </a:r>
            <a:r>
              <a:rPr sz="2500" spc="100" dirty="0">
                <a:latin typeface="Cambria"/>
                <a:cs typeface="Cambria"/>
              </a:rPr>
              <a:t>value.</a:t>
            </a:r>
            <a:endParaRPr sz="2500">
              <a:latin typeface="Cambria"/>
              <a:cs typeface="Cambria"/>
            </a:endParaRPr>
          </a:p>
          <a:p>
            <a:pPr marL="652780" marR="8890" lvl="1" indent="-274320">
              <a:lnSpc>
                <a:spcPts val="2710"/>
              </a:lnSpc>
              <a:spcBef>
                <a:spcPts val="575"/>
              </a:spcBef>
              <a:buClr>
                <a:srgbClr val="FD8537"/>
              </a:buClr>
              <a:buSzPct val="80000"/>
              <a:buFont typeface="Wingdings"/>
              <a:buChar char=""/>
              <a:tabLst>
                <a:tab pos="652780" algn="l"/>
                <a:tab pos="1091565" algn="l"/>
                <a:tab pos="2573020" algn="l"/>
                <a:tab pos="3402965" algn="l"/>
                <a:tab pos="5153025" algn="l"/>
                <a:tab pos="5872480" algn="l"/>
                <a:tab pos="7180580" algn="l"/>
              </a:tabLst>
            </a:pPr>
            <a:r>
              <a:rPr sz="2500" b="1" spc="-25" dirty="0">
                <a:latin typeface="Cambria"/>
                <a:cs typeface="Cambria"/>
              </a:rPr>
              <a:t>3.</a:t>
            </a:r>
            <a:r>
              <a:rPr sz="2500" b="1" dirty="0">
                <a:latin typeface="Cambria"/>
                <a:cs typeface="Cambria"/>
              </a:rPr>
              <a:t>	</a:t>
            </a:r>
            <a:r>
              <a:rPr sz="2500" spc="85" dirty="0">
                <a:latin typeface="Cambria"/>
                <a:cs typeface="Cambria"/>
              </a:rPr>
              <a:t>Function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60" dirty="0">
                <a:latin typeface="Cambria"/>
                <a:cs typeface="Cambria"/>
              </a:rPr>
              <a:t>with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85" dirty="0">
                <a:latin typeface="Cambria"/>
                <a:cs typeface="Cambria"/>
              </a:rPr>
              <a:t>arguments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80" dirty="0">
                <a:latin typeface="Cambria"/>
                <a:cs typeface="Cambria"/>
              </a:rPr>
              <a:t>and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65" dirty="0">
                <a:latin typeface="Cambria"/>
                <a:cs typeface="Cambria"/>
              </a:rPr>
              <a:t>without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80" dirty="0">
                <a:latin typeface="Cambria"/>
                <a:cs typeface="Cambria"/>
              </a:rPr>
              <a:t>return </a:t>
            </a:r>
            <a:r>
              <a:rPr sz="2500" spc="105" dirty="0">
                <a:latin typeface="Cambria"/>
                <a:cs typeface="Cambria"/>
              </a:rPr>
              <a:t>value.</a:t>
            </a:r>
            <a:endParaRPr sz="2500">
              <a:latin typeface="Cambria"/>
              <a:cs typeface="Cambria"/>
            </a:endParaRPr>
          </a:p>
          <a:p>
            <a:pPr marL="652780" marR="8890" lvl="1" indent="-274320">
              <a:lnSpc>
                <a:spcPts val="2710"/>
              </a:lnSpc>
              <a:spcBef>
                <a:spcPts val="580"/>
              </a:spcBef>
              <a:buClr>
                <a:srgbClr val="FD8537"/>
              </a:buClr>
              <a:buSzPct val="80000"/>
              <a:buFont typeface="Wingdings"/>
              <a:buChar char=""/>
              <a:tabLst>
                <a:tab pos="652780" algn="l"/>
                <a:tab pos="1170940" algn="l"/>
                <a:tab pos="2732405" algn="l"/>
                <a:tab pos="3640454" algn="l"/>
                <a:tab pos="5469890" algn="l"/>
                <a:tab pos="6268720" algn="l"/>
                <a:tab pos="7183755" algn="l"/>
              </a:tabLst>
            </a:pPr>
            <a:r>
              <a:rPr sz="2500" b="1" spc="-25" dirty="0">
                <a:latin typeface="Cambria"/>
                <a:cs typeface="Cambria"/>
              </a:rPr>
              <a:t>4.</a:t>
            </a:r>
            <a:r>
              <a:rPr sz="2500" b="1" dirty="0">
                <a:latin typeface="Cambria"/>
                <a:cs typeface="Cambria"/>
              </a:rPr>
              <a:t>	</a:t>
            </a:r>
            <a:r>
              <a:rPr sz="2500" spc="85" dirty="0">
                <a:latin typeface="Cambria"/>
                <a:cs typeface="Cambria"/>
              </a:rPr>
              <a:t>Function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60" dirty="0">
                <a:latin typeface="Cambria"/>
                <a:cs typeface="Cambria"/>
              </a:rPr>
              <a:t>with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85" dirty="0">
                <a:latin typeface="Cambria"/>
                <a:cs typeface="Cambria"/>
              </a:rPr>
              <a:t>arguments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75" dirty="0">
                <a:latin typeface="Cambria"/>
                <a:cs typeface="Cambria"/>
              </a:rPr>
              <a:t>and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70" dirty="0">
                <a:latin typeface="Cambria"/>
                <a:cs typeface="Cambria"/>
              </a:rPr>
              <a:t>with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70" dirty="0">
                <a:latin typeface="Cambria"/>
                <a:cs typeface="Cambria"/>
              </a:rPr>
              <a:t>return </a:t>
            </a:r>
            <a:r>
              <a:rPr sz="2500" spc="105" dirty="0">
                <a:latin typeface="Cambria"/>
                <a:cs typeface="Cambria"/>
              </a:rPr>
              <a:t>value.</a:t>
            </a:r>
            <a:endParaRPr sz="25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301498"/>
            <a:ext cx="738822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cap="small" spc="385" dirty="0"/>
              <a:t>Categories </a:t>
            </a:r>
            <a:r>
              <a:rPr sz="3200" cap="small" spc="390" dirty="0"/>
              <a:t>of </a:t>
            </a:r>
            <a:r>
              <a:rPr sz="3200" cap="small" spc="380" dirty="0"/>
              <a:t>Functions</a:t>
            </a:r>
            <a:r>
              <a:rPr sz="3200" cap="small" spc="409" dirty="0"/>
              <a:t> </a:t>
            </a:r>
            <a:r>
              <a:rPr sz="3200" cap="small" spc="270" dirty="0"/>
              <a:t>(Cont…)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460044" y="960247"/>
            <a:ext cx="7527290" cy="547201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</a:tabLst>
            </a:pPr>
            <a:r>
              <a:rPr sz="2000" b="1" spc="150" dirty="0">
                <a:latin typeface="Cambria"/>
                <a:cs typeface="Cambria"/>
              </a:rPr>
              <a:t>Function</a:t>
            </a:r>
            <a:r>
              <a:rPr sz="2000" b="1" spc="190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without</a:t>
            </a:r>
            <a:r>
              <a:rPr sz="2000" b="1" spc="165" dirty="0">
                <a:latin typeface="Cambria"/>
                <a:cs typeface="Cambria"/>
              </a:rPr>
              <a:t> </a:t>
            </a:r>
            <a:r>
              <a:rPr sz="2000" b="1" spc="120" dirty="0">
                <a:latin typeface="Cambria"/>
                <a:cs typeface="Cambria"/>
              </a:rPr>
              <a:t>arguments</a:t>
            </a:r>
            <a:r>
              <a:rPr sz="2000" b="1" spc="180" dirty="0">
                <a:latin typeface="Cambria"/>
                <a:cs typeface="Cambria"/>
              </a:rPr>
              <a:t> </a:t>
            </a:r>
            <a:r>
              <a:rPr sz="2000" b="1" spc="135" dirty="0">
                <a:latin typeface="Cambria"/>
                <a:cs typeface="Cambria"/>
              </a:rPr>
              <a:t>and</a:t>
            </a:r>
            <a:r>
              <a:rPr sz="2000" b="1" spc="170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without</a:t>
            </a:r>
            <a:r>
              <a:rPr sz="2000" b="1" spc="170" dirty="0">
                <a:latin typeface="Cambria"/>
                <a:cs typeface="Cambria"/>
              </a:rPr>
              <a:t> </a:t>
            </a:r>
            <a:r>
              <a:rPr sz="2000" b="1" spc="110" dirty="0">
                <a:latin typeface="Cambria"/>
                <a:cs typeface="Cambria"/>
              </a:rPr>
              <a:t>return</a:t>
            </a:r>
            <a:r>
              <a:rPr sz="2000" b="1" spc="240" dirty="0">
                <a:latin typeface="Cambria"/>
                <a:cs typeface="Cambria"/>
              </a:rPr>
              <a:t> </a:t>
            </a:r>
            <a:r>
              <a:rPr sz="2000" b="1" spc="105" dirty="0">
                <a:latin typeface="Cambria"/>
                <a:cs typeface="Cambria"/>
              </a:rPr>
              <a:t>value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000" dirty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</a:pPr>
            <a:r>
              <a:rPr lang="en-US" sz="1900" spc="40" dirty="0" smtClean="0">
                <a:latin typeface="Cambria"/>
                <a:cs typeface="Cambria"/>
              </a:rPr>
              <a:t>#include &lt;</a:t>
            </a:r>
            <a:r>
              <a:rPr lang="en-US" sz="1900" spc="40" dirty="0" err="1" smtClean="0">
                <a:latin typeface="Cambria"/>
                <a:cs typeface="Cambria"/>
              </a:rPr>
              <a:t>iostream</a:t>
            </a:r>
            <a:r>
              <a:rPr lang="en-US" sz="1900" spc="40" dirty="0" smtClean="0">
                <a:latin typeface="Cambria"/>
                <a:cs typeface="Cambria"/>
              </a:rPr>
              <a:t>&gt;</a:t>
            </a:r>
          </a:p>
          <a:p>
            <a:pPr marL="378460">
              <a:lnSpc>
                <a:spcPct val="100000"/>
              </a:lnSpc>
            </a:pPr>
            <a:r>
              <a:rPr lang="en-US" sz="1900" spc="40" dirty="0" smtClean="0">
                <a:latin typeface="Cambria"/>
                <a:cs typeface="Cambria"/>
              </a:rPr>
              <a:t>using namespace </a:t>
            </a:r>
            <a:r>
              <a:rPr lang="en-US" sz="1900" spc="40" dirty="0" err="1" smtClean="0">
                <a:latin typeface="Cambria"/>
                <a:cs typeface="Cambria"/>
              </a:rPr>
              <a:t>std</a:t>
            </a:r>
            <a:r>
              <a:rPr lang="en-US" sz="1900" spc="40" dirty="0" smtClean="0">
                <a:latin typeface="Cambria"/>
                <a:cs typeface="Cambria"/>
              </a:rPr>
              <a:t>;</a:t>
            </a:r>
            <a:endParaRPr sz="19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lang="en-US" sz="1900" dirty="0" smtClean="0">
                <a:latin typeface="Cambria"/>
                <a:cs typeface="Cambria"/>
              </a:rPr>
              <a:t>          void </a:t>
            </a:r>
            <a:r>
              <a:rPr lang="en-US" sz="1900" dirty="0" err="1" smtClean="0">
                <a:latin typeface="Cambria"/>
                <a:cs typeface="Cambria"/>
              </a:rPr>
              <a:t>printName</a:t>
            </a:r>
            <a:r>
              <a:rPr lang="en-US" sz="1900" dirty="0" smtClean="0">
                <a:latin typeface="Cambria"/>
                <a:cs typeface="Cambria"/>
              </a:rPr>
              <a:t>();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en-US" sz="1900" dirty="0" smtClean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lang="en-US" sz="1900" dirty="0" smtClean="0">
                <a:latin typeface="Cambria"/>
                <a:cs typeface="Cambria"/>
              </a:rPr>
              <a:t>          </a:t>
            </a:r>
            <a:r>
              <a:rPr lang="en-US" sz="1900" dirty="0" err="1" smtClean="0">
                <a:latin typeface="Cambria"/>
                <a:cs typeface="Cambria"/>
              </a:rPr>
              <a:t>int</a:t>
            </a:r>
            <a:r>
              <a:rPr lang="en-US" sz="1900" dirty="0" smtClean="0">
                <a:latin typeface="Cambria"/>
                <a:cs typeface="Cambria"/>
              </a:rPr>
              <a:t> main() {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lang="en-US" sz="1900" dirty="0" smtClean="0">
                <a:latin typeface="Cambria"/>
                <a:cs typeface="Cambria"/>
              </a:rPr>
              <a:t>                </a:t>
            </a:r>
            <a:r>
              <a:rPr lang="en-US" sz="1900" dirty="0" err="1" smtClean="0">
                <a:latin typeface="Cambria"/>
                <a:cs typeface="Cambria"/>
              </a:rPr>
              <a:t>cout</a:t>
            </a:r>
            <a:r>
              <a:rPr lang="en-US" sz="1900" dirty="0" smtClean="0">
                <a:latin typeface="Cambria"/>
                <a:cs typeface="Cambria"/>
              </a:rPr>
              <a:t> &lt;&lt; "Hello ";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lang="en-US" sz="1900" dirty="0" smtClean="0">
                <a:latin typeface="Cambria"/>
                <a:cs typeface="Cambria"/>
              </a:rPr>
              <a:t>                </a:t>
            </a:r>
            <a:r>
              <a:rPr lang="en-US" sz="1900" dirty="0" err="1" smtClean="0">
                <a:latin typeface="Cambria"/>
                <a:cs typeface="Cambria"/>
              </a:rPr>
              <a:t>printName</a:t>
            </a:r>
            <a:r>
              <a:rPr lang="en-US" sz="1900" dirty="0" smtClean="0">
                <a:latin typeface="Cambria"/>
                <a:cs typeface="Cambria"/>
              </a:rPr>
              <a:t>();   // Function Call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lang="en-US" sz="1900" dirty="0" smtClean="0">
                <a:latin typeface="Cambria"/>
                <a:cs typeface="Cambria"/>
              </a:rPr>
              <a:t>                return 0;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lang="en-US" sz="1900" dirty="0" smtClean="0">
                <a:latin typeface="Cambria"/>
                <a:cs typeface="Cambria"/>
              </a:rPr>
              <a:t>                               }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en-US" sz="1900" dirty="0" smtClean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lang="en-US" sz="1900" dirty="0" smtClean="0">
                <a:latin typeface="Cambria"/>
                <a:cs typeface="Cambria"/>
              </a:rPr>
              <a:t>        // Function Definition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lang="en-US" sz="1900" dirty="0" smtClean="0">
                <a:latin typeface="Cambria"/>
                <a:cs typeface="Cambria"/>
              </a:rPr>
              <a:t>                       void </a:t>
            </a:r>
            <a:r>
              <a:rPr lang="en-US" sz="1900" dirty="0" err="1" smtClean="0">
                <a:latin typeface="Cambria"/>
                <a:cs typeface="Cambria"/>
              </a:rPr>
              <a:t>printName</a:t>
            </a:r>
            <a:r>
              <a:rPr lang="en-US" sz="1900" dirty="0" smtClean="0">
                <a:latin typeface="Cambria"/>
                <a:cs typeface="Cambria"/>
              </a:rPr>
              <a:t>() {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lang="en-US" sz="1900" dirty="0" smtClean="0">
                <a:latin typeface="Cambria"/>
                <a:cs typeface="Cambria"/>
              </a:rPr>
              <a:t>                                                        </a:t>
            </a:r>
            <a:r>
              <a:rPr lang="en-US" sz="1900" dirty="0" err="1" smtClean="0">
                <a:latin typeface="Cambria"/>
                <a:cs typeface="Cambria"/>
              </a:rPr>
              <a:t>cout</a:t>
            </a:r>
            <a:r>
              <a:rPr lang="en-US" sz="1900" dirty="0" smtClean="0">
                <a:latin typeface="Cambria"/>
                <a:cs typeface="Cambria"/>
              </a:rPr>
              <a:t> &lt;&lt; "hi";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lang="en-US" sz="1900" dirty="0" smtClean="0">
                <a:latin typeface="Cambria"/>
                <a:cs typeface="Cambria"/>
              </a:rPr>
              <a:t>                                                             }</a:t>
            </a:r>
            <a:endParaRPr sz="1900" dirty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</a:pPr>
            <a:r>
              <a:rPr sz="1900" b="1" spc="135" dirty="0">
                <a:latin typeface="Cambria"/>
                <a:cs typeface="Cambria"/>
              </a:rPr>
              <a:t>Output</a:t>
            </a:r>
            <a:endParaRPr sz="1900" dirty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</a:pPr>
            <a:r>
              <a:rPr sz="1900" spc="80" dirty="0">
                <a:latin typeface="Cambria"/>
                <a:cs typeface="Cambria"/>
              </a:rPr>
              <a:t>Hello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50" dirty="0" smtClean="0">
                <a:latin typeface="Cambria"/>
                <a:cs typeface="Cambria"/>
              </a:rPr>
              <a:t>hi</a:t>
            </a:r>
            <a:r>
              <a:rPr lang="en-US" sz="1900" spc="50" dirty="0" smtClean="0">
                <a:latin typeface="Cambria"/>
                <a:cs typeface="Cambria"/>
              </a:rPr>
              <a:t> </a:t>
            </a:r>
            <a:endParaRPr sz="1900" dirty="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301498"/>
            <a:ext cx="738822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cap="small" spc="385" dirty="0"/>
              <a:t>Categories </a:t>
            </a:r>
            <a:r>
              <a:rPr sz="3200" cap="small" spc="390" dirty="0"/>
              <a:t>of </a:t>
            </a:r>
            <a:r>
              <a:rPr sz="3200" cap="small" spc="380" dirty="0"/>
              <a:t>Functions</a:t>
            </a:r>
            <a:r>
              <a:rPr sz="3200" cap="small" spc="409" dirty="0"/>
              <a:t> </a:t>
            </a:r>
            <a:r>
              <a:rPr sz="3200" cap="small" spc="270" dirty="0"/>
              <a:t>(Cont…)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460044" y="966342"/>
            <a:ext cx="8379156" cy="5660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6385" algn="l"/>
              </a:tabLst>
            </a:pPr>
            <a:r>
              <a:rPr sz="1800" b="1" spc="135" dirty="0">
                <a:latin typeface="Cambria"/>
                <a:cs typeface="Cambria"/>
              </a:rPr>
              <a:t>Function</a:t>
            </a:r>
            <a:r>
              <a:rPr sz="1800" b="1" spc="140" dirty="0">
                <a:latin typeface="Cambria"/>
                <a:cs typeface="Cambria"/>
              </a:rPr>
              <a:t> </a:t>
            </a:r>
            <a:r>
              <a:rPr sz="1800" b="1" spc="120" dirty="0">
                <a:latin typeface="Cambria"/>
                <a:cs typeface="Cambria"/>
              </a:rPr>
              <a:t>without</a:t>
            </a:r>
            <a:r>
              <a:rPr sz="1800" b="1" spc="125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argument</a:t>
            </a:r>
            <a:r>
              <a:rPr sz="1800" b="1" spc="175" dirty="0">
                <a:latin typeface="Cambria"/>
                <a:cs typeface="Cambria"/>
              </a:rPr>
              <a:t> </a:t>
            </a:r>
            <a:r>
              <a:rPr sz="1800" b="1" spc="135" dirty="0">
                <a:latin typeface="Cambria"/>
                <a:cs typeface="Cambria"/>
              </a:rPr>
              <a:t>and</a:t>
            </a:r>
            <a:r>
              <a:rPr sz="1800" b="1" spc="140" dirty="0">
                <a:latin typeface="Cambria"/>
                <a:cs typeface="Cambria"/>
              </a:rPr>
              <a:t> </a:t>
            </a:r>
            <a:r>
              <a:rPr sz="1800" b="1" spc="130" dirty="0">
                <a:latin typeface="Cambria"/>
                <a:cs typeface="Cambria"/>
              </a:rPr>
              <a:t>with</a:t>
            </a:r>
            <a:r>
              <a:rPr sz="1800" b="1" spc="114" dirty="0">
                <a:latin typeface="Cambria"/>
                <a:cs typeface="Cambria"/>
              </a:rPr>
              <a:t> </a:t>
            </a:r>
            <a:r>
              <a:rPr sz="1800" b="1" spc="105" dirty="0">
                <a:latin typeface="Cambria"/>
                <a:cs typeface="Cambria"/>
              </a:rPr>
              <a:t>return</a:t>
            </a:r>
            <a:r>
              <a:rPr sz="1800" b="1" spc="135" dirty="0">
                <a:latin typeface="Cambria"/>
                <a:cs typeface="Cambria"/>
              </a:rPr>
              <a:t> </a:t>
            </a:r>
            <a:r>
              <a:rPr sz="1800" b="1" spc="100" dirty="0">
                <a:latin typeface="Cambria"/>
                <a:cs typeface="Cambria"/>
              </a:rPr>
              <a:t>value</a:t>
            </a:r>
            <a:endParaRPr sz="1800" dirty="0">
              <a:latin typeface="Cambria"/>
              <a:cs typeface="Cambria"/>
            </a:endParaRP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r>
              <a:rPr lang="en-US" sz="1600" spc="-10" dirty="0" smtClean="0">
                <a:latin typeface="Cambria"/>
                <a:cs typeface="Cambria"/>
              </a:rPr>
              <a:t>#include &lt;</a:t>
            </a:r>
            <a:r>
              <a:rPr lang="en-US" sz="1600" spc="-10" dirty="0" err="1" smtClean="0">
                <a:latin typeface="Cambria"/>
                <a:cs typeface="Cambria"/>
              </a:rPr>
              <a:t>iostream</a:t>
            </a:r>
            <a:r>
              <a:rPr lang="en-US" sz="1600" spc="-10" dirty="0" smtClean="0">
                <a:latin typeface="Cambria"/>
                <a:cs typeface="Cambria"/>
              </a:rPr>
              <a:t>&gt;</a:t>
            </a: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r>
              <a:rPr lang="en-US" sz="1600" spc="-10" dirty="0" smtClean="0">
                <a:latin typeface="Cambria"/>
                <a:cs typeface="Cambria"/>
              </a:rPr>
              <a:t>using namespace </a:t>
            </a:r>
            <a:r>
              <a:rPr lang="en-US" sz="1600" spc="-10" dirty="0" err="1" smtClean="0">
                <a:latin typeface="Cambria"/>
                <a:cs typeface="Cambria"/>
              </a:rPr>
              <a:t>std</a:t>
            </a:r>
            <a:r>
              <a:rPr lang="en-US" sz="1600" spc="-10" dirty="0" smtClean="0">
                <a:latin typeface="Cambria"/>
                <a:cs typeface="Cambria"/>
              </a:rPr>
              <a:t>;</a:t>
            </a: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endParaRPr lang="en-US" sz="1600" spc="-10" dirty="0" smtClean="0">
              <a:latin typeface="Cambria"/>
              <a:cs typeface="Cambria"/>
            </a:endParaRP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r>
              <a:rPr lang="en-US" sz="1600" spc="-10" dirty="0" smtClean="0">
                <a:latin typeface="Cambria"/>
                <a:cs typeface="Cambria"/>
              </a:rPr>
              <a:t>// Function defined before main (so no need of separate declaration)</a:t>
            </a: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r>
              <a:rPr lang="en-US" sz="1600" spc="-10" dirty="0" err="1" smtClean="0">
                <a:latin typeface="Cambria"/>
                <a:cs typeface="Cambria"/>
              </a:rPr>
              <a:t>int</a:t>
            </a:r>
            <a:r>
              <a:rPr lang="en-US" sz="1600" spc="-10" dirty="0" smtClean="0">
                <a:latin typeface="Cambria"/>
                <a:cs typeface="Cambria"/>
              </a:rPr>
              <a:t> sum() {</a:t>
            </a: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r>
              <a:rPr lang="en-US" sz="1600" spc="-10" dirty="0" smtClean="0">
                <a:latin typeface="Cambria"/>
                <a:cs typeface="Cambria"/>
              </a:rPr>
              <a:t>    </a:t>
            </a:r>
            <a:r>
              <a:rPr lang="en-US" sz="1600" spc="-10" dirty="0" err="1" smtClean="0">
                <a:latin typeface="Cambria"/>
                <a:cs typeface="Cambria"/>
              </a:rPr>
              <a:t>int</a:t>
            </a:r>
            <a:r>
              <a:rPr lang="en-US" sz="1600" spc="-10" dirty="0" smtClean="0">
                <a:latin typeface="Cambria"/>
                <a:cs typeface="Cambria"/>
              </a:rPr>
              <a:t> a, b;</a:t>
            </a: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r>
              <a:rPr lang="en-US" sz="1600" spc="-10" dirty="0" smtClean="0">
                <a:latin typeface="Cambria"/>
                <a:cs typeface="Cambria"/>
              </a:rPr>
              <a:t>    </a:t>
            </a:r>
            <a:r>
              <a:rPr lang="en-US" sz="1600" spc="-10" dirty="0" err="1" smtClean="0">
                <a:latin typeface="Cambria"/>
                <a:cs typeface="Cambria"/>
              </a:rPr>
              <a:t>cout</a:t>
            </a:r>
            <a:r>
              <a:rPr lang="en-US" sz="1600" spc="-10" dirty="0" smtClean="0">
                <a:latin typeface="Cambria"/>
                <a:cs typeface="Cambria"/>
              </a:rPr>
              <a:t> &lt;&lt; "Enter two numbers: ";</a:t>
            </a: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r>
              <a:rPr lang="en-US" sz="1600" spc="-10" dirty="0" smtClean="0">
                <a:latin typeface="Cambria"/>
                <a:cs typeface="Cambria"/>
              </a:rPr>
              <a:t>    </a:t>
            </a:r>
            <a:r>
              <a:rPr lang="en-US" sz="1600" spc="-10" dirty="0" err="1" smtClean="0">
                <a:latin typeface="Cambria"/>
                <a:cs typeface="Cambria"/>
              </a:rPr>
              <a:t>cin</a:t>
            </a:r>
            <a:r>
              <a:rPr lang="en-US" sz="1600" spc="-10" dirty="0" smtClean="0">
                <a:latin typeface="Cambria"/>
                <a:cs typeface="Cambria"/>
              </a:rPr>
              <a:t> &gt;&gt; a &gt;&gt; b;</a:t>
            </a: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r>
              <a:rPr lang="en-US" sz="1600" spc="-10" dirty="0" smtClean="0">
                <a:latin typeface="Cambria"/>
                <a:cs typeface="Cambria"/>
              </a:rPr>
              <a:t>    return a + b;</a:t>
            </a: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r>
              <a:rPr lang="en-US" sz="1600" spc="-10" dirty="0" smtClean="0">
                <a:latin typeface="Cambria"/>
                <a:cs typeface="Cambria"/>
              </a:rPr>
              <a:t>}</a:t>
            </a: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endParaRPr lang="en-US" sz="1600" spc="-10" dirty="0" smtClean="0">
              <a:latin typeface="Cambria"/>
              <a:cs typeface="Cambria"/>
            </a:endParaRP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r>
              <a:rPr lang="en-US" sz="1600" spc="-10" dirty="0" err="1" smtClean="0">
                <a:latin typeface="Cambria"/>
                <a:cs typeface="Cambria"/>
              </a:rPr>
              <a:t>int</a:t>
            </a:r>
            <a:r>
              <a:rPr lang="en-US" sz="1600" spc="-10" dirty="0" smtClean="0">
                <a:latin typeface="Cambria"/>
                <a:cs typeface="Cambria"/>
              </a:rPr>
              <a:t> main() {</a:t>
            </a: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r>
              <a:rPr lang="en-US" sz="1600" spc="-10" dirty="0" smtClean="0">
                <a:latin typeface="Cambria"/>
                <a:cs typeface="Cambria"/>
              </a:rPr>
              <a:t>    </a:t>
            </a:r>
            <a:r>
              <a:rPr lang="en-US" sz="1600" spc="-10" dirty="0" err="1" smtClean="0">
                <a:latin typeface="Cambria"/>
                <a:cs typeface="Cambria"/>
              </a:rPr>
              <a:t>int</a:t>
            </a:r>
            <a:r>
              <a:rPr lang="en-US" sz="1600" spc="-10" dirty="0" smtClean="0">
                <a:latin typeface="Cambria"/>
                <a:cs typeface="Cambria"/>
              </a:rPr>
              <a:t> result = sum();   // Normal function call</a:t>
            </a: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r>
              <a:rPr lang="en-US" sz="1600" spc="-10" dirty="0" smtClean="0">
                <a:latin typeface="Cambria"/>
                <a:cs typeface="Cambria"/>
              </a:rPr>
              <a:t>    </a:t>
            </a:r>
            <a:r>
              <a:rPr lang="en-US" sz="1600" spc="-10" dirty="0" err="1" smtClean="0">
                <a:latin typeface="Cambria"/>
                <a:cs typeface="Cambria"/>
              </a:rPr>
              <a:t>cout</a:t>
            </a:r>
            <a:r>
              <a:rPr lang="en-US" sz="1600" spc="-10" dirty="0" smtClean="0">
                <a:latin typeface="Cambria"/>
                <a:cs typeface="Cambria"/>
              </a:rPr>
              <a:t> &lt;&lt; "Sum = " &lt;&lt; result;</a:t>
            </a: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r>
              <a:rPr lang="en-US" sz="1600" spc="-10" dirty="0" smtClean="0">
                <a:latin typeface="Cambria"/>
                <a:cs typeface="Cambria"/>
              </a:rPr>
              <a:t>    return 0;</a:t>
            </a: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r>
              <a:rPr lang="en-US" sz="1600" spc="-10" dirty="0" smtClean="0">
                <a:latin typeface="Cambria"/>
                <a:cs typeface="Cambria"/>
              </a:rPr>
              <a:t>}</a:t>
            </a: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endParaRPr lang="en-US" sz="1600" spc="-10" dirty="0" smtClean="0">
              <a:latin typeface="Cambria"/>
              <a:cs typeface="Cambria"/>
            </a:endParaRPr>
          </a:p>
          <a:p>
            <a:pPr marL="378460">
              <a:lnSpc>
                <a:spcPts val="1910"/>
              </a:lnSpc>
              <a:spcBef>
                <a:spcPts val="5"/>
              </a:spcBef>
            </a:pPr>
            <a:r>
              <a:rPr sz="1600" b="1" spc="110" dirty="0" smtClean="0">
                <a:latin typeface="Cambria"/>
                <a:cs typeface="Cambria"/>
              </a:rPr>
              <a:t>Output</a:t>
            </a:r>
            <a:r>
              <a:rPr sz="1600" b="1" spc="110" dirty="0">
                <a:latin typeface="Cambria"/>
                <a:cs typeface="Cambria"/>
              </a:rPr>
              <a:t>:</a:t>
            </a:r>
            <a:endParaRPr sz="1600" dirty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  <a:spcBef>
                <a:spcPts val="25"/>
              </a:spcBef>
            </a:pPr>
            <a:r>
              <a:rPr sz="1600" spc="85" dirty="0">
                <a:latin typeface="Cambria"/>
                <a:cs typeface="Cambria"/>
              </a:rPr>
              <a:t>Going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calculate </a:t>
            </a:r>
            <a:r>
              <a:rPr sz="1600" spc="65" dirty="0">
                <a:latin typeface="Cambria"/>
                <a:cs typeface="Cambria"/>
              </a:rPr>
              <a:t>the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sum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two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numbers:</a:t>
            </a:r>
            <a:endParaRPr sz="1600" dirty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</a:pPr>
            <a:r>
              <a:rPr sz="1600" spc="90" dirty="0">
                <a:latin typeface="Cambria"/>
                <a:cs typeface="Cambria"/>
              </a:rPr>
              <a:t>Enter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two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numbers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10</a:t>
            </a:r>
            <a:endParaRPr sz="1600" dirty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  <a:spcBef>
                <a:spcPts val="5"/>
              </a:spcBef>
            </a:pPr>
            <a:r>
              <a:rPr sz="1600" spc="-25" dirty="0">
                <a:latin typeface="Cambria"/>
                <a:cs typeface="Cambria"/>
              </a:rPr>
              <a:t>24</a:t>
            </a:r>
            <a:endParaRPr sz="1600" dirty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</a:pPr>
            <a:r>
              <a:rPr sz="1600" spc="75" dirty="0">
                <a:latin typeface="Cambria"/>
                <a:cs typeface="Cambria"/>
              </a:rPr>
              <a:t>The</a:t>
            </a:r>
            <a:r>
              <a:rPr sz="1600" spc="70" dirty="0">
                <a:latin typeface="Cambria"/>
                <a:cs typeface="Cambria"/>
              </a:rPr>
              <a:t> sum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is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34</a:t>
            </a:r>
            <a:endParaRPr sz="1600" dirty="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301498"/>
            <a:ext cx="738822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cap="small" spc="385" dirty="0"/>
              <a:t>Categories </a:t>
            </a:r>
            <a:r>
              <a:rPr sz="3200" cap="small" spc="390" dirty="0"/>
              <a:t>of </a:t>
            </a:r>
            <a:r>
              <a:rPr sz="3200" cap="small" spc="380" dirty="0"/>
              <a:t>Functions</a:t>
            </a:r>
            <a:r>
              <a:rPr sz="3200" cap="small" spc="409" dirty="0"/>
              <a:t> </a:t>
            </a:r>
            <a:r>
              <a:rPr sz="3200" cap="small" spc="270" dirty="0"/>
              <a:t>(Cont…)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0" y="985393"/>
            <a:ext cx="9601200" cy="5816977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7020" marR="5080" indent="-274320">
              <a:lnSpc>
                <a:spcPts val="2300"/>
              </a:lnSpc>
              <a:spcBef>
                <a:spcPts val="66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  <a:tab pos="1985010" algn="l"/>
                <a:tab pos="2957830" algn="l"/>
                <a:tab pos="4753610" algn="l"/>
                <a:tab pos="5601335" algn="l"/>
              </a:tabLst>
            </a:pPr>
            <a:r>
              <a:rPr sz="2400" b="1" spc="185" dirty="0">
                <a:latin typeface="Cambria"/>
                <a:cs typeface="Cambria"/>
              </a:rPr>
              <a:t>Function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155" dirty="0">
                <a:latin typeface="Cambria"/>
                <a:cs typeface="Cambria"/>
              </a:rPr>
              <a:t>with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145" dirty="0">
                <a:latin typeface="Cambria"/>
                <a:cs typeface="Cambria"/>
              </a:rPr>
              <a:t>argument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135" dirty="0">
                <a:latin typeface="Cambria"/>
                <a:cs typeface="Cambria"/>
              </a:rPr>
              <a:t>and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145" dirty="0">
                <a:latin typeface="Cambria"/>
                <a:cs typeface="Cambria"/>
              </a:rPr>
              <a:t>without </a:t>
            </a:r>
            <a:r>
              <a:rPr sz="2400" b="1" spc="135" dirty="0" smtClean="0">
                <a:latin typeface="Cambria"/>
                <a:cs typeface="Cambria"/>
              </a:rPr>
              <a:t>value</a:t>
            </a:r>
            <a:r>
              <a:rPr lang="en-US" sz="2400" b="1" spc="135" dirty="0" smtClean="0">
                <a:latin typeface="Cambria"/>
                <a:cs typeface="Cambria"/>
              </a:rPr>
              <a:t> </a:t>
            </a:r>
            <a:r>
              <a:rPr lang="en-US" sz="2400" b="1" spc="125" dirty="0" smtClean="0">
                <a:latin typeface="Cambria"/>
                <a:cs typeface="Cambria"/>
              </a:rPr>
              <a:t>return</a:t>
            </a:r>
            <a:endParaRPr sz="2400" dirty="0">
              <a:latin typeface="Cambria"/>
              <a:cs typeface="Cambria"/>
            </a:endParaRPr>
          </a:p>
          <a:p>
            <a:pPr marL="514350" marR="4536440" algn="just">
              <a:lnSpc>
                <a:spcPct val="100000"/>
              </a:lnSpc>
              <a:spcBef>
                <a:spcPts val="50"/>
              </a:spcBef>
            </a:pPr>
            <a:r>
              <a:rPr lang="en-US" sz="1700" dirty="0" smtClean="0">
                <a:latin typeface="Cambria"/>
                <a:cs typeface="Cambria"/>
              </a:rPr>
              <a:t>#include &lt;</a:t>
            </a:r>
            <a:r>
              <a:rPr lang="en-US" sz="1700" dirty="0" err="1" smtClean="0">
                <a:latin typeface="Cambria"/>
                <a:cs typeface="Cambria"/>
              </a:rPr>
              <a:t>iostream</a:t>
            </a:r>
            <a:r>
              <a:rPr lang="en-US" sz="1700" dirty="0" smtClean="0">
                <a:latin typeface="Cambria"/>
                <a:cs typeface="Cambria"/>
              </a:rPr>
              <a:t>&gt;</a:t>
            </a:r>
          </a:p>
          <a:p>
            <a:pPr marL="514350" marR="4536440" algn="just">
              <a:lnSpc>
                <a:spcPct val="100000"/>
              </a:lnSpc>
              <a:spcBef>
                <a:spcPts val="50"/>
              </a:spcBef>
            </a:pPr>
            <a:r>
              <a:rPr lang="en-US" sz="1700" dirty="0" smtClean="0">
                <a:latin typeface="Cambria"/>
                <a:cs typeface="Cambria"/>
              </a:rPr>
              <a:t>using namespace </a:t>
            </a:r>
            <a:r>
              <a:rPr lang="en-US" sz="1700" dirty="0" err="1" smtClean="0">
                <a:latin typeface="Cambria"/>
                <a:cs typeface="Cambria"/>
              </a:rPr>
              <a:t>std</a:t>
            </a:r>
            <a:r>
              <a:rPr lang="en-US" sz="1700" dirty="0" smtClean="0">
                <a:latin typeface="Cambria"/>
                <a:cs typeface="Cambria"/>
              </a:rPr>
              <a:t>;</a:t>
            </a:r>
          </a:p>
          <a:p>
            <a:pPr marL="514350" marR="4536440" algn="just">
              <a:spcBef>
                <a:spcPts val="50"/>
              </a:spcBef>
            </a:pPr>
            <a:r>
              <a:rPr lang="en-US" sz="1700" dirty="0" smtClean="0">
                <a:latin typeface="Cambria"/>
                <a:cs typeface="Cambria"/>
              </a:rPr>
              <a:t>void sum(</a:t>
            </a:r>
            <a:r>
              <a:rPr lang="en-US" sz="1700" dirty="0" err="1" smtClean="0">
                <a:latin typeface="Cambria"/>
                <a:cs typeface="Cambria"/>
              </a:rPr>
              <a:t>int</a:t>
            </a:r>
            <a:r>
              <a:rPr lang="en-US" sz="1700" dirty="0" smtClean="0">
                <a:latin typeface="Cambria"/>
                <a:cs typeface="Cambria"/>
              </a:rPr>
              <a:t>, </a:t>
            </a:r>
            <a:r>
              <a:rPr lang="en-US" sz="1700" dirty="0" err="1" smtClean="0">
                <a:latin typeface="Cambria"/>
                <a:cs typeface="Cambria"/>
              </a:rPr>
              <a:t>int</a:t>
            </a:r>
            <a:r>
              <a:rPr lang="en-US" sz="1700" dirty="0" smtClean="0">
                <a:latin typeface="Cambria"/>
                <a:cs typeface="Cambria"/>
              </a:rPr>
              <a:t>); // Function Declaration</a:t>
            </a:r>
          </a:p>
          <a:p>
            <a:pPr marL="514350" marR="4536440" algn="just">
              <a:lnSpc>
                <a:spcPct val="100000"/>
              </a:lnSpc>
              <a:spcBef>
                <a:spcPts val="50"/>
              </a:spcBef>
            </a:pPr>
            <a:endParaRPr lang="en-US" sz="1700" dirty="0" smtClean="0">
              <a:latin typeface="Cambria"/>
              <a:cs typeface="Cambria"/>
            </a:endParaRPr>
          </a:p>
          <a:p>
            <a:pPr marL="514350" marR="4536440" algn="just">
              <a:lnSpc>
                <a:spcPct val="100000"/>
              </a:lnSpc>
              <a:spcBef>
                <a:spcPts val="50"/>
              </a:spcBef>
            </a:pPr>
            <a:r>
              <a:rPr lang="en-US" sz="1700" dirty="0" err="1" smtClean="0">
                <a:latin typeface="Cambria"/>
                <a:cs typeface="Cambria"/>
              </a:rPr>
              <a:t>int</a:t>
            </a:r>
            <a:r>
              <a:rPr lang="en-US" sz="1700" dirty="0" smtClean="0">
                <a:latin typeface="Cambria"/>
                <a:cs typeface="Cambria"/>
              </a:rPr>
              <a:t> main() {</a:t>
            </a:r>
          </a:p>
          <a:p>
            <a:pPr marL="514350" marR="4536440" algn="just">
              <a:lnSpc>
                <a:spcPct val="100000"/>
              </a:lnSpc>
              <a:spcBef>
                <a:spcPts val="50"/>
              </a:spcBef>
            </a:pPr>
            <a:r>
              <a:rPr lang="en-US" sz="1700" dirty="0" smtClean="0">
                <a:latin typeface="Cambria"/>
                <a:cs typeface="Cambria"/>
              </a:rPr>
              <a:t>    </a:t>
            </a:r>
            <a:r>
              <a:rPr lang="en-US" sz="1700" dirty="0" err="1" smtClean="0">
                <a:latin typeface="Cambria"/>
                <a:cs typeface="Cambria"/>
              </a:rPr>
              <a:t>int</a:t>
            </a:r>
            <a:r>
              <a:rPr lang="en-US" sz="1700" dirty="0" smtClean="0">
                <a:latin typeface="Cambria"/>
                <a:cs typeface="Cambria"/>
              </a:rPr>
              <a:t> a, b;</a:t>
            </a:r>
          </a:p>
          <a:p>
            <a:pPr marL="514350" marR="4536440" algn="just">
              <a:lnSpc>
                <a:spcPct val="100000"/>
              </a:lnSpc>
              <a:spcBef>
                <a:spcPts val="50"/>
              </a:spcBef>
            </a:pPr>
            <a:r>
              <a:rPr lang="en-US" sz="1700" dirty="0" smtClean="0">
                <a:latin typeface="Cambria"/>
                <a:cs typeface="Cambria"/>
              </a:rPr>
              <a:t>    </a:t>
            </a:r>
            <a:r>
              <a:rPr lang="en-US" sz="1700" dirty="0" err="1" smtClean="0">
                <a:latin typeface="Cambria"/>
                <a:cs typeface="Cambria"/>
              </a:rPr>
              <a:t>cout</a:t>
            </a:r>
            <a:r>
              <a:rPr lang="en-US" sz="1700" dirty="0" smtClean="0">
                <a:latin typeface="Cambria"/>
                <a:cs typeface="Cambria"/>
              </a:rPr>
              <a:t> &lt;&lt; "Going to calculate the sum of two numbers:";</a:t>
            </a:r>
          </a:p>
          <a:p>
            <a:pPr marL="514350" marR="4536440" algn="just">
              <a:lnSpc>
                <a:spcPct val="100000"/>
              </a:lnSpc>
              <a:spcBef>
                <a:spcPts val="50"/>
              </a:spcBef>
            </a:pPr>
            <a:r>
              <a:rPr lang="en-US" sz="1700" dirty="0" smtClean="0">
                <a:latin typeface="Cambria"/>
                <a:cs typeface="Cambria"/>
              </a:rPr>
              <a:t>    </a:t>
            </a:r>
            <a:r>
              <a:rPr lang="en-US" sz="1700" dirty="0" err="1" smtClean="0">
                <a:latin typeface="Cambria"/>
                <a:cs typeface="Cambria"/>
              </a:rPr>
              <a:t>cout</a:t>
            </a:r>
            <a:r>
              <a:rPr lang="en-US" sz="1700" dirty="0" smtClean="0">
                <a:latin typeface="Cambria"/>
                <a:cs typeface="Cambria"/>
              </a:rPr>
              <a:t> &lt;&lt; "\</a:t>
            </a:r>
            <a:r>
              <a:rPr lang="en-US" sz="1700" dirty="0" err="1" smtClean="0">
                <a:latin typeface="Cambria"/>
                <a:cs typeface="Cambria"/>
              </a:rPr>
              <a:t>nEnter</a:t>
            </a:r>
            <a:r>
              <a:rPr lang="en-US" sz="1700" dirty="0" smtClean="0">
                <a:latin typeface="Cambria"/>
                <a:cs typeface="Cambria"/>
              </a:rPr>
              <a:t> two numbers: ";</a:t>
            </a:r>
          </a:p>
          <a:p>
            <a:pPr marL="514350" marR="4536440" algn="just">
              <a:lnSpc>
                <a:spcPct val="100000"/>
              </a:lnSpc>
              <a:spcBef>
                <a:spcPts val="50"/>
              </a:spcBef>
            </a:pPr>
            <a:r>
              <a:rPr lang="en-US" sz="1700" dirty="0" smtClean="0">
                <a:latin typeface="Cambria"/>
                <a:cs typeface="Cambria"/>
              </a:rPr>
              <a:t>    </a:t>
            </a:r>
            <a:r>
              <a:rPr lang="en-US" sz="1700" dirty="0" err="1" smtClean="0">
                <a:latin typeface="Cambria"/>
                <a:cs typeface="Cambria"/>
              </a:rPr>
              <a:t>cin</a:t>
            </a:r>
            <a:r>
              <a:rPr lang="en-US" sz="1700" dirty="0" smtClean="0">
                <a:latin typeface="Cambria"/>
                <a:cs typeface="Cambria"/>
              </a:rPr>
              <a:t> &gt;&gt; a &gt;&gt; b;</a:t>
            </a:r>
          </a:p>
          <a:p>
            <a:pPr marL="514350" marR="4536440" algn="just">
              <a:lnSpc>
                <a:spcPct val="100000"/>
              </a:lnSpc>
              <a:spcBef>
                <a:spcPts val="50"/>
              </a:spcBef>
            </a:pPr>
            <a:r>
              <a:rPr lang="en-US" sz="1700" dirty="0" smtClean="0">
                <a:latin typeface="Cambria"/>
                <a:cs typeface="Cambria"/>
              </a:rPr>
              <a:t>    sum(a, b);   // Function Call</a:t>
            </a:r>
          </a:p>
          <a:p>
            <a:pPr marL="514350" marR="4536440" algn="just">
              <a:lnSpc>
                <a:spcPct val="100000"/>
              </a:lnSpc>
              <a:spcBef>
                <a:spcPts val="50"/>
              </a:spcBef>
            </a:pPr>
            <a:r>
              <a:rPr lang="en-US" sz="1700" dirty="0" smtClean="0">
                <a:latin typeface="Cambria"/>
                <a:cs typeface="Cambria"/>
              </a:rPr>
              <a:t>    return 0;</a:t>
            </a:r>
          </a:p>
          <a:p>
            <a:pPr marL="514350" marR="4536440" algn="just">
              <a:lnSpc>
                <a:spcPct val="100000"/>
              </a:lnSpc>
              <a:spcBef>
                <a:spcPts val="50"/>
              </a:spcBef>
            </a:pPr>
            <a:r>
              <a:rPr lang="en-US" sz="1700" dirty="0" smtClean="0">
                <a:latin typeface="Cambria"/>
                <a:cs typeface="Cambria"/>
              </a:rPr>
              <a:t>}</a:t>
            </a:r>
          </a:p>
          <a:p>
            <a:pPr marL="514350" marR="4536440" algn="just">
              <a:lnSpc>
                <a:spcPct val="100000"/>
              </a:lnSpc>
              <a:spcBef>
                <a:spcPts val="50"/>
              </a:spcBef>
            </a:pPr>
            <a:r>
              <a:rPr lang="en-US" sz="1700" dirty="0" smtClean="0">
                <a:latin typeface="Cambria"/>
                <a:cs typeface="Cambria"/>
              </a:rPr>
              <a:t>// Function Definition</a:t>
            </a:r>
          </a:p>
          <a:p>
            <a:pPr marL="514350" marR="4536440" algn="just">
              <a:lnSpc>
                <a:spcPct val="100000"/>
              </a:lnSpc>
              <a:spcBef>
                <a:spcPts val="50"/>
              </a:spcBef>
            </a:pPr>
            <a:r>
              <a:rPr lang="en-US" sz="1700" dirty="0" smtClean="0">
                <a:latin typeface="Cambria"/>
                <a:cs typeface="Cambria"/>
              </a:rPr>
              <a:t>void sum(</a:t>
            </a:r>
            <a:r>
              <a:rPr lang="en-US" sz="1700" dirty="0" err="1" smtClean="0">
                <a:latin typeface="Cambria"/>
                <a:cs typeface="Cambria"/>
              </a:rPr>
              <a:t>int</a:t>
            </a:r>
            <a:r>
              <a:rPr lang="en-US" sz="1700" dirty="0" smtClean="0">
                <a:latin typeface="Cambria"/>
                <a:cs typeface="Cambria"/>
              </a:rPr>
              <a:t> a, </a:t>
            </a:r>
            <a:r>
              <a:rPr lang="en-US" sz="1700" dirty="0" err="1" smtClean="0">
                <a:latin typeface="Cambria"/>
                <a:cs typeface="Cambria"/>
              </a:rPr>
              <a:t>int</a:t>
            </a:r>
            <a:r>
              <a:rPr lang="en-US" sz="1700" dirty="0" smtClean="0">
                <a:latin typeface="Cambria"/>
                <a:cs typeface="Cambria"/>
              </a:rPr>
              <a:t> b) {</a:t>
            </a:r>
          </a:p>
          <a:p>
            <a:pPr marL="514350" marR="4536440" algn="just">
              <a:lnSpc>
                <a:spcPct val="100000"/>
              </a:lnSpc>
              <a:spcBef>
                <a:spcPts val="50"/>
              </a:spcBef>
            </a:pPr>
            <a:r>
              <a:rPr lang="en-US" sz="1700" dirty="0" smtClean="0">
                <a:latin typeface="Cambria"/>
                <a:cs typeface="Cambria"/>
              </a:rPr>
              <a:t>    </a:t>
            </a:r>
            <a:r>
              <a:rPr lang="en-US" sz="1700" dirty="0" err="1" smtClean="0">
                <a:latin typeface="Cambria"/>
                <a:cs typeface="Cambria"/>
              </a:rPr>
              <a:t>cout</a:t>
            </a:r>
            <a:r>
              <a:rPr lang="en-US" sz="1700" dirty="0" smtClean="0">
                <a:latin typeface="Cambria"/>
                <a:cs typeface="Cambria"/>
              </a:rPr>
              <a:t> &lt;&lt; "\</a:t>
            </a:r>
            <a:r>
              <a:rPr lang="en-US" sz="1700" dirty="0" err="1" smtClean="0">
                <a:latin typeface="Cambria"/>
                <a:cs typeface="Cambria"/>
              </a:rPr>
              <a:t>nThe</a:t>
            </a:r>
            <a:r>
              <a:rPr lang="en-US" sz="1700" dirty="0" smtClean="0">
                <a:latin typeface="Cambria"/>
                <a:cs typeface="Cambria"/>
              </a:rPr>
              <a:t> sum is " &lt;&lt; a + b;</a:t>
            </a:r>
          </a:p>
          <a:p>
            <a:pPr marL="514350" marR="4536440" algn="just">
              <a:lnSpc>
                <a:spcPct val="100000"/>
              </a:lnSpc>
              <a:spcBef>
                <a:spcPts val="50"/>
              </a:spcBef>
            </a:pPr>
            <a:r>
              <a:rPr lang="en-US" sz="1700" dirty="0" smtClean="0">
                <a:latin typeface="Cambria"/>
                <a:cs typeface="Cambria"/>
              </a:rPr>
              <a:t>  }</a:t>
            </a:r>
            <a:endParaRPr sz="1700" dirty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</a:pPr>
            <a:r>
              <a:rPr sz="1700" b="1" spc="125" dirty="0">
                <a:latin typeface="Cambria"/>
                <a:cs typeface="Cambria"/>
              </a:rPr>
              <a:t>Output</a:t>
            </a:r>
            <a:endParaRPr sz="1700" dirty="0">
              <a:latin typeface="Cambria"/>
              <a:cs typeface="Cambria"/>
            </a:endParaRPr>
          </a:p>
          <a:p>
            <a:pPr marL="378460" marR="2148205">
              <a:lnSpc>
                <a:spcPct val="100000"/>
              </a:lnSpc>
            </a:pPr>
            <a:r>
              <a:rPr sz="1700" spc="85" dirty="0">
                <a:latin typeface="Cambria"/>
                <a:cs typeface="Cambria"/>
              </a:rPr>
              <a:t>Going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calculate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the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85" dirty="0">
                <a:latin typeface="Cambria"/>
                <a:cs typeface="Cambria"/>
              </a:rPr>
              <a:t>sum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two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numbers: </a:t>
            </a:r>
            <a:r>
              <a:rPr sz="1700" spc="100" dirty="0">
                <a:latin typeface="Cambria"/>
                <a:cs typeface="Cambria"/>
              </a:rPr>
              <a:t>Enter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two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numbers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spc="-25" dirty="0" smtClean="0">
                <a:latin typeface="Cambria"/>
                <a:cs typeface="Cambria"/>
              </a:rPr>
              <a:t>10</a:t>
            </a:r>
            <a:r>
              <a:rPr lang="en-US" sz="1700" dirty="0">
                <a:latin typeface="Cambria"/>
                <a:cs typeface="Cambria"/>
              </a:rPr>
              <a:t> </a:t>
            </a:r>
            <a:r>
              <a:rPr lang="en-US" sz="1700" dirty="0" smtClean="0">
                <a:latin typeface="Cambria"/>
                <a:cs typeface="Cambria"/>
              </a:rPr>
              <a:t>   </a:t>
            </a:r>
            <a:r>
              <a:rPr sz="1700" spc="-25" dirty="0" smtClean="0">
                <a:latin typeface="Cambria"/>
                <a:cs typeface="Cambria"/>
              </a:rPr>
              <a:t>24</a:t>
            </a:r>
            <a:endParaRPr sz="1700" dirty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  <a:spcBef>
                <a:spcPts val="5"/>
              </a:spcBef>
            </a:pPr>
            <a:r>
              <a:rPr sz="1700" spc="75" dirty="0">
                <a:latin typeface="Cambria"/>
                <a:cs typeface="Cambria"/>
              </a:rPr>
              <a:t>The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85" dirty="0">
                <a:latin typeface="Cambria"/>
                <a:cs typeface="Cambria"/>
              </a:rPr>
              <a:t>sum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is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34</a:t>
            </a:r>
            <a:endParaRPr sz="1700" dirty="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301498"/>
            <a:ext cx="738822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cap="small" spc="385" dirty="0"/>
              <a:t>Categories </a:t>
            </a:r>
            <a:r>
              <a:rPr sz="3200" cap="small" spc="390" dirty="0"/>
              <a:t>of </a:t>
            </a:r>
            <a:r>
              <a:rPr sz="3200" cap="small" spc="380" dirty="0"/>
              <a:t>Functions</a:t>
            </a:r>
            <a:r>
              <a:rPr sz="3200" cap="small" spc="409" dirty="0"/>
              <a:t> </a:t>
            </a:r>
            <a:r>
              <a:rPr sz="3200" cap="small" spc="270" dirty="0"/>
              <a:t>(Cont…)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60044" y="945007"/>
            <a:ext cx="7774305" cy="58759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400" b="1" spc="195" dirty="0">
                <a:latin typeface="Cambria"/>
                <a:cs typeface="Cambria"/>
              </a:rPr>
              <a:t>Function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75" dirty="0">
                <a:latin typeface="Cambria"/>
                <a:cs typeface="Cambria"/>
              </a:rPr>
              <a:t>with</a:t>
            </a:r>
            <a:r>
              <a:rPr sz="2400" b="1" spc="160" dirty="0">
                <a:latin typeface="Cambria"/>
                <a:cs typeface="Cambria"/>
              </a:rPr>
              <a:t> argument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70" dirty="0">
                <a:latin typeface="Cambria"/>
                <a:cs typeface="Cambria"/>
              </a:rPr>
              <a:t>and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75" dirty="0">
                <a:latin typeface="Cambria"/>
                <a:cs typeface="Cambria"/>
              </a:rPr>
              <a:t>with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return</a:t>
            </a:r>
            <a:r>
              <a:rPr sz="2400" b="1" spc="235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value</a:t>
            </a:r>
            <a:endParaRPr sz="2400" dirty="0">
              <a:latin typeface="Cambria"/>
              <a:cs typeface="Cambria"/>
            </a:endParaRPr>
          </a:p>
          <a:p>
            <a:pPr marL="800100"/>
            <a:r>
              <a:rPr lang="en-US" sz="1700" dirty="0" smtClean="0"/>
              <a:t>#include &lt;</a:t>
            </a:r>
            <a:r>
              <a:rPr lang="en-US" sz="1700" dirty="0" err="1" smtClean="0"/>
              <a:t>iostream</a:t>
            </a:r>
            <a:r>
              <a:rPr lang="en-US" sz="1700" dirty="0" smtClean="0"/>
              <a:t>&gt; </a:t>
            </a:r>
          </a:p>
          <a:p>
            <a:pPr marL="800100"/>
            <a:r>
              <a:rPr lang="en-US" sz="1700" dirty="0" smtClean="0"/>
              <a:t>using namespace </a:t>
            </a:r>
            <a:r>
              <a:rPr lang="en-US" sz="1700" dirty="0" err="1" smtClean="0"/>
              <a:t>std</a:t>
            </a:r>
            <a:r>
              <a:rPr lang="en-US" sz="1700" dirty="0" smtClean="0"/>
              <a:t>; </a:t>
            </a:r>
          </a:p>
          <a:p>
            <a:pPr marL="800100"/>
            <a:r>
              <a:rPr lang="en-US" sz="1700" dirty="0" err="1" smtClean="0"/>
              <a:t>int</a:t>
            </a:r>
            <a:r>
              <a:rPr lang="en-US" sz="1700" dirty="0" smtClean="0"/>
              <a:t> sum(</a:t>
            </a:r>
            <a:r>
              <a:rPr lang="en-US" sz="1700" dirty="0" err="1" smtClean="0"/>
              <a:t>int</a:t>
            </a:r>
            <a:r>
              <a:rPr lang="en-US" sz="1700" dirty="0" smtClean="0"/>
              <a:t>, </a:t>
            </a:r>
            <a:r>
              <a:rPr lang="en-US" sz="1700" dirty="0" err="1" smtClean="0"/>
              <a:t>int</a:t>
            </a:r>
            <a:r>
              <a:rPr lang="en-US" sz="1700" dirty="0" smtClean="0"/>
              <a:t>); </a:t>
            </a:r>
            <a:r>
              <a:rPr lang="en-US" sz="1700" dirty="0"/>
              <a:t>// Function Declaration </a:t>
            </a:r>
            <a:endParaRPr lang="en-US" sz="1700" dirty="0" smtClean="0"/>
          </a:p>
          <a:p>
            <a:pPr marL="800100"/>
            <a:r>
              <a:rPr lang="en-US" sz="1700" dirty="0" err="1" smtClean="0"/>
              <a:t>int</a:t>
            </a:r>
            <a:r>
              <a:rPr lang="en-US" sz="1700" dirty="0" smtClean="0"/>
              <a:t> main() { </a:t>
            </a:r>
          </a:p>
          <a:p>
            <a:pPr marL="800100"/>
            <a:r>
              <a:rPr lang="en-US" sz="1700" dirty="0" err="1" smtClean="0"/>
              <a:t>int</a:t>
            </a:r>
            <a:r>
              <a:rPr lang="en-US" sz="1700" dirty="0" smtClean="0"/>
              <a:t> a, b, result; </a:t>
            </a:r>
          </a:p>
          <a:p>
            <a:pPr marL="800100"/>
            <a:r>
              <a:rPr lang="en-US" sz="1700" dirty="0" err="1" smtClean="0"/>
              <a:t>cout</a:t>
            </a:r>
            <a:r>
              <a:rPr lang="en-US" sz="1700" dirty="0" smtClean="0"/>
              <a:t> &lt;&lt; "Going to calculate the sum of two numbers:"; </a:t>
            </a:r>
          </a:p>
          <a:p>
            <a:pPr marL="800100"/>
            <a:r>
              <a:rPr lang="en-US" sz="1700" dirty="0" err="1" smtClean="0"/>
              <a:t>cout</a:t>
            </a:r>
            <a:r>
              <a:rPr lang="en-US" sz="1700" dirty="0" smtClean="0"/>
              <a:t> &lt;&lt; "\</a:t>
            </a:r>
            <a:r>
              <a:rPr lang="en-US" sz="1700" dirty="0" err="1" smtClean="0"/>
              <a:t>nEnter</a:t>
            </a:r>
            <a:r>
              <a:rPr lang="en-US" sz="1700" dirty="0" smtClean="0"/>
              <a:t> two numbers: "; </a:t>
            </a:r>
          </a:p>
          <a:p>
            <a:pPr marL="800100"/>
            <a:r>
              <a:rPr lang="en-US" sz="1700" dirty="0" err="1" smtClean="0"/>
              <a:t>cin</a:t>
            </a:r>
            <a:r>
              <a:rPr lang="en-US" sz="1700" dirty="0" smtClean="0"/>
              <a:t> &gt;&gt; a &gt;&gt; b; </a:t>
            </a:r>
          </a:p>
          <a:p>
            <a:pPr marL="800100"/>
            <a:r>
              <a:rPr lang="en-US" sz="1700" dirty="0" smtClean="0"/>
              <a:t>result = sum(a, b); // Function Call </a:t>
            </a:r>
          </a:p>
          <a:p>
            <a:pPr marL="800100"/>
            <a:r>
              <a:rPr lang="en-US" sz="1700" dirty="0" err="1" smtClean="0"/>
              <a:t>cout</a:t>
            </a:r>
            <a:r>
              <a:rPr lang="en-US" sz="1700" dirty="0" smtClean="0"/>
              <a:t> &lt;&lt; "\</a:t>
            </a:r>
            <a:r>
              <a:rPr lang="en-US" sz="1700" dirty="0" err="1" smtClean="0"/>
              <a:t>nThe</a:t>
            </a:r>
            <a:r>
              <a:rPr lang="en-US" sz="1700" dirty="0" smtClean="0"/>
              <a:t> sum is : " &lt;&lt; result; </a:t>
            </a:r>
          </a:p>
          <a:p>
            <a:pPr marL="800100"/>
            <a:r>
              <a:rPr lang="en-US" sz="1700" dirty="0" smtClean="0"/>
              <a:t>return 0; </a:t>
            </a:r>
          </a:p>
          <a:p>
            <a:pPr marL="800100"/>
            <a:r>
              <a:rPr lang="en-US" sz="1700" dirty="0" smtClean="0"/>
              <a:t>} </a:t>
            </a:r>
          </a:p>
          <a:p>
            <a:pPr marL="800100"/>
            <a:endParaRPr lang="en-US" sz="1700" dirty="0" smtClean="0"/>
          </a:p>
          <a:p>
            <a:pPr marL="800100"/>
            <a:r>
              <a:rPr lang="en-US" sz="1700" dirty="0" smtClean="0"/>
              <a:t>// Function Definition </a:t>
            </a:r>
          </a:p>
          <a:p>
            <a:pPr marL="800100"/>
            <a:r>
              <a:rPr lang="en-US" sz="1700" dirty="0" err="1" smtClean="0"/>
              <a:t>int</a:t>
            </a:r>
            <a:r>
              <a:rPr lang="en-US" sz="1700" dirty="0" smtClean="0"/>
              <a:t> sum(</a:t>
            </a:r>
            <a:r>
              <a:rPr lang="en-US" sz="1700" dirty="0" err="1" smtClean="0"/>
              <a:t>int</a:t>
            </a:r>
            <a:r>
              <a:rPr lang="en-US" sz="1700" dirty="0" smtClean="0"/>
              <a:t> a, </a:t>
            </a:r>
            <a:r>
              <a:rPr lang="en-US" sz="1700" dirty="0" err="1" smtClean="0"/>
              <a:t>int</a:t>
            </a:r>
            <a:r>
              <a:rPr lang="en-US" sz="1700" dirty="0" smtClean="0"/>
              <a:t> b) { </a:t>
            </a:r>
          </a:p>
          <a:p>
            <a:pPr marL="800100"/>
            <a:r>
              <a:rPr lang="en-US" sz="1700" dirty="0" smtClean="0"/>
              <a:t>return a + b; }</a:t>
            </a:r>
          </a:p>
          <a:p>
            <a:pPr marL="800100"/>
            <a:endParaRPr sz="1700" dirty="0" smtClean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</a:pPr>
            <a:r>
              <a:rPr sz="1700" b="1" spc="125" dirty="0" smtClean="0">
                <a:latin typeface="Cambria"/>
                <a:cs typeface="Cambria"/>
              </a:rPr>
              <a:t>Output</a:t>
            </a:r>
            <a:endParaRPr sz="1700" dirty="0" smtClean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  <a:spcBef>
                <a:spcPts val="25"/>
              </a:spcBef>
            </a:pPr>
            <a:r>
              <a:rPr sz="1700" spc="85" dirty="0" smtClean="0">
                <a:latin typeface="Cambria"/>
                <a:cs typeface="Cambria"/>
              </a:rPr>
              <a:t>Going</a:t>
            </a:r>
            <a:r>
              <a:rPr sz="1700" spc="9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to</a:t>
            </a:r>
            <a:r>
              <a:rPr sz="1700" spc="105" dirty="0" smtClean="0">
                <a:latin typeface="Cambria"/>
                <a:cs typeface="Cambria"/>
              </a:rPr>
              <a:t> </a:t>
            </a:r>
            <a:r>
              <a:rPr sz="1700" spc="55" dirty="0" smtClean="0">
                <a:latin typeface="Cambria"/>
                <a:cs typeface="Cambria"/>
              </a:rPr>
              <a:t>calculate </a:t>
            </a:r>
            <a:r>
              <a:rPr sz="1700" spc="65" dirty="0" smtClean="0">
                <a:latin typeface="Cambria"/>
                <a:cs typeface="Cambria"/>
              </a:rPr>
              <a:t>the</a:t>
            </a:r>
            <a:r>
              <a:rPr sz="1700" spc="110" dirty="0" smtClean="0">
                <a:latin typeface="Cambria"/>
                <a:cs typeface="Cambria"/>
              </a:rPr>
              <a:t> </a:t>
            </a:r>
            <a:r>
              <a:rPr sz="1700" spc="70" dirty="0" smtClean="0">
                <a:latin typeface="Cambria"/>
                <a:cs typeface="Cambria"/>
              </a:rPr>
              <a:t>sum</a:t>
            </a:r>
            <a:r>
              <a:rPr sz="1700" spc="10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of</a:t>
            </a:r>
            <a:r>
              <a:rPr sz="1700" spc="9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two</a:t>
            </a:r>
            <a:r>
              <a:rPr sz="1700" spc="105" dirty="0" smtClean="0">
                <a:latin typeface="Cambria"/>
                <a:cs typeface="Cambria"/>
              </a:rPr>
              <a:t> </a:t>
            </a:r>
            <a:r>
              <a:rPr sz="1700" spc="45" dirty="0" smtClean="0">
                <a:latin typeface="Cambria"/>
                <a:cs typeface="Cambria"/>
              </a:rPr>
              <a:t>numbers:</a:t>
            </a:r>
            <a:endParaRPr sz="1700" dirty="0" smtClean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</a:pPr>
            <a:r>
              <a:rPr sz="1700" spc="90" dirty="0" smtClean="0">
                <a:latin typeface="Cambria"/>
                <a:cs typeface="Cambria"/>
              </a:rPr>
              <a:t>Enter</a:t>
            </a:r>
            <a:r>
              <a:rPr sz="1700" spc="165" dirty="0" smtClean="0">
                <a:latin typeface="Cambria"/>
                <a:cs typeface="Cambria"/>
              </a:rPr>
              <a:t> </a:t>
            </a:r>
            <a:r>
              <a:rPr sz="1700" spc="10" dirty="0" smtClean="0">
                <a:latin typeface="Cambria"/>
                <a:cs typeface="Cambria"/>
              </a:rPr>
              <a:t>two</a:t>
            </a:r>
            <a:r>
              <a:rPr sz="1700" spc="254" dirty="0" smtClean="0">
                <a:latin typeface="Cambria"/>
                <a:cs typeface="Cambria"/>
              </a:rPr>
              <a:t> </a:t>
            </a:r>
            <a:r>
              <a:rPr sz="1700" spc="10" dirty="0" smtClean="0">
                <a:latin typeface="Cambria"/>
                <a:cs typeface="Cambria"/>
              </a:rPr>
              <a:t>numbers:10</a:t>
            </a:r>
            <a:r>
              <a:rPr sz="1700" spc="95" dirty="0" smtClean="0">
                <a:latin typeface="Cambria"/>
                <a:cs typeface="Cambria"/>
              </a:rPr>
              <a:t> </a:t>
            </a:r>
            <a:r>
              <a:rPr sz="1700" spc="-25" dirty="0" smtClean="0">
                <a:latin typeface="Cambria"/>
                <a:cs typeface="Cambria"/>
              </a:rPr>
              <a:t>20</a:t>
            </a:r>
            <a:endParaRPr sz="1700" dirty="0" smtClean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  <a:spcBef>
                <a:spcPts val="5"/>
              </a:spcBef>
            </a:pPr>
            <a:r>
              <a:rPr sz="1700" spc="75" dirty="0" smtClean="0">
                <a:latin typeface="Cambria"/>
                <a:cs typeface="Cambria"/>
              </a:rPr>
              <a:t>The </a:t>
            </a:r>
            <a:r>
              <a:rPr sz="1700" spc="70" dirty="0" smtClean="0">
                <a:latin typeface="Cambria"/>
                <a:cs typeface="Cambria"/>
              </a:rPr>
              <a:t>sum</a:t>
            </a:r>
            <a:r>
              <a:rPr sz="1700" spc="75" dirty="0" smtClean="0">
                <a:latin typeface="Cambria"/>
                <a:cs typeface="Cambria"/>
              </a:rPr>
              <a:t> </a:t>
            </a:r>
            <a:r>
              <a:rPr sz="1700" spc="50" dirty="0" smtClean="0">
                <a:latin typeface="Cambria"/>
                <a:cs typeface="Cambria"/>
              </a:rPr>
              <a:t>is</a:t>
            </a:r>
            <a:r>
              <a:rPr sz="1700" spc="10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:</a:t>
            </a:r>
            <a:r>
              <a:rPr sz="1700" spc="110" dirty="0" smtClean="0">
                <a:latin typeface="Cambria"/>
                <a:cs typeface="Cambria"/>
              </a:rPr>
              <a:t> </a:t>
            </a:r>
            <a:r>
              <a:rPr sz="1700" spc="-25" dirty="0" smtClean="0">
                <a:latin typeface="Cambria"/>
                <a:cs typeface="Cambria"/>
              </a:rPr>
              <a:t>30</a:t>
            </a:r>
            <a:endParaRPr sz="17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5174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9875" algn="l"/>
                <a:tab pos="2237740" algn="l"/>
              </a:tabLst>
            </a:pPr>
            <a:r>
              <a:rPr cap="small" spc="380" dirty="0"/>
              <a:t>Types</a:t>
            </a:r>
            <a:r>
              <a:rPr cap="small" dirty="0"/>
              <a:t>	</a:t>
            </a:r>
            <a:r>
              <a:rPr cap="small" spc="390" dirty="0"/>
              <a:t>of</a:t>
            </a:r>
            <a:r>
              <a:rPr cap="small" dirty="0"/>
              <a:t>	</a:t>
            </a:r>
            <a:r>
              <a:rPr cap="small" spc="355" dirty="0"/>
              <a:t>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1017854"/>
            <a:ext cx="7999730" cy="48750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8890" indent="-274320">
              <a:lnSpc>
                <a:spcPct val="100000"/>
              </a:lnSpc>
              <a:spcBef>
                <a:spcPts val="9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b="1" spc="160" dirty="0">
                <a:latin typeface="Cambria"/>
                <a:cs typeface="Cambria"/>
              </a:rPr>
              <a:t>Parameters</a:t>
            </a:r>
            <a:r>
              <a:rPr sz="2600" b="1" spc="280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are</a:t>
            </a:r>
            <a:r>
              <a:rPr sz="2600" spc="254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the</a:t>
            </a:r>
            <a:r>
              <a:rPr sz="2600" spc="254" dirty="0">
                <a:latin typeface="Cambria"/>
                <a:cs typeface="Cambria"/>
              </a:rPr>
              <a:t> </a:t>
            </a:r>
            <a:r>
              <a:rPr sz="2600" spc="120" dirty="0">
                <a:latin typeface="Cambria"/>
                <a:cs typeface="Cambria"/>
              </a:rPr>
              <a:t>data</a:t>
            </a:r>
            <a:r>
              <a:rPr sz="2600" spc="260" dirty="0">
                <a:latin typeface="Cambria"/>
                <a:cs typeface="Cambria"/>
              </a:rPr>
              <a:t> </a:t>
            </a:r>
            <a:r>
              <a:rPr sz="2600" spc="100" dirty="0">
                <a:latin typeface="Cambria"/>
                <a:cs typeface="Cambria"/>
              </a:rPr>
              <a:t>values</a:t>
            </a:r>
            <a:r>
              <a:rPr sz="2600" spc="270" dirty="0">
                <a:latin typeface="Cambria"/>
                <a:cs typeface="Cambria"/>
              </a:rPr>
              <a:t> </a:t>
            </a:r>
            <a:r>
              <a:rPr sz="2600" spc="145" dirty="0">
                <a:latin typeface="Cambria"/>
                <a:cs typeface="Cambria"/>
              </a:rPr>
              <a:t>that</a:t>
            </a:r>
            <a:r>
              <a:rPr sz="2600" spc="28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are</a:t>
            </a:r>
            <a:r>
              <a:rPr sz="2600" spc="260" dirty="0">
                <a:latin typeface="Cambria"/>
                <a:cs typeface="Cambria"/>
              </a:rPr>
              <a:t> </a:t>
            </a:r>
            <a:r>
              <a:rPr sz="2600" b="1" spc="125" dirty="0">
                <a:latin typeface="Cambria"/>
                <a:cs typeface="Cambria"/>
              </a:rPr>
              <a:t>passed </a:t>
            </a:r>
            <a:r>
              <a:rPr sz="2600" b="1" spc="145" dirty="0">
                <a:latin typeface="Cambria"/>
                <a:cs typeface="Cambria"/>
              </a:rPr>
              <a:t>from</a:t>
            </a:r>
            <a:r>
              <a:rPr sz="2600" b="1" spc="204" dirty="0">
                <a:latin typeface="Cambria"/>
                <a:cs typeface="Cambria"/>
              </a:rPr>
              <a:t> </a:t>
            </a:r>
            <a:r>
              <a:rPr sz="2600" b="1" spc="170" dirty="0">
                <a:latin typeface="Cambria"/>
                <a:cs typeface="Cambria"/>
              </a:rPr>
              <a:t>calling</a:t>
            </a:r>
            <a:r>
              <a:rPr sz="2600" b="1" spc="200" dirty="0">
                <a:latin typeface="Cambria"/>
                <a:cs typeface="Cambria"/>
              </a:rPr>
              <a:t> </a:t>
            </a:r>
            <a:r>
              <a:rPr sz="2600" b="1" spc="165" dirty="0">
                <a:latin typeface="Cambria"/>
                <a:cs typeface="Cambria"/>
              </a:rPr>
              <a:t>function</a:t>
            </a:r>
            <a:r>
              <a:rPr sz="2600" b="1" spc="204" dirty="0">
                <a:latin typeface="Cambria"/>
                <a:cs typeface="Cambria"/>
              </a:rPr>
              <a:t> </a:t>
            </a:r>
            <a:r>
              <a:rPr sz="2600" b="1" spc="120" dirty="0">
                <a:latin typeface="Cambria"/>
                <a:cs typeface="Cambria"/>
              </a:rPr>
              <a:t>to</a:t>
            </a:r>
            <a:r>
              <a:rPr sz="2600" b="1" spc="204" dirty="0">
                <a:latin typeface="Cambria"/>
                <a:cs typeface="Cambria"/>
              </a:rPr>
              <a:t> </a:t>
            </a:r>
            <a:r>
              <a:rPr sz="2600" b="1" spc="150" dirty="0">
                <a:latin typeface="Cambria"/>
                <a:cs typeface="Cambria"/>
              </a:rPr>
              <a:t>called</a:t>
            </a:r>
            <a:r>
              <a:rPr sz="2600" b="1" spc="204" dirty="0">
                <a:latin typeface="Cambria"/>
                <a:cs typeface="Cambria"/>
              </a:rPr>
              <a:t> </a:t>
            </a:r>
            <a:r>
              <a:rPr sz="2600" b="1" spc="155" dirty="0">
                <a:latin typeface="Cambria"/>
                <a:cs typeface="Cambria"/>
              </a:rPr>
              <a:t>function.</a:t>
            </a:r>
            <a:endParaRPr sz="26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Clr>
                <a:srgbClr val="FD8537"/>
              </a:buClr>
              <a:buFont typeface="Wingdings"/>
              <a:buChar char=""/>
            </a:pPr>
            <a:endParaRPr sz="2600" dirty="0">
              <a:latin typeface="Cambria"/>
              <a:cs typeface="Cambria"/>
            </a:endParaRPr>
          </a:p>
          <a:p>
            <a:pPr marL="287020" marR="8890" indent="-274320">
              <a:lnSpc>
                <a:spcPct val="100000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spc="170" dirty="0">
                <a:latin typeface="Cambria"/>
                <a:cs typeface="Cambria"/>
              </a:rPr>
              <a:t>In</a:t>
            </a:r>
            <a:r>
              <a:rPr sz="2600" spc="370" dirty="0">
                <a:latin typeface="Cambria"/>
                <a:cs typeface="Cambria"/>
              </a:rPr>
              <a:t> </a:t>
            </a:r>
            <a:r>
              <a:rPr sz="2600" spc="290" dirty="0" smtClean="0">
                <a:latin typeface="Cambria"/>
                <a:cs typeface="Cambria"/>
              </a:rPr>
              <a:t>C</a:t>
            </a:r>
            <a:r>
              <a:rPr lang="en-US" sz="2600" spc="290" dirty="0" smtClean="0">
                <a:latin typeface="Cambria"/>
                <a:cs typeface="Cambria"/>
              </a:rPr>
              <a:t>++</a:t>
            </a:r>
            <a:r>
              <a:rPr sz="2600" spc="290" dirty="0" smtClean="0">
                <a:latin typeface="Cambria"/>
                <a:cs typeface="Cambria"/>
              </a:rPr>
              <a:t>,</a:t>
            </a:r>
            <a:r>
              <a:rPr sz="2600" spc="400" dirty="0" smtClean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there</a:t>
            </a:r>
            <a:r>
              <a:rPr sz="2600" spc="405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are</a:t>
            </a:r>
            <a:r>
              <a:rPr sz="2600" spc="37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two</a:t>
            </a:r>
            <a:r>
              <a:rPr sz="2600" spc="400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types</a:t>
            </a:r>
            <a:r>
              <a:rPr sz="2600" spc="3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400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parameters</a:t>
            </a:r>
            <a:r>
              <a:rPr sz="2600" spc="380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and</a:t>
            </a:r>
            <a:r>
              <a:rPr sz="2600" spc="400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they </a:t>
            </a:r>
            <a:r>
              <a:rPr sz="2600" spc="80" dirty="0">
                <a:latin typeface="Cambria"/>
                <a:cs typeface="Cambria"/>
              </a:rPr>
              <a:t>are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114" dirty="0">
                <a:latin typeface="Cambria"/>
                <a:cs typeface="Cambria"/>
              </a:rPr>
              <a:t>as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follows:</a:t>
            </a:r>
            <a:endParaRPr sz="2600" dirty="0">
              <a:latin typeface="Cambria"/>
              <a:cs typeface="Cambria"/>
            </a:endParaRPr>
          </a:p>
          <a:p>
            <a:pPr marL="638175" lvl="1" indent="-273685" algn="ctr">
              <a:lnSpc>
                <a:spcPct val="100000"/>
              </a:lnSpc>
              <a:spcBef>
                <a:spcPts val="540"/>
              </a:spcBef>
              <a:buClr>
                <a:srgbClr val="FD8537"/>
              </a:buClr>
              <a:buSzPct val="80434"/>
              <a:buFont typeface="Wingdings"/>
              <a:buChar char=""/>
              <a:tabLst>
                <a:tab pos="638175" algn="l"/>
                <a:tab pos="1797685" algn="l"/>
                <a:tab pos="3827779" algn="l"/>
                <a:tab pos="4511040" algn="l"/>
                <a:tab pos="5624195" algn="l"/>
                <a:tab pos="7532370" algn="l"/>
              </a:tabLst>
            </a:pPr>
            <a:r>
              <a:rPr sz="2300" b="1" spc="160" dirty="0">
                <a:latin typeface="Cambria"/>
                <a:cs typeface="Cambria"/>
              </a:rPr>
              <a:t>Actual</a:t>
            </a:r>
            <a:r>
              <a:rPr sz="2300" b="1" dirty="0">
                <a:latin typeface="Cambria"/>
                <a:cs typeface="Cambria"/>
              </a:rPr>
              <a:t>	</a:t>
            </a:r>
            <a:r>
              <a:rPr sz="2300" b="1" spc="120" dirty="0">
                <a:latin typeface="Cambria"/>
                <a:cs typeface="Cambria"/>
              </a:rPr>
              <a:t>Parameters-</a:t>
            </a:r>
            <a:r>
              <a:rPr sz="2300" b="1" dirty="0">
                <a:latin typeface="Cambria"/>
                <a:cs typeface="Cambria"/>
              </a:rPr>
              <a:t>	</a:t>
            </a:r>
            <a:r>
              <a:rPr sz="2300" spc="75" dirty="0">
                <a:latin typeface="Cambria"/>
                <a:cs typeface="Cambria"/>
              </a:rPr>
              <a:t>The</a:t>
            </a:r>
            <a:r>
              <a:rPr sz="2300" dirty="0">
                <a:latin typeface="Cambria"/>
                <a:cs typeface="Cambria"/>
              </a:rPr>
              <a:t>	</a:t>
            </a:r>
            <a:r>
              <a:rPr sz="2300" b="1" spc="145" dirty="0">
                <a:latin typeface="Cambria"/>
                <a:cs typeface="Cambria"/>
              </a:rPr>
              <a:t>actual</a:t>
            </a:r>
            <a:r>
              <a:rPr sz="2300" b="1" dirty="0">
                <a:latin typeface="Cambria"/>
                <a:cs typeface="Cambria"/>
              </a:rPr>
              <a:t>	</a:t>
            </a:r>
            <a:r>
              <a:rPr sz="2300" b="1" spc="120" dirty="0">
                <a:latin typeface="Cambria"/>
                <a:cs typeface="Cambria"/>
              </a:rPr>
              <a:t>parameters</a:t>
            </a:r>
            <a:r>
              <a:rPr sz="2300" b="1" dirty="0">
                <a:latin typeface="Cambria"/>
                <a:cs typeface="Cambria"/>
              </a:rPr>
              <a:t>	</a:t>
            </a:r>
            <a:r>
              <a:rPr sz="2300" spc="55" dirty="0">
                <a:latin typeface="Cambria"/>
                <a:cs typeface="Cambria"/>
              </a:rPr>
              <a:t>are</a:t>
            </a:r>
            <a:endParaRPr sz="2300" dirty="0">
              <a:latin typeface="Cambria"/>
              <a:cs typeface="Cambria"/>
            </a:endParaRPr>
          </a:p>
          <a:p>
            <a:pPr marL="421640" algn="ctr">
              <a:lnSpc>
                <a:spcPct val="100000"/>
              </a:lnSpc>
              <a:spcBef>
                <a:spcPts val="5"/>
              </a:spcBef>
            </a:pPr>
            <a:r>
              <a:rPr sz="2300" spc="85" dirty="0">
                <a:latin typeface="Cambria"/>
                <a:cs typeface="Cambria"/>
              </a:rPr>
              <a:t>the</a:t>
            </a:r>
            <a:r>
              <a:rPr sz="2300" spc="185" dirty="0">
                <a:latin typeface="Cambria"/>
                <a:cs typeface="Cambria"/>
              </a:rPr>
              <a:t> </a:t>
            </a:r>
            <a:r>
              <a:rPr sz="2300" spc="75" dirty="0">
                <a:latin typeface="Cambria"/>
                <a:cs typeface="Cambria"/>
              </a:rPr>
              <a:t>parameters</a:t>
            </a:r>
            <a:r>
              <a:rPr sz="2300" spc="240" dirty="0">
                <a:latin typeface="Cambria"/>
                <a:cs typeface="Cambria"/>
              </a:rPr>
              <a:t> </a:t>
            </a:r>
            <a:r>
              <a:rPr sz="2300" spc="120" dirty="0">
                <a:latin typeface="Cambria"/>
                <a:cs typeface="Cambria"/>
              </a:rPr>
              <a:t>that</a:t>
            </a:r>
            <a:r>
              <a:rPr sz="2300" spc="204" dirty="0">
                <a:latin typeface="Cambria"/>
                <a:cs typeface="Cambria"/>
              </a:rPr>
              <a:t> </a:t>
            </a:r>
            <a:r>
              <a:rPr sz="2300" spc="85" dirty="0">
                <a:latin typeface="Cambria"/>
                <a:cs typeface="Cambria"/>
              </a:rPr>
              <a:t>are</a:t>
            </a:r>
            <a:r>
              <a:rPr sz="2300" spc="18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specified</a:t>
            </a:r>
            <a:r>
              <a:rPr sz="2300" spc="210" dirty="0">
                <a:latin typeface="Cambria"/>
                <a:cs typeface="Cambria"/>
              </a:rPr>
              <a:t> </a:t>
            </a:r>
            <a:r>
              <a:rPr sz="2300" spc="90" dirty="0">
                <a:latin typeface="Cambria"/>
                <a:cs typeface="Cambria"/>
              </a:rPr>
              <a:t>in</a:t>
            </a:r>
            <a:r>
              <a:rPr sz="2300" spc="195" dirty="0">
                <a:latin typeface="Cambria"/>
                <a:cs typeface="Cambria"/>
              </a:rPr>
              <a:t> </a:t>
            </a:r>
            <a:r>
              <a:rPr sz="2300" spc="90" dirty="0">
                <a:latin typeface="Cambria"/>
                <a:cs typeface="Cambria"/>
              </a:rPr>
              <a:t>calling</a:t>
            </a:r>
            <a:r>
              <a:rPr sz="2300" spc="204" dirty="0">
                <a:latin typeface="Cambria"/>
                <a:cs typeface="Cambria"/>
              </a:rPr>
              <a:t> </a:t>
            </a:r>
            <a:r>
              <a:rPr sz="2300" spc="70" dirty="0">
                <a:latin typeface="Cambria"/>
                <a:cs typeface="Cambria"/>
              </a:rPr>
              <a:t>function.</a:t>
            </a:r>
            <a:endParaRPr sz="23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300" dirty="0">
              <a:latin typeface="Cambria"/>
              <a:cs typeface="Cambria"/>
            </a:endParaRPr>
          </a:p>
          <a:p>
            <a:pPr marL="652780" marR="5080" lvl="1" indent="-274320" algn="just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80434"/>
              <a:buFont typeface="Wingdings"/>
              <a:buChar char=""/>
              <a:tabLst>
                <a:tab pos="652780" algn="l"/>
              </a:tabLst>
            </a:pPr>
            <a:r>
              <a:rPr sz="2300" b="1" spc="175" dirty="0">
                <a:latin typeface="Cambria"/>
                <a:cs typeface="Cambria"/>
              </a:rPr>
              <a:t>Formal</a:t>
            </a:r>
            <a:r>
              <a:rPr sz="2300" b="1" spc="550" dirty="0">
                <a:latin typeface="Cambria"/>
                <a:cs typeface="Cambria"/>
              </a:rPr>
              <a:t> </a:t>
            </a:r>
            <a:r>
              <a:rPr sz="2300" b="1" spc="130" dirty="0">
                <a:latin typeface="Cambria"/>
                <a:cs typeface="Cambria"/>
              </a:rPr>
              <a:t>Parameters-</a:t>
            </a:r>
            <a:r>
              <a:rPr sz="2300" b="1" spc="520" dirty="0">
                <a:latin typeface="Cambria"/>
                <a:cs typeface="Cambria"/>
              </a:rPr>
              <a:t> </a:t>
            </a:r>
            <a:r>
              <a:rPr sz="2300" spc="100" dirty="0">
                <a:latin typeface="Cambria"/>
                <a:cs typeface="Cambria"/>
              </a:rPr>
              <a:t>The</a:t>
            </a:r>
            <a:r>
              <a:rPr sz="2300" spc="545" dirty="0">
                <a:latin typeface="Cambria"/>
                <a:cs typeface="Cambria"/>
              </a:rPr>
              <a:t> </a:t>
            </a:r>
            <a:r>
              <a:rPr sz="2300" b="1" spc="120" dirty="0">
                <a:latin typeface="Cambria"/>
                <a:cs typeface="Cambria"/>
              </a:rPr>
              <a:t>formal</a:t>
            </a:r>
            <a:r>
              <a:rPr sz="2300" b="1" spc="565" dirty="0">
                <a:latin typeface="Cambria"/>
                <a:cs typeface="Cambria"/>
              </a:rPr>
              <a:t> </a:t>
            </a:r>
            <a:r>
              <a:rPr sz="2300" b="1" spc="125" dirty="0">
                <a:latin typeface="Cambria"/>
                <a:cs typeface="Cambria"/>
              </a:rPr>
              <a:t>parameters</a:t>
            </a:r>
            <a:r>
              <a:rPr sz="2300" b="1" spc="550" dirty="0">
                <a:latin typeface="Cambria"/>
                <a:cs typeface="Cambria"/>
              </a:rPr>
              <a:t> </a:t>
            </a:r>
            <a:r>
              <a:rPr sz="2300" spc="55" dirty="0">
                <a:latin typeface="Cambria"/>
                <a:cs typeface="Cambria"/>
              </a:rPr>
              <a:t>are </a:t>
            </a:r>
            <a:r>
              <a:rPr sz="2300" spc="85" dirty="0">
                <a:latin typeface="Cambria"/>
                <a:cs typeface="Cambria"/>
              </a:rPr>
              <a:t>the</a:t>
            </a:r>
            <a:r>
              <a:rPr sz="2300" spc="565" dirty="0">
                <a:latin typeface="Cambria"/>
                <a:cs typeface="Cambria"/>
              </a:rPr>
              <a:t> </a:t>
            </a:r>
            <a:r>
              <a:rPr sz="2300" spc="75" dirty="0">
                <a:latin typeface="Cambria"/>
                <a:cs typeface="Cambria"/>
              </a:rPr>
              <a:t>parameters</a:t>
            </a:r>
            <a:r>
              <a:rPr sz="2300" spc="565" dirty="0">
                <a:latin typeface="Cambria"/>
                <a:cs typeface="Cambria"/>
              </a:rPr>
              <a:t> </a:t>
            </a:r>
            <a:r>
              <a:rPr sz="2300" spc="120" dirty="0">
                <a:latin typeface="Cambria"/>
                <a:cs typeface="Cambria"/>
              </a:rPr>
              <a:t>that</a:t>
            </a:r>
            <a:r>
              <a:rPr sz="2300" spc="535" dirty="0">
                <a:latin typeface="Cambria"/>
                <a:cs typeface="Cambria"/>
              </a:rPr>
              <a:t> </a:t>
            </a:r>
            <a:r>
              <a:rPr sz="2300" spc="75" dirty="0">
                <a:latin typeface="Cambria"/>
                <a:cs typeface="Cambria"/>
              </a:rPr>
              <a:t>are</a:t>
            </a:r>
            <a:r>
              <a:rPr sz="2300" spc="570" dirty="0">
                <a:latin typeface="Cambria"/>
                <a:cs typeface="Cambria"/>
              </a:rPr>
              <a:t> </a:t>
            </a:r>
            <a:r>
              <a:rPr sz="2300" spc="50" dirty="0">
                <a:latin typeface="Cambria"/>
                <a:cs typeface="Cambria"/>
              </a:rPr>
              <a:t>declared</a:t>
            </a:r>
            <a:r>
              <a:rPr sz="2300" spc="30" dirty="0">
                <a:latin typeface="Cambria"/>
                <a:cs typeface="Cambria"/>
              </a:rPr>
              <a:t>  </a:t>
            </a:r>
            <a:r>
              <a:rPr sz="2300" spc="125" dirty="0">
                <a:latin typeface="Cambria"/>
                <a:cs typeface="Cambria"/>
              </a:rPr>
              <a:t>at</a:t>
            </a:r>
            <a:r>
              <a:rPr sz="2300" spc="535" dirty="0">
                <a:latin typeface="Cambria"/>
                <a:cs typeface="Cambria"/>
              </a:rPr>
              <a:t> </a:t>
            </a:r>
            <a:r>
              <a:rPr sz="2300" spc="65" dirty="0">
                <a:latin typeface="Cambria"/>
                <a:cs typeface="Cambria"/>
              </a:rPr>
              <a:t>called</a:t>
            </a:r>
            <a:r>
              <a:rPr sz="2300" spc="565" dirty="0">
                <a:latin typeface="Cambria"/>
                <a:cs typeface="Cambria"/>
              </a:rPr>
              <a:t> </a:t>
            </a:r>
            <a:r>
              <a:rPr sz="2300" spc="65" dirty="0">
                <a:latin typeface="Cambria"/>
                <a:cs typeface="Cambria"/>
              </a:rPr>
              <a:t>function. </a:t>
            </a:r>
            <a:r>
              <a:rPr sz="2300" spc="90" dirty="0">
                <a:latin typeface="Cambria"/>
                <a:cs typeface="Cambria"/>
              </a:rPr>
              <a:t>When</a:t>
            </a:r>
            <a:r>
              <a:rPr sz="2300" spc="160" dirty="0">
                <a:latin typeface="Cambria"/>
                <a:cs typeface="Cambria"/>
              </a:rPr>
              <a:t>  </a:t>
            </a:r>
            <a:r>
              <a:rPr sz="2300" spc="155" dirty="0">
                <a:latin typeface="Cambria"/>
                <a:cs typeface="Cambria"/>
              </a:rPr>
              <a:t>a</a:t>
            </a:r>
            <a:r>
              <a:rPr sz="2300" spc="145" dirty="0">
                <a:latin typeface="Cambria"/>
                <a:cs typeface="Cambria"/>
              </a:rPr>
              <a:t>  </a:t>
            </a:r>
            <a:r>
              <a:rPr sz="2300" spc="60" dirty="0">
                <a:latin typeface="Cambria"/>
                <a:cs typeface="Cambria"/>
              </a:rPr>
              <a:t>function</a:t>
            </a:r>
            <a:r>
              <a:rPr sz="2300" spc="150" dirty="0">
                <a:latin typeface="Cambria"/>
                <a:cs typeface="Cambria"/>
              </a:rPr>
              <a:t>  </a:t>
            </a:r>
            <a:r>
              <a:rPr sz="2300" spc="70" dirty="0">
                <a:latin typeface="Cambria"/>
                <a:cs typeface="Cambria"/>
              </a:rPr>
              <a:t>gets</a:t>
            </a:r>
            <a:r>
              <a:rPr sz="2300" spc="160" dirty="0">
                <a:latin typeface="Cambria"/>
                <a:cs typeface="Cambria"/>
              </a:rPr>
              <a:t>  </a:t>
            </a:r>
            <a:r>
              <a:rPr sz="2300" spc="60" dirty="0">
                <a:latin typeface="Cambria"/>
                <a:cs typeface="Cambria"/>
              </a:rPr>
              <a:t>executed,</a:t>
            </a:r>
            <a:r>
              <a:rPr sz="2300" spc="150" dirty="0">
                <a:latin typeface="Cambria"/>
                <a:cs typeface="Cambria"/>
              </a:rPr>
              <a:t>  </a:t>
            </a:r>
            <a:r>
              <a:rPr sz="2300" spc="80" dirty="0">
                <a:latin typeface="Cambria"/>
                <a:cs typeface="Cambria"/>
              </a:rPr>
              <a:t>the</a:t>
            </a:r>
            <a:r>
              <a:rPr sz="2300" spc="150" dirty="0">
                <a:latin typeface="Cambria"/>
                <a:cs typeface="Cambria"/>
              </a:rPr>
              <a:t>  </a:t>
            </a:r>
            <a:r>
              <a:rPr sz="2300" dirty="0">
                <a:latin typeface="Cambria"/>
                <a:cs typeface="Cambria"/>
              </a:rPr>
              <a:t>copy</a:t>
            </a:r>
            <a:r>
              <a:rPr sz="2300" spc="155" dirty="0">
                <a:latin typeface="Cambria"/>
                <a:cs typeface="Cambria"/>
              </a:rPr>
              <a:t>  </a:t>
            </a:r>
            <a:r>
              <a:rPr sz="2300" dirty="0">
                <a:latin typeface="Cambria"/>
                <a:cs typeface="Cambria"/>
              </a:rPr>
              <a:t>of</a:t>
            </a:r>
            <a:r>
              <a:rPr sz="2300" spc="160" dirty="0">
                <a:latin typeface="Cambria"/>
                <a:cs typeface="Cambria"/>
              </a:rPr>
              <a:t>  </a:t>
            </a:r>
            <a:r>
              <a:rPr sz="2300" spc="75" dirty="0">
                <a:latin typeface="Cambria"/>
                <a:cs typeface="Cambria"/>
              </a:rPr>
              <a:t>actual parameter</a:t>
            </a:r>
            <a:r>
              <a:rPr sz="2300" spc="190" dirty="0">
                <a:latin typeface="Cambria"/>
                <a:cs typeface="Cambria"/>
              </a:rPr>
              <a:t> </a:t>
            </a:r>
            <a:r>
              <a:rPr sz="2300" spc="85" dirty="0">
                <a:latin typeface="Cambria"/>
                <a:cs typeface="Cambria"/>
              </a:rPr>
              <a:t>values</a:t>
            </a:r>
            <a:r>
              <a:rPr sz="2300" spc="145" dirty="0">
                <a:latin typeface="Cambria"/>
                <a:cs typeface="Cambria"/>
              </a:rPr>
              <a:t> </a:t>
            </a:r>
            <a:r>
              <a:rPr sz="2300" spc="75" dirty="0">
                <a:latin typeface="Cambria"/>
                <a:cs typeface="Cambria"/>
              </a:rPr>
              <a:t>are</a:t>
            </a:r>
            <a:r>
              <a:rPr sz="2300" spc="15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copied</a:t>
            </a:r>
            <a:r>
              <a:rPr sz="2300" spc="175" dirty="0">
                <a:latin typeface="Cambria"/>
                <a:cs typeface="Cambria"/>
              </a:rPr>
              <a:t> </a:t>
            </a:r>
            <a:r>
              <a:rPr sz="2300" spc="55" dirty="0">
                <a:latin typeface="Cambria"/>
                <a:cs typeface="Cambria"/>
              </a:rPr>
              <a:t>into</a:t>
            </a:r>
            <a:r>
              <a:rPr sz="2300" spc="170" dirty="0">
                <a:latin typeface="Cambria"/>
                <a:cs typeface="Cambria"/>
              </a:rPr>
              <a:t> </a:t>
            </a:r>
            <a:r>
              <a:rPr sz="2300" spc="70" dirty="0">
                <a:latin typeface="Cambria"/>
                <a:cs typeface="Cambria"/>
              </a:rPr>
              <a:t>formal</a:t>
            </a:r>
            <a:r>
              <a:rPr sz="2300" spc="135" dirty="0">
                <a:latin typeface="Cambria"/>
                <a:cs typeface="Cambria"/>
              </a:rPr>
              <a:t> </a:t>
            </a:r>
            <a:r>
              <a:rPr sz="2300" spc="75" dirty="0">
                <a:latin typeface="Cambria"/>
                <a:cs typeface="Cambria"/>
              </a:rPr>
              <a:t>parameters.</a:t>
            </a:r>
            <a:endParaRPr sz="23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7527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23845" algn="l"/>
                <a:tab pos="4841875" algn="l"/>
              </a:tabLst>
            </a:pPr>
            <a:r>
              <a:rPr cap="small" spc="380" dirty="0"/>
              <a:t>Parameter</a:t>
            </a:r>
            <a:r>
              <a:rPr cap="small" dirty="0"/>
              <a:t>	</a:t>
            </a:r>
            <a:r>
              <a:rPr cap="small" spc="390" dirty="0"/>
              <a:t>Passing</a:t>
            </a:r>
            <a:r>
              <a:rPr cap="small" dirty="0"/>
              <a:t>	</a:t>
            </a:r>
            <a:r>
              <a:rPr cap="small" spc="36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942653"/>
            <a:ext cx="8003540" cy="54787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86385" indent="-273685" algn="just">
              <a:lnSpc>
                <a:spcPct val="100000"/>
              </a:lnSpc>
              <a:spcBef>
                <a:spcPts val="36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b="1" spc="245" dirty="0">
                <a:latin typeface="Cambria"/>
                <a:cs typeface="Cambria"/>
              </a:rPr>
              <a:t>Call</a:t>
            </a:r>
            <a:r>
              <a:rPr sz="2800" b="1" spc="195" dirty="0">
                <a:latin typeface="Cambria"/>
                <a:cs typeface="Cambria"/>
              </a:rPr>
              <a:t> </a:t>
            </a:r>
            <a:r>
              <a:rPr sz="2800" b="1" spc="185" dirty="0">
                <a:latin typeface="Cambria"/>
                <a:cs typeface="Cambria"/>
              </a:rPr>
              <a:t>by</a:t>
            </a:r>
            <a:r>
              <a:rPr sz="2800" b="1" spc="170" dirty="0">
                <a:latin typeface="Cambria"/>
                <a:cs typeface="Cambria"/>
              </a:rPr>
              <a:t> </a:t>
            </a:r>
            <a:r>
              <a:rPr sz="2800" b="1" spc="190" dirty="0">
                <a:latin typeface="Cambria"/>
                <a:cs typeface="Cambria"/>
              </a:rPr>
              <a:t>Value</a:t>
            </a:r>
            <a:endParaRPr sz="2800">
              <a:latin typeface="Cambria"/>
              <a:cs typeface="Cambria"/>
            </a:endParaRPr>
          </a:p>
          <a:p>
            <a:pPr marL="287020" marR="8255" indent="-274320" algn="just">
              <a:lnSpc>
                <a:spcPct val="90000"/>
              </a:lnSpc>
              <a:spcBef>
                <a:spcPts val="600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185" dirty="0">
                <a:latin typeface="Cambria"/>
                <a:cs typeface="Cambria"/>
              </a:rPr>
              <a:t>In</a:t>
            </a:r>
            <a:r>
              <a:rPr sz="2800" spc="570" dirty="0">
                <a:latin typeface="Cambria"/>
                <a:cs typeface="Cambria"/>
              </a:rPr>
              <a:t> </a:t>
            </a:r>
            <a:r>
              <a:rPr sz="2800" b="1" spc="170" dirty="0">
                <a:latin typeface="Cambria"/>
                <a:cs typeface="Cambria"/>
              </a:rPr>
              <a:t>call</a:t>
            </a:r>
            <a:r>
              <a:rPr sz="2800" b="1" spc="555" dirty="0">
                <a:latin typeface="Cambria"/>
                <a:cs typeface="Cambria"/>
              </a:rPr>
              <a:t> </a:t>
            </a:r>
            <a:r>
              <a:rPr sz="2800" b="1" spc="190" dirty="0">
                <a:latin typeface="Cambria"/>
                <a:cs typeface="Cambria"/>
              </a:rPr>
              <a:t>by</a:t>
            </a:r>
            <a:r>
              <a:rPr sz="2800" b="1" spc="570" dirty="0">
                <a:latin typeface="Cambria"/>
                <a:cs typeface="Cambria"/>
              </a:rPr>
              <a:t> </a:t>
            </a:r>
            <a:r>
              <a:rPr sz="2800" b="1" spc="175" dirty="0">
                <a:latin typeface="Cambria"/>
                <a:cs typeface="Cambria"/>
              </a:rPr>
              <a:t>value</a:t>
            </a:r>
            <a:r>
              <a:rPr sz="2800" b="1" spc="55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parameter</a:t>
            </a:r>
            <a:r>
              <a:rPr sz="2800" spc="555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passing</a:t>
            </a:r>
            <a:r>
              <a:rPr sz="2800" spc="550" dirty="0">
                <a:latin typeface="Cambria"/>
                <a:cs typeface="Cambria"/>
              </a:rPr>
              <a:t> </a:t>
            </a:r>
            <a:r>
              <a:rPr sz="2800" spc="75" dirty="0">
                <a:latin typeface="Cambria"/>
                <a:cs typeface="Cambria"/>
              </a:rPr>
              <a:t>method,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25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copy</a:t>
            </a:r>
            <a:r>
              <a:rPr sz="2800" spc="23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229" dirty="0">
                <a:latin typeface="Cambria"/>
                <a:cs typeface="Cambria"/>
              </a:rPr>
              <a:t> </a:t>
            </a:r>
            <a:r>
              <a:rPr sz="2800" spc="130" dirty="0">
                <a:latin typeface="Cambria"/>
                <a:cs typeface="Cambria"/>
              </a:rPr>
              <a:t>actual</a:t>
            </a:r>
            <a:r>
              <a:rPr sz="2800" spc="24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parameter</a:t>
            </a:r>
            <a:r>
              <a:rPr sz="2800" spc="235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values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are</a:t>
            </a:r>
            <a:r>
              <a:rPr sz="2800" spc="24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copied </a:t>
            </a:r>
            <a:r>
              <a:rPr sz="2800" dirty="0">
                <a:latin typeface="Cambria"/>
                <a:cs typeface="Cambria"/>
              </a:rPr>
              <a:t>to</a:t>
            </a:r>
            <a:r>
              <a:rPr sz="2800" spc="350" dirty="0">
                <a:latin typeface="Cambria"/>
                <a:cs typeface="Cambria"/>
              </a:rPr>
              <a:t>   </a:t>
            </a:r>
            <a:r>
              <a:rPr sz="2800" spc="85" dirty="0">
                <a:latin typeface="Cambria"/>
                <a:cs typeface="Cambria"/>
              </a:rPr>
              <a:t>formal</a:t>
            </a:r>
            <a:r>
              <a:rPr sz="2800" spc="350" dirty="0">
                <a:latin typeface="Cambria"/>
                <a:cs typeface="Cambria"/>
              </a:rPr>
              <a:t>   </a:t>
            </a:r>
            <a:r>
              <a:rPr sz="2800" spc="95" dirty="0">
                <a:latin typeface="Cambria"/>
                <a:cs typeface="Cambria"/>
              </a:rPr>
              <a:t>parameters</a:t>
            </a:r>
            <a:r>
              <a:rPr sz="2800" spc="345" dirty="0">
                <a:latin typeface="Cambria"/>
                <a:cs typeface="Cambria"/>
              </a:rPr>
              <a:t>   </a:t>
            </a:r>
            <a:r>
              <a:rPr sz="2800" spc="130" dirty="0">
                <a:latin typeface="Cambria"/>
                <a:cs typeface="Cambria"/>
              </a:rPr>
              <a:t>and</a:t>
            </a:r>
            <a:r>
              <a:rPr sz="2800" spc="345" dirty="0">
                <a:latin typeface="Cambria"/>
                <a:cs typeface="Cambria"/>
              </a:rPr>
              <a:t>   </a:t>
            </a:r>
            <a:r>
              <a:rPr sz="2800" spc="85" dirty="0">
                <a:latin typeface="Cambria"/>
                <a:cs typeface="Cambria"/>
              </a:rPr>
              <a:t>these</a:t>
            </a:r>
            <a:r>
              <a:rPr sz="2800" spc="360" dirty="0">
                <a:latin typeface="Cambria"/>
                <a:cs typeface="Cambria"/>
              </a:rPr>
              <a:t>   </a:t>
            </a:r>
            <a:r>
              <a:rPr sz="2800" spc="75" dirty="0">
                <a:latin typeface="Cambria"/>
                <a:cs typeface="Cambria"/>
              </a:rPr>
              <a:t>formal </a:t>
            </a:r>
            <a:r>
              <a:rPr sz="2800" spc="100" dirty="0">
                <a:latin typeface="Cambria"/>
                <a:cs typeface="Cambria"/>
              </a:rPr>
              <a:t>parameters</a:t>
            </a:r>
            <a:r>
              <a:rPr sz="2800" spc="120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are</a:t>
            </a:r>
            <a:r>
              <a:rPr sz="2800" spc="145" dirty="0">
                <a:latin typeface="Cambria"/>
                <a:cs typeface="Cambria"/>
              </a:rPr>
              <a:t> </a:t>
            </a:r>
            <a:r>
              <a:rPr sz="2800" spc="80" dirty="0">
                <a:latin typeface="Cambria"/>
                <a:cs typeface="Cambria"/>
              </a:rPr>
              <a:t>used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125" dirty="0">
                <a:latin typeface="Cambria"/>
                <a:cs typeface="Cambria"/>
              </a:rPr>
              <a:t>in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90" dirty="0">
                <a:latin typeface="Cambria"/>
                <a:cs typeface="Cambria"/>
              </a:rPr>
              <a:t>called</a:t>
            </a:r>
            <a:r>
              <a:rPr sz="2800" spc="140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function.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44"/>
              </a:spcBef>
              <a:buClr>
                <a:srgbClr val="FD8537"/>
              </a:buClr>
              <a:buFont typeface="Wingdings"/>
              <a:buChar char=""/>
            </a:pPr>
            <a:endParaRPr sz="2800">
              <a:latin typeface="Cambria"/>
              <a:cs typeface="Cambria"/>
            </a:endParaRPr>
          </a:p>
          <a:p>
            <a:pPr marL="287020" marR="5080" indent="-274320" algn="just">
              <a:lnSpc>
                <a:spcPct val="9000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125" dirty="0">
                <a:latin typeface="Cambria"/>
                <a:cs typeface="Cambria"/>
              </a:rPr>
              <a:t>The</a:t>
            </a:r>
            <a:r>
              <a:rPr sz="2800" spc="630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changes</a:t>
            </a:r>
            <a:r>
              <a:rPr sz="2800" spc="620" dirty="0">
                <a:latin typeface="Cambria"/>
                <a:cs typeface="Cambria"/>
              </a:rPr>
              <a:t> </a:t>
            </a:r>
            <a:r>
              <a:rPr sz="2800" spc="114" dirty="0">
                <a:latin typeface="Cambria"/>
                <a:cs typeface="Cambria"/>
              </a:rPr>
              <a:t>made</a:t>
            </a:r>
            <a:r>
              <a:rPr sz="2800" spc="63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on</a:t>
            </a:r>
            <a:r>
              <a:rPr sz="2800" spc="605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the</a:t>
            </a:r>
            <a:r>
              <a:rPr sz="2800" spc="65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formal</a:t>
            </a:r>
            <a:r>
              <a:rPr sz="2800" spc="64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parameters </a:t>
            </a:r>
            <a:r>
              <a:rPr sz="2800" dirty="0">
                <a:latin typeface="Cambria"/>
                <a:cs typeface="Cambria"/>
              </a:rPr>
              <a:t>does</a:t>
            </a:r>
            <a:r>
              <a:rPr sz="2800" spc="535" dirty="0">
                <a:latin typeface="Cambria"/>
                <a:cs typeface="Cambria"/>
              </a:rPr>
              <a:t>   </a:t>
            </a:r>
            <a:r>
              <a:rPr sz="2800" spc="55" dirty="0">
                <a:latin typeface="Cambria"/>
                <a:cs typeface="Cambria"/>
              </a:rPr>
              <a:t>not</a:t>
            </a:r>
            <a:r>
              <a:rPr sz="2800" spc="535" dirty="0">
                <a:latin typeface="Cambria"/>
                <a:cs typeface="Cambria"/>
              </a:rPr>
              <a:t>   </a:t>
            </a:r>
            <a:r>
              <a:rPr sz="2800" spc="65" dirty="0">
                <a:latin typeface="Cambria"/>
                <a:cs typeface="Cambria"/>
              </a:rPr>
              <a:t>effect</a:t>
            </a:r>
            <a:r>
              <a:rPr sz="2800" spc="535" dirty="0">
                <a:latin typeface="Cambria"/>
                <a:cs typeface="Cambria"/>
              </a:rPr>
              <a:t>  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535" dirty="0">
                <a:latin typeface="Cambria"/>
                <a:cs typeface="Cambria"/>
              </a:rPr>
              <a:t>   </a:t>
            </a:r>
            <a:r>
              <a:rPr sz="2800" spc="110" dirty="0">
                <a:latin typeface="Cambria"/>
                <a:cs typeface="Cambria"/>
              </a:rPr>
              <a:t>values</a:t>
            </a:r>
            <a:r>
              <a:rPr sz="2800" spc="540" dirty="0">
                <a:latin typeface="Cambria"/>
                <a:cs typeface="Cambria"/>
              </a:rPr>
              <a:t>  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545" dirty="0">
                <a:latin typeface="Cambria"/>
                <a:cs typeface="Cambria"/>
              </a:rPr>
              <a:t>   </a:t>
            </a:r>
            <a:r>
              <a:rPr sz="2800" spc="120" dirty="0">
                <a:latin typeface="Cambria"/>
                <a:cs typeface="Cambria"/>
              </a:rPr>
              <a:t>actual </a:t>
            </a:r>
            <a:r>
              <a:rPr sz="2800" spc="95" dirty="0">
                <a:latin typeface="Cambria"/>
                <a:cs typeface="Cambria"/>
              </a:rPr>
              <a:t>parameters.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85"/>
              </a:spcBef>
              <a:buClr>
                <a:srgbClr val="FD8537"/>
              </a:buClr>
              <a:buFont typeface="Wingdings"/>
              <a:buChar char=""/>
            </a:pPr>
            <a:endParaRPr sz="2800">
              <a:latin typeface="Cambria"/>
              <a:cs typeface="Cambria"/>
            </a:endParaRPr>
          </a:p>
          <a:p>
            <a:pPr marL="287020" marR="5080" indent="-274320" algn="just">
              <a:lnSpc>
                <a:spcPts val="303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160" dirty="0">
                <a:latin typeface="Cambria"/>
                <a:cs typeface="Cambria"/>
              </a:rPr>
              <a:t>That</a:t>
            </a:r>
            <a:r>
              <a:rPr sz="2800" spc="370" dirty="0">
                <a:latin typeface="Cambria"/>
                <a:cs typeface="Cambria"/>
              </a:rPr>
              <a:t> </a:t>
            </a:r>
            <a:r>
              <a:rPr sz="2800" spc="135" dirty="0">
                <a:latin typeface="Cambria"/>
                <a:cs typeface="Cambria"/>
              </a:rPr>
              <a:t>means,</a:t>
            </a:r>
            <a:r>
              <a:rPr sz="2800" spc="37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after</a:t>
            </a:r>
            <a:r>
              <a:rPr sz="2800" spc="345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the</a:t>
            </a:r>
            <a:r>
              <a:rPr sz="2800" spc="355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execution</a:t>
            </a:r>
            <a:r>
              <a:rPr sz="2800" spc="37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control</a:t>
            </a:r>
            <a:r>
              <a:rPr sz="2800" spc="35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comes </a:t>
            </a:r>
            <a:r>
              <a:rPr sz="2800" spc="95" dirty="0">
                <a:latin typeface="Cambria"/>
                <a:cs typeface="Cambria"/>
              </a:rPr>
              <a:t>back</a:t>
            </a:r>
            <a:r>
              <a:rPr sz="2800" spc="675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to</a:t>
            </a:r>
            <a:r>
              <a:rPr sz="2800" spc="675" dirty="0">
                <a:latin typeface="Cambria"/>
                <a:cs typeface="Cambria"/>
              </a:rPr>
              <a:t> 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675" dirty="0">
                <a:latin typeface="Cambria"/>
                <a:cs typeface="Cambria"/>
              </a:rPr>
              <a:t>  </a:t>
            </a:r>
            <a:r>
              <a:rPr sz="2800" spc="105" dirty="0">
                <a:latin typeface="Cambria"/>
                <a:cs typeface="Cambria"/>
              </a:rPr>
              <a:t>calling</a:t>
            </a:r>
            <a:r>
              <a:rPr sz="2800" spc="680" dirty="0">
                <a:latin typeface="Cambria"/>
                <a:cs typeface="Cambria"/>
              </a:rPr>
              <a:t>  </a:t>
            </a:r>
            <a:r>
              <a:rPr sz="2800" spc="95" dirty="0">
                <a:latin typeface="Cambria"/>
                <a:cs typeface="Cambria"/>
              </a:rPr>
              <a:t>function,</a:t>
            </a:r>
            <a:r>
              <a:rPr sz="2800" spc="670" dirty="0">
                <a:latin typeface="Cambria"/>
                <a:cs typeface="Cambria"/>
              </a:rPr>
              <a:t>  </a:t>
            </a:r>
            <a:r>
              <a:rPr sz="2800" spc="100" dirty="0">
                <a:latin typeface="Cambria"/>
                <a:cs typeface="Cambria"/>
              </a:rPr>
              <a:t>the</a:t>
            </a:r>
            <a:r>
              <a:rPr sz="2800" spc="685" dirty="0">
                <a:latin typeface="Cambria"/>
                <a:cs typeface="Cambria"/>
              </a:rPr>
              <a:t>  </a:t>
            </a:r>
            <a:r>
              <a:rPr sz="2800" spc="120" dirty="0">
                <a:latin typeface="Cambria"/>
                <a:cs typeface="Cambria"/>
              </a:rPr>
              <a:t>actual </a:t>
            </a:r>
            <a:r>
              <a:rPr sz="2800" spc="100" dirty="0">
                <a:latin typeface="Cambria"/>
                <a:cs typeface="Cambria"/>
              </a:rPr>
              <a:t>parameter</a:t>
            </a:r>
            <a:r>
              <a:rPr sz="2800" spc="110" dirty="0">
                <a:latin typeface="Cambria"/>
                <a:cs typeface="Cambria"/>
              </a:rPr>
              <a:t> values</a:t>
            </a:r>
            <a:r>
              <a:rPr sz="2800" spc="185" dirty="0">
                <a:latin typeface="Cambria"/>
                <a:cs typeface="Cambria"/>
              </a:rPr>
              <a:t> </a:t>
            </a:r>
            <a:r>
              <a:rPr sz="2800" spc="114" dirty="0">
                <a:latin typeface="Cambria"/>
                <a:cs typeface="Cambria"/>
              </a:rPr>
              <a:t>remains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same.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20948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spc="36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994" y="821055"/>
            <a:ext cx="3868420" cy="5420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50" dirty="0">
                <a:latin typeface="Cambria"/>
                <a:cs typeface="Cambria"/>
              </a:rPr>
              <a:t>#</a:t>
            </a:r>
            <a:r>
              <a:rPr sz="2200" spc="50" dirty="0" smtClean="0">
                <a:latin typeface="Cambria"/>
                <a:cs typeface="Cambria"/>
              </a:rPr>
              <a:t>include&lt;</a:t>
            </a:r>
            <a:r>
              <a:rPr lang="en-US" sz="2200" spc="50" dirty="0" err="1" smtClean="0">
                <a:latin typeface="Cambria"/>
                <a:cs typeface="Cambria"/>
              </a:rPr>
              <a:t>iostream</a:t>
            </a:r>
            <a:r>
              <a:rPr sz="2200" spc="50" dirty="0" smtClean="0">
                <a:latin typeface="Cambria"/>
                <a:cs typeface="Cambria"/>
              </a:rPr>
              <a:t>&gt;</a:t>
            </a:r>
            <a:endParaRPr lang="en-US" sz="2200" spc="5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200" spc="50" dirty="0" smtClean="0">
                <a:latin typeface="Cambria"/>
                <a:cs typeface="Cambria"/>
              </a:rPr>
              <a:t>Using namespace </a:t>
            </a:r>
            <a:r>
              <a:rPr lang="en-US" sz="2200" spc="50" dirty="0" err="1" smtClean="0">
                <a:latin typeface="Cambria"/>
                <a:cs typeface="Cambria"/>
              </a:rPr>
              <a:t>std</a:t>
            </a:r>
            <a:r>
              <a:rPr lang="en-US" sz="2200" spc="50" dirty="0" smtClean="0">
                <a:latin typeface="Cambria"/>
                <a:cs typeface="Cambria"/>
              </a:rPr>
              <a:t>;</a:t>
            </a:r>
            <a:endParaRPr sz="2200" dirty="0">
              <a:latin typeface="Cambria"/>
              <a:cs typeface="Cambria"/>
            </a:endParaRPr>
          </a:p>
          <a:p>
            <a:pPr marL="12700">
              <a:lnSpc>
                <a:spcPts val="2375"/>
              </a:lnSpc>
              <a:spcBef>
                <a:spcPts val="75"/>
              </a:spcBef>
            </a:pPr>
            <a:r>
              <a:rPr sz="2200" b="1" spc="130" dirty="0">
                <a:latin typeface="Cambria"/>
                <a:cs typeface="Cambria"/>
              </a:rPr>
              <a:t>void</a:t>
            </a:r>
            <a:r>
              <a:rPr sz="2200" b="1" spc="155" dirty="0">
                <a:latin typeface="Cambria"/>
                <a:cs typeface="Cambria"/>
              </a:rPr>
              <a:t> </a:t>
            </a:r>
            <a:r>
              <a:rPr sz="2200" b="1" spc="120" dirty="0">
                <a:latin typeface="Cambria"/>
                <a:cs typeface="Cambria"/>
              </a:rPr>
              <a:t>swap(int,</a:t>
            </a:r>
            <a:r>
              <a:rPr sz="2200" b="1" spc="140" dirty="0">
                <a:latin typeface="Cambria"/>
                <a:cs typeface="Cambria"/>
              </a:rPr>
              <a:t> </a:t>
            </a:r>
            <a:r>
              <a:rPr sz="2200" b="1" spc="95" dirty="0">
                <a:latin typeface="Cambria"/>
                <a:cs typeface="Cambria"/>
              </a:rPr>
              <a:t>int)</a:t>
            </a:r>
            <a:r>
              <a:rPr sz="2200" b="1" spc="130" dirty="0">
                <a:latin typeface="Cambria"/>
                <a:cs typeface="Cambria"/>
              </a:rPr>
              <a:t> </a:t>
            </a:r>
            <a:r>
              <a:rPr sz="2200" b="1" dirty="0">
                <a:latin typeface="Cambria"/>
                <a:cs typeface="Cambria"/>
              </a:rPr>
              <a:t>;</a:t>
            </a:r>
            <a:r>
              <a:rPr sz="2200" b="1" spc="175" dirty="0">
                <a:latin typeface="Cambria"/>
                <a:cs typeface="Cambria"/>
              </a:rPr>
              <a:t> </a:t>
            </a:r>
            <a:endParaRPr lang="en-US" sz="2200" b="1" spc="175" dirty="0" smtClean="0">
              <a:latin typeface="Cambria"/>
              <a:cs typeface="Cambria"/>
            </a:endParaRPr>
          </a:p>
          <a:p>
            <a:pPr marL="12700">
              <a:lnSpc>
                <a:spcPts val="2375"/>
              </a:lnSpc>
              <a:spcBef>
                <a:spcPts val="75"/>
              </a:spcBef>
            </a:pPr>
            <a:r>
              <a:rPr sz="2200" dirty="0" smtClean="0">
                <a:latin typeface="Cambria"/>
                <a:cs typeface="Cambria"/>
              </a:rPr>
              <a:t>void</a:t>
            </a:r>
            <a:r>
              <a:rPr sz="2200" spc="225" dirty="0" smtClean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main()</a:t>
            </a:r>
            <a:endParaRPr sz="22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200" spc="-50" dirty="0">
                <a:latin typeface="Cambria"/>
                <a:cs typeface="Cambria"/>
              </a:rPr>
              <a:t>{</a:t>
            </a:r>
            <a:endParaRPr sz="2200" dirty="0">
              <a:latin typeface="Cambria"/>
              <a:cs typeface="Cambria"/>
            </a:endParaRPr>
          </a:p>
          <a:p>
            <a:pPr marL="12700" marR="1598295">
              <a:lnSpc>
                <a:spcPts val="2710"/>
              </a:lnSpc>
              <a:spcBef>
                <a:spcPts val="105"/>
              </a:spcBef>
            </a:pPr>
            <a:r>
              <a:rPr sz="2200" spc="95" dirty="0">
                <a:latin typeface="Cambria"/>
                <a:cs typeface="Cambria"/>
              </a:rPr>
              <a:t>int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num1,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num2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-50" dirty="0">
                <a:latin typeface="Cambria"/>
                <a:cs typeface="Cambria"/>
              </a:rPr>
              <a:t>; </a:t>
            </a:r>
            <a:r>
              <a:rPr sz="2200" spc="90" dirty="0">
                <a:latin typeface="Cambria"/>
                <a:cs typeface="Cambria"/>
              </a:rPr>
              <a:t>num1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120" dirty="0">
                <a:latin typeface="Cambria"/>
                <a:cs typeface="Cambria"/>
              </a:rPr>
              <a:t>=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10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-50" dirty="0">
                <a:latin typeface="Cambria"/>
                <a:cs typeface="Cambria"/>
              </a:rPr>
              <a:t>; </a:t>
            </a:r>
            <a:r>
              <a:rPr sz="2200" spc="90" dirty="0">
                <a:latin typeface="Cambria"/>
                <a:cs typeface="Cambria"/>
              </a:rPr>
              <a:t>num2</a:t>
            </a:r>
            <a:r>
              <a:rPr sz="2200" spc="120" dirty="0">
                <a:latin typeface="Cambria"/>
                <a:cs typeface="Cambria"/>
              </a:rPr>
              <a:t> =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20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-50" dirty="0">
                <a:latin typeface="Cambria"/>
                <a:cs typeface="Cambria"/>
              </a:rPr>
              <a:t>;</a:t>
            </a:r>
            <a:endParaRPr sz="2200" dirty="0">
              <a:latin typeface="Cambria"/>
              <a:cs typeface="Cambria"/>
            </a:endParaRPr>
          </a:p>
          <a:p>
            <a:pPr marL="12700">
              <a:lnSpc>
                <a:spcPts val="2355"/>
              </a:lnSpc>
            </a:pPr>
            <a:r>
              <a:rPr lang="en-US" sz="2200" spc="65" dirty="0" err="1">
                <a:latin typeface="Cambria"/>
                <a:cs typeface="Cambria"/>
              </a:rPr>
              <a:t>c</a:t>
            </a:r>
            <a:r>
              <a:rPr lang="en-US" sz="2200" spc="65" dirty="0" err="1" smtClean="0">
                <a:latin typeface="Cambria"/>
                <a:cs typeface="Cambria"/>
              </a:rPr>
              <a:t>out</a:t>
            </a:r>
            <a:r>
              <a:rPr lang="en-US" sz="2200" spc="65" dirty="0" smtClean="0">
                <a:latin typeface="Cambria"/>
                <a:cs typeface="Cambria"/>
              </a:rPr>
              <a:t>&lt;&lt;</a:t>
            </a:r>
            <a:r>
              <a:rPr sz="2200" spc="65" dirty="0" smtClean="0">
                <a:latin typeface="Cambria"/>
                <a:cs typeface="Cambria"/>
              </a:rPr>
              <a:t>"\</a:t>
            </a:r>
            <a:r>
              <a:rPr sz="2200" spc="65" dirty="0">
                <a:latin typeface="Cambria"/>
                <a:cs typeface="Cambria"/>
              </a:rPr>
              <a:t>nBefore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swap: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num1</a:t>
            </a:r>
            <a:endParaRPr sz="2200" dirty="0">
              <a:latin typeface="Cambria"/>
              <a:cs typeface="Cambria"/>
            </a:endParaRPr>
          </a:p>
          <a:p>
            <a:pPr marL="12700">
              <a:lnSpc>
                <a:spcPts val="2110"/>
              </a:lnSpc>
            </a:pPr>
            <a:r>
              <a:rPr sz="2200" spc="120" dirty="0" smtClean="0">
                <a:latin typeface="Cambria"/>
                <a:cs typeface="Cambria"/>
              </a:rPr>
              <a:t>=</a:t>
            </a:r>
            <a:r>
              <a:rPr lang="en-US" sz="2200" spc="140" dirty="0" smtClean="0">
                <a:latin typeface="Cambria"/>
                <a:cs typeface="Cambria"/>
              </a:rPr>
              <a:t>“ &lt;&lt;</a:t>
            </a:r>
            <a:r>
              <a:rPr lang="en-US" sz="2200" spc="60" dirty="0" smtClean="0">
                <a:latin typeface="Cambria"/>
                <a:cs typeface="Cambria"/>
              </a:rPr>
              <a:t>num1&lt;&lt; and num2 =“&lt;&lt;</a:t>
            </a:r>
            <a:r>
              <a:rPr sz="2200" spc="95" dirty="0" smtClean="0">
                <a:latin typeface="Cambria"/>
                <a:cs typeface="Cambria"/>
              </a:rPr>
              <a:t>num</a:t>
            </a:r>
            <a:r>
              <a:rPr lang="en-US" sz="2200" spc="95" dirty="0" smtClean="0">
                <a:latin typeface="Cambria"/>
                <a:cs typeface="Cambria"/>
              </a:rPr>
              <a:t>2</a:t>
            </a:r>
            <a:r>
              <a:rPr sz="2200" spc="-50" dirty="0" smtClean="0">
                <a:latin typeface="Cambria"/>
                <a:cs typeface="Cambria"/>
              </a:rPr>
              <a:t>;</a:t>
            </a:r>
            <a:endParaRPr sz="2200" dirty="0">
              <a:latin typeface="Cambria"/>
              <a:cs typeface="Cambria"/>
            </a:endParaRPr>
          </a:p>
          <a:p>
            <a:pPr marL="12700">
              <a:lnSpc>
                <a:spcPts val="2375"/>
              </a:lnSpc>
              <a:spcBef>
                <a:spcPts val="75"/>
              </a:spcBef>
            </a:pPr>
            <a:r>
              <a:rPr sz="2200" b="1" spc="110" dirty="0">
                <a:latin typeface="Cambria"/>
                <a:cs typeface="Cambria"/>
              </a:rPr>
              <a:t>swap(num1,</a:t>
            </a:r>
            <a:r>
              <a:rPr sz="2200" b="1" spc="90" dirty="0">
                <a:latin typeface="Cambria"/>
                <a:cs typeface="Cambria"/>
              </a:rPr>
              <a:t> </a:t>
            </a:r>
            <a:r>
              <a:rPr sz="2200" b="1" spc="80" dirty="0">
                <a:latin typeface="Cambria"/>
                <a:cs typeface="Cambria"/>
              </a:rPr>
              <a:t>num2)</a:t>
            </a:r>
            <a:r>
              <a:rPr sz="2200" b="1" spc="140" dirty="0">
                <a:latin typeface="Cambria"/>
                <a:cs typeface="Cambria"/>
              </a:rPr>
              <a:t> </a:t>
            </a:r>
            <a:r>
              <a:rPr sz="2200" b="1" dirty="0">
                <a:latin typeface="Cambria"/>
                <a:cs typeface="Cambria"/>
              </a:rPr>
              <a:t>;</a:t>
            </a:r>
            <a:r>
              <a:rPr sz="2200" b="1" spc="160" dirty="0">
                <a:latin typeface="Cambria"/>
                <a:cs typeface="Cambria"/>
              </a:rPr>
              <a:t> </a:t>
            </a:r>
            <a:r>
              <a:rPr sz="2200" b="1" spc="-525" dirty="0">
                <a:latin typeface="Cambria"/>
                <a:cs typeface="Cambria"/>
              </a:rPr>
              <a:t>//</a:t>
            </a:r>
            <a:endParaRPr sz="2200" dirty="0">
              <a:latin typeface="Cambria"/>
              <a:cs typeface="Cambria"/>
            </a:endParaRPr>
          </a:p>
          <a:p>
            <a:pPr marL="12700">
              <a:lnSpc>
                <a:spcPts val="2375"/>
              </a:lnSpc>
            </a:pPr>
            <a:r>
              <a:rPr sz="2200" b="1" spc="145" dirty="0">
                <a:latin typeface="Cambria"/>
                <a:cs typeface="Cambria"/>
              </a:rPr>
              <a:t>calling</a:t>
            </a:r>
            <a:r>
              <a:rPr sz="2200" b="1" spc="175" dirty="0">
                <a:latin typeface="Cambria"/>
                <a:cs typeface="Cambria"/>
              </a:rPr>
              <a:t> </a:t>
            </a:r>
            <a:r>
              <a:rPr sz="2200" b="1" spc="135" dirty="0">
                <a:latin typeface="Cambria"/>
                <a:cs typeface="Cambria"/>
              </a:rPr>
              <a:t>fuction</a:t>
            </a:r>
            <a:endParaRPr sz="2200" dirty="0">
              <a:latin typeface="Cambria"/>
              <a:cs typeface="Cambria"/>
            </a:endParaRPr>
          </a:p>
          <a:p>
            <a:pPr marL="12700">
              <a:lnSpc>
                <a:spcPts val="2355"/>
              </a:lnSpc>
            </a:pPr>
            <a:r>
              <a:rPr lang="pt-BR" sz="2200" spc="65" dirty="0" smtClean="0">
                <a:latin typeface="Cambria"/>
                <a:cs typeface="Cambria"/>
              </a:rPr>
              <a:t>cout&lt;&lt;"\nAfter</a:t>
            </a:r>
            <a:r>
              <a:rPr lang="pt-BR" sz="2200" spc="85" dirty="0" smtClean="0">
                <a:latin typeface="Cambria"/>
                <a:cs typeface="Cambria"/>
              </a:rPr>
              <a:t> </a:t>
            </a:r>
            <a:r>
              <a:rPr lang="pt-BR" sz="2200" spc="60" dirty="0" smtClean="0">
                <a:latin typeface="Cambria"/>
                <a:cs typeface="Cambria"/>
              </a:rPr>
              <a:t>swap:</a:t>
            </a:r>
            <a:r>
              <a:rPr lang="pt-BR" sz="2200" spc="114" dirty="0" smtClean="0">
                <a:latin typeface="Cambria"/>
                <a:cs typeface="Cambria"/>
              </a:rPr>
              <a:t> </a:t>
            </a:r>
            <a:r>
              <a:rPr lang="pt-BR" sz="2200" spc="70" dirty="0" smtClean="0">
                <a:latin typeface="Cambria"/>
                <a:cs typeface="Cambria"/>
              </a:rPr>
              <a:t>num1</a:t>
            </a:r>
            <a:endParaRPr lang="pt-BR" sz="2200" dirty="0" smtClean="0">
              <a:latin typeface="Cambria"/>
              <a:cs typeface="Cambria"/>
            </a:endParaRPr>
          </a:p>
          <a:p>
            <a:pPr marL="12700">
              <a:lnSpc>
                <a:spcPts val="2110"/>
              </a:lnSpc>
            </a:pPr>
            <a:r>
              <a:rPr lang="pt-BR" sz="2200" spc="120" dirty="0" smtClean="0">
                <a:latin typeface="Cambria"/>
                <a:cs typeface="Cambria"/>
              </a:rPr>
              <a:t>=</a:t>
            </a:r>
            <a:r>
              <a:rPr lang="pt-BR" sz="2200" spc="140" dirty="0" smtClean="0">
                <a:latin typeface="Cambria"/>
                <a:cs typeface="Cambria"/>
              </a:rPr>
              <a:t>“ &lt;&lt;</a:t>
            </a:r>
            <a:r>
              <a:rPr lang="pt-BR" sz="2200" spc="60" dirty="0" smtClean="0">
                <a:latin typeface="Cambria"/>
                <a:cs typeface="Cambria"/>
              </a:rPr>
              <a:t>num1&lt;&lt; and num2 =“&lt;&lt;</a:t>
            </a:r>
            <a:r>
              <a:rPr lang="pt-BR" sz="2200" spc="95" dirty="0" smtClean="0">
                <a:latin typeface="Cambria"/>
                <a:cs typeface="Cambria"/>
              </a:rPr>
              <a:t>num2</a:t>
            </a:r>
            <a:r>
              <a:rPr lang="pt-BR" sz="2200" spc="-50" dirty="0" smtClean="0">
                <a:latin typeface="Cambria"/>
                <a:cs typeface="Cambria"/>
              </a:rPr>
              <a:t>;</a:t>
            </a:r>
            <a:endParaRPr lang="pt-BR" sz="22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200" spc="-50" dirty="0" smtClean="0">
                <a:latin typeface="Cambria"/>
                <a:cs typeface="Cambria"/>
              </a:rPr>
              <a:t>}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8464" y="753368"/>
            <a:ext cx="3884295" cy="565213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000" b="1" spc="-470" dirty="0">
                <a:latin typeface="Cambria"/>
                <a:cs typeface="Cambria"/>
              </a:rPr>
              <a:t>//</a:t>
            </a:r>
            <a:r>
              <a:rPr sz="2000" b="1" spc="145" dirty="0">
                <a:latin typeface="Cambria"/>
                <a:cs typeface="Cambria"/>
              </a:rPr>
              <a:t> </a:t>
            </a:r>
            <a:r>
              <a:rPr sz="2000" b="1" spc="105" dirty="0">
                <a:latin typeface="Cambria"/>
                <a:cs typeface="Cambria"/>
              </a:rPr>
              <a:t>called</a:t>
            </a:r>
            <a:r>
              <a:rPr sz="2000" b="1" spc="165" dirty="0">
                <a:latin typeface="Cambria"/>
                <a:cs typeface="Cambria"/>
              </a:rPr>
              <a:t> </a:t>
            </a:r>
            <a:r>
              <a:rPr sz="2000" b="1" spc="120" dirty="0">
                <a:latin typeface="Cambria"/>
                <a:cs typeface="Cambria"/>
              </a:rPr>
              <a:t>function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b="1" spc="110" dirty="0">
                <a:latin typeface="Cambria"/>
                <a:cs typeface="Cambria"/>
              </a:rPr>
              <a:t>void</a:t>
            </a:r>
            <a:r>
              <a:rPr sz="2000" b="1" spc="165" dirty="0">
                <a:latin typeface="Cambria"/>
                <a:cs typeface="Cambria"/>
              </a:rPr>
              <a:t> </a:t>
            </a:r>
            <a:r>
              <a:rPr sz="2000" b="1" spc="100" dirty="0">
                <a:latin typeface="Cambria"/>
                <a:cs typeface="Cambria"/>
              </a:rPr>
              <a:t>swap(int</a:t>
            </a:r>
            <a:r>
              <a:rPr sz="2000" b="1" spc="170" dirty="0">
                <a:latin typeface="Cambria"/>
                <a:cs typeface="Cambria"/>
              </a:rPr>
              <a:t> </a:t>
            </a:r>
            <a:r>
              <a:rPr sz="2000" b="1" spc="110" dirty="0">
                <a:latin typeface="Cambria"/>
                <a:cs typeface="Cambria"/>
              </a:rPr>
              <a:t>a,</a:t>
            </a:r>
            <a:r>
              <a:rPr sz="2000" b="1" spc="150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int</a:t>
            </a:r>
            <a:r>
              <a:rPr sz="2000" b="1" spc="145" dirty="0">
                <a:latin typeface="Cambria"/>
                <a:cs typeface="Cambria"/>
              </a:rPr>
              <a:t> </a:t>
            </a:r>
            <a:r>
              <a:rPr sz="2000" b="1" spc="-25" dirty="0">
                <a:latin typeface="Cambria"/>
                <a:cs typeface="Cambria"/>
              </a:rPr>
              <a:t>b)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b="1" spc="-50" dirty="0">
                <a:latin typeface="Cambria"/>
                <a:cs typeface="Cambria"/>
              </a:rPr>
              <a:t>{</a:t>
            </a:r>
            <a:endParaRPr sz="2000" dirty="0">
              <a:latin typeface="Cambria"/>
              <a:cs typeface="Cambria"/>
            </a:endParaRPr>
          </a:p>
          <a:p>
            <a:pPr marL="12700" marR="2594610">
              <a:lnSpc>
                <a:spcPct val="115100"/>
              </a:lnSpc>
            </a:pPr>
            <a:r>
              <a:rPr sz="2000" b="1" spc="125" dirty="0">
                <a:latin typeface="Cambria"/>
                <a:cs typeface="Cambria"/>
              </a:rPr>
              <a:t>int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110" dirty="0">
                <a:latin typeface="Cambria"/>
                <a:cs typeface="Cambria"/>
              </a:rPr>
              <a:t>temp</a:t>
            </a:r>
            <a:r>
              <a:rPr sz="2000" b="1" spc="190" dirty="0">
                <a:latin typeface="Cambria"/>
                <a:cs typeface="Cambria"/>
              </a:rPr>
              <a:t> </a:t>
            </a:r>
            <a:r>
              <a:rPr sz="2000" b="1" spc="-50" dirty="0">
                <a:latin typeface="Cambria"/>
                <a:cs typeface="Cambria"/>
              </a:rPr>
              <a:t>; </a:t>
            </a:r>
            <a:r>
              <a:rPr sz="2000" b="1" spc="110" dirty="0">
                <a:latin typeface="Cambria"/>
                <a:cs typeface="Cambria"/>
              </a:rPr>
              <a:t>temp</a:t>
            </a:r>
            <a:r>
              <a:rPr sz="2000" b="1" spc="16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=</a:t>
            </a:r>
            <a:r>
              <a:rPr sz="2000" b="1" spc="160" dirty="0">
                <a:latin typeface="Cambria"/>
                <a:cs typeface="Cambria"/>
              </a:rPr>
              <a:t> </a:t>
            </a:r>
            <a:r>
              <a:rPr sz="2000" b="1" spc="135" dirty="0">
                <a:latin typeface="Cambria"/>
                <a:cs typeface="Cambria"/>
              </a:rPr>
              <a:t>a</a:t>
            </a:r>
            <a:r>
              <a:rPr sz="2000" b="1" spc="140" dirty="0">
                <a:latin typeface="Cambria"/>
                <a:cs typeface="Cambria"/>
              </a:rPr>
              <a:t> </a:t>
            </a:r>
            <a:r>
              <a:rPr sz="2000" b="1" spc="-50" dirty="0">
                <a:latin typeface="Cambria"/>
                <a:cs typeface="Cambria"/>
              </a:rPr>
              <a:t>;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b="1" spc="135" dirty="0">
                <a:latin typeface="Cambria"/>
                <a:cs typeface="Cambria"/>
              </a:rPr>
              <a:t>a</a:t>
            </a:r>
            <a:r>
              <a:rPr sz="2000" b="1" spc="14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=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95" dirty="0">
                <a:latin typeface="Cambria"/>
                <a:cs typeface="Cambria"/>
              </a:rPr>
              <a:t>b</a:t>
            </a:r>
            <a:r>
              <a:rPr sz="2000" b="1" spc="170" dirty="0">
                <a:latin typeface="Cambria"/>
                <a:cs typeface="Cambria"/>
              </a:rPr>
              <a:t> </a:t>
            </a:r>
            <a:r>
              <a:rPr sz="2000" b="1" spc="-50" dirty="0">
                <a:latin typeface="Cambria"/>
                <a:cs typeface="Cambria"/>
              </a:rPr>
              <a:t>;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000" b="1" spc="95" dirty="0">
                <a:latin typeface="Cambria"/>
                <a:cs typeface="Cambria"/>
              </a:rPr>
              <a:t>b</a:t>
            </a:r>
            <a:r>
              <a:rPr sz="2000" b="1" spc="1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=</a:t>
            </a:r>
            <a:r>
              <a:rPr sz="2000" b="1" spc="165" dirty="0">
                <a:latin typeface="Cambria"/>
                <a:cs typeface="Cambria"/>
              </a:rPr>
              <a:t> </a:t>
            </a:r>
            <a:r>
              <a:rPr sz="2000" b="1" spc="110" dirty="0">
                <a:latin typeface="Cambria"/>
                <a:cs typeface="Cambria"/>
              </a:rPr>
              <a:t>temp</a:t>
            </a:r>
            <a:r>
              <a:rPr sz="2000" b="1" spc="165" dirty="0">
                <a:latin typeface="Cambria"/>
                <a:cs typeface="Cambria"/>
              </a:rPr>
              <a:t> </a:t>
            </a:r>
            <a:r>
              <a:rPr sz="2000" b="1" spc="-50" dirty="0">
                <a:latin typeface="Cambria"/>
                <a:cs typeface="Cambria"/>
              </a:rPr>
              <a:t>;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2000" b="1" spc="-50" dirty="0">
                <a:latin typeface="Cambria"/>
                <a:cs typeface="Cambria"/>
              </a:rPr>
              <a:t>}</a:t>
            </a:r>
            <a:endParaRPr sz="2000" dirty="0">
              <a:latin typeface="Cambria"/>
              <a:cs typeface="Cambria"/>
            </a:endParaRPr>
          </a:p>
          <a:p>
            <a:pPr marL="12700" marR="5080" algn="just">
              <a:lnSpc>
                <a:spcPct val="90000"/>
              </a:lnSpc>
              <a:spcBef>
                <a:spcPts val="600"/>
              </a:spcBef>
            </a:pPr>
            <a:r>
              <a:rPr sz="2000" spc="130" dirty="0">
                <a:latin typeface="Cambria"/>
                <a:cs typeface="Cambria"/>
              </a:rPr>
              <a:t>In</a:t>
            </a:r>
            <a:r>
              <a:rPr sz="2000" spc="60" dirty="0">
                <a:latin typeface="Cambria"/>
                <a:cs typeface="Cambria"/>
              </a:rPr>
              <a:t>  </a:t>
            </a:r>
            <a:r>
              <a:rPr sz="2000" spc="70" dirty="0">
                <a:latin typeface="Cambria"/>
                <a:cs typeface="Cambria"/>
              </a:rPr>
              <a:t>the</a:t>
            </a:r>
            <a:r>
              <a:rPr sz="2000" spc="6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above</a:t>
            </a:r>
            <a:r>
              <a:rPr sz="2000" spc="65" dirty="0">
                <a:latin typeface="Cambria"/>
                <a:cs typeface="Cambria"/>
              </a:rPr>
              <a:t>  </a:t>
            </a:r>
            <a:r>
              <a:rPr sz="2000" spc="70" dirty="0">
                <a:latin typeface="Cambria"/>
                <a:cs typeface="Cambria"/>
              </a:rPr>
              <a:t>example  </a:t>
            </a:r>
            <a:r>
              <a:rPr sz="2000" spc="50" dirty="0">
                <a:latin typeface="Cambria"/>
                <a:cs typeface="Cambria"/>
              </a:rPr>
              <a:t>program, </a:t>
            </a:r>
            <a:r>
              <a:rPr sz="2000" spc="65" dirty="0">
                <a:latin typeface="Cambria"/>
                <a:cs typeface="Cambria"/>
              </a:rPr>
              <a:t>variables</a:t>
            </a:r>
            <a:r>
              <a:rPr sz="2000" spc="475" dirty="0">
                <a:latin typeface="Cambria"/>
                <a:cs typeface="Cambria"/>
              </a:rPr>
              <a:t> </a:t>
            </a:r>
            <a:r>
              <a:rPr sz="2000" b="1" spc="105" dirty="0">
                <a:latin typeface="Cambria"/>
                <a:cs typeface="Cambria"/>
              </a:rPr>
              <a:t>num1</a:t>
            </a:r>
            <a:r>
              <a:rPr sz="2000" b="1" spc="35" dirty="0">
                <a:latin typeface="Cambria"/>
                <a:cs typeface="Cambria"/>
              </a:rPr>
              <a:t>  </a:t>
            </a:r>
            <a:r>
              <a:rPr sz="2000" spc="80" dirty="0">
                <a:latin typeface="Cambria"/>
                <a:cs typeface="Cambria"/>
              </a:rPr>
              <a:t>and</a:t>
            </a:r>
            <a:r>
              <a:rPr sz="2000" spc="35" dirty="0">
                <a:latin typeface="Cambria"/>
                <a:cs typeface="Cambria"/>
              </a:rPr>
              <a:t>  </a:t>
            </a:r>
            <a:r>
              <a:rPr sz="2000" b="1" spc="105" dirty="0">
                <a:latin typeface="Cambria"/>
                <a:cs typeface="Cambria"/>
              </a:rPr>
              <a:t>num2</a:t>
            </a:r>
            <a:r>
              <a:rPr sz="2000" b="1" spc="30" dirty="0">
                <a:latin typeface="Cambria"/>
                <a:cs typeface="Cambria"/>
              </a:rPr>
              <a:t>  </a:t>
            </a:r>
            <a:r>
              <a:rPr sz="2000" spc="35" dirty="0">
                <a:latin typeface="Cambria"/>
                <a:cs typeface="Cambria"/>
              </a:rPr>
              <a:t>are </a:t>
            </a:r>
            <a:r>
              <a:rPr sz="2000" spc="55" dirty="0">
                <a:latin typeface="Cambria"/>
                <a:cs typeface="Cambria"/>
              </a:rPr>
              <a:t>called</a:t>
            </a:r>
            <a:r>
              <a:rPr sz="2000" spc="415" dirty="0">
                <a:latin typeface="Cambria"/>
                <a:cs typeface="Cambria"/>
              </a:rPr>
              <a:t>  </a:t>
            </a:r>
            <a:r>
              <a:rPr sz="2000" spc="90" dirty="0">
                <a:latin typeface="Cambria"/>
                <a:cs typeface="Cambria"/>
              </a:rPr>
              <a:t>actual</a:t>
            </a:r>
            <a:r>
              <a:rPr sz="2000" spc="415" dirty="0">
                <a:latin typeface="Cambria"/>
                <a:cs typeface="Cambria"/>
              </a:rPr>
              <a:t>  </a:t>
            </a:r>
            <a:r>
              <a:rPr sz="2000" spc="70" dirty="0">
                <a:latin typeface="Cambria"/>
                <a:cs typeface="Cambria"/>
              </a:rPr>
              <a:t>parameters</a:t>
            </a:r>
            <a:r>
              <a:rPr sz="2000" spc="405" dirty="0">
                <a:latin typeface="Cambria"/>
                <a:cs typeface="Cambria"/>
              </a:rPr>
              <a:t>  </a:t>
            </a:r>
            <a:r>
              <a:rPr sz="2000" spc="55" dirty="0">
                <a:latin typeface="Cambria"/>
                <a:cs typeface="Cambria"/>
              </a:rPr>
              <a:t>and </a:t>
            </a:r>
            <a:r>
              <a:rPr sz="2000" spc="70" dirty="0">
                <a:latin typeface="Cambria"/>
                <a:cs typeface="Cambria"/>
              </a:rPr>
              <a:t>the</a:t>
            </a:r>
            <a:r>
              <a:rPr sz="2000" spc="32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variables</a:t>
            </a:r>
            <a:r>
              <a:rPr sz="2000" spc="310" dirty="0">
                <a:latin typeface="Cambria"/>
                <a:cs typeface="Cambria"/>
              </a:rPr>
              <a:t> </a:t>
            </a:r>
            <a:r>
              <a:rPr sz="2000" b="1" spc="135" dirty="0">
                <a:latin typeface="Cambria"/>
                <a:cs typeface="Cambria"/>
              </a:rPr>
              <a:t>a</a:t>
            </a:r>
            <a:r>
              <a:rPr sz="2000" b="1" spc="32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and</a:t>
            </a:r>
            <a:r>
              <a:rPr sz="2000" spc="320" dirty="0">
                <a:latin typeface="Cambria"/>
                <a:cs typeface="Cambria"/>
              </a:rPr>
              <a:t> </a:t>
            </a:r>
            <a:r>
              <a:rPr sz="2000" b="1" spc="95" dirty="0">
                <a:latin typeface="Cambria"/>
                <a:cs typeface="Cambria"/>
              </a:rPr>
              <a:t>b</a:t>
            </a:r>
            <a:r>
              <a:rPr sz="2000" b="1" spc="31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are</a:t>
            </a:r>
            <a:r>
              <a:rPr sz="2000" spc="35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called </a:t>
            </a:r>
            <a:r>
              <a:rPr sz="2000" spc="60" dirty="0">
                <a:latin typeface="Cambria"/>
                <a:cs typeface="Cambria"/>
              </a:rPr>
              <a:t>formal</a:t>
            </a:r>
            <a:r>
              <a:rPr sz="2000" spc="310" dirty="0">
                <a:latin typeface="Cambria"/>
                <a:cs typeface="Cambria"/>
              </a:rPr>
              <a:t>  </a:t>
            </a:r>
            <a:r>
              <a:rPr sz="2000" spc="75" dirty="0">
                <a:latin typeface="Cambria"/>
                <a:cs typeface="Cambria"/>
              </a:rPr>
              <a:t>parameters.</a:t>
            </a:r>
            <a:r>
              <a:rPr sz="2000" spc="310" dirty="0">
                <a:latin typeface="Cambria"/>
                <a:cs typeface="Cambria"/>
              </a:rPr>
              <a:t>  </a:t>
            </a:r>
            <a:r>
              <a:rPr sz="2000" spc="85" dirty="0">
                <a:latin typeface="Cambria"/>
                <a:cs typeface="Cambria"/>
              </a:rPr>
              <a:t>The</a:t>
            </a:r>
            <a:r>
              <a:rPr sz="2000" spc="330" dirty="0">
                <a:latin typeface="Cambria"/>
                <a:cs typeface="Cambria"/>
              </a:rPr>
              <a:t>  </a:t>
            </a:r>
            <a:r>
              <a:rPr sz="2000" spc="65" dirty="0">
                <a:latin typeface="Cambria"/>
                <a:cs typeface="Cambria"/>
              </a:rPr>
              <a:t>value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b="1" spc="90" dirty="0">
                <a:latin typeface="Cambria"/>
                <a:cs typeface="Cambria"/>
              </a:rPr>
              <a:t>num1</a:t>
            </a:r>
            <a:r>
              <a:rPr sz="2000" b="1" spc="18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is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copied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into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b="1" spc="135" dirty="0">
                <a:latin typeface="Cambria"/>
                <a:cs typeface="Cambria"/>
              </a:rPr>
              <a:t>a</a:t>
            </a:r>
            <a:r>
              <a:rPr sz="2000" b="1" spc="16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and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the </a:t>
            </a:r>
            <a:r>
              <a:rPr sz="2000" spc="80" dirty="0">
                <a:latin typeface="Cambria"/>
                <a:cs typeface="Cambria"/>
              </a:rPr>
              <a:t>value</a:t>
            </a:r>
            <a:r>
              <a:rPr sz="2000" spc="4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4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num2</a:t>
            </a:r>
            <a:r>
              <a:rPr sz="2000" spc="47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is</a:t>
            </a:r>
            <a:r>
              <a:rPr sz="2000" spc="4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copied</a:t>
            </a:r>
            <a:r>
              <a:rPr sz="2000" spc="47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into</a:t>
            </a:r>
            <a:r>
              <a:rPr sz="2000" spc="490" dirty="0">
                <a:latin typeface="Cambria"/>
                <a:cs typeface="Cambria"/>
              </a:rPr>
              <a:t> </a:t>
            </a:r>
            <a:r>
              <a:rPr sz="2000" b="1" spc="95" dirty="0">
                <a:latin typeface="Cambria"/>
                <a:cs typeface="Cambria"/>
              </a:rPr>
              <a:t>b</a:t>
            </a:r>
            <a:r>
              <a:rPr sz="2000" spc="95" dirty="0">
                <a:latin typeface="Cambria"/>
                <a:cs typeface="Cambria"/>
              </a:rPr>
              <a:t>. </a:t>
            </a:r>
            <a:r>
              <a:rPr sz="2000" spc="85" dirty="0">
                <a:latin typeface="Cambria"/>
                <a:cs typeface="Cambria"/>
              </a:rPr>
              <a:t>The</a:t>
            </a:r>
            <a:r>
              <a:rPr sz="2000" spc="365" dirty="0">
                <a:latin typeface="Cambria"/>
                <a:cs typeface="Cambria"/>
              </a:rPr>
              <a:t>     </a:t>
            </a:r>
            <a:r>
              <a:rPr sz="2000" spc="70" dirty="0">
                <a:latin typeface="Cambria"/>
                <a:cs typeface="Cambria"/>
              </a:rPr>
              <a:t>changes</a:t>
            </a:r>
            <a:r>
              <a:rPr sz="2000" spc="365" dirty="0">
                <a:latin typeface="Cambria"/>
                <a:cs typeface="Cambria"/>
              </a:rPr>
              <a:t>     </a:t>
            </a:r>
            <a:r>
              <a:rPr sz="2000" spc="65" dirty="0">
                <a:latin typeface="Cambria"/>
                <a:cs typeface="Cambria"/>
              </a:rPr>
              <a:t>made</a:t>
            </a:r>
            <a:r>
              <a:rPr sz="2000" spc="370" dirty="0">
                <a:latin typeface="Cambria"/>
                <a:cs typeface="Cambria"/>
              </a:rPr>
              <a:t>     </a:t>
            </a:r>
            <a:r>
              <a:rPr sz="2000" spc="-25" dirty="0">
                <a:latin typeface="Cambria"/>
                <a:cs typeface="Cambria"/>
              </a:rPr>
              <a:t>on </a:t>
            </a:r>
            <a:r>
              <a:rPr sz="2000" spc="65" dirty="0">
                <a:latin typeface="Cambria"/>
                <a:cs typeface="Cambria"/>
              </a:rPr>
              <a:t>variables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b="1" spc="135" dirty="0">
                <a:latin typeface="Cambria"/>
                <a:cs typeface="Cambria"/>
              </a:rPr>
              <a:t>a</a:t>
            </a:r>
            <a:r>
              <a:rPr sz="2000" b="1" spc="2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and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b="1" spc="95" dirty="0">
                <a:latin typeface="Cambria"/>
                <a:cs typeface="Cambria"/>
              </a:rPr>
              <a:t>b</a:t>
            </a:r>
            <a:r>
              <a:rPr sz="2000" b="1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does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not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effect </a:t>
            </a:r>
            <a:r>
              <a:rPr sz="2000" spc="70" dirty="0">
                <a:latin typeface="Cambria"/>
                <a:cs typeface="Cambria"/>
              </a:rPr>
              <a:t>the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values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b="1" spc="100" dirty="0">
                <a:latin typeface="Cambria"/>
                <a:cs typeface="Cambria"/>
              </a:rPr>
              <a:t>num1</a:t>
            </a:r>
            <a:r>
              <a:rPr sz="2000" b="1" spc="14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and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b="1" spc="100" dirty="0">
                <a:latin typeface="Cambria"/>
                <a:cs typeface="Cambria"/>
              </a:rPr>
              <a:t>num2</a:t>
            </a:r>
            <a:r>
              <a:rPr sz="2000" spc="100" dirty="0">
                <a:latin typeface="Cambria"/>
                <a:cs typeface="Cambria"/>
              </a:rPr>
              <a:t>.</a:t>
            </a: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7527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23845" algn="l"/>
                <a:tab pos="4841875" algn="l"/>
              </a:tabLst>
            </a:pPr>
            <a:r>
              <a:rPr cap="small" spc="380" dirty="0"/>
              <a:t>Parameter</a:t>
            </a:r>
            <a:r>
              <a:rPr cap="small" dirty="0"/>
              <a:t>	</a:t>
            </a:r>
            <a:r>
              <a:rPr cap="small" spc="390" dirty="0"/>
              <a:t>Passing</a:t>
            </a:r>
            <a:r>
              <a:rPr cap="small" dirty="0"/>
              <a:t>	</a:t>
            </a:r>
            <a:r>
              <a:rPr cap="small" spc="36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936517"/>
            <a:ext cx="8004175" cy="518541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6385" indent="-273685" algn="just">
              <a:lnSpc>
                <a:spcPct val="100000"/>
              </a:lnSpc>
              <a:spcBef>
                <a:spcPts val="72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b="1" spc="245" dirty="0">
                <a:latin typeface="Cambria"/>
                <a:cs typeface="Cambria"/>
              </a:rPr>
              <a:t>Call</a:t>
            </a:r>
            <a:r>
              <a:rPr sz="2800" b="1" spc="195" dirty="0">
                <a:latin typeface="Cambria"/>
                <a:cs typeface="Cambria"/>
              </a:rPr>
              <a:t> </a:t>
            </a:r>
            <a:r>
              <a:rPr sz="2800" b="1" spc="185" dirty="0">
                <a:latin typeface="Cambria"/>
                <a:cs typeface="Cambria"/>
              </a:rPr>
              <a:t>by</a:t>
            </a:r>
            <a:r>
              <a:rPr sz="2800" b="1" spc="170" dirty="0">
                <a:latin typeface="Cambria"/>
                <a:cs typeface="Cambria"/>
              </a:rPr>
              <a:t> Reference</a:t>
            </a:r>
            <a:endParaRPr sz="2800" dirty="0">
              <a:latin typeface="Cambria"/>
              <a:cs typeface="Cambria"/>
            </a:endParaRPr>
          </a:p>
          <a:p>
            <a:pPr marL="287020" marR="6350" indent="-274320" algn="just">
              <a:lnSpc>
                <a:spcPct val="100000"/>
              </a:lnSpc>
              <a:spcBef>
                <a:spcPts val="62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185" dirty="0">
                <a:latin typeface="Cambria"/>
                <a:cs typeface="Cambria"/>
              </a:rPr>
              <a:t>In</a:t>
            </a:r>
            <a:r>
              <a:rPr sz="2800" spc="405" dirty="0">
                <a:latin typeface="Cambria"/>
                <a:cs typeface="Cambria"/>
              </a:rPr>
              <a:t>  </a:t>
            </a:r>
            <a:r>
              <a:rPr sz="2800" b="1" spc="245" dirty="0">
                <a:latin typeface="Cambria"/>
                <a:cs typeface="Cambria"/>
              </a:rPr>
              <a:t>Call</a:t>
            </a:r>
            <a:r>
              <a:rPr sz="2800" b="1" spc="405" dirty="0">
                <a:latin typeface="Cambria"/>
                <a:cs typeface="Cambria"/>
              </a:rPr>
              <a:t>  </a:t>
            </a:r>
            <a:r>
              <a:rPr sz="2800" b="1" spc="185" dirty="0">
                <a:latin typeface="Cambria"/>
                <a:cs typeface="Cambria"/>
              </a:rPr>
              <a:t>by</a:t>
            </a:r>
            <a:r>
              <a:rPr sz="2800" b="1" spc="395" dirty="0">
                <a:latin typeface="Cambria"/>
                <a:cs typeface="Cambria"/>
              </a:rPr>
              <a:t>  </a:t>
            </a:r>
            <a:r>
              <a:rPr sz="2800" b="1" spc="175" dirty="0">
                <a:latin typeface="Cambria"/>
                <a:cs typeface="Cambria"/>
              </a:rPr>
              <a:t>Reference</a:t>
            </a:r>
            <a:r>
              <a:rPr sz="2800" b="1" spc="409" dirty="0">
                <a:latin typeface="Cambria"/>
                <a:cs typeface="Cambria"/>
              </a:rPr>
              <a:t>  </a:t>
            </a:r>
            <a:r>
              <a:rPr sz="2800" spc="100" dirty="0">
                <a:latin typeface="Cambria"/>
                <a:cs typeface="Cambria"/>
              </a:rPr>
              <a:t>parameter</a:t>
            </a:r>
            <a:r>
              <a:rPr sz="2800" spc="409" dirty="0">
                <a:latin typeface="Cambria"/>
                <a:cs typeface="Cambria"/>
              </a:rPr>
              <a:t>  </a:t>
            </a:r>
            <a:r>
              <a:rPr sz="2800" spc="100" dirty="0">
                <a:latin typeface="Cambria"/>
                <a:cs typeface="Cambria"/>
              </a:rPr>
              <a:t>passing </a:t>
            </a:r>
            <a:r>
              <a:rPr sz="2800" spc="85" dirty="0">
                <a:latin typeface="Cambria"/>
                <a:cs typeface="Cambria"/>
              </a:rPr>
              <a:t>method,</a:t>
            </a:r>
            <a:r>
              <a:rPr sz="2800" spc="114" dirty="0">
                <a:latin typeface="Cambria"/>
                <a:cs typeface="Cambria"/>
              </a:rPr>
              <a:t>  </a:t>
            </a:r>
            <a:r>
              <a:rPr sz="2800" spc="105" dirty="0">
                <a:latin typeface="Cambria"/>
                <a:cs typeface="Cambria"/>
              </a:rPr>
              <a:t>the  </a:t>
            </a:r>
            <a:r>
              <a:rPr sz="2800" spc="60" dirty="0">
                <a:latin typeface="Cambria"/>
                <a:cs typeface="Cambria"/>
              </a:rPr>
              <a:t>memory</a:t>
            </a:r>
            <a:r>
              <a:rPr sz="2800" spc="120" dirty="0">
                <a:latin typeface="Cambria"/>
                <a:cs typeface="Cambria"/>
              </a:rPr>
              <a:t>  </a:t>
            </a:r>
            <a:r>
              <a:rPr sz="2800" spc="55" dirty="0">
                <a:latin typeface="Cambria"/>
                <a:cs typeface="Cambria"/>
              </a:rPr>
              <a:t>location</a:t>
            </a:r>
            <a:r>
              <a:rPr sz="2800" spc="120" dirty="0">
                <a:latin typeface="Cambria"/>
                <a:cs typeface="Cambria"/>
              </a:rPr>
              <a:t>  </a:t>
            </a:r>
            <a:r>
              <a:rPr sz="2800" spc="80" dirty="0">
                <a:latin typeface="Cambria"/>
                <a:cs typeface="Cambria"/>
              </a:rPr>
              <a:t>address</a:t>
            </a:r>
            <a:r>
              <a:rPr sz="2800" spc="105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110" dirty="0">
                <a:latin typeface="Cambria"/>
                <a:cs typeface="Cambria"/>
              </a:rPr>
              <a:t>  </a:t>
            </a:r>
            <a:r>
              <a:rPr sz="2800" spc="75" dirty="0">
                <a:latin typeface="Cambria"/>
                <a:cs typeface="Cambria"/>
              </a:rPr>
              <a:t>the </a:t>
            </a:r>
            <a:r>
              <a:rPr sz="2800" spc="130" dirty="0">
                <a:latin typeface="Cambria"/>
                <a:cs typeface="Cambria"/>
              </a:rPr>
              <a:t>actual</a:t>
            </a:r>
            <a:r>
              <a:rPr sz="2800" spc="480" dirty="0">
                <a:latin typeface="Cambria"/>
                <a:cs typeface="Cambria"/>
              </a:rPr>
              <a:t>   </a:t>
            </a:r>
            <a:r>
              <a:rPr sz="2800" spc="95" dirty="0">
                <a:latin typeface="Cambria"/>
                <a:cs typeface="Cambria"/>
              </a:rPr>
              <a:t>parameters</a:t>
            </a:r>
            <a:r>
              <a:rPr sz="2800" spc="490" dirty="0">
                <a:latin typeface="Cambria"/>
                <a:cs typeface="Cambria"/>
              </a:rPr>
              <a:t>   </a:t>
            </a:r>
            <a:r>
              <a:rPr sz="2800" spc="95" dirty="0">
                <a:latin typeface="Cambria"/>
                <a:cs typeface="Cambria"/>
              </a:rPr>
              <a:t>is</a:t>
            </a:r>
            <a:r>
              <a:rPr sz="2800" spc="470" dirty="0">
                <a:latin typeface="Cambria"/>
                <a:cs typeface="Cambria"/>
              </a:rPr>
              <a:t>   </a:t>
            </a:r>
            <a:r>
              <a:rPr sz="2800" dirty="0">
                <a:latin typeface="Cambria"/>
                <a:cs typeface="Cambria"/>
              </a:rPr>
              <a:t>copied</a:t>
            </a:r>
            <a:r>
              <a:rPr sz="2800" spc="484" dirty="0">
                <a:latin typeface="Cambria"/>
                <a:cs typeface="Cambria"/>
              </a:rPr>
              <a:t>   </a:t>
            </a:r>
            <a:r>
              <a:rPr sz="2800" dirty="0">
                <a:latin typeface="Cambria"/>
                <a:cs typeface="Cambria"/>
              </a:rPr>
              <a:t>to</a:t>
            </a:r>
            <a:r>
              <a:rPr sz="2800" spc="484" dirty="0">
                <a:latin typeface="Cambria"/>
                <a:cs typeface="Cambria"/>
              </a:rPr>
              <a:t>   </a:t>
            </a:r>
            <a:r>
              <a:rPr sz="2800" spc="80" dirty="0">
                <a:latin typeface="Cambria"/>
                <a:cs typeface="Cambria"/>
              </a:rPr>
              <a:t>formal </a:t>
            </a:r>
            <a:r>
              <a:rPr sz="2800" spc="100" dirty="0">
                <a:latin typeface="Cambria"/>
                <a:cs typeface="Cambria"/>
              </a:rPr>
              <a:t>parameters.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Clr>
                <a:srgbClr val="FD8537"/>
              </a:buClr>
              <a:buFont typeface="Wingdings"/>
              <a:buChar char=""/>
            </a:pPr>
            <a:endParaRPr sz="2800" dirty="0">
              <a:latin typeface="Cambria"/>
              <a:cs typeface="Cambria"/>
            </a:endParaRPr>
          </a:p>
          <a:p>
            <a:pPr marL="287020" marR="8255" indent="-274320" algn="just">
              <a:lnSpc>
                <a:spcPct val="10000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185" dirty="0">
                <a:latin typeface="Cambria"/>
                <a:cs typeface="Cambria"/>
              </a:rPr>
              <a:t>In</a:t>
            </a:r>
            <a:r>
              <a:rPr sz="2800" spc="395" dirty="0">
                <a:latin typeface="Cambria"/>
                <a:cs typeface="Cambria"/>
              </a:rPr>
              <a:t>  </a:t>
            </a:r>
            <a:r>
              <a:rPr sz="2800" spc="120" dirty="0">
                <a:latin typeface="Cambria"/>
                <a:cs typeface="Cambria"/>
              </a:rPr>
              <a:t>this</a:t>
            </a:r>
            <a:r>
              <a:rPr sz="2800" spc="415" dirty="0">
                <a:latin typeface="Cambria"/>
                <a:cs typeface="Cambria"/>
              </a:rPr>
              <a:t>  </a:t>
            </a:r>
            <a:r>
              <a:rPr sz="2800" spc="70" dirty="0">
                <a:latin typeface="Cambria"/>
                <a:cs typeface="Cambria"/>
              </a:rPr>
              <a:t>method</a:t>
            </a:r>
            <a:r>
              <a:rPr sz="2800" spc="405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415" dirty="0">
                <a:latin typeface="Cambria"/>
                <a:cs typeface="Cambria"/>
              </a:rPr>
              <a:t>  </a:t>
            </a:r>
            <a:r>
              <a:rPr sz="2800" spc="95" dirty="0">
                <a:latin typeface="Cambria"/>
                <a:cs typeface="Cambria"/>
              </a:rPr>
              <a:t>parameter</a:t>
            </a:r>
            <a:r>
              <a:rPr sz="2800" spc="409" dirty="0">
                <a:latin typeface="Cambria"/>
                <a:cs typeface="Cambria"/>
              </a:rPr>
              <a:t>  </a:t>
            </a:r>
            <a:r>
              <a:rPr sz="2800" spc="120" dirty="0">
                <a:latin typeface="Cambria"/>
                <a:cs typeface="Cambria"/>
              </a:rPr>
              <a:t>passing,</a:t>
            </a:r>
            <a:r>
              <a:rPr sz="2800" spc="409" dirty="0">
                <a:latin typeface="Cambria"/>
                <a:cs typeface="Cambria"/>
              </a:rPr>
              <a:t>  </a:t>
            </a:r>
            <a:r>
              <a:rPr sz="2800" spc="75" dirty="0">
                <a:latin typeface="Cambria"/>
                <a:cs typeface="Cambria"/>
              </a:rPr>
              <a:t>the </a:t>
            </a:r>
            <a:r>
              <a:rPr sz="2800" spc="90" dirty="0">
                <a:latin typeface="Cambria"/>
                <a:cs typeface="Cambria"/>
              </a:rPr>
              <a:t>formal</a:t>
            </a:r>
            <a:r>
              <a:rPr sz="2800" spc="140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parameters</a:t>
            </a:r>
            <a:r>
              <a:rPr sz="2800" spc="125" dirty="0">
                <a:latin typeface="Cambria"/>
                <a:cs typeface="Cambria"/>
              </a:rPr>
              <a:t> </a:t>
            </a:r>
            <a:r>
              <a:rPr sz="2800" spc="130" dirty="0">
                <a:latin typeface="Cambria"/>
                <a:cs typeface="Cambria"/>
              </a:rPr>
              <a:t>must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be</a:t>
            </a:r>
            <a:r>
              <a:rPr sz="2800" spc="180" dirty="0">
                <a:latin typeface="Cambria"/>
                <a:cs typeface="Cambria"/>
              </a:rPr>
              <a:t> </a:t>
            </a:r>
            <a:r>
              <a:rPr sz="2800" b="1" spc="155" dirty="0">
                <a:latin typeface="Cambria"/>
                <a:cs typeface="Cambria"/>
              </a:rPr>
              <a:t>pointer</a:t>
            </a:r>
            <a:r>
              <a:rPr sz="2800" b="1" spc="15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variables.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Clr>
                <a:srgbClr val="FD8537"/>
              </a:buClr>
              <a:buFont typeface="Wingdings"/>
              <a:buChar char=""/>
            </a:pPr>
            <a:endParaRPr sz="2800" dirty="0">
              <a:latin typeface="Cambria"/>
              <a:cs typeface="Cambria"/>
            </a:endParaRPr>
          </a:p>
          <a:p>
            <a:pPr marL="287020" marR="5080" indent="-274320" algn="just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120" dirty="0">
                <a:latin typeface="Cambria"/>
                <a:cs typeface="Cambria"/>
              </a:rPr>
              <a:t>The</a:t>
            </a:r>
            <a:r>
              <a:rPr sz="2800" spc="635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changes</a:t>
            </a:r>
            <a:r>
              <a:rPr sz="2800" spc="620" dirty="0">
                <a:latin typeface="Cambria"/>
                <a:cs typeface="Cambria"/>
              </a:rPr>
              <a:t> </a:t>
            </a:r>
            <a:r>
              <a:rPr sz="2800" spc="114" dirty="0">
                <a:latin typeface="Cambria"/>
                <a:cs typeface="Cambria"/>
              </a:rPr>
              <a:t>made</a:t>
            </a:r>
            <a:r>
              <a:rPr sz="2800" spc="62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on</a:t>
            </a:r>
            <a:r>
              <a:rPr sz="2800" spc="61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65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formal</a:t>
            </a:r>
            <a:r>
              <a:rPr sz="2800" spc="645" dirty="0">
                <a:latin typeface="Cambria"/>
                <a:cs typeface="Cambria"/>
              </a:rPr>
              <a:t> </a:t>
            </a:r>
            <a:r>
              <a:rPr sz="2800" spc="90" dirty="0">
                <a:latin typeface="Cambria"/>
                <a:cs typeface="Cambria"/>
              </a:rPr>
              <a:t>parameters </a:t>
            </a:r>
            <a:r>
              <a:rPr sz="2800" spc="70" dirty="0">
                <a:latin typeface="Cambria"/>
                <a:cs typeface="Cambria"/>
              </a:rPr>
              <a:t>effects</a:t>
            </a:r>
            <a:r>
              <a:rPr sz="2800" spc="12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values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130" dirty="0">
                <a:latin typeface="Cambria"/>
                <a:cs typeface="Cambria"/>
              </a:rPr>
              <a:t>actual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90" dirty="0">
                <a:latin typeface="Cambria"/>
                <a:cs typeface="Cambria"/>
              </a:rPr>
              <a:t>parameters</a:t>
            </a:r>
            <a:endParaRPr sz="28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spc="36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159" y="868756"/>
            <a:ext cx="3547441" cy="6001002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sz="2000" dirty="0" smtClean="0">
                <a:latin typeface="Cambria"/>
                <a:cs typeface="Cambria"/>
              </a:rPr>
              <a:t>#include &lt;</a:t>
            </a:r>
            <a:r>
              <a:rPr lang="en-US" sz="2000" dirty="0" err="1" smtClean="0">
                <a:latin typeface="Cambria"/>
                <a:cs typeface="Cambria"/>
              </a:rPr>
              <a:t>iostream</a:t>
            </a:r>
            <a:r>
              <a:rPr lang="en-US" sz="2000" dirty="0" smtClean="0">
                <a:latin typeface="Cambria"/>
                <a:cs typeface="Cambria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sz="2000" dirty="0" smtClean="0">
                <a:latin typeface="Cambria"/>
                <a:cs typeface="Cambria"/>
              </a:rPr>
              <a:t>using namespace </a:t>
            </a:r>
            <a:r>
              <a:rPr lang="en-US" sz="2000" dirty="0" err="1" smtClean="0">
                <a:latin typeface="Cambria"/>
                <a:cs typeface="Cambria"/>
              </a:rPr>
              <a:t>std</a:t>
            </a:r>
            <a:r>
              <a:rPr lang="en-US" sz="2000" dirty="0" smtClean="0">
                <a:latin typeface="Cambria"/>
                <a:cs typeface="Cambria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endParaRPr lang="en-US" sz="20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dirty="0" smtClean="0">
                <a:latin typeface="Cambria"/>
                <a:cs typeface="Cambria"/>
              </a:rPr>
              <a:t>// Function using Call by Pointer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dirty="0" smtClean="0">
                <a:latin typeface="Cambria"/>
                <a:cs typeface="Cambria"/>
              </a:rPr>
              <a:t>void </a:t>
            </a:r>
            <a:r>
              <a:rPr lang="en-US" dirty="0" err="1" smtClean="0">
                <a:latin typeface="Cambria"/>
                <a:cs typeface="Cambria"/>
              </a:rPr>
              <a:t>swapNumbers</a:t>
            </a:r>
            <a:r>
              <a:rPr lang="en-US" dirty="0" smtClean="0">
                <a:latin typeface="Cambria"/>
                <a:cs typeface="Cambria"/>
              </a:rPr>
              <a:t>(</a:t>
            </a:r>
            <a:r>
              <a:rPr lang="en-US" dirty="0" err="1" smtClean="0">
                <a:latin typeface="Cambria"/>
                <a:cs typeface="Cambria"/>
              </a:rPr>
              <a:t>int</a:t>
            </a:r>
            <a:r>
              <a:rPr lang="en-US" dirty="0" smtClean="0">
                <a:latin typeface="Cambria"/>
                <a:cs typeface="Cambria"/>
              </a:rPr>
              <a:t> *x, </a:t>
            </a:r>
            <a:r>
              <a:rPr lang="en-US" dirty="0" err="1" smtClean="0">
                <a:latin typeface="Cambria"/>
                <a:cs typeface="Cambria"/>
              </a:rPr>
              <a:t>int</a:t>
            </a:r>
            <a:r>
              <a:rPr lang="en-US" dirty="0" smtClean="0">
                <a:latin typeface="Cambria"/>
                <a:cs typeface="Cambria"/>
              </a:rPr>
              <a:t> *y) {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dirty="0" smtClean="0">
                <a:latin typeface="Cambria"/>
                <a:cs typeface="Cambria"/>
              </a:rPr>
              <a:t>    </a:t>
            </a:r>
            <a:r>
              <a:rPr lang="en-US" dirty="0" err="1" smtClean="0">
                <a:latin typeface="Cambria"/>
                <a:cs typeface="Cambria"/>
              </a:rPr>
              <a:t>int</a:t>
            </a:r>
            <a:r>
              <a:rPr lang="en-US" dirty="0" smtClean="0">
                <a:latin typeface="Cambria"/>
                <a:cs typeface="Cambria"/>
              </a:rPr>
              <a:t> temp = *x;   // access value at address x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dirty="0" smtClean="0">
                <a:latin typeface="Cambria"/>
                <a:cs typeface="Cambria"/>
              </a:rPr>
              <a:t>    *x = *y;         // change value at address x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dirty="0" smtClean="0">
                <a:latin typeface="Cambria"/>
                <a:cs typeface="Cambria"/>
              </a:rPr>
              <a:t>    *y = temp;       // change value at address y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dirty="0" smtClean="0">
                <a:latin typeface="Cambria"/>
                <a:cs typeface="Cambria"/>
              </a:rPr>
              <a:t>}</a:t>
            </a:r>
            <a:endParaRPr lang="en-US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dirty="0" err="1" smtClean="0">
                <a:latin typeface="Cambria"/>
                <a:cs typeface="Cambria"/>
              </a:rPr>
              <a:t>int</a:t>
            </a:r>
            <a:r>
              <a:rPr lang="en-US" dirty="0" smtClean="0">
                <a:latin typeface="Cambria"/>
                <a:cs typeface="Cambria"/>
              </a:rPr>
              <a:t> main() {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dirty="0" smtClean="0">
                <a:latin typeface="Cambria"/>
                <a:cs typeface="Cambria"/>
              </a:rPr>
              <a:t>    </a:t>
            </a:r>
            <a:r>
              <a:rPr lang="en-US" dirty="0" err="1" smtClean="0">
                <a:latin typeface="Cambria"/>
                <a:cs typeface="Cambria"/>
              </a:rPr>
              <a:t>int</a:t>
            </a:r>
            <a:r>
              <a:rPr lang="en-US" dirty="0" smtClean="0">
                <a:latin typeface="Cambria"/>
                <a:cs typeface="Cambria"/>
              </a:rPr>
              <a:t> a = 10, b = 20;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dirty="0" smtClean="0">
                <a:latin typeface="Cambria"/>
                <a:cs typeface="Cambria"/>
              </a:rPr>
              <a:t>    </a:t>
            </a:r>
            <a:r>
              <a:rPr lang="en-US" dirty="0" err="1" smtClean="0">
                <a:latin typeface="Cambria"/>
                <a:cs typeface="Cambria"/>
              </a:rPr>
              <a:t>cout</a:t>
            </a:r>
            <a:r>
              <a:rPr lang="en-US" dirty="0" smtClean="0">
                <a:latin typeface="Cambria"/>
                <a:cs typeface="Cambria"/>
              </a:rPr>
              <a:t> &lt;&lt; "Before swapping: a = " &lt;&lt; a &lt;&lt; ", b = " &lt;&lt; b &lt;&lt; </a:t>
            </a:r>
            <a:r>
              <a:rPr lang="en-US" dirty="0" err="1" smtClean="0">
                <a:latin typeface="Cambria"/>
                <a:cs typeface="Cambria"/>
              </a:rPr>
              <a:t>endl</a:t>
            </a:r>
            <a:r>
              <a:rPr lang="en-US" dirty="0" smtClean="0">
                <a:latin typeface="Cambria"/>
                <a:cs typeface="Cambria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endParaRPr lang="en-US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endParaRPr lang="en-US" sz="2000" dirty="0" smtClean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3400" y="685800"/>
            <a:ext cx="3886835" cy="602857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endParaRPr lang="en-US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dirty="0" smtClean="0">
                <a:latin typeface="Cambria"/>
                <a:cs typeface="Cambria"/>
              </a:rPr>
              <a:t>    </a:t>
            </a:r>
            <a:r>
              <a:rPr lang="en-US" dirty="0" err="1" smtClean="0">
                <a:latin typeface="Cambria"/>
                <a:cs typeface="Cambria"/>
              </a:rPr>
              <a:t>swapNumbers</a:t>
            </a:r>
            <a:r>
              <a:rPr lang="en-US" dirty="0" smtClean="0">
                <a:latin typeface="Cambria"/>
                <a:cs typeface="Cambria"/>
              </a:rPr>
              <a:t>(&amp;a, &amp;b);  // pass addresses of a and b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endParaRPr lang="en-US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dirty="0" smtClean="0">
                <a:latin typeface="Cambria"/>
                <a:cs typeface="Cambria"/>
              </a:rPr>
              <a:t>    </a:t>
            </a:r>
            <a:r>
              <a:rPr lang="en-US" dirty="0" err="1" smtClean="0">
                <a:latin typeface="Cambria"/>
                <a:cs typeface="Cambria"/>
              </a:rPr>
              <a:t>cout</a:t>
            </a:r>
            <a:r>
              <a:rPr lang="en-US" dirty="0" smtClean="0">
                <a:latin typeface="Cambria"/>
                <a:cs typeface="Cambria"/>
              </a:rPr>
              <a:t> &lt;&lt; "After swapping: a = " &lt;&lt; a &lt;&lt; ", b = " &lt;&lt; b &lt;&lt; </a:t>
            </a:r>
            <a:r>
              <a:rPr lang="en-US" dirty="0" err="1" smtClean="0">
                <a:latin typeface="Cambria"/>
                <a:cs typeface="Cambria"/>
              </a:rPr>
              <a:t>endl</a:t>
            </a:r>
            <a:r>
              <a:rPr lang="en-US" dirty="0" smtClean="0">
                <a:latin typeface="Cambria"/>
                <a:cs typeface="Cambria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endParaRPr lang="en-US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dirty="0" smtClean="0">
                <a:latin typeface="Cambria"/>
                <a:cs typeface="Cambria"/>
              </a:rPr>
              <a:t>    return 0;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dirty="0" smtClean="0">
                <a:latin typeface="Cambria"/>
                <a:cs typeface="Cambria"/>
              </a:rPr>
              <a:t>}</a:t>
            </a: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2200" dirty="0">
              <a:latin typeface="Cambria"/>
              <a:cs typeface="Cambria"/>
            </a:endParaRPr>
          </a:p>
          <a:p>
            <a:pPr marL="12700" marR="5080" algn="just">
              <a:lnSpc>
                <a:spcPct val="80000"/>
              </a:lnSpc>
            </a:pPr>
            <a:r>
              <a:rPr sz="2200" spc="150" dirty="0">
                <a:latin typeface="Cambria"/>
                <a:cs typeface="Cambria"/>
              </a:rPr>
              <a:t>In</a:t>
            </a:r>
            <a:r>
              <a:rPr sz="2200" spc="400" dirty="0">
                <a:latin typeface="Cambria"/>
                <a:cs typeface="Cambria"/>
              </a:rPr>
              <a:t>    </a:t>
            </a:r>
            <a:r>
              <a:rPr sz="2200" spc="90" dirty="0">
                <a:latin typeface="Cambria"/>
                <a:cs typeface="Cambria"/>
              </a:rPr>
              <a:t>the</a:t>
            </a:r>
            <a:r>
              <a:rPr sz="2200" spc="405" dirty="0">
                <a:latin typeface="Cambria"/>
                <a:cs typeface="Cambria"/>
              </a:rPr>
              <a:t>    </a:t>
            </a:r>
            <a:r>
              <a:rPr sz="2200" dirty="0">
                <a:latin typeface="Cambria"/>
                <a:cs typeface="Cambria"/>
              </a:rPr>
              <a:t>above</a:t>
            </a:r>
            <a:r>
              <a:rPr sz="2200" spc="409" dirty="0">
                <a:latin typeface="Cambria"/>
                <a:cs typeface="Cambria"/>
              </a:rPr>
              <a:t>    </a:t>
            </a:r>
            <a:r>
              <a:rPr sz="2200" spc="65" dirty="0">
                <a:latin typeface="Cambria"/>
                <a:cs typeface="Cambria"/>
              </a:rPr>
              <a:t>example </a:t>
            </a:r>
            <a:r>
              <a:rPr sz="2200" spc="75" dirty="0">
                <a:latin typeface="Cambria"/>
                <a:cs typeface="Cambria"/>
              </a:rPr>
              <a:t>program,</a:t>
            </a:r>
            <a:r>
              <a:rPr sz="2200" spc="220" dirty="0">
                <a:latin typeface="Cambria"/>
                <a:cs typeface="Cambria"/>
              </a:rPr>
              <a:t>   </a:t>
            </a:r>
            <a:r>
              <a:rPr sz="2200" spc="90" dirty="0">
                <a:latin typeface="Cambria"/>
                <a:cs typeface="Cambria"/>
              </a:rPr>
              <a:t>the</a:t>
            </a:r>
            <a:r>
              <a:rPr sz="2200" spc="229" dirty="0">
                <a:latin typeface="Cambria"/>
                <a:cs typeface="Cambria"/>
              </a:rPr>
              <a:t>   </a:t>
            </a:r>
            <a:r>
              <a:rPr sz="2200" dirty="0">
                <a:latin typeface="Cambria"/>
                <a:cs typeface="Cambria"/>
              </a:rPr>
              <a:t>addresses</a:t>
            </a:r>
            <a:r>
              <a:rPr sz="2200" spc="235" dirty="0">
                <a:latin typeface="Cambria"/>
                <a:cs typeface="Cambria"/>
              </a:rPr>
              <a:t>   </a:t>
            </a:r>
            <a:r>
              <a:rPr sz="2200" spc="-25" dirty="0">
                <a:latin typeface="Cambria"/>
                <a:cs typeface="Cambria"/>
              </a:rPr>
              <a:t>of </a:t>
            </a:r>
            <a:r>
              <a:rPr sz="2200" spc="80" dirty="0">
                <a:latin typeface="Cambria"/>
                <a:cs typeface="Cambria"/>
              </a:rPr>
              <a:t>variables</a:t>
            </a:r>
            <a:r>
              <a:rPr sz="2200" spc="280" dirty="0">
                <a:latin typeface="Cambria"/>
                <a:cs typeface="Cambria"/>
              </a:rPr>
              <a:t> </a:t>
            </a:r>
            <a:r>
              <a:rPr sz="2200" b="1" spc="120" dirty="0">
                <a:latin typeface="Cambria"/>
                <a:cs typeface="Cambria"/>
              </a:rPr>
              <a:t>num1</a:t>
            </a:r>
            <a:r>
              <a:rPr sz="2200" b="1" spc="31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and</a:t>
            </a:r>
            <a:r>
              <a:rPr sz="2200" spc="320" dirty="0">
                <a:latin typeface="Cambria"/>
                <a:cs typeface="Cambria"/>
              </a:rPr>
              <a:t> </a:t>
            </a:r>
            <a:r>
              <a:rPr sz="2200" b="1" spc="120" dirty="0">
                <a:latin typeface="Cambria"/>
                <a:cs typeface="Cambria"/>
              </a:rPr>
              <a:t>num2</a:t>
            </a:r>
            <a:r>
              <a:rPr sz="2200" b="1" spc="315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a </a:t>
            </a:r>
            <a:r>
              <a:rPr sz="2200" dirty="0">
                <a:latin typeface="Cambria"/>
                <a:cs typeface="Cambria"/>
              </a:rPr>
              <a:t>re</a:t>
            </a:r>
            <a:r>
              <a:rPr sz="2200" spc="370" dirty="0">
                <a:latin typeface="Cambria"/>
                <a:cs typeface="Cambria"/>
              </a:rPr>
              <a:t>     </a:t>
            </a:r>
            <a:r>
              <a:rPr sz="2200" dirty="0">
                <a:latin typeface="Cambria"/>
                <a:cs typeface="Cambria"/>
              </a:rPr>
              <a:t>copied</a:t>
            </a:r>
            <a:r>
              <a:rPr sz="2200" spc="365" dirty="0">
                <a:latin typeface="Cambria"/>
                <a:cs typeface="Cambria"/>
              </a:rPr>
              <a:t>    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370" dirty="0">
                <a:latin typeface="Cambria"/>
                <a:cs typeface="Cambria"/>
              </a:rPr>
              <a:t>     </a:t>
            </a:r>
            <a:r>
              <a:rPr sz="2200" spc="-10" dirty="0">
                <a:latin typeface="Cambria"/>
                <a:cs typeface="Cambria"/>
              </a:rPr>
              <a:t>pointer </a:t>
            </a:r>
            <a:r>
              <a:rPr sz="2200" spc="75" dirty="0">
                <a:latin typeface="Cambria"/>
                <a:cs typeface="Cambria"/>
              </a:rPr>
              <a:t>variables</a:t>
            </a:r>
            <a:r>
              <a:rPr sz="2200" spc="340" dirty="0">
                <a:latin typeface="Cambria"/>
                <a:cs typeface="Cambria"/>
              </a:rPr>
              <a:t>   </a:t>
            </a:r>
            <a:r>
              <a:rPr sz="2200" b="1" spc="160" dirty="0">
                <a:latin typeface="Cambria"/>
                <a:cs typeface="Cambria"/>
              </a:rPr>
              <a:t>a</a:t>
            </a:r>
            <a:r>
              <a:rPr sz="2200" b="1" spc="340" dirty="0">
                <a:latin typeface="Cambria"/>
                <a:cs typeface="Cambria"/>
              </a:rPr>
              <a:t>   </a:t>
            </a:r>
            <a:r>
              <a:rPr sz="2200" spc="100" dirty="0">
                <a:latin typeface="Cambria"/>
                <a:cs typeface="Cambria"/>
              </a:rPr>
              <a:t>and</a:t>
            </a:r>
            <a:r>
              <a:rPr sz="2200" spc="340" dirty="0">
                <a:latin typeface="Cambria"/>
                <a:cs typeface="Cambria"/>
              </a:rPr>
              <a:t>   </a:t>
            </a:r>
            <a:r>
              <a:rPr sz="2200" b="1" spc="145" dirty="0">
                <a:latin typeface="Cambria"/>
                <a:cs typeface="Cambria"/>
              </a:rPr>
              <a:t>b</a:t>
            </a:r>
            <a:r>
              <a:rPr sz="2200" spc="145" dirty="0">
                <a:latin typeface="Cambria"/>
                <a:cs typeface="Cambria"/>
              </a:rPr>
              <a:t>.</a:t>
            </a:r>
            <a:r>
              <a:rPr sz="2200" spc="340" dirty="0">
                <a:latin typeface="Cambria"/>
                <a:cs typeface="Cambria"/>
              </a:rPr>
              <a:t>   </a:t>
            </a:r>
            <a:r>
              <a:rPr sz="2200" spc="80" dirty="0">
                <a:latin typeface="Cambria"/>
                <a:cs typeface="Cambria"/>
              </a:rPr>
              <a:t>The changes</a:t>
            </a:r>
            <a:r>
              <a:rPr sz="2200" spc="415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made</a:t>
            </a:r>
            <a:r>
              <a:rPr sz="2200" spc="4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on</a:t>
            </a:r>
            <a:r>
              <a:rPr sz="2200" spc="38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the</a:t>
            </a:r>
            <a:r>
              <a:rPr sz="2200" spc="415" dirty="0">
                <a:latin typeface="Cambria"/>
                <a:cs typeface="Cambria"/>
              </a:rPr>
              <a:t> </a:t>
            </a:r>
            <a:r>
              <a:rPr sz="2200" spc="35" dirty="0">
                <a:latin typeface="Cambria"/>
                <a:cs typeface="Cambria"/>
              </a:rPr>
              <a:t>pointer </a:t>
            </a:r>
            <a:r>
              <a:rPr sz="2200" spc="75" dirty="0">
                <a:latin typeface="Cambria"/>
                <a:cs typeface="Cambria"/>
              </a:rPr>
              <a:t>variables</a:t>
            </a:r>
            <a:r>
              <a:rPr sz="2200" spc="150" dirty="0">
                <a:latin typeface="Cambria"/>
                <a:cs typeface="Cambria"/>
              </a:rPr>
              <a:t>  </a:t>
            </a:r>
            <a:r>
              <a:rPr sz="2200" b="1" spc="160" dirty="0">
                <a:latin typeface="Cambria"/>
                <a:cs typeface="Cambria"/>
              </a:rPr>
              <a:t>a</a:t>
            </a:r>
            <a:r>
              <a:rPr sz="2200" b="1" spc="165" dirty="0">
                <a:latin typeface="Cambria"/>
                <a:cs typeface="Cambria"/>
              </a:rPr>
              <a:t>  </a:t>
            </a:r>
            <a:r>
              <a:rPr sz="2200" spc="100" dirty="0">
                <a:latin typeface="Cambria"/>
                <a:cs typeface="Cambria"/>
              </a:rPr>
              <a:t>and</a:t>
            </a:r>
            <a:r>
              <a:rPr sz="2200" spc="155" dirty="0">
                <a:latin typeface="Cambria"/>
                <a:cs typeface="Cambria"/>
              </a:rPr>
              <a:t>  </a:t>
            </a:r>
            <a:r>
              <a:rPr sz="2200" b="1" spc="130" dirty="0">
                <a:latin typeface="Cambria"/>
                <a:cs typeface="Cambria"/>
              </a:rPr>
              <a:t>b</a:t>
            </a:r>
            <a:r>
              <a:rPr sz="2200" b="1" spc="160" dirty="0">
                <a:latin typeface="Cambria"/>
                <a:cs typeface="Cambria"/>
              </a:rPr>
              <a:t>  </a:t>
            </a:r>
            <a:r>
              <a:rPr sz="2200" spc="100" dirty="0">
                <a:latin typeface="Cambria"/>
                <a:cs typeface="Cambria"/>
              </a:rPr>
              <a:t>in</a:t>
            </a:r>
            <a:r>
              <a:rPr sz="2200" spc="150" dirty="0">
                <a:latin typeface="Cambria"/>
                <a:cs typeface="Cambria"/>
              </a:rPr>
              <a:t>  </a:t>
            </a:r>
            <a:r>
              <a:rPr sz="2200" spc="45" dirty="0">
                <a:latin typeface="Cambria"/>
                <a:cs typeface="Cambria"/>
              </a:rPr>
              <a:t>called </a:t>
            </a:r>
            <a:r>
              <a:rPr sz="2200" spc="70" dirty="0">
                <a:latin typeface="Cambria"/>
                <a:cs typeface="Cambria"/>
              </a:rPr>
              <a:t>function</a:t>
            </a:r>
            <a:r>
              <a:rPr sz="2200" spc="5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effects</a:t>
            </a:r>
            <a:r>
              <a:rPr sz="2200" spc="54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the</a:t>
            </a:r>
            <a:r>
              <a:rPr sz="2200" spc="525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values</a:t>
            </a:r>
            <a:r>
              <a:rPr sz="2200" spc="53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of </a:t>
            </a:r>
            <a:r>
              <a:rPr sz="2200" spc="100" dirty="0">
                <a:latin typeface="Cambria"/>
                <a:cs typeface="Cambria"/>
              </a:rPr>
              <a:t>actual</a:t>
            </a:r>
            <a:r>
              <a:rPr sz="2200" spc="21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parameters</a:t>
            </a:r>
            <a:r>
              <a:rPr sz="2200" spc="254" dirty="0">
                <a:latin typeface="Cambria"/>
                <a:cs typeface="Cambria"/>
              </a:rPr>
              <a:t> </a:t>
            </a:r>
            <a:r>
              <a:rPr sz="2200" b="1" spc="110" dirty="0">
                <a:latin typeface="Cambria"/>
                <a:cs typeface="Cambria"/>
              </a:rPr>
              <a:t>num1</a:t>
            </a:r>
            <a:r>
              <a:rPr sz="2200" b="1" spc="229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and </a:t>
            </a:r>
            <a:r>
              <a:rPr sz="2200" b="1" spc="114" dirty="0">
                <a:latin typeface="Cambria"/>
                <a:cs typeface="Cambria"/>
              </a:rPr>
              <a:t>num2</a:t>
            </a:r>
            <a:r>
              <a:rPr sz="2200" b="1" spc="105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in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calling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function.</a:t>
            </a:r>
            <a:endParaRPr sz="2200" dirty="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spc="385" dirty="0"/>
              <a:t>Recursion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945007"/>
            <a:ext cx="8002905" cy="230060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7020" marR="7620" indent="-274320" algn="just">
              <a:lnSpc>
                <a:spcPts val="2300"/>
              </a:lnSpc>
              <a:spcBef>
                <a:spcPts val="66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70" dirty="0">
                <a:latin typeface="Cambria"/>
                <a:cs typeface="Cambria"/>
              </a:rPr>
              <a:t>Recursion</a:t>
            </a:r>
            <a:r>
              <a:rPr sz="2400" spc="50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48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5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process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49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repeating</a:t>
            </a:r>
            <a:r>
              <a:rPr sz="2400" spc="47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items</a:t>
            </a:r>
            <a:r>
              <a:rPr sz="2400" spc="49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in</a:t>
            </a:r>
            <a:r>
              <a:rPr sz="2400" spc="500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self- </a:t>
            </a:r>
            <a:r>
              <a:rPr sz="2400" spc="100" dirty="0">
                <a:latin typeface="Cambria"/>
                <a:cs typeface="Cambria"/>
              </a:rPr>
              <a:t>similar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way.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buClr>
                <a:srgbClr val="FD8537"/>
              </a:buClr>
              <a:buFont typeface="Wingdings"/>
              <a:buChar char=""/>
            </a:pPr>
            <a:endParaRPr sz="2400">
              <a:latin typeface="Cambria"/>
              <a:cs typeface="Cambria"/>
            </a:endParaRPr>
          </a:p>
          <a:p>
            <a:pPr marL="287020" marR="5080" indent="-274320" algn="just">
              <a:lnSpc>
                <a:spcPct val="801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60" dirty="0">
                <a:latin typeface="Cambria"/>
                <a:cs typeface="Cambria"/>
              </a:rPr>
              <a:t>In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programming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languages,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if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program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allows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you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 </a:t>
            </a:r>
            <a:r>
              <a:rPr sz="2400" spc="90" dirty="0">
                <a:latin typeface="Cambria"/>
                <a:cs typeface="Cambria"/>
              </a:rPr>
              <a:t>call</a:t>
            </a:r>
            <a:r>
              <a:rPr sz="2400" spc="130" dirty="0">
                <a:latin typeface="Cambria"/>
                <a:cs typeface="Cambria"/>
              </a:rPr>
              <a:t> 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 </a:t>
            </a:r>
            <a:r>
              <a:rPr sz="2400" spc="70" dirty="0">
                <a:latin typeface="Cambria"/>
                <a:cs typeface="Cambria"/>
              </a:rPr>
              <a:t>function</a:t>
            </a:r>
            <a:r>
              <a:rPr sz="2400" spc="125" dirty="0">
                <a:latin typeface="Cambria"/>
                <a:cs typeface="Cambria"/>
              </a:rPr>
              <a:t>  </a:t>
            </a:r>
            <a:r>
              <a:rPr sz="2400" spc="60" dirty="0">
                <a:latin typeface="Cambria"/>
                <a:cs typeface="Cambria"/>
              </a:rPr>
              <a:t>inside</a:t>
            </a:r>
            <a:r>
              <a:rPr sz="2400" spc="140" dirty="0">
                <a:latin typeface="Cambria"/>
                <a:cs typeface="Cambria"/>
              </a:rPr>
              <a:t> 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 </a:t>
            </a:r>
            <a:r>
              <a:rPr sz="2400" spc="90" dirty="0">
                <a:latin typeface="Cambria"/>
                <a:cs typeface="Cambria"/>
              </a:rPr>
              <a:t>same</a:t>
            </a:r>
            <a:r>
              <a:rPr sz="2400" spc="135" dirty="0">
                <a:latin typeface="Cambria"/>
                <a:cs typeface="Cambria"/>
              </a:rPr>
              <a:t>  </a:t>
            </a:r>
            <a:r>
              <a:rPr sz="2400" spc="75" dirty="0">
                <a:latin typeface="Cambria"/>
                <a:cs typeface="Cambria"/>
              </a:rPr>
              <a:t>function,</a:t>
            </a:r>
            <a:r>
              <a:rPr sz="2400" spc="125" dirty="0">
                <a:latin typeface="Cambria"/>
                <a:cs typeface="Cambria"/>
              </a:rPr>
              <a:t>  </a:t>
            </a:r>
            <a:r>
              <a:rPr sz="2400" spc="90" dirty="0">
                <a:latin typeface="Cambria"/>
                <a:cs typeface="Cambria"/>
              </a:rPr>
              <a:t>then</a:t>
            </a:r>
            <a:r>
              <a:rPr sz="2400" spc="120" dirty="0">
                <a:latin typeface="Cambria"/>
                <a:cs typeface="Cambria"/>
              </a:rPr>
              <a:t>  </a:t>
            </a:r>
            <a:r>
              <a:rPr sz="2400" spc="105" dirty="0">
                <a:latin typeface="Cambria"/>
                <a:cs typeface="Cambria"/>
              </a:rPr>
              <a:t>it</a:t>
            </a:r>
            <a:r>
              <a:rPr sz="2400" spc="125" dirty="0">
                <a:latin typeface="Cambria"/>
                <a:cs typeface="Cambria"/>
              </a:rPr>
              <a:t>  </a:t>
            </a:r>
            <a:r>
              <a:rPr sz="2400" spc="60" dirty="0">
                <a:latin typeface="Cambria"/>
                <a:cs typeface="Cambria"/>
              </a:rPr>
              <a:t>is </a:t>
            </a:r>
            <a:r>
              <a:rPr sz="2400" spc="65" dirty="0">
                <a:latin typeface="Cambria"/>
                <a:cs typeface="Cambria"/>
              </a:rPr>
              <a:t>called</a:t>
            </a:r>
            <a:r>
              <a:rPr sz="2400" spc="430" dirty="0">
                <a:latin typeface="Cambria"/>
                <a:cs typeface="Cambria"/>
              </a:rPr>
              <a:t> 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445" dirty="0">
                <a:latin typeface="Cambria"/>
                <a:cs typeface="Cambria"/>
              </a:rPr>
              <a:t>  </a:t>
            </a:r>
            <a:r>
              <a:rPr sz="2400" spc="55" dirty="0">
                <a:latin typeface="Cambria"/>
                <a:cs typeface="Cambria"/>
              </a:rPr>
              <a:t>recursive</a:t>
            </a:r>
            <a:r>
              <a:rPr sz="2400" spc="434" dirty="0">
                <a:latin typeface="Cambria"/>
                <a:cs typeface="Cambria"/>
              </a:rPr>
              <a:t>  </a:t>
            </a:r>
            <a:r>
              <a:rPr sz="2400" spc="85" dirty="0">
                <a:latin typeface="Cambria"/>
                <a:cs typeface="Cambria"/>
              </a:rPr>
              <a:t>call</a:t>
            </a:r>
            <a:r>
              <a:rPr sz="2400" spc="4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440" dirty="0">
                <a:latin typeface="Cambria"/>
                <a:cs typeface="Cambria"/>
              </a:rPr>
              <a:t> 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445" dirty="0">
                <a:latin typeface="Cambria"/>
                <a:cs typeface="Cambria"/>
              </a:rPr>
              <a:t>  </a:t>
            </a:r>
            <a:r>
              <a:rPr sz="2400" spc="70" dirty="0">
                <a:latin typeface="Cambria"/>
                <a:cs typeface="Cambria"/>
              </a:rPr>
              <a:t>function</a:t>
            </a:r>
            <a:r>
              <a:rPr sz="2400" spc="430" dirty="0">
                <a:latin typeface="Cambria"/>
                <a:cs typeface="Cambria"/>
              </a:rPr>
              <a:t>  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spc="440" dirty="0">
                <a:latin typeface="Cambria"/>
                <a:cs typeface="Cambria"/>
              </a:rPr>
              <a:t>  </a:t>
            </a:r>
            <a:r>
              <a:rPr sz="2400" spc="80" dirty="0">
                <a:latin typeface="Cambria"/>
                <a:cs typeface="Cambria"/>
              </a:rPr>
              <a:t>this </a:t>
            </a:r>
            <a:r>
              <a:rPr sz="2400" spc="50" dirty="0">
                <a:latin typeface="Cambria"/>
                <a:cs typeface="Cambria"/>
              </a:rPr>
              <a:t>phenomenon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called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recursion.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804" y="3539997"/>
            <a:ext cx="1955800" cy="1308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dirty="0">
                <a:latin typeface="Cambria"/>
                <a:cs typeface="Cambria"/>
              </a:rPr>
              <a:t>void</a:t>
            </a:r>
            <a:r>
              <a:rPr sz="2100" spc="204" dirty="0">
                <a:latin typeface="Cambria"/>
                <a:cs typeface="Cambria"/>
              </a:rPr>
              <a:t> </a:t>
            </a:r>
            <a:r>
              <a:rPr sz="2100" spc="-10" dirty="0">
                <a:latin typeface="Cambria"/>
                <a:cs typeface="Cambria"/>
              </a:rPr>
              <a:t>recursion()</a:t>
            </a:r>
            <a:endParaRPr sz="2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100" spc="-50" dirty="0">
                <a:latin typeface="Cambria"/>
                <a:cs typeface="Cambria"/>
              </a:rPr>
              <a:t>{</a:t>
            </a:r>
            <a:endParaRPr sz="2100">
              <a:latin typeface="Cambria"/>
              <a:cs typeface="Cambria"/>
            </a:endParaRPr>
          </a:p>
          <a:p>
            <a:pPr marL="161925">
              <a:lnSpc>
                <a:spcPct val="100000"/>
              </a:lnSpc>
              <a:spcBef>
                <a:spcPts val="5"/>
              </a:spcBef>
            </a:pPr>
            <a:r>
              <a:rPr sz="2100" spc="-10" dirty="0">
                <a:latin typeface="Cambria"/>
                <a:cs typeface="Cambria"/>
              </a:rPr>
              <a:t>recursion();</a:t>
            </a:r>
            <a:endParaRPr sz="2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100" spc="-50" dirty="0">
                <a:latin typeface="Cambria"/>
                <a:cs typeface="Cambria"/>
              </a:rPr>
              <a:t>}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7257" y="4180458"/>
            <a:ext cx="324993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b="1" spc="-150" dirty="0">
                <a:latin typeface="Cambria"/>
                <a:cs typeface="Cambria"/>
              </a:rPr>
              <a:t>/*</a:t>
            </a:r>
            <a:r>
              <a:rPr sz="2100" b="1" spc="114" dirty="0">
                <a:latin typeface="Cambria"/>
                <a:cs typeface="Cambria"/>
              </a:rPr>
              <a:t> </a:t>
            </a:r>
            <a:r>
              <a:rPr sz="2100" b="1" spc="145" dirty="0">
                <a:latin typeface="Cambria"/>
                <a:cs typeface="Cambria"/>
              </a:rPr>
              <a:t>function</a:t>
            </a:r>
            <a:r>
              <a:rPr sz="2100" b="1" spc="100" dirty="0">
                <a:latin typeface="Cambria"/>
                <a:cs typeface="Cambria"/>
              </a:rPr>
              <a:t> </a:t>
            </a:r>
            <a:r>
              <a:rPr sz="2100" b="1" spc="120" dirty="0">
                <a:latin typeface="Cambria"/>
                <a:cs typeface="Cambria"/>
              </a:rPr>
              <a:t>calls</a:t>
            </a:r>
            <a:r>
              <a:rPr sz="2100" b="1" spc="70" dirty="0">
                <a:latin typeface="Cambria"/>
                <a:cs typeface="Cambria"/>
              </a:rPr>
              <a:t> </a:t>
            </a:r>
            <a:r>
              <a:rPr sz="2100" b="1" spc="105" dirty="0">
                <a:latin typeface="Cambria"/>
                <a:cs typeface="Cambria"/>
              </a:rPr>
              <a:t>itself</a:t>
            </a:r>
            <a:r>
              <a:rPr sz="2100" b="1" spc="75" dirty="0">
                <a:latin typeface="Cambria"/>
                <a:cs typeface="Cambria"/>
              </a:rPr>
              <a:t> </a:t>
            </a:r>
            <a:r>
              <a:rPr sz="2100" b="1" spc="-95" dirty="0">
                <a:latin typeface="Cambria"/>
                <a:cs typeface="Cambria"/>
              </a:rPr>
              <a:t>*/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804" y="5140528"/>
            <a:ext cx="1591310" cy="130873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00" spc="100" dirty="0">
                <a:latin typeface="Cambria"/>
                <a:cs typeface="Cambria"/>
              </a:rPr>
              <a:t>int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-10" dirty="0">
                <a:latin typeface="Cambria"/>
                <a:cs typeface="Cambria"/>
              </a:rPr>
              <a:t>main()</a:t>
            </a:r>
            <a:endParaRPr sz="2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100" spc="-50" dirty="0">
                <a:latin typeface="Cambria"/>
                <a:cs typeface="Cambria"/>
              </a:rPr>
              <a:t>{</a:t>
            </a:r>
            <a:endParaRPr sz="2100">
              <a:latin typeface="Cambria"/>
              <a:cs typeface="Cambria"/>
            </a:endParaRPr>
          </a:p>
          <a:p>
            <a:pPr marL="161925">
              <a:lnSpc>
                <a:spcPct val="100000"/>
              </a:lnSpc>
            </a:pPr>
            <a:r>
              <a:rPr sz="2100" spc="-10" dirty="0">
                <a:latin typeface="Cambria"/>
                <a:cs typeface="Cambria"/>
              </a:rPr>
              <a:t>recursion();</a:t>
            </a:r>
            <a:endParaRPr sz="2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100" spc="-50" dirty="0">
                <a:latin typeface="Cambria"/>
                <a:cs typeface="Cambria"/>
              </a:rPr>
              <a:t>}</a:t>
            </a:r>
            <a:endParaRPr sz="21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756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98750" algn="l"/>
              </a:tabLst>
            </a:pPr>
            <a:r>
              <a:rPr cap="small" spc="415" dirty="0"/>
              <a:t>Recursion</a:t>
            </a:r>
            <a:r>
              <a:rPr cap="small" dirty="0"/>
              <a:t>	</a:t>
            </a:r>
            <a:r>
              <a:rPr cap="small" spc="280" dirty="0"/>
              <a:t>(Cont…)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981278"/>
            <a:ext cx="7996555" cy="2212529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87020" marR="5080" indent="-274320" algn="just">
              <a:lnSpc>
                <a:spcPct val="90000"/>
              </a:lnSpc>
              <a:spcBef>
                <a:spcPts val="40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spc="110" dirty="0">
                <a:latin typeface="Cambria"/>
                <a:cs typeface="Cambria"/>
              </a:rPr>
              <a:t>The</a:t>
            </a:r>
            <a:r>
              <a:rPr sz="2600" spc="300" dirty="0">
                <a:latin typeface="Cambria"/>
                <a:cs typeface="Cambria"/>
              </a:rPr>
              <a:t> </a:t>
            </a:r>
            <a:r>
              <a:rPr sz="2600" spc="405" dirty="0" smtClean="0">
                <a:latin typeface="Cambria"/>
                <a:cs typeface="Cambria"/>
              </a:rPr>
              <a:t>C</a:t>
            </a:r>
            <a:r>
              <a:rPr lang="en-US" sz="2600" spc="405" dirty="0" smtClean="0">
                <a:latin typeface="Cambria"/>
                <a:cs typeface="Cambria"/>
              </a:rPr>
              <a:t>++</a:t>
            </a:r>
            <a:r>
              <a:rPr sz="2600" spc="305" dirty="0" smtClean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programming</a:t>
            </a:r>
            <a:r>
              <a:rPr sz="2600" spc="325" dirty="0">
                <a:latin typeface="Cambria"/>
                <a:cs typeface="Cambria"/>
              </a:rPr>
              <a:t> </a:t>
            </a:r>
            <a:r>
              <a:rPr sz="2600" spc="114" dirty="0">
                <a:latin typeface="Cambria"/>
                <a:cs typeface="Cambria"/>
              </a:rPr>
              <a:t>language</a:t>
            </a:r>
            <a:r>
              <a:rPr sz="2600" spc="315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supports</a:t>
            </a:r>
            <a:r>
              <a:rPr sz="2600" spc="325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recursion, </a:t>
            </a:r>
            <a:r>
              <a:rPr sz="2600" spc="125" dirty="0">
                <a:latin typeface="Cambria"/>
                <a:cs typeface="Cambria"/>
              </a:rPr>
              <a:t>i.e.,</a:t>
            </a:r>
            <a:r>
              <a:rPr sz="2600" spc="310" dirty="0">
                <a:latin typeface="Cambria"/>
                <a:cs typeface="Cambria"/>
              </a:rPr>
              <a:t>  </a:t>
            </a:r>
            <a:r>
              <a:rPr sz="2600" spc="165" dirty="0">
                <a:latin typeface="Cambria"/>
                <a:cs typeface="Cambria"/>
              </a:rPr>
              <a:t>a</a:t>
            </a:r>
            <a:r>
              <a:rPr sz="2600" spc="310" dirty="0">
                <a:latin typeface="Cambria"/>
                <a:cs typeface="Cambria"/>
              </a:rPr>
              <a:t>  </a:t>
            </a:r>
            <a:r>
              <a:rPr sz="2600" spc="75" dirty="0">
                <a:latin typeface="Cambria"/>
                <a:cs typeface="Cambria"/>
              </a:rPr>
              <a:t>function</a:t>
            </a:r>
            <a:r>
              <a:rPr sz="2600" spc="31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325" dirty="0">
                <a:latin typeface="Cambria"/>
                <a:cs typeface="Cambria"/>
              </a:rPr>
              <a:t>  </a:t>
            </a:r>
            <a:r>
              <a:rPr sz="2600" spc="95" dirty="0">
                <a:latin typeface="Cambria"/>
                <a:cs typeface="Cambria"/>
              </a:rPr>
              <a:t>call</a:t>
            </a:r>
            <a:r>
              <a:rPr sz="2600" spc="310" dirty="0">
                <a:latin typeface="Cambria"/>
                <a:cs typeface="Cambria"/>
              </a:rPr>
              <a:t>  </a:t>
            </a:r>
            <a:r>
              <a:rPr sz="2600" spc="95" dirty="0">
                <a:latin typeface="Cambria"/>
                <a:cs typeface="Cambria"/>
              </a:rPr>
              <a:t>itself.</a:t>
            </a:r>
            <a:r>
              <a:rPr sz="2600" spc="315" dirty="0">
                <a:latin typeface="Cambria"/>
                <a:cs typeface="Cambria"/>
              </a:rPr>
              <a:t>  </a:t>
            </a:r>
            <a:r>
              <a:rPr sz="2600" spc="180" dirty="0">
                <a:latin typeface="Cambria"/>
                <a:cs typeface="Cambria"/>
              </a:rPr>
              <a:t>But</a:t>
            </a:r>
            <a:r>
              <a:rPr sz="2600" spc="310" dirty="0">
                <a:latin typeface="Cambria"/>
                <a:cs typeface="Cambria"/>
              </a:rPr>
              <a:t>  </a:t>
            </a:r>
            <a:r>
              <a:rPr sz="2600" spc="75" dirty="0">
                <a:latin typeface="Cambria"/>
                <a:cs typeface="Cambria"/>
              </a:rPr>
              <a:t>while</a:t>
            </a:r>
            <a:r>
              <a:rPr sz="2600" spc="310" dirty="0">
                <a:latin typeface="Cambria"/>
                <a:cs typeface="Cambria"/>
              </a:rPr>
              <a:t>  </a:t>
            </a:r>
            <a:r>
              <a:rPr sz="2600" spc="100" dirty="0">
                <a:latin typeface="Cambria"/>
                <a:cs typeface="Cambria"/>
              </a:rPr>
              <a:t>using </a:t>
            </a:r>
            <a:r>
              <a:rPr sz="2600" spc="65" dirty="0">
                <a:latin typeface="Cambria"/>
                <a:cs typeface="Cambria"/>
              </a:rPr>
              <a:t>recursion,</a:t>
            </a:r>
            <a:r>
              <a:rPr sz="2600" spc="360" dirty="0">
                <a:latin typeface="Cambria"/>
                <a:cs typeface="Cambria"/>
              </a:rPr>
              <a:t>  </a:t>
            </a:r>
            <a:r>
              <a:rPr sz="2600" spc="75" dirty="0">
                <a:latin typeface="Cambria"/>
                <a:cs typeface="Cambria"/>
              </a:rPr>
              <a:t>programmers</a:t>
            </a:r>
            <a:r>
              <a:rPr sz="2600" spc="360" dirty="0">
                <a:latin typeface="Cambria"/>
                <a:cs typeface="Cambria"/>
              </a:rPr>
              <a:t>  </a:t>
            </a:r>
            <a:r>
              <a:rPr sz="2600" spc="60" dirty="0">
                <a:latin typeface="Cambria"/>
                <a:cs typeface="Cambria"/>
              </a:rPr>
              <a:t>need</a:t>
            </a:r>
            <a:r>
              <a:rPr sz="2600" spc="35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36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be</a:t>
            </a:r>
            <a:r>
              <a:rPr sz="2600" spc="370" dirty="0">
                <a:latin typeface="Cambria"/>
                <a:cs typeface="Cambria"/>
              </a:rPr>
              <a:t>  </a:t>
            </a:r>
            <a:r>
              <a:rPr sz="2600" spc="85" dirty="0">
                <a:latin typeface="Cambria"/>
                <a:cs typeface="Cambria"/>
              </a:rPr>
              <a:t>careful</a:t>
            </a:r>
            <a:r>
              <a:rPr sz="2600" spc="365" dirty="0">
                <a:latin typeface="Cambria"/>
                <a:cs typeface="Cambria"/>
              </a:rPr>
              <a:t>  </a:t>
            </a:r>
            <a:r>
              <a:rPr sz="2600" spc="-25" dirty="0">
                <a:latin typeface="Cambria"/>
                <a:cs typeface="Cambria"/>
              </a:rPr>
              <a:t>to </a:t>
            </a:r>
            <a:r>
              <a:rPr sz="2600" spc="65" dirty="0">
                <a:latin typeface="Cambria"/>
                <a:cs typeface="Cambria"/>
              </a:rPr>
              <a:t>define</a:t>
            </a:r>
            <a:r>
              <a:rPr sz="2600" spc="240" dirty="0">
                <a:latin typeface="Cambria"/>
                <a:cs typeface="Cambria"/>
              </a:rPr>
              <a:t>   </a:t>
            </a:r>
            <a:r>
              <a:rPr sz="2600" spc="145" dirty="0">
                <a:latin typeface="Cambria"/>
                <a:cs typeface="Cambria"/>
              </a:rPr>
              <a:t>an</a:t>
            </a:r>
            <a:r>
              <a:rPr sz="2600" spc="250" dirty="0">
                <a:latin typeface="Cambria"/>
                <a:cs typeface="Cambria"/>
              </a:rPr>
              <a:t>   </a:t>
            </a:r>
            <a:r>
              <a:rPr sz="2600" spc="90" dirty="0">
                <a:latin typeface="Cambria"/>
                <a:cs typeface="Cambria"/>
              </a:rPr>
              <a:t>exit</a:t>
            </a:r>
            <a:r>
              <a:rPr sz="2600" spc="245" dirty="0">
                <a:latin typeface="Cambria"/>
                <a:cs typeface="Cambria"/>
              </a:rPr>
              <a:t>   </a:t>
            </a:r>
            <a:r>
              <a:rPr sz="2600" spc="50" dirty="0">
                <a:latin typeface="Cambria"/>
                <a:cs typeface="Cambria"/>
              </a:rPr>
              <a:t>condition</a:t>
            </a:r>
            <a:r>
              <a:rPr sz="2600" spc="245" dirty="0">
                <a:latin typeface="Cambria"/>
                <a:cs typeface="Cambria"/>
              </a:rPr>
              <a:t>   </a:t>
            </a:r>
            <a:r>
              <a:rPr sz="2600" dirty="0">
                <a:latin typeface="Cambria"/>
                <a:cs typeface="Cambria"/>
              </a:rPr>
              <a:t>from</a:t>
            </a:r>
            <a:r>
              <a:rPr sz="2600" spc="240" dirty="0">
                <a:latin typeface="Cambria"/>
                <a:cs typeface="Cambria"/>
              </a:rPr>
              <a:t>   </a:t>
            </a:r>
            <a:r>
              <a:rPr sz="2600" spc="105" dirty="0">
                <a:latin typeface="Cambria"/>
                <a:cs typeface="Cambria"/>
              </a:rPr>
              <a:t>the</a:t>
            </a:r>
            <a:r>
              <a:rPr sz="2600" spc="250" dirty="0">
                <a:latin typeface="Cambria"/>
                <a:cs typeface="Cambria"/>
              </a:rPr>
              <a:t>   </a:t>
            </a:r>
            <a:r>
              <a:rPr sz="2600" spc="65" dirty="0">
                <a:latin typeface="Cambria"/>
                <a:cs typeface="Cambria"/>
              </a:rPr>
              <a:t>function, </a:t>
            </a:r>
            <a:r>
              <a:rPr sz="2600" spc="50" dirty="0">
                <a:latin typeface="Cambria"/>
                <a:cs typeface="Cambria"/>
              </a:rPr>
              <a:t>otherwise</a:t>
            </a:r>
            <a:r>
              <a:rPr sz="2600" spc="200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it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will</a:t>
            </a:r>
            <a:r>
              <a:rPr sz="2600" spc="20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go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into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145" dirty="0">
                <a:latin typeface="Cambria"/>
                <a:cs typeface="Cambria"/>
              </a:rPr>
              <a:t>an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infinite</a:t>
            </a:r>
            <a:r>
              <a:rPr sz="2600" spc="20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loop.</a:t>
            </a:r>
            <a:endParaRPr sz="26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00" y="3048000"/>
            <a:ext cx="6324600" cy="35326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756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98750" algn="l"/>
              </a:tabLst>
            </a:pPr>
            <a:r>
              <a:rPr cap="small" spc="415" dirty="0"/>
              <a:t>Recursion</a:t>
            </a:r>
            <a:r>
              <a:rPr cap="small" dirty="0"/>
              <a:t>	</a:t>
            </a:r>
            <a:r>
              <a:rPr cap="small" spc="280" dirty="0"/>
              <a:t>(Cont…)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981278"/>
            <a:ext cx="7995920" cy="27139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87020" marR="5080" indent="-274320" algn="just">
              <a:lnSpc>
                <a:spcPts val="2810"/>
              </a:lnSpc>
              <a:spcBef>
                <a:spcPts val="44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spc="90" dirty="0">
                <a:latin typeface="Cambria"/>
                <a:cs typeface="Cambria"/>
              </a:rPr>
              <a:t>There</a:t>
            </a:r>
            <a:r>
              <a:rPr sz="2600" spc="555" dirty="0">
                <a:latin typeface="Cambria"/>
                <a:cs typeface="Cambria"/>
              </a:rPr>
              <a:t>  </a:t>
            </a:r>
            <a:r>
              <a:rPr sz="2600" spc="80" dirty="0">
                <a:latin typeface="Cambria"/>
                <a:cs typeface="Cambria"/>
              </a:rPr>
              <a:t>are</a:t>
            </a:r>
            <a:r>
              <a:rPr sz="2600" spc="55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two</a:t>
            </a:r>
            <a:r>
              <a:rPr sz="2600" spc="550" dirty="0">
                <a:latin typeface="Cambria"/>
                <a:cs typeface="Cambria"/>
              </a:rPr>
              <a:t>  </a:t>
            </a:r>
            <a:r>
              <a:rPr sz="2600" spc="80" dirty="0">
                <a:latin typeface="Cambria"/>
                <a:cs typeface="Cambria"/>
              </a:rPr>
              <a:t>types</a:t>
            </a:r>
            <a:r>
              <a:rPr sz="2600" spc="55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550" dirty="0">
                <a:latin typeface="Cambria"/>
                <a:cs typeface="Cambria"/>
              </a:rPr>
              <a:t>  </a:t>
            </a:r>
            <a:r>
              <a:rPr sz="2600" spc="60" dirty="0">
                <a:latin typeface="Cambria"/>
                <a:cs typeface="Cambria"/>
              </a:rPr>
              <a:t>recursion</a:t>
            </a:r>
            <a:r>
              <a:rPr sz="2600" spc="560" dirty="0">
                <a:latin typeface="Cambria"/>
                <a:cs typeface="Cambria"/>
              </a:rPr>
              <a:t>  </a:t>
            </a:r>
            <a:r>
              <a:rPr sz="2600" spc="60" dirty="0">
                <a:latin typeface="Cambria"/>
                <a:cs typeface="Cambria"/>
              </a:rPr>
              <a:t>based</a:t>
            </a:r>
            <a:r>
              <a:rPr sz="2600" spc="560" dirty="0">
                <a:latin typeface="Cambria"/>
                <a:cs typeface="Cambria"/>
              </a:rPr>
              <a:t>  </a:t>
            </a:r>
            <a:r>
              <a:rPr sz="2600" spc="-25" dirty="0">
                <a:latin typeface="Cambria"/>
                <a:cs typeface="Cambria"/>
              </a:rPr>
              <a:t>on </a:t>
            </a:r>
            <a:r>
              <a:rPr sz="2600" spc="75" dirty="0">
                <a:latin typeface="Cambria"/>
                <a:cs typeface="Cambria"/>
              </a:rPr>
              <a:t>whether</a:t>
            </a:r>
            <a:r>
              <a:rPr sz="2600" spc="335" dirty="0">
                <a:latin typeface="Cambria"/>
                <a:cs typeface="Cambria"/>
              </a:rPr>
              <a:t>  </a:t>
            </a:r>
            <a:r>
              <a:rPr sz="2600" spc="70" dirty="0">
                <a:latin typeface="Cambria"/>
                <a:cs typeface="Cambria"/>
              </a:rPr>
              <a:t>functions</a:t>
            </a:r>
            <a:r>
              <a:rPr sz="2600" spc="350" dirty="0">
                <a:latin typeface="Cambria"/>
                <a:cs typeface="Cambria"/>
              </a:rPr>
              <a:t>  </a:t>
            </a:r>
            <a:r>
              <a:rPr sz="2600" spc="60" dirty="0">
                <a:latin typeface="Cambria"/>
                <a:cs typeface="Cambria"/>
              </a:rPr>
              <a:t>directly</a:t>
            </a:r>
            <a:r>
              <a:rPr sz="2600" spc="325" dirty="0">
                <a:latin typeface="Cambria"/>
                <a:cs typeface="Cambria"/>
              </a:rPr>
              <a:t>  </a:t>
            </a:r>
            <a:r>
              <a:rPr sz="2600" spc="90" dirty="0">
                <a:latin typeface="Cambria"/>
                <a:cs typeface="Cambria"/>
              </a:rPr>
              <a:t>calls</a:t>
            </a:r>
            <a:r>
              <a:rPr sz="2600" spc="335" dirty="0">
                <a:latin typeface="Cambria"/>
                <a:cs typeface="Cambria"/>
              </a:rPr>
              <a:t>  </a:t>
            </a:r>
            <a:r>
              <a:rPr sz="2600" spc="85" dirty="0">
                <a:latin typeface="Cambria"/>
                <a:cs typeface="Cambria"/>
              </a:rPr>
              <a:t>itself</a:t>
            </a:r>
            <a:r>
              <a:rPr sz="2600" spc="34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or</a:t>
            </a:r>
            <a:r>
              <a:rPr sz="2600" spc="335" dirty="0">
                <a:latin typeface="Cambria"/>
                <a:cs typeface="Cambria"/>
              </a:rPr>
              <a:t>  </a:t>
            </a:r>
            <a:r>
              <a:rPr sz="2600" spc="105" dirty="0">
                <a:latin typeface="Cambria"/>
                <a:cs typeface="Cambria"/>
              </a:rPr>
              <a:t>it</a:t>
            </a:r>
            <a:r>
              <a:rPr sz="2600" spc="330" dirty="0">
                <a:latin typeface="Cambria"/>
                <a:cs typeface="Cambria"/>
              </a:rPr>
              <a:t>  </a:t>
            </a:r>
            <a:r>
              <a:rPr sz="2600" spc="50" dirty="0">
                <a:latin typeface="Cambria"/>
                <a:cs typeface="Cambria"/>
              </a:rPr>
              <a:t>is </a:t>
            </a:r>
            <a:r>
              <a:rPr sz="2600" spc="70" dirty="0">
                <a:latin typeface="Cambria"/>
                <a:cs typeface="Cambria"/>
              </a:rPr>
              <a:t>called</a:t>
            </a:r>
            <a:r>
              <a:rPr sz="2600" spc="215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via</a:t>
            </a:r>
            <a:r>
              <a:rPr sz="2600" spc="2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some</a:t>
            </a:r>
            <a:r>
              <a:rPr sz="2600" spc="215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other</a:t>
            </a:r>
            <a:r>
              <a:rPr sz="2600" spc="195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functions.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80"/>
              </a:spcBef>
              <a:buClr>
                <a:srgbClr val="FD8537"/>
              </a:buClr>
              <a:buFont typeface="Wingdings"/>
              <a:buChar char=""/>
            </a:pPr>
            <a:endParaRPr sz="2600">
              <a:latin typeface="Cambria"/>
              <a:cs typeface="Cambria"/>
            </a:endParaRPr>
          </a:p>
          <a:p>
            <a:pPr marL="287020" marR="5080" indent="-274320" algn="just">
              <a:lnSpc>
                <a:spcPct val="90400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b="1" dirty="0">
                <a:latin typeface="Cambria"/>
                <a:cs typeface="Cambria"/>
              </a:rPr>
              <a:t>1)</a:t>
            </a:r>
            <a:r>
              <a:rPr sz="2600" b="1" spc="265" dirty="0">
                <a:latin typeface="Cambria"/>
                <a:cs typeface="Cambria"/>
              </a:rPr>
              <a:t>  </a:t>
            </a:r>
            <a:r>
              <a:rPr sz="2600" b="1" spc="185" dirty="0">
                <a:latin typeface="Cambria"/>
                <a:cs typeface="Cambria"/>
              </a:rPr>
              <a:t>Direct</a:t>
            </a:r>
            <a:r>
              <a:rPr sz="2600" b="1" spc="285" dirty="0">
                <a:latin typeface="Cambria"/>
                <a:cs typeface="Cambria"/>
              </a:rPr>
              <a:t>  </a:t>
            </a:r>
            <a:r>
              <a:rPr sz="2600" b="1" spc="160" dirty="0">
                <a:latin typeface="Cambria"/>
                <a:cs typeface="Cambria"/>
              </a:rPr>
              <a:t>Recursion:</a:t>
            </a:r>
            <a:r>
              <a:rPr sz="2600" b="1" spc="270" dirty="0">
                <a:latin typeface="Cambria"/>
                <a:cs typeface="Cambria"/>
              </a:rPr>
              <a:t>  </a:t>
            </a:r>
            <a:r>
              <a:rPr sz="2600" spc="170" dirty="0">
                <a:latin typeface="Cambria"/>
                <a:cs typeface="Cambria"/>
              </a:rPr>
              <a:t>In</a:t>
            </a:r>
            <a:r>
              <a:rPr sz="2600" spc="285" dirty="0">
                <a:latin typeface="Cambria"/>
                <a:cs typeface="Cambria"/>
              </a:rPr>
              <a:t>  </a:t>
            </a:r>
            <a:r>
              <a:rPr sz="2600" spc="60" dirty="0">
                <a:latin typeface="Cambria"/>
                <a:cs typeface="Cambria"/>
              </a:rPr>
              <a:t>direct</a:t>
            </a:r>
            <a:r>
              <a:rPr sz="2600" spc="285" dirty="0">
                <a:latin typeface="Cambria"/>
                <a:cs typeface="Cambria"/>
              </a:rPr>
              <a:t>  </a:t>
            </a:r>
            <a:r>
              <a:rPr sz="2600" spc="60" dirty="0">
                <a:latin typeface="Cambria"/>
                <a:cs typeface="Cambria"/>
              </a:rPr>
              <a:t>recursion</a:t>
            </a:r>
            <a:r>
              <a:rPr sz="2600" spc="275" dirty="0">
                <a:latin typeface="Cambria"/>
                <a:cs typeface="Cambria"/>
              </a:rPr>
              <a:t>  </a:t>
            </a:r>
            <a:r>
              <a:rPr sz="2600" spc="75" dirty="0">
                <a:latin typeface="Cambria"/>
                <a:cs typeface="Cambria"/>
              </a:rPr>
              <a:t>the </a:t>
            </a:r>
            <a:r>
              <a:rPr sz="2600" spc="55" dirty="0">
                <a:latin typeface="Cambria"/>
                <a:cs typeface="Cambria"/>
              </a:rPr>
              <a:t>recursive</a:t>
            </a:r>
            <a:r>
              <a:rPr sz="2600" spc="90" dirty="0">
                <a:latin typeface="Cambria"/>
                <a:cs typeface="Cambria"/>
              </a:rPr>
              <a:t>  </a:t>
            </a:r>
            <a:r>
              <a:rPr sz="2600" spc="95" dirty="0">
                <a:latin typeface="Cambria"/>
                <a:cs typeface="Cambria"/>
              </a:rPr>
              <a:t>call</a:t>
            </a:r>
            <a:r>
              <a:rPr sz="2600" spc="8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85" dirty="0">
                <a:latin typeface="Cambria"/>
                <a:cs typeface="Cambria"/>
              </a:rPr>
              <a:t>  </a:t>
            </a:r>
            <a:r>
              <a:rPr sz="2600" spc="105" dirty="0">
                <a:latin typeface="Cambria"/>
                <a:cs typeface="Cambria"/>
              </a:rPr>
              <a:t>the</a:t>
            </a:r>
            <a:r>
              <a:rPr sz="2600" spc="85" dirty="0">
                <a:latin typeface="Cambria"/>
                <a:cs typeface="Cambria"/>
              </a:rPr>
              <a:t>  </a:t>
            </a:r>
            <a:r>
              <a:rPr sz="2600" spc="65" dirty="0">
                <a:latin typeface="Cambria"/>
                <a:cs typeface="Cambria"/>
              </a:rPr>
              <a:t>function</a:t>
            </a:r>
            <a:r>
              <a:rPr sz="2600" spc="85" dirty="0">
                <a:latin typeface="Cambria"/>
                <a:cs typeface="Cambria"/>
              </a:rPr>
              <a:t>  </a:t>
            </a:r>
            <a:r>
              <a:rPr sz="2600" spc="80" dirty="0">
                <a:latin typeface="Cambria"/>
                <a:cs typeface="Cambria"/>
              </a:rPr>
              <a:t>is</a:t>
            </a:r>
            <a:r>
              <a:rPr sz="2600" spc="85" dirty="0">
                <a:latin typeface="Cambria"/>
                <a:cs typeface="Cambria"/>
              </a:rPr>
              <a:t>  </a:t>
            </a:r>
            <a:r>
              <a:rPr sz="2600" spc="65" dirty="0">
                <a:latin typeface="Cambria"/>
                <a:cs typeface="Cambria"/>
              </a:rPr>
              <a:t>directly</a:t>
            </a:r>
            <a:r>
              <a:rPr sz="2600" spc="90" dirty="0">
                <a:latin typeface="Cambria"/>
                <a:cs typeface="Cambria"/>
              </a:rPr>
              <a:t>  </a:t>
            </a:r>
            <a:r>
              <a:rPr sz="2600" spc="70" dirty="0">
                <a:latin typeface="Cambria"/>
                <a:cs typeface="Cambria"/>
              </a:rPr>
              <a:t>written inside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body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function.</a:t>
            </a:r>
            <a:endParaRPr sz="26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9800" y="4038600"/>
            <a:ext cx="4343400" cy="24475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756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98750" algn="l"/>
              </a:tabLst>
            </a:pPr>
            <a:r>
              <a:rPr cap="small" spc="415" dirty="0"/>
              <a:t>Recursion</a:t>
            </a:r>
            <a:r>
              <a:rPr cap="small" dirty="0"/>
              <a:t>	</a:t>
            </a:r>
            <a:r>
              <a:rPr cap="small" spc="280" dirty="0"/>
              <a:t>(Cont…)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938911"/>
            <a:ext cx="7995920" cy="169227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87020" marR="5080" indent="-274320" algn="just">
              <a:lnSpc>
                <a:spcPct val="80200"/>
              </a:lnSpc>
              <a:spcBef>
                <a:spcPts val="710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b="1" dirty="0">
                <a:latin typeface="Cambria"/>
                <a:cs typeface="Cambria"/>
              </a:rPr>
              <a:t>2)</a:t>
            </a:r>
            <a:r>
              <a:rPr sz="2600" b="1" spc="305" dirty="0">
                <a:latin typeface="Cambria"/>
                <a:cs typeface="Cambria"/>
              </a:rPr>
              <a:t> </a:t>
            </a:r>
            <a:r>
              <a:rPr sz="2600" b="1" spc="170" dirty="0">
                <a:latin typeface="Cambria"/>
                <a:cs typeface="Cambria"/>
              </a:rPr>
              <a:t>Indirect</a:t>
            </a:r>
            <a:r>
              <a:rPr sz="2600" b="1" spc="325" dirty="0">
                <a:latin typeface="Cambria"/>
                <a:cs typeface="Cambria"/>
              </a:rPr>
              <a:t> </a:t>
            </a:r>
            <a:r>
              <a:rPr sz="2600" b="1" spc="165" dirty="0">
                <a:latin typeface="Cambria"/>
                <a:cs typeface="Cambria"/>
              </a:rPr>
              <a:t>Recursion:</a:t>
            </a:r>
            <a:r>
              <a:rPr sz="2600" b="1" spc="305" dirty="0">
                <a:latin typeface="Cambria"/>
                <a:cs typeface="Cambria"/>
              </a:rPr>
              <a:t> </a:t>
            </a:r>
            <a:r>
              <a:rPr sz="2600" spc="170" dirty="0">
                <a:latin typeface="Cambria"/>
                <a:cs typeface="Cambria"/>
              </a:rPr>
              <a:t>In</a:t>
            </a:r>
            <a:r>
              <a:rPr sz="2600" spc="330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indirect</a:t>
            </a:r>
            <a:r>
              <a:rPr sz="2600" spc="320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recursion</a:t>
            </a:r>
            <a:r>
              <a:rPr sz="2600" spc="315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the </a:t>
            </a:r>
            <a:r>
              <a:rPr sz="2600" spc="65" dirty="0">
                <a:latin typeface="Cambria"/>
                <a:cs typeface="Cambria"/>
              </a:rPr>
              <a:t>recursive</a:t>
            </a:r>
            <a:r>
              <a:rPr sz="2600" spc="445" dirty="0">
                <a:latin typeface="Cambria"/>
                <a:cs typeface="Cambria"/>
              </a:rPr>
              <a:t>  </a:t>
            </a:r>
            <a:r>
              <a:rPr sz="2600" spc="100" dirty="0">
                <a:latin typeface="Cambria"/>
                <a:cs typeface="Cambria"/>
              </a:rPr>
              <a:t>call</a:t>
            </a:r>
            <a:r>
              <a:rPr sz="2600" spc="44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459" dirty="0">
                <a:latin typeface="Cambria"/>
                <a:cs typeface="Cambria"/>
              </a:rPr>
              <a:t>  </a:t>
            </a:r>
            <a:r>
              <a:rPr sz="2600" spc="95" dirty="0">
                <a:latin typeface="Cambria"/>
                <a:cs typeface="Cambria"/>
              </a:rPr>
              <a:t>the</a:t>
            </a:r>
            <a:r>
              <a:rPr sz="2600" spc="445" dirty="0">
                <a:latin typeface="Cambria"/>
                <a:cs typeface="Cambria"/>
              </a:rPr>
              <a:t>  </a:t>
            </a:r>
            <a:r>
              <a:rPr sz="2600" spc="65" dirty="0">
                <a:latin typeface="Cambria"/>
                <a:cs typeface="Cambria"/>
              </a:rPr>
              <a:t>function</a:t>
            </a:r>
            <a:r>
              <a:rPr sz="2600" spc="445" dirty="0">
                <a:latin typeface="Cambria"/>
                <a:cs typeface="Cambria"/>
              </a:rPr>
              <a:t>  </a:t>
            </a:r>
            <a:r>
              <a:rPr sz="2600" spc="80" dirty="0">
                <a:latin typeface="Cambria"/>
                <a:cs typeface="Cambria"/>
              </a:rPr>
              <a:t>is</a:t>
            </a:r>
            <a:r>
              <a:rPr sz="2600" spc="445" dirty="0">
                <a:latin typeface="Cambria"/>
                <a:cs typeface="Cambria"/>
              </a:rPr>
              <a:t>  </a:t>
            </a:r>
            <a:r>
              <a:rPr sz="2600" spc="60" dirty="0">
                <a:latin typeface="Cambria"/>
                <a:cs typeface="Cambria"/>
              </a:rPr>
              <a:t>not</a:t>
            </a:r>
            <a:r>
              <a:rPr sz="2600" spc="440" dirty="0">
                <a:latin typeface="Cambria"/>
                <a:cs typeface="Cambria"/>
              </a:rPr>
              <a:t>  </a:t>
            </a:r>
            <a:r>
              <a:rPr sz="2600" spc="45" dirty="0">
                <a:latin typeface="Cambria"/>
                <a:cs typeface="Cambria"/>
              </a:rPr>
              <a:t>directly </a:t>
            </a:r>
            <a:r>
              <a:rPr sz="2600" spc="80" dirty="0">
                <a:latin typeface="Cambria"/>
                <a:cs typeface="Cambria"/>
              </a:rPr>
              <a:t>written</a:t>
            </a:r>
            <a:r>
              <a:rPr sz="2600" spc="275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inside</a:t>
            </a:r>
            <a:r>
              <a:rPr sz="2600" spc="285" dirty="0">
                <a:latin typeface="Cambria"/>
                <a:cs typeface="Cambria"/>
              </a:rPr>
              <a:t> </a:t>
            </a:r>
            <a:r>
              <a:rPr sz="2600" spc="95" dirty="0">
                <a:latin typeface="Cambria"/>
                <a:cs typeface="Cambria"/>
              </a:rPr>
              <a:t>the</a:t>
            </a:r>
            <a:r>
              <a:rPr sz="2600" spc="28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body</a:t>
            </a:r>
            <a:r>
              <a:rPr sz="2600" spc="28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280" dirty="0">
                <a:latin typeface="Cambria"/>
                <a:cs typeface="Cambria"/>
              </a:rPr>
              <a:t> </a:t>
            </a:r>
            <a:r>
              <a:rPr sz="2600" spc="95" dirty="0">
                <a:latin typeface="Cambria"/>
                <a:cs typeface="Cambria"/>
              </a:rPr>
              <a:t>the</a:t>
            </a:r>
            <a:r>
              <a:rPr sz="2600" spc="280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function</a:t>
            </a:r>
            <a:r>
              <a:rPr sz="2600" spc="310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rather</a:t>
            </a:r>
            <a:r>
              <a:rPr sz="2600" spc="285" dirty="0">
                <a:latin typeface="Cambria"/>
                <a:cs typeface="Cambria"/>
              </a:rPr>
              <a:t> </a:t>
            </a:r>
            <a:r>
              <a:rPr sz="2600" spc="95" dirty="0">
                <a:latin typeface="Cambria"/>
                <a:cs typeface="Cambria"/>
              </a:rPr>
              <a:t>this call</a:t>
            </a:r>
            <a:r>
              <a:rPr sz="2600" spc="400" dirty="0">
                <a:latin typeface="Cambria"/>
                <a:cs typeface="Cambria"/>
              </a:rPr>
              <a:t>  </a:t>
            </a:r>
            <a:r>
              <a:rPr sz="2600" spc="75" dirty="0">
                <a:latin typeface="Cambria"/>
                <a:cs typeface="Cambria"/>
              </a:rPr>
              <a:t>lies</a:t>
            </a:r>
            <a:r>
              <a:rPr sz="2600" spc="409" dirty="0">
                <a:latin typeface="Cambria"/>
                <a:cs typeface="Cambria"/>
              </a:rPr>
              <a:t>  </a:t>
            </a:r>
            <a:r>
              <a:rPr sz="2600" spc="70" dirty="0">
                <a:latin typeface="Cambria"/>
                <a:cs typeface="Cambria"/>
              </a:rPr>
              <a:t>inside</a:t>
            </a:r>
            <a:r>
              <a:rPr sz="2600" spc="40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some</a:t>
            </a:r>
            <a:r>
              <a:rPr sz="2600" spc="405" dirty="0">
                <a:latin typeface="Cambria"/>
                <a:cs typeface="Cambria"/>
              </a:rPr>
              <a:t>  </a:t>
            </a:r>
            <a:r>
              <a:rPr sz="2600" spc="55" dirty="0">
                <a:latin typeface="Cambria"/>
                <a:cs typeface="Cambria"/>
              </a:rPr>
              <a:t>other</a:t>
            </a:r>
            <a:r>
              <a:rPr sz="2600" spc="409" dirty="0">
                <a:latin typeface="Cambria"/>
                <a:cs typeface="Cambria"/>
              </a:rPr>
              <a:t>  </a:t>
            </a:r>
            <a:r>
              <a:rPr sz="2600" spc="75" dirty="0">
                <a:latin typeface="Cambria"/>
                <a:cs typeface="Cambria"/>
              </a:rPr>
              <a:t>function</a:t>
            </a:r>
            <a:r>
              <a:rPr sz="2600" spc="405" dirty="0">
                <a:latin typeface="Cambria"/>
                <a:cs typeface="Cambria"/>
              </a:rPr>
              <a:t>  </a:t>
            </a:r>
            <a:r>
              <a:rPr sz="2600" spc="75" dirty="0">
                <a:latin typeface="Cambria"/>
                <a:cs typeface="Cambria"/>
              </a:rPr>
              <a:t>which</a:t>
            </a:r>
            <a:r>
              <a:rPr sz="2600" spc="409" dirty="0">
                <a:latin typeface="Cambria"/>
                <a:cs typeface="Cambria"/>
              </a:rPr>
              <a:t>  </a:t>
            </a:r>
            <a:r>
              <a:rPr sz="2600" spc="50" dirty="0">
                <a:latin typeface="Cambria"/>
                <a:cs typeface="Cambria"/>
              </a:rPr>
              <a:t>is </a:t>
            </a:r>
            <a:r>
              <a:rPr sz="2600" spc="55" dirty="0">
                <a:latin typeface="Cambria"/>
                <a:cs typeface="Cambria"/>
              </a:rPr>
              <a:t>invoked</a:t>
            </a:r>
            <a:r>
              <a:rPr sz="2600" spc="2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(called)</a:t>
            </a:r>
            <a:r>
              <a:rPr sz="2600" spc="2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from</a:t>
            </a:r>
            <a:r>
              <a:rPr sz="2600" spc="215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240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base</a:t>
            </a:r>
            <a:r>
              <a:rPr sz="2600" spc="245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function.</a:t>
            </a:r>
            <a:endParaRPr sz="26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2743200"/>
            <a:ext cx="6172200" cy="2743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0044" y="5516067"/>
            <a:ext cx="7995284" cy="105473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87020" marR="5080" indent="-274320" algn="just">
              <a:lnSpc>
                <a:spcPct val="80000"/>
              </a:lnSpc>
              <a:spcBef>
                <a:spcPts val="71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spc="120" dirty="0">
                <a:latin typeface="Cambria"/>
                <a:cs typeface="Cambria"/>
              </a:rPr>
              <a:t>Here</a:t>
            </a:r>
            <a:r>
              <a:rPr sz="2600" spc="5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f1</a:t>
            </a:r>
            <a:r>
              <a:rPr sz="2600" spc="550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function</a:t>
            </a:r>
            <a:r>
              <a:rPr sz="2600" spc="555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is</a:t>
            </a:r>
            <a:r>
              <a:rPr sz="2600" spc="545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called</a:t>
            </a:r>
            <a:r>
              <a:rPr sz="2600" spc="550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by</a:t>
            </a:r>
            <a:r>
              <a:rPr sz="2600" spc="550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base</a:t>
            </a:r>
            <a:r>
              <a:rPr sz="2600" spc="545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function</a:t>
            </a:r>
            <a:r>
              <a:rPr sz="2600" spc="535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f</a:t>
            </a:r>
            <a:r>
              <a:rPr sz="2600" spc="55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and the</a:t>
            </a:r>
            <a:r>
              <a:rPr sz="2600" spc="200" dirty="0">
                <a:latin typeface="Cambria"/>
                <a:cs typeface="Cambria"/>
              </a:rPr>
              <a:t>  </a:t>
            </a:r>
            <a:r>
              <a:rPr sz="2600" spc="65" dirty="0">
                <a:latin typeface="Cambria"/>
                <a:cs typeface="Cambria"/>
              </a:rPr>
              <a:t>recursive</a:t>
            </a:r>
            <a:r>
              <a:rPr sz="2600" spc="204" dirty="0">
                <a:latin typeface="Cambria"/>
                <a:cs typeface="Cambria"/>
              </a:rPr>
              <a:t>  </a:t>
            </a:r>
            <a:r>
              <a:rPr sz="2600" spc="105" dirty="0">
                <a:latin typeface="Cambria"/>
                <a:cs typeface="Cambria"/>
              </a:rPr>
              <a:t>call</a:t>
            </a:r>
            <a:r>
              <a:rPr sz="2600" spc="229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200" dirty="0">
                <a:latin typeface="Cambria"/>
                <a:cs typeface="Cambria"/>
              </a:rPr>
              <a:t>  </a:t>
            </a:r>
            <a:r>
              <a:rPr sz="2600" spc="70" dirty="0">
                <a:latin typeface="Cambria"/>
                <a:cs typeface="Cambria"/>
              </a:rPr>
              <a:t>function</a:t>
            </a:r>
            <a:r>
              <a:rPr sz="2600" spc="204" dirty="0">
                <a:latin typeface="Cambria"/>
                <a:cs typeface="Cambria"/>
              </a:rPr>
              <a:t>  </a:t>
            </a:r>
            <a:r>
              <a:rPr sz="2600" spc="70" dirty="0">
                <a:latin typeface="Cambria"/>
                <a:cs typeface="Cambria"/>
              </a:rPr>
              <a:t>f</a:t>
            </a:r>
            <a:r>
              <a:rPr sz="2600" spc="220" dirty="0">
                <a:latin typeface="Cambria"/>
                <a:cs typeface="Cambria"/>
              </a:rPr>
              <a:t>  </a:t>
            </a:r>
            <a:r>
              <a:rPr sz="2600" spc="75" dirty="0">
                <a:latin typeface="Cambria"/>
                <a:cs typeface="Cambria"/>
              </a:rPr>
              <a:t>lies</a:t>
            </a:r>
            <a:r>
              <a:rPr sz="2600" spc="215" dirty="0">
                <a:latin typeface="Cambria"/>
                <a:cs typeface="Cambria"/>
              </a:rPr>
              <a:t>  </a:t>
            </a:r>
            <a:r>
              <a:rPr sz="2600" spc="114" dirty="0">
                <a:latin typeface="Cambria"/>
                <a:cs typeface="Cambria"/>
              </a:rPr>
              <a:t>in</a:t>
            </a:r>
            <a:r>
              <a:rPr sz="2600" spc="20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body</a:t>
            </a:r>
            <a:r>
              <a:rPr sz="2600" spc="210" dirty="0">
                <a:latin typeface="Cambria"/>
                <a:cs typeface="Cambria"/>
              </a:rPr>
              <a:t>  </a:t>
            </a:r>
            <a:r>
              <a:rPr sz="2600" spc="-25" dirty="0">
                <a:latin typeface="Cambria"/>
                <a:cs typeface="Cambria"/>
              </a:rPr>
              <a:t>of </a:t>
            </a:r>
            <a:r>
              <a:rPr sz="2600" spc="65" dirty="0">
                <a:latin typeface="Cambria"/>
                <a:cs typeface="Cambria"/>
              </a:rPr>
              <a:t>function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f1.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756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98750" algn="l"/>
              </a:tabLst>
            </a:pPr>
            <a:r>
              <a:rPr cap="small" spc="415" dirty="0"/>
              <a:t>Recursion</a:t>
            </a:r>
            <a:r>
              <a:rPr cap="small" dirty="0"/>
              <a:t>	</a:t>
            </a:r>
            <a:r>
              <a:rPr cap="small" spc="280" dirty="0"/>
              <a:t>(Cont…)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1017854"/>
            <a:ext cx="7998459" cy="523875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87020" marR="10795" indent="-274320" algn="just">
              <a:lnSpc>
                <a:spcPct val="100800"/>
              </a:lnSpc>
              <a:spcBef>
                <a:spcPts val="70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b="1" spc="185" dirty="0">
                <a:latin typeface="Cambria"/>
                <a:cs typeface="Cambria"/>
              </a:rPr>
              <a:t>Rules</a:t>
            </a:r>
            <a:r>
              <a:rPr sz="2600" b="1" spc="645" dirty="0">
                <a:latin typeface="Cambria"/>
                <a:cs typeface="Cambria"/>
              </a:rPr>
              <a:t>   </a:t>
            </a:r>
            <a:r>
              <a:rPr sz="2600" b="1" spc="125" dirty="0">
                <a:latin typeface="Cambria"/>
                <a:cs typeface="Cambria"/>
              </a:rPr>
              <a:t>of</a:t>
            </a:r>
            <a:r>
              <a:rPr sz="2600" b="1" spc="350" dirty="0">
                <a:latin typeface="Cambria"/>
                <a:cs typeface="Cambria"/>
              </a:rPr>
              <a:t>    </a:t>
            </a:r>
            <a:r>
              <a:rPr sz="2600" b="1" spc="175" dirty="0">
                <a:latin typeface="Cambria"/>
                <a:cs typeface="Cambria"/>
              </a:rPr>
              <a:t>Recursion</a:t>
            </a:r>
            <a:r>
              <a:rPr sz="2600" b="1" spc="645" dirty="0">
                <a:latin typeface="Cambria"/>
                <a:cs typeface="Cambria"/>
              </a:rPr>
              <a:t>   </a:t>
            </a:r>
            <a:r>
              <a:rPr sz="2600" b="1" spc="110" dirty="0">
                <a:latin typeface="Cambria"/>
                <a:cs typeface="Cambria"/>
              </a:rPr>
              <a:t>(Properties):</a:t>
            </a:r>
            <a:r>
              <a:rPr sz="2600" b="1" spc="345" dirty="0">
                <a:latin typeface="Cambria"/>
                <a:cs typeface="Cambria"/>
              </a:rPr>
              <a:t>    </a:t>
            </a:r>
            <a:r>
              <a:rPr sz="2600" spc="114" dirty="0">
                <a:latin typeface="Cambria"/>
                <a:cs typeface="Cambria"/>
              </a:rPr>
              <a:t>Any </a:t>
            </a:r>
            <a:r>
              <a:rPr sz="2600" spc="55" dirty="0">
                <a:latin typeface="Cambria"/>
                <a:cs typeface="Cambria"/>
              </a:rPr>
              <a:t>recursive</a:t>
            </a:r>
            <a:r>
              <a:rPr sz="2600" spc="265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function</a:t>
            </a:r>
            <a:r>
              <a:rPr sz="2600" spc="265" dirty="0">
                <a:latin typeface="Cambria"/>
                <a:cs typeface="Cambria"/>
              </a:rPr>
              <a:t> </a:t>
            </a:r>
            <a:r>
              <a:rPr sz="2600" spc="120" dirty="0">
                <a:latin typeface="Cambria"/>
                <a:cs typeface="Cambria"/>
              </a:rPr>
              <a:t>must</a:t>
            </a:r>
            <a:r>
              <a:rPr sz="2600" spc="265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have</a:t>
            </a:r>
            <a:r>
              <a:rPr sz="2600" spc="28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following</a:t>
            </a:r>
            <a:r>
              <a:rPr sz="2600" spc="29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properties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40"/>
              </a:spcBef>
              <a:buClr>
                <a:srgbClr val="FD8537"/>
              </a:buClr>
              <a:buFont typeface="Wingdings"/>
              <a:buChar char=""/>
            </a:pPr>
            <a:endParaRPr sz="2600">
              <a:latin typeface="Cambria"/>
              <a:cs typeface="Cambria"/>
            </a:endParaRPr>
          </a:p>
          <a:p>
            <a:pPr marL="287020" marR="5080" indent="-274320" algn="just">
              <a:lnSpc>
                <a:spcPct val="100299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b="1" dirty="0">
                <a:latin typeface="Cambria"/>
                <a:cs typeface="Cambria"/>
              </a:rPr>
              <a:t>1)</a:t>
            </a:r>
            <a:r>
              <a:rPr sz="2600" b="1" spc="450" dirty="0">
                <a:latin typeface="Cambria"/>
                <a:cs typeface="Cambria"/>
              </a:rPr>
              <a:t> </a:t>
            </a:r>
            <a:r>
              <a:rPr sz="2600" spc="170" dirty="0">
                <a:latin typeface="Cambria"/>
                <a:cs typeface="Cambria"/>
              </a:rPr>
              <a:t>It</a:t>
            </a:r>
            <a:r>
              <a:rPr sz="2600" spc="455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should</a:t>
            </a:r>
            <a:r>
              <a:rPr sz="2600" spc="459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have</a:t>
            </a:r>
            <a:r>
              <a:rPr sz="2600" spc="455" dirty="0">
                <a:latin typeface="Cambria"/>
                <a:cs typeface="Cambria"/>
              </a:rPr>
              <a:t> </a:t>
            </a:r>
            <a:r>
              <a:rPr sz="2600" spc="165" dirty="0">
                <a:latin typeface="Cambria"/>
                <a:cs typeface="Cambria"/>
              </a:rPr>
              <a:t>a</a:t>
            </a:r>
            <a:r>
              <a:rPr sz="2600" spc="475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base</a:t>
            </a:r>
            <a:r>
              <a:rPr sz="2600" spc="45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case.</a:t>
            </a:r>
            <a:r>
              <a:rPr sz="2600" spc="455" dirty="0">
                <a:latin typeface="Cambria"/>
                <a:cs typeface="Cambria"/>
              </a:rPr>
              <a:t> </a:t>
            </a:r>
            <a:r>
              <a:rPr sz="2600" spc="240" dirty="0">
                <a:latin typeface="Cambria"/>
                <a:cs typeface="Cambria"/>
              </a:rPr>
              <a:t>A</a:t>
            </a:r>
            <a:r>
              <a:rPr sz="2600" spc="480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base</a:t>
            </a:r>
            <a:r>
              <a:rPr sz="2600" spc="470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case</a:t>
            </a:r>
            <a:r>
              <a:rPr sz="2600" spc="455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is</a:t>
            </a:r>
            <a:r>
              <a:rPr sz="2600" spc="455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the </a:t>
            </a:r>
            <a:r>
              <a:rPr sz="2600" spc="60" dirty="0">
                <a:latin typeface="Cambria"/>
                <a:cs typeface="Cambria"/>
              </a:rPr>
              <a:t>case</a:t>
            </a:r>
            <a:r>
              <a:rPr sz="2600" spc="540" dirty="0">
                <a:latin typeface="Cambria"/>
                <a:cs typeface="Cambria"/>
              </a:rPr>
              <a:t>  </a:t>
            </a:r>
            <a:r>
              <a:rPr sz="2600" spc="55" dirty="0">
                <a:latin typeface="Cambria"/>
                <a:cs typeface="Cambria"/>
              </a:rPr>
              <a:t>where</a:t>
            </a:r>
            <a:r>
              <a:rPr sz="2600" spc="545" dirty="0">
                <a:latin typeface="Cambria"/>
                <a:cs typeface="Cambria"/>
              </a:rPr>
              <a:t>  </a:t>
            </a:r>
            <a:r>
              <a:rPr sz="2600" spc="105" dirty="0">
                <a:latin typeface="Cambria"/>
                <a:cs typeface="Cambria"/>
              </a:rPr>
              <a:t>the</a:t>
            </a:r>
            <a:r>
              <a:rPr sz="2600" spc="540" dirty="0">
                <a:latin typeface="Cambria"/>
                <a:cs typeface="Cambria"/>
              </a:rPr>
              <a:t>  </a:t>
            </a:r>
            <a:r>
              <a:rPr sz="2600" spc="55" dirty="0">
                <a:latin typeface="Cambria"/>
                <a:cs typeface="Cambria"/>
              </a:rPr>
              <a:t>recursive</a:t>
            </a:r>
            <a:r>
              <a:rPr sz="2600" spc="545" dirty="0">
                <a:latin typeface="Cambria"/>
                <a:cs typeface="Cambria"/>
              </a:rPr>
              <a:t>  </a:t>
            </a:r>
            <a:r>
              <a:rPr sz="2600" spc="70" dirty="0">
                <a:latin typeface="Cambria"/>
                <a:cs typeface="Cambria"/>
              </a:rPr>
              <a:t>function</a:t>
            </a:r>
            <a:r>
              <a:rPr sz="2600" spc="560" dirty="0">
                <a:latin typeface="Cambria"/>
                <a:cs typeface="Cambria"/>
              </a:rPr>
              <a:t>  </a:t>
            </a:r>
            <a:r>
              <a:rPr sz="2600" spc="65" dirty="0">
                <a:latin typeface="Cambria"/>
                <a:cs typeface="Cambria"/>
              </a:rPr>
              <a:t>gives</a:t>
            </a:r>
            <a:r>
              <a:rPr sz="2600" spc="540" dirty="0">
                <a:latin typeface="Cambria"/>
                <a:cs typeface="Cambria"/>
              </a:rPr>
              <a:t>  </a:t>
            </a:r>
            <a:r>
              <a:rPr sz="2600" spc="80" dirty="0">
                <a:latin typeface="Cambria"/>
                <a:cs typeface="Cambria"/>
              </a:rPr>
              <a:t>the </a:t>
            </a:r>
            <a:r>
              <a:rPr sz="2600" dirty="0">
                <a:latin typeface="Cambria"/>
                <a:cs typeface="Cambria"/>
              </a:rPr>
              <a:t>concrete</a:t>
            </a:r>
            <a:r>
              <a:rPr sz="2600" spc="3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(exact)</a:t>
            </a:r>
            <a:r>
              <a:rPr sz="2600" spc="365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solution</a:t>
            </a:r>
            <a:r>
              <a:rPr sz="2600" spc="3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37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375" dirty="0">
                <a:latin typeface="Cambria"/>
                <a:cs typeface="Cambria"/>
              </a:rPr>
              <a:t> </a:t>
            </a:r>
            <a:r>
              <a:rPr sz="2600" spc="114" dirty="0">
                <a:latin typeface="Cambria"/>
                <a:cs typeface="Cambria"/>
              </a:rPr>
              <a:t>input.</a:t>
            </a:r>
            <a:r>
              <a:rPr sz="2600" spc="395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Therefore</a:t>
            </a:r>
            <a:r>
              <a:rPr sz="2600" spc="365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it </a:t>
            </a:r>
            <a:r>
              <a:rPr sz="2600" spc="80" dirty="0">
                <a:latin typeface="Cambria"/>
                <a:cs typeface="Cambria"/>
              </a:rPr>
              <a:t>helps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in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100" dirty="0">
                <a:latin typeface="Cambria"/>
                <a:cs typeface="Cambria"/>
              </a:rPr>
              <a:t>terminating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recursion.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25"/>
              </a:spcBef>
              <a:buClr>
                <a:srgbClr val="FD8537"/>
              </a:buClr>
              <a:buFont typeface="Wingdings"/>
              <a:buChar char=""/>
            </a:pPr>
            <a:endParaRPr sz="2600">
              <a:latin typeface="Cambria"/>
              <a:cs typeface="Cambria"/>
            </a:endParaRPr>
          </a:p>
          <a:p>
            <a:pPr marL="287020" marR="8255" indent="-274320" algn="just">
              <a:lnSpc>
                <a:spcPct val="100800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b="1" dirty="0">
                <a:latin typeface="Cambria"/>
                <a:cs typeface="Cambria"/>
              </a:rPr>
              <a:t>2)</a:t>
            </a:r>
            <a:r>
              <a:rPr sz="2600" b="1" spc="165" dirty="0">
                <a:latin typeface="Cambria"/>
                <a:cs typeface="Cambria"/>
              </a:rPr>
              <a:t>  </a:t>
            </a:r>
            <a:r>
              <a:rPr sz="2600" spc="110" dirty="0">
                <a:latin typeface="Cambria"/>
                <a:cs typeface="Cambria"/>
              </a:rPr>
              <a:t>The</a:t>
            </a:r>
            <a:r>
              <a:rPr sz="2600" spc="175" dirty="0">
                <a:latin typeface="Cambria"/>
                <a:cs typeface="Cambria"/>
              </a:rPr>
              <a:t>  </a:t>
            </a:r>
            <a:r>
              <a:rPr sz="2600" spc="65" dirty="0">
                <a:latin typeface="Cambria"/>
                <a:cs typeface="Cambria"/>
              </a:rPr>
              <a:t>recursive</a:t>
            </a:r>
            <a:r>
              <a:rPr sz="2600" spc="16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process</a:t>
            </a:r>
            <a:r>
              <a:rPr sz="2600" spc="165" dirty="0">
                <a:latin typeface="Cambria"/>
                <a:cs typeface="Cambria"/>
              </a:rPr>
              <a:t>  </a:t>
            </a:r>
            <a:r>
              <a:rPr sz="2600" spc="120" dirty="0">
                <a:latin typeface="Cambria"/>
                <a:cs typeface="Cambria"/>
              </a:rPr>
              <a:t>must</a:t>
            </a:r>
            <a:r>
              <a:rPr sz="2600" spc="18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proceed</a:t>
            </a:r>
            <a:r>
              <a:rPr sz="2600" spc="170" dirty="0">
                <a:latin typeface="Cambria"/>
                <a:cs typeface="Cambria"/>
              </a:rPr>
              <a:t>  </a:t>
            </a:r>
            <a:r>
              <a:rPr sz="2600" spc="45" dirty="0">
                <a:latin typeface="Cambria"/>
                <a:cs typeface="Cambria"/>
              </a:rPr>
              <a:t>towards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base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case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during</a:t>
            </a:r>
            <a:r>
              <a:rPr sz="2600" spc="185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execution.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D8537"/>
              </a:buClr>
              <a:buFont typeface="Wingdings"/>
              <a:buChar char=""/>
            </a:pPr>
            <a:endParaRPr sz="26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6385" algn="l"/>
              </a:tabLst>
            </a:pPr>
            <a:r>
              <a:rPr sz="2600" b="1" dirty="0">
                <a:latin typeface="Cambria"/>
                <a:cs typeface="Cambria"/>
              </a:rPr>
              <a:t>3)</a:t>
            </a:r>
            <a:r>
              <a:rPr sz="2600" b="1" spc="155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There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should</a:t>
            </a:r>
            <a:r>
              <a:rPr sz="2600" spc="16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be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165" dirty="0">
                <a:latin typeface="Cambria"/>
                <a:cs typeface="Cambria"/>
              </a:rPr>
              <a:t>a </a:t>
            </a:r>
            <a:r>
              <a:rPr sz="2600" spc="65" dirty="0">
                <a:latin typeface="Cambria"/>
                <a:cs typeface="Cambria"/>
              </a:rPr>
              <a:t>recursive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100" dirty="0">
                <a:latin typeface="Cambria"/>
                <a:cs typeface="Cambria"/>
              </a:rPr>
              <a:t>call.</a:t>
            </a:r>
            <a:endParaRPr sz="26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756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98750" algn="l"/>
              </a:tabLst>
            </a:pPr>
            <a:r>
              <a:rPr cap="small" spc="415" dirty="0"/>
              <a:t>Recursion</a:t>
            </a:r>
            <a:r>
              <a:rPr cap="small" dirty="0"/>
              <a:t>	</a:t>
            </a:r>
            <a:r>
              <a:rPr cap="small" spc="280" dirty="0"/>
              <a:t>(Cont…)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938911"/>
            <a:ext cx="7995920" cy="5232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1" spc="170" dirty="0">
                <a:latin typeface="Cambria"/>
                <a:cs typeface="Cambria"/>
              </a:rPr>
              <a:t>Disadvantages</a:t>
            </a:r>
            <a:r>
              <a:rPr sz="2600" b="1" spc="250" dirty="0">
                <a:latin typeface="Cambria"/>
                <a:cs typeface="Cambria"/>
              </a:rPr>
              <a:t> </a:t>
            </a:r>
            <a:r>
              <a:rPr sz="2600" b="1" spc="125" dirty="0">
                <a:latin typeface="Cambria"/>
                <a:cs typeface="Cambria"/>
              </a:rPr>
              <a:t>of</a:t>
            </a:r>
            <a:r>
              <a:rPr sz="2600" b="1" spc="220" dirty="0">
                <a:latin typeface="Cambria"/>
                <a:cs typeface="Cambria"/>
              </a:rPr>
              <a:t> </a:t>
            </a:r>
            <a:r>
              <a:rPr sz="2600" b="1" spc="140" dirty="0">
                <a:latin typeface="Cambria"/>
                <a:cs typeface="Cambria"/>
              </a:rPr>
              <a:t>Recursion:</a:t>
            </a:r>
            <a:endParaRPr sz="2600">
              <a:latin typeface="Cambria"/>
              <a:cs typeface="Cambria"/>
            </a:endParaRPr>
          </a:p>
          <a:p>
            <a:pPr marL="287020" marR="5715" indent="-274320">
              <a:lnSpc>
                <a:spcPct val="80000"/>
              </a:lnSpc>
              <a:spcBef>
                <a:spcPts val="62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  <a:tab pos="707390" algn="l"/>
                <a:tab pos="2350770" algn="l"/>
                <a:tab pos="3912235" algn="l"/>
                <a:tab pos="4555490" algn="l"/>
                <a:tab pos="6128385" algn="l"/>
                <a:tab pos="7266305" algn="l"/>
              </a:tabLst>
            </a:pPr>
            <a:r>
              <a:rPr sz="2600" spc="60" dirty="0">
                <a:latin typeface="Cambria"/>
                <a:cs typeface="Cambria"/>
              </a:rPr>
              <a:t>1.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75" dirty="0">
                <a:latin typeface="Cambria"/>
                <a:cs typeface="Cambria"/>
              </a:rPr>
              <a:t>Recursive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5" dirty="0">
                <a:latin typeface="Cambria"/>
                <a:cs typeface="Cambria"/>
              </a:rPr>
              <a:t>functions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5" dirty="0">
                <a:latin typeface="Cambria"/>
                <a:cs typeface="Cambria"/>
              </a:rPr>
              <a:t>are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80" dirty="0">
                <a:latin typeface="Cambria"/>
                <a:cs typeface="Cambria"/>
              </a:rPr>
              <a:t>generally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slower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120" dirty="0">
                <a:latin typeface="Cambria"/>
                <a:cs typeface="Cambria"/>
              </a:rPr>
              <a:t>than </a:t>
            </a:r>
            <a:r>
              <a:rPr sz="2600" dirty="0">
                <a:latin typeface="Cambria"/>
                <a:cs typeface="Cambria"/>
              </a:rPr>
              <a:t>non-</a:t>
            </a:r>
            <a:r>
              <a:rPr sz="2600" spc="65" dirty="0">
                <a:latin typeface="Cambria"/>
                <a:cs typeface="Cambria"/>
              </a:rPr>
              <a:t>recursive</a:t>
            </a:r>
            <a:r>
              <a:rPr sz="2600" spc="390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function.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buClr>
                <a:srgbClr val="FD8537"/>
              </a:buClr>
              <a:buFont typeface="Wingdings"/>
              <a:buChar char=""/>
            </a:pPr>
            <a:endParaRPr sz="2600">
              <a:latin typeface="Cambria"/>
              <a:cs typeface="Cambria"/>
            </a:endParaRPr>
          </a:p>
          <a:p>
            <a:pPr marL="287020" marR="8255" indent="-274320">
              <a:lnSpc>
                <a:spcPts val="2500"/>
              </a:lnSpc>
              <a:spcBef>
                <a:spcPts val="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  <a:tab pos="710565" algn="l"/>
                <a:tab pos="1125220" algn="l"/>
                <a:tab pos="1930400" algn="l"/>
                <a:tab pos="3192145" algn="l"/>
                <a:tab pos="3528060" algn="l"/>
                <a:tab pos="4073525" algn="l"/>
                <a:tab pos="4500245" algn="l"/>
                <a:tab pos="5890895" algn="l"/>
                <a:tab pos="6878320" algn="l"/>
                <a:tab pos="7320915" algn="l"/>
              </a:tabLst>
            </a:pPr>
            <a:r>
              <a:rPr sz="2600" spc="60" dirty="0">
                <a:latin typeface="Cambria"/>
                <a:cs typeface="Cambria"/>
              </a:rPr>
              <a:t>2.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140" dirty="0">
                <a:latin typeface="Cambria"/>
                <a:cs typeface="Cambria"/>
              </a:rPr>
              <a:t>It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95" dirty="0">
                <a:latin typeface="Cambria"/>
                <a:cs typeface="Cambria"/>
              </a:rPr>
              <a:t>may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5" dirty="0">
                <a:latin typeface="Cambria"/>
                <a:cs typeface="Cambria"/>
              </a:rPr>
              <a:t>require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114" dirty="0">
                <a:latin typeface="Cambria"/>
                <a:cs typeface="Cambria"/>
              </a:rPr>
              <a:t>a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lot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of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5" dirty="0">
                <a:latin typeface="Cambria"/>
                <a:cs typeface="Cambria"/>
              </a:rPr>
              <a:t>memory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5" dirty="0">
                <a:latin typeface="Cambria"/>
                <a:cs typeface="Cambria"/>
              </a:rPr>
              <a:t>space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to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hold </a:t>
            </a:r>
            <a:r>
              <a:rPr sz="2600" spc="80" dirty="0">
                <a:latin typeface="Cambria"/>
                <a:cs typeface="Cambria"/>
              </a:rPr>
              <a:t>intermediate</a:t>
            </a:r>
            <a:r>
              <a:rPr sz="2600" spc="240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results</a:t>
            </a:r>
            <a:r>
              <a:rPr sz="2600" spc="19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on</a:t>
            </a:r>
            <a:r>
              <a:rPr sz="2600" spc="165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190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system</a:t>
            </a:r>
            <a:r>
              <a:rPr sz="2600" spc="200" dirty="0">
                <a:latin typeface="Cambria"/>
                <a:cs typeface="Cambria"/>
              </a:rPr>
              <a:t> </a:t>
            </a:r>
            <a:r>
              <a:rPr sz="2600" spc="100" dirty="0">
                <a:latin typeface="Cambria"/>
                <a:cs typeface="Cambria"/>
              </a:rPr>
              <a:t>stacks.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D8537"/>
              </a:buClr>
              <a:buFont typeface="Wingdings"/>
              <a:buChar char=""/>
            </a:pPr>
            <a:endParaRPr sz="26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6385" algn="l"/>
              </a:tabLst>
            </a:pPr>
            <a:r>
              <a:rPr sz="2600" spc="85" dirty="0">
                <a:latin typeface="Cambria"/>
                <a:cs typeface="Cambria"/>
              </a:rPr>
              <a:t>3.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145" dirty="0">
                <a:latin typeface="Cambria"/>
                <a:cs typeface="Cambria"/>
              </a:rPr>
              <a:t>Hard</a:t>
            </a:r>
            <a:r>
              <a:rPr sz="2600" spc="16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95" dirty="0">
                <a:latin typeface="Cambria"/>
                <a:cs typeface="Cambria"/>
              </a:rPr>
              <a:t>analyze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or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understand</a:t>
            </a:r>
            <a:r>
              <a:rPr sz="2600" spc="21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the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code.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30"/>
              </a:spcBef>
              <a:buClr>
                <a:srgbClr val="FD8537"/>
              </a:buClr>
              <a:buFont typeface="Wingdings"/>
              <a:buChar char=""/>
            </a:pPr>
            <a:endParaRPr sz="2600">
              <a:latin typeface="Cambria"/>
              <a:cs typeface="Cambria"/>
            </a:endParaRPr>
          </a:p>
          <a:p>
            <a:pPr marL="287020" marR="5080" indent="-274320">
              <a:lnSpc>
                <a:spcPts val="2500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  <a:tab pos="713105" algn="l"/>
                <a:tab pos="1128395" algn="l"/>
                <a:tab pos="1536700" algn="l"/>
                <a:tab pos="2186305" algn="l"/>
                <a:tab pos="3107055" algn="l"/>
                <a:tab pos="4494530" algn="l"/>
                <a:tab pos="4954905" algn="l"/>
                <a:tab pos="5991225" algn="l"/>
                <a:tab pos="6421120" algn="l"/>
                <a:tab pos="7409180" algn="l"/>
              </a:tabLst>
            </a:pPr>
            <a:r>
              <a:rPr sz="2600" spc="60" dirty="0">
                <a:latin typeface="Cambria"/>
                <a:cs typeface="Cambria"/>
              </a:rPr>
              <a:t>4.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140" dirty="0">
                <a:latin typeface="Cambria"/>
                <a:cs typeface="Cambria"/>
              </a:rPr>
              <a:t>It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5" dirty="0">
                <a:latin typeface="Cambria"/>
                <a:cs typeface="Cambria"/>
              </a:rPr>
              <a:t>is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0" dirty="0">
                <a:latin typeface="Cambria"/>
                <a:cs typeface="Cambria"/>
              </a:rPr>
              <a:t>not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more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0" dirty="0">
                <a:latin typeface="Cambria"/>
                <a:cs typeface="Cambria"/>
              </a:rPr>
              <a:t>efficient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80" dirty="0">
                <a:latin typeface="Cambria"/>
                <a:cs typeface="Cambria"/>
              </a:rPr>
              <a:t>in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80" dirty="0">
                <a:latin typeface="Cambria"/>
                <a:cs typeface="Cambria"/>
              </a:rPr>
              <a:t>terms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of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0" dirty="0">
                <a:latin typeface="Cambria"/>
                <a:cs typeface="Cambria"/>
              </a:rPr>
              <a:t>space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80" dirty="0">
                <a:latin typeface="Cambria"/>
                <a:cs typeface="Cambria"/>
              </a:rPr>
              <a:t>and time</a:t>
            </a:r>
            <a:r>
              <a:rPr sz="2600" spc="185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complexity.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Clr>
                <a:srgbClr val="FD8537"/>
              </a:buClr>
              <a:buFont typeface="Wingdings"/>
              <a:buChar char=""/>
            </a:pPr>
            <a:endParaRPr sz="2600">
              <a:latin typeface="Cambria"/>
              <a:cs typeface="Cambria"/>
            </a:endParaRPr>
          </a:p>
          <a:p>
            <a:pPr marL="287020" marR="8255" indent="-274320">
              <a:lnSpc>
                <a:spcPct val="80000"/>
              </a:lnSpc>
              <a:spcBef>
                <a:spcPts val="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  <a:tab pos="725805" algn="l"/>
                <a:tab pos="1475740" algn="l"/>
                <a:tab pos="3073400" algn="l"/>
                <a:tab pos="3890645" algn="l"/>
                <a:tab pos="4604385" algn="l"/>
                <a:tab pos="5262880" algn="l"/>
                <a:tab pos="5701665" algn="l"/>
                <a:tab pos="7107555" algn="l"/>
                <a:tab pos="7485380" algn="l"/>
              </a:tabLst>
            </a:pPr>
            <a:r>
              <a:rPr sz="2600" spc="60" dirty="0">
                <a:latin typeface="Cambria"/>
                <a:cs typeface="Cambria"/>
              </a:rPr>
              <a:t>5.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85" dirty="0">
                <a:latin typeface="Cambria"/>
                <a:cs typeface="Cambria"/>
              </a:rPr>
              <a:t>The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0" dirty="0">
                <a:latin typeface="Cambria"/>
                <a:cs typeface="Cambria"/>
              </a:rPr>
              <a:t>computer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100" dirty="0">
                <a:latin typeface="Cambria"/>
                <a:cs typeface="Cambria"/>
              </a:rPr>
              <a:t>may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90" dirty="0">
                <a:latin typeface="Cambria"/>
                <a:cs typeface="Cambria"/>
              </a:rPr>
              <a:t>run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0" dirty="0">
                <a:latin typeface="Cambria"/>
                <a:cs typeface="Cambria"/>
              </a:rPr>
              <a:t>out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of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5" dirty="0">
                <a:latin typeface="Cambria"/>
                <a:cs typeface="Cambria"/>
              </a:rPr>
              <a:t>memory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5" dirty="0">
                <a:latin typeface="Cambria"/>
                <a:cs typeface="Cambria"/>
              </a:rPr>
              <a:t>if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5" dirty="0">
                <a:latin typeface="Cambria"/>
                <a:cs typeface="Cambria"/>
              </a:rPr>
              <a:t>the recursive</a:t>
            </a:r>
            <a:r>
              <a:rPr sz="2600" spc="235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calls</a:t>
            </a:r>
            <a:r>
              <a:rPr sz="2600" spc="225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are</a:t>
            </a:r>
            <a:r>
              <a:rPr sz="2600" spc="240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not</a:t>
            </a:r>
            <a:r>
              <a:rPr sz="2600" spc="2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properly</a:t>
            </a:r>
            <a:r>
              <a:rPr sz="2600" spc="229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checked.</a:t>
            </a:r>
            <a:endParaRPr sz="26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544" y="1524000"/>
            <a:ext cx="5705856" cy="3810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5800" y="0"/>
            <a:ext cx="8382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</TotalTime>
  <Words>1499</Words>
  <Application>Microsoft Office PowerPoint</Application>
  <PresentationFormat>On-screen Show (4:3)</PresentationFormat>
  <Paragraphs>328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</vt:lpstr>
      <vt:lpstr>Wingdings</vt:lpstr>
      <vt:lpstr>Office Theme</vt:lpstr>
      <vt:lpstr>UNIT – IV</vt:lpstr>
      <vt:lpstr>Functions</vt:lpstr>
      <vt:lpstr>Functions</vt:lpstr>
      <vt:lpstr>Functions (Cont…)</vt:lpstr>
      <vt:lpstr>PowerPoint Presentation</vt:lpstr>
      <vt:lpstr>Functions (Cont…)</vt:lpstr>
      <vt:lpstr>Functions (Cont…)</vt:lpstr>
      <vt:lpstr>Functions (Cont…)</vt:lpstr>
      <vt:lpstr>Functions (Cont…)</vt:lpstr>
      <vt:lpstr>Functions (Cont…)</vt:lpstr>
      <vt:lpstr>Functions (Cont…)</vt:lpstr>
      <vt:lpstr>Functions (Cont…)</vt:lpstr>
      <vt:lpstr>Categories of Functions</vt:lpstr>
      <vt:lpstr>Categories of Functions (Cont…)</vt:lpstr>
      <vt:lpstr>Categories of Functions (Cont…)</vt:lpstr>
      <vt:lpstr>Categories of Functions (Cont…)</vt:lpstr>
      <vt:lpstr>Categories of Functions (Cont…)</vt:lpstr>
      <vt:lpstr>Types of Parameters</vt:lpstr>
      <vt:lpstr>Parameter Passing Mechanism</vt:lpstr>
      <vt:lpstr>Example</vt:lpstr>
      <vt:lpstr>Parameter Passing Mechanism</vt:lpstr>
      <vt:lpstr>Example</vt:lpstr>
      <vt:lpstr>Recursion</vt:lpstr>
      <vt:lpstr>Recursion (Cont…)</vt:lpstr>
      <vt:lpstr>Recursion (Cont…)</vt:lpstr>
      <vt:lpstr>Recursion (Cont…)</vt:lpstr>
      <vt:lpstr>Recursion (Cont…)</vt:lpstr>
      <vt:lpstr>Recursion (Cont…)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– IV</dc:title>
  <cp:lastModifiedBy>Microsoft account</cp:lastModifiedBy>
  <cp:revision>27</cp:revision>
  <dcterms:created xsi:type="dcterms:W3CDTF">2025-05-29T05:45:30Z</dcterms:created>
  <dcterms:modified xsi:type="dcterms:W3CDTF">2025-09-19T05:01:05Z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2025-05-29T00:00:00Z</vt:filetime>
  </property>
  <property fmtid="{D5CDD505-2E9C-101B-9397-08002B2CF9AE}" pid="3" name="LastSaved">
    <vt:filetime>2025-05-29T00:00:00Z</vt:filetime>
  </property>
  <property fmtid="{D5CDD505-2E9C-101B-9397-08002B2CF9AE}" pid="4" name="Producer">
    <vt:lpwstr>iLovePDF</vt:lpwstr>
  </property>
</Properties>
</file>