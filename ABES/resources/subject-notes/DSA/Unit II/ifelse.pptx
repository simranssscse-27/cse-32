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7" y="-38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2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13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23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48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029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10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9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6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18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067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52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240B0-A415-4F04-9466-CDDDD1E8092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22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984205"/>
              </p:ext>
            </p:extLst>
          </p:nvPr>
        </p:nvGraphicFramePr>
        <p:xfrm>
          <a:off x="457200" y="228602"/>
          <a:ext cx="8534400" cy="65227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09800"/>
                <a:gridCol w="6324600"/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Check Even or Odd – Electricity Meter Reading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 a smart electricity meter system, each meter ID is represented by a unique number. The company wants to check whether a meter’s ID number is </a:t>
                      </a:r>
                      <a:r>
                        <a:rPr lang="en-US" b="1" dirty="0" smtClean="0"/>
                        <a:t>even</a:t>
                      </a:r>
                      <a:r>
                        <a:rPr lang="en-US" dirty="0" smtClean="0"/>
                        <a:t> or </a:t>
                      </a:r>
                      <a:r>
                        <a:rPr lang="en-US" b="1" dirty="0" smtClean="0"/>
                        <a:t>odd</a:t>
                      </a:r>
                      <a:r>
                        <a:rPr lang="en-US" dirty="0" smtClean="0"/>
                        <a:t> to decide which technician team will handle it (even → Team A, odd → Team B).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N.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"Even" if N is even, otherwise print "Odd".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odd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969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39938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09800"/>
                <a:gridCol w="6324600"/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Temperature sensor 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temperature sensor records daily readings. If the temperature is positive, it means </a:t>
                      </a:r>
                      <a:r>
                        <a:rPr lang="en-US" b="1" dirty="0" smtClean="0"/>
                        <a:t>above freezing</a:t>
                      </a:r>
                      <a:r>
                        <a:rPr lang="en-US" dirty="0" smtClean="0"/>
                        <a:t>, if negative it means </a:t>
                      </a:r>
                      <a:r>
                        <a:rPr lang="en-US" b="1" dirty="0" smtClean="0"/>
                        <a:t>below freezing</a:t>
                      </a:r>
                      <a:r>
                        <a:rPr lang="en-US" dirty="0" smtClean="0"/>
                        <a:t>, and if zero, it’s </a:t>
                      </a:r>
                      <a:r>
                        <a:rPr lang="en-US" b="1" dirty="0" smtClean="0"/>
                        <a:t>exactly at freezing point</a:t>
                      </a:r>
                      <a:r>
                        <a:rPr lang="en-US" dirty="0" smtClean="0"/>
                        <a:t>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N.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"Positive", "Negative", or "Zero".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-3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Negative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95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00555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09800"/>
                <a:gridCol w="6324600"/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Leap Year Check – Calendar App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You are building a digital calendar app that must correctly calculate the number of days in February. To do that, you need to know if the entered year is a </a:t>
                      </a:r>
                      <a:r>
                        <a:rPr lang="en-US" b="1" dirty="0" smtClean="0"/>
                        <a:t>leap year</a:t>
                      </a:r>
                      <a:r>
                        <a:rPr lang="en-US" dirty="0" smtClean="0"/>
                        <a:t>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year.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"Leap Year" or "Not Leap Year"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2024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Leap Year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418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606974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/>
                <a:gridCol w="6248400"/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Competition Result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Three contestants participate in a coding competition. Each gets a score between 0–100. You need to determine who has the </a:t>
                      </a:r>
                      <a:r>
                        <a:rPr lang="en-US" b="1" dirty="0" smtClean="0"/>
                        <a:t>highest score</a:t>
                      </a:r>
                      <a:r>
                        <a:rPr lang="en-US" dirty="0" smtClean="0"/>
                        <a:t> among the three participants.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Three space-separated integers A, B, and C.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the greatest number.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10 25 20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86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864946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/>
                <a:gridCol w="6248400"/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Online Voter Registration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 online voting portal verifies user age before registration. If the user is </a:t>
                      </a:r>
                      <a:r>
                        <a:rPr lang="en-US" b="1" dirty="0" smtClean="0"/>
                        <a:t>18 years or older</a:t>
                      </a:r>
                      <a:r>
                        <a:rPr lang="en-US" dirty="0" smtClean="0"/>
                        <a:t>, they are eligible to vote. Otherwise, they are not allowed to register.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representing the age.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"Eligible to vote" or "Not eligible to vote".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eligible to vote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366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932431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/>
                <a:gridCol w="6248400"/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ATM Transaction ID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 ATM machine generates transaction IDs. For system audit, only IDs that are divisible by both 5 and 11 are flagged for review.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N.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"Divisible" if divisible by both 5 and 11, otherwise print "Not Divisible".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55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Divisible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2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565844"/>
              </p:ext>
            </p:extLst>
          </p:nvPr>
        </p:nvGraphicFramePr>
        <p:xfrm>
          <a:off x="457200" y="121922"/>
          <a:ext cx="8534400" cy="605027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/>
                <a:gridCol w="6248400"/>
              </a:tblGrid>
              <a:tr h="457198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University Result System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 a university result management system, the program should automatically assign a </a:t>
                      </a:r>
                      <a:r>
                        <a:rPr lang="en-US" b="1" dirty="0" smtClean="0"/>
                        <a:t>grade</a:t>
                      </a:r>
                      <a:r>
                        <a:rPr lang="en-US" dirty="0" smtClean="0"/>
                        <a:t> based on student marks according to this scale:</a:t>
                      </a:r>
                    </a:p>
                    <a:p>
                      <a:r>
                        <a:rPr lang="en-US" dirty="0" smtClean="0"/>
                        <a:t>90–100 → A</a:t>
                      </a:r>
                    </a:p>
                    <a:p>
                      <a:r>
                        <a:rPr lang="en-US" dirty="0" smtClean="0"/>
                        <a:t>75–89 → B</a:t>
                      </a:r>
                    </a:p>
                    <a:p>
                      <a:r>
                        <a:rPr lang="en-US" dirty="0" smtClean="0"/>
                        <a:t>60–74 → C</a:t>
                      </a:r>
                    </a:p>
                    <a:p>
                      <a:r>
                        <a:rPr lang="en-US" dirty="0" smtClean="0"/>
                        <a:t>45–59 → D</a:t>
                      </a:r>
                    </a:p>
                    <a:p>
                      <a:r>
                        <a:rPr lang="en-US" dirty="0" smtClean="0"/>
                        <a:t>Below 45 → Fail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 integer denoting marks.</a:t>
                      </a:r>
                      <a:endParaRPr lang="en-US" dirty="0"/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the grade (A, B, C, D, or Fail).</a:t>
                      </a:r>
                      <a:endParaRPr lang="en-US" dirty="0"/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82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9410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519000"/>
              </p:ext>
            </p:extLst>
          </p:nvPr>
        </p:nvGraphicFramePr>
        <p:xfrm>
          <a:off x="457200" y="228602"/>
          <a:ext cx="8534400" cy="734568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/>
                <a:gridCol w="6248400"/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Smart Home Lighting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smart home lighting system adjusts brightness based on the time of day:</a:t>
                      </a:r>
                    </a:p>
                    <a:p>
                      <a:r>
                        <a:rPr lang="en-US" dirty="0" smtClean="0"/>
                        <a:t>Morning → 5 to 11 </a:t>
                      </a:r>
                      <a:r>
                        <a:rPr lang="en-US" dirty="0" err="1" smtClean="0"/>
                        <a:t>hrs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Afternoon → 12 to 16 </a:t>
                      </a:r>
                      <a:r>
                        <a:rPr lang="en-US" dirty="0" err="1" smtClean="0"/>
                        <a:t>hrs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Evening → 17 to 20 </a:t>
                      </a:r>
                      <a:r>
                        <a:rPr lang="en-US" dirty="0" err="1" smtClean="0"/>
                        <a:t>hrs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Night → otherwise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 integer hour.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one of: Morning / Afternoon / Evening / Night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Evening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32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775317"/>
              </p:ext>
            </p:extLst>
          </p:nvPr>
        </p:nvGraphicFramePr>
        <p:xfrm>
          <a:off x="457200" y="228602"/>
          <a:ext cx="8534400" cy="65227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/>
                <a:gridCol w="6248400"/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Shop Billing System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shopkeeper enters the </a:t>
                      </a:r>
                      <a:r>
                        <a:rPr lang="en-US" b="1" dirty="0" smtClean="0"/>
                        <a:t>cost price (CP)</a:t>
                      </a:r>
                      <a:r>
                        <a:rPr lang="en-US" dirty="0" smtClean="0"/>
                        <a:t> and </a:t>
                      </a:r>
                      <a:r>
                        <a:rPr lang="en-US" b="1" dirty="0" smtClean="0"/>
                        <a:t>selling price (SP)</a:t>
                      </a:r>
                      <a:r>
                        <a:rPr lang="en-US" dirty="0" smtClean="0"/>
                        <a:t> of an item into the billing system. The program should display whether the shopkeeper has made a </a:t>
                      </a:r>
                      <a:r>
                        <a:rPr lang="en-US" b="1" dirty="0" smtClean="0"/>
                        <a:t>Profit</a:t>
                      </a:r>
                      <a:r>
                        <a:rPr lang="en-US" dirty="0" smtClean="0"/>
                        <a:t>, </a:t>
                      </a:r>
                      <a:r>
                        <a:rPr lang="en-US" b="1" dirty="0" smtClean="0"/>
                        <a:t>Loss</a:t>
                      </a:r>
                      <a:r>
                        <a:rPr lang="en-US" dirty="0" smtClean="0"/>
                        <a:t>, or </a:t>
                      </a:r>
                      <a:r>
                        <a:rPr lang="en-US" b="1" dirty="0" smtClean="0"/>
                        <a:t>No Profit No Loss</a:t>
                      </a:r>
                      <a:r>
                        <a:rPr lang="en-US" dirty="0" smtClean="0"/>
                        <a:t>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Two integers denoting CP and SP.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"Profit", "Loss", or "No Profit No Loss".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100 120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Profit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498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404769"/>
              </p:ext>
            </p:extLst>
          </p:nvPr>
        </p:nvGraphicFramePr>
        <p:xfrm>
          <a:off x="457200" y="228602"/>
          <a:ext cx="8534400" cy="640079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/>
                <a:gridCol w="6248400"/>
              </a:tblGrid>
              <a:tr h="609598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Smart Home Lighting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 a building design software, an engineer inputs three sides to form a triangular beam structure. The program must verify if a valid triangle can be formed and if yes, determine its </a:t>
                      </a:r>
                      <a:r>
                        <a:rPr lang="en-US" b="1" dirty="0" smtClean="0"/>
                        <a:t>type</a:t>
                      </a:r>
                      <a:r>
                        <a:rPr lang="en-US" dirty="0" smtClean="0"/>
                        <a:t>:</a:t>
                      </a:r>
                    </a:p>
                    <a:p>
                      <a:r>
                        <a:rPr lang="en-US" dirty="0" smtClean="0"/>
                        <a:t>All sides equal → Equilateral</a:t>
                      </a:r>
                    </a:p>
                    <a:p>
                      <a:r>
                        <a:rPr lang="en-US" dirty="0" smtClean="0"/>
                        <a:t>Two sides equal → Isosceles</a:t>
                      </a:r>
                    </a:p>
                    <a:p>
                      <a:r>
                        <a:rPr lang="en-US" dirty="0" smtClean="0"/>
                        <a:t>All sides different → Scalene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Three space-separated integers A, B, and C.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"Equilateral", "Isosceles", "Scalene", or "Not a Triangle".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5 5 8</a:t>
                      </a:r>
                      <a:endParaRPr lang="en-US" dirty="0"/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Isosceles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42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026732"/>
              </p:ext>
            </p:extLst>
          </p:nvPr>
        </p:nvGraphicFramePr>
        <p:xfrm>
          <a:off x="457200" y="228602"/>
          <a:ext cx="8534400" cy="640079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/>
                <a:gridCol w="6248400"/>
              </a:tblGrid>
              <a:tr h="609598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Smart Home Lighting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 a building design software, an engineer inputs three sides to form a triangular beam structure. The program must verify if a valid triangle can be formed and if yes, determine its </a:t>
                      </a:r>
                      <a:r>
                        <a:rPr lang="en-US" b="1" dirty="0" smtClean="0"/>
                        <a:t>type</a:t>
                      </a:r>
                      <a:r>
                        <a:rPr lang="en-US" dirty="0" smtClean="0"/>
                        <a:t>:</a:t>
                      </a:r>
                    </a:p>
                    <a:p>
                      <a:r>
                        <a:rPr lang="en-US" dirty="0" smtClean="0"/>
                        <a:t>All sides equal → Equilateral</a:t>
                      </a:r>
                    </a:p>
                    <a:p>
                      <a:r>
                        <a:rPr lang="en-US" dirty="0" smtClean="0"/>
                        <a:t>Two sides equal → Isosceles</a:t>
                      </a:r>
                    </a:p>
                    <a:p>
                      <a:r>
                        <a:rPr lang="en-US" dirty="0" smtClean="0"/>
                        <a:t>All sides different → Scalene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Three space-separated integers A, B, and C.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"Equilateral", "Isosceles", "Scalene", or "Not a Triangle".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5 5 8</a:t>
                      </a:r>
                      <a:endParaRPr lang="en-US" dirty="0"/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Isosceles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734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841</Words>
  <Application>Microsoft Office PowerPoint</Application>
  <PresentationFormat>On-screen Show (4:3)</PresentationFormat>
  <Paragraphs>147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6</cp:revision>
  <dcterms:created xsi:type="dcterms:W3CDTF">2025-10-14T08:24:07Z</dcterms:created>
  <dcterms:modified xsi:type="dcterms:W3CDTF">2025-10-14T14:12:25Z</dcterms:modified>
</cp:coreProperties>
</file>