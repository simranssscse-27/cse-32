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24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2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13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23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48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029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10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97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6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18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067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152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22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660823"/>
              </p:ext>
            </p:extLst>
          </p:nvPr>
        </p:nvGraphicFramePr>
        <p:xfrm>
          <a:off x="457200" y="304800"/>
          <a:ext cx="8229600" cy="5962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4026"/>
                <a:gridCol w="6745574"/>
              </a:tblGrid>
              <a:tr h="763385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Right Triangle Star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Pattern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742752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Stateme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W</a:t>
                      </a:r>
                      <a:r>
                        <a:rPr sz="1800" dirty="0" smtClean="0">
                          <a:latin typeface="Arial MT"/>
                          <a:cs typeface="Arial MT"/>
                        </a:rPr>
                        <a:t>rite</a:t>
                      </a:r>
                      <a:r>
                        <a:rPr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 program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to print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right triangle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pattern of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stars using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loops.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42752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 single integer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N representing the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number of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rows.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42752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Output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Print a right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triangle pattern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stars.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42752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2228257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R="39370"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R="3937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76200" marR="3937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Output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 smtClean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* 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9695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976556"/>
              </p:ext>
            </p:extLst>
          </p:nvPr>
        </p:nvGraphicFramePr>
        <p:xfrm>
          <a:off x="609600" y="457202"/>
          <a:ext cx="8077200" cy="6019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6545"/>
                <a:gridCol w="6620655"/>
              </a:tblGrid>
              <a:tr h="770967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Inverted Right Triangle Star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Pattern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750131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Stateme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spc="-285" dirty="0" smtClean="0">
                          <a:latin typeface="Arial MT"/>
                          <a:cs typeface="Arial MT"/>
                        </a:rPr>
                        <a:t>W</a:t>
                      </a:r>
                      <a:r>
                        <a:rPr sz="1800" dirty="0" smtClean="0">
                          <a:latin typeface="Arial MT"/>
                          <a:cs typeface="Arial MT"/>
                        </a:rPr>
                        <a:t>rite</a:t>
                      </a:r>
                      <a:r>
                        <a:rPr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program to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print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an inverted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right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triangle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pattern of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stars.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50131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 single integer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50131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Output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Print the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inverted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triangle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pattern.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50131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2248308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R="39370"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R="3937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76200" marR="3937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Output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* 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95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995565"/>
              </p:ext>
            </p:extLst>
          </p:nvPr>
        </p:nvGraphicFramePr>
        <p:xfrm>
          <a:off x="669234" y="381000"/>
          <a:ext cx="8246165" cy="6172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716"/>
                <a:gridCol w="6950449"/>
              </a:tblGrid>
              <a:tr h="729854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Half Pyramid</a:t>
                      </a:r>
                      <a:r>
                        <a:rPr sz="1800" spc="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of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Numbers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710128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Stateme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spc="5" dirty="0" smtClean="0">
                          <a:latin typeface="Arial MT"/>
                          <a:cs typeface="Arial MT"/>
                        </a:rPr>
                        <a:t>Write</a:t>
                      </a:r>
                      <a:r>
                        <a:rPr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 program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to print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 half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pyramid pattern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using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numbers.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10128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 single integer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10128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Output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Print a number pyramid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pattern.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10128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11500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lang="en-US" sz="1800" spc="-10" dirty="0" smtClean="0">
                          <a:latin typeface="Arial MT"/>
                          <a:cs typeface="Arial MT"/>
                        </a:rPr>
                        <a:t>Output</a:t>
                      </a:r>
                      <a:endParaRPr lang="en-US"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55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F4F4F4"/>
                    </a:solidFill>
                  </a:tcPr>
                </a:tc>
              </a:tr>
              <a:tr h="473419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473419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47341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57007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45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5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418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32194"/>
              </p:ext>
            </p:extLst>
          </p:nvPr>
        </p:nvGraphicFramePr>
        <p:xfrm>
          <a:off x="457200" y="295910"/>
          <a:ext cx="8229600" cy="62162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4026"/>
                <a:gridCol w="6745574"/>
              </a:tblGrid>
              <a:tr h="791625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5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Inverted Number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Pyramid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770229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Stateme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WAP</a:t>
                      </a:r>
                      <a:r>
                        <a:rPr lang="en-US" sz="1800" baseline="0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 smtClean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print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an inverted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pyramid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pattern.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70229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 single integer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70229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Output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Print the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inverted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number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pyramid.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70229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63253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55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F4F4F4"/>
                    </a:solidFill>
                  </a:tcPr>
                </a:tc>
              </a:tr>
              <a:tr h="513486">
                <a:tc>
                  <a:txBody>
                    <a:bodyPr/>
                    <a:lstStyle/>
                    <a:p>
                      <a:pPr marL="0" marR="3937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lang="en-US" sz="1800" spc="-10" dirty="0" smtClean="0">
                          <a:latin typeface="Arial MT"/>
                          <a:cs typeface="Arial MT"/>
                        </a:rPr>
                        <a:t>Output</a:t>
                      </a:r>
                      <a:endParaRPr lang="en-US" sz="1800" dirty="0" smtClean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513486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618323">
                <a:tc>
                  <a:txBody>
                    <a:bodyPr/>
                    <a:lstStyle/>
                    <a:p>
                      <a:pPr marL="76200" marR="39370">
                        <a:lnSpc>
                          <a:spcPts val="1145"/>
                        </a:lnSpc>
                      </a:pP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45"/>
                        </a:lnSpc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32194"/>
              </p:ext>
            </p:extLst>
          </p:nvPr>
        </p:nvGraphicFramePr>
        <p:xfrm>
          <a:off x="457200" y="304800"/>
          <a:ext cx="8229600" cy="62162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4026"/>
                <a:gridCol w="6745574"/>
              </a:tblGrid>
              <a:tr h="791625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5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Inverted Number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Pyramid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770229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Stateme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WAP</a:t>
                      </a:r>
                      <a:r>
                        <a:rPr lang="en-US" sz="1800" baseline="0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 smtClean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print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an inverted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number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pyramid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pattern.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70229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 single integer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70229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Output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Print the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inverted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number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pyramid.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70229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63253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55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F4F4F4"/>
                    </a:solidFill>
                  </a:tcPr>
                </a:tc>
              </a:tr>
              <a:tr h="513486">
                <a:tc>
                  <a:txBody>
                    <a:bodyPr/>
                    <a:lstStyle/>
                    <a:p>
                      <a:pPr marL="0" marR="3937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lang="en-US" sz="1800" spc="-10" dirty="0" smtClean="0">
                          <a:latin typeface="Arial MT"/>
                          <a:cs typeface="Arial MT"/>
                        </a:rPr>
                        <a:t>Output</a:t>
                      </a:r>
                      <a:endParaRPr lang="en-US" sz="1800" dirty="0" smtClean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513486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618323">
                <a:tc>
                  <a:txBody>
                    <a:bodyPr/>
                    <a:lstStyle/>
                    <a:p>
                      <a:pPr marL="76200" marR="39370">
                        <a:lnSpc>
                          <a:spcPts val="1145"/>
                        </a:lnSpc>
                      </a:pP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45"/>
                        </a:lnSpc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86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611369"/>
              </p:ext>
            </p:extLst>
          </p:nvPr>
        </p:nvGraphicFramePr>
        <p:xfrm>
          <a:off x="457200" y="304800"/>
          <a:ext cx="8229600" cy="62162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4026"/>
                <a:gridCol w="6745574"/>
              </a:tblGrid>
              <a:tr h="791625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lang="en-US" sz="1800" spc="-5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lang="en-US" sz="180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Floyd’s Triangle </a:t>
                      </a:r>
                      <a:r>
                        <a:rPr lang="en-US" sz="1800" spc="-1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Pattern</a:t>
                      </a:r>
                      <a:endParaRPr lang="en-US" sz="18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770229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Stateme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WAP</a:t>
                      </a:r>
                      <a:r>
                        <a:rPr lang="en-US" sz="1800" baseline="0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to</a:t>
                      </a:r>
                      <a:r>
                        <a:rPr lang="en-US"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print Floyd’s</a:t>
                      </a:r>
                      <a:r>
                        <a:rPr lang="en-US"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triangle using</a:t>
                      </a:r>
                      <a:r>
                        <a:rPr lang="en-US"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consecutive </a:t>
                      </a:r>
                      <a:r>
                        <a:rPr lang="en-US" sz="1800" spc="-10" dirty="0" smtClean="0">
                          <a:latin typeface="Arial MT"/>
                          <a:cs typeface="Arial MT"/>
                        </a:rPr>
                        <a:t>numbers.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70229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 single integer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70229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Output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Print the</a:t>
                      </a:r>
                      <a:r>
                        <a:rPr lang="en-US"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triangle</a:t>
                      </a:r>
                      <a:r>
                        <a:rPr lang="en-US"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1800" spc="-10" dirty="0" smtClean="0">
                          <a:latin typeface="Arial MT"/>
                          <a:cs typeface="Arial MT"/>
                        </a:rPr>
                        <a:t>pattern.</a:t>
                      </a:r>
                      <a:endParaRPr lang="en-US"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70229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63253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55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F4F4F4"/>
                    </a:solidFill>
                  </a:tcPr>
                </a:tc>
              </a:tr>
              <a:tr h="513486">
                <a:tc>
                  <a:txBody>
                    <a:bodyPr/>
                    <a:lstStyle/>
                    <a:p>
                      <a:pPr marL="0" marR="3937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lang="en-US" sz="1800" spc="-10" dirty="0" smtClean="0">
                          <a:latin typeface="Arial MT"/>
                          <a:cs typeface="Arial MT"/>
                        </a:rPr>
                        <a:t>Output</a:t>
                      </a:r>
                      <a:endParaRPr lang="en-US" sz="1800" dirty="0" smtClean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00"/>
                        </a:lnSpc>
                      </a:pPr>
                      <a:r>
                        <a:rPr lang="en-US" sz="1800" spc="0" dirty="0" smtClean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1800" spc="0" dirty="0" smtClean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5" dirty="0" smtClean="0">
                          <a:latin typeface="Arial MT"/>
                          <a:cs typeface="Arial MT"/>
                        </a:rPr>
                        <a:t> 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513486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00"/>
                        </a:lnSpc>
                      </a:pPr>
                      <a:r>
                        <a:rPr lang="en-US" sz="1800" spc="0" dirty="0" smtClean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1800" spc="-50" dirty="0" smtClean="0">
                          <a:latin typeface="Arial MT"/>
                          <a:cs typeface="Arial MT"/>
                        </a:rPr>
                        <a:t>5 6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618323">
                <a:tc>
                  <a:txBody>
                    <a:bodyPr/>
                    <a:lstStyle/>
                    <a:p>
                      <a:pPr marL="76200" marR="39370">
                        <a:lnSpc>
                          <a:spcPts val="1145"/>
                        </a:lnSpc>
                      </a:pP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45"/>
                        </a:lnSpc>
                      </a:pPr>
                      <a:r>
                        <a:rPr lang="en-US" sz="1800" spc="-50" dirty="0" smtClean="0">
                          <a:latin typeface="Arial MT"/>
                          <a:cs typeface="Arial MT"/>
                        </a:rPr>
                        <a:t>7</a:t>
                      </a:r>
                      <a:r>
                        <a:rPr lang="en-US" sz="1800" spc="-50" baseline="0" dirty="0" smtClean="0">
                          <a:latin typeface="Arial MT"/>
                          <a:cs typeface="Arial MT"/>
                        </a:rPr>
                        <a:t> 8 9 10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366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382694"/>
              </p:ext>
            </p:extLst>
          </p:nvPr>
        </p:nvGraphicFramePr>
        <p:xfrm>
          <a:off x="304800" y="448310"/>
          <a:ext cx="8458200" cy="6028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5249"/>
                <a:gridCol w="6932951"/>
              </a:tblGrid>
              <a:tr h="842059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6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Square Star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Pattern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19301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Stateme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Write a </a:t>
                      </a:r>
                      <a:r>
                        <a:rPr sz="1800" dirty="0" smtClean="0">
                          <a:latin typeface="Arial MT"/>
                          <a:cs typeface="Arial MT"/>
                        </a:rPr>
                        <a:t>program</a:t>
                      </a:r>
                      <a:r>
                        <a:rPr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print a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square of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stars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using nested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loops.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819301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 single integer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819301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Output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Print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an N × N square of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stars.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819301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1909427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93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6200" marR="3937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Output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02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126074"/>
              </p:ext>
            </p:extLst>
          </p:nvPr>
        </p:nvGraphicFramePr>
        <p:xfrm>
          <a:off x="304800" y="381000"/>
          <a:ext cx="8534400" cy="6095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8990"/>
                <a:gridCol w="6995410"/>
              </a:tblGrid>
              <a:tr h="780457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Hollow Square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Pattern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759363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Stateme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Write</a:t>
                      </a:r>
                      <a:r>
                        <a:rPr lang="en-US" sz="1800" baseline="0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 smtClean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program to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print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 hollow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square pattern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stars.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59363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 single integer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59363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Output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Print the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hollow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square.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59363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2278090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R="39370"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R="3937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76200" marR="3937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Output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* 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</a:t>
                      </a:r>
                      <a:r>
                        <a:rPr sz="1800" spc="135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</a:t>
                      </a:r>
                      <a:r>
                        <a:rPr sz="1800" spc="135" dirty="0">
                          <a:latin typeface="Arial MT"/>
                          <a:cs typeface="Arial MT"/>
                        </a:rPr>
                        <a:t> 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* 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9410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002417"/>
              </p:ext>
            </p:extLst>
          </p:nvPr>
        </p:nvGraphicFramePr>
        <p:xfrm>
          <a:off x="457200" y="533400"/>
          <a:ext cx="8229600" cy="5714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4026"/>
                <a:gridCol w="6745574"/>
              </a:tblGrid>
              <a:tr h="731678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Pyramid Star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Pattern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711903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Stateme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Write</a:t>
                      </a:r>
                      <a:r>
                        <a:rPr lang="en-US" sz="1800" baseline="0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 smtClean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program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to print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pyramid pattern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stars.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11903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 single integer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11903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Output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Print the pyramid with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N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rows.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11903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2135709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937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937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6200" marR="3937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Output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R="4586605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R="4537075" algn="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</a:t>
                      </a:r>
                      <a:r>
                        <a:rPr sz="1800" spc="-50" dirty="0" smtClean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R="4487545" algn="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R="4438015" algn="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* 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32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789011"/>
              </p:ext>
            </p:extLst>
          </p:nvPr>
        </p:nvGraphicFramePr>
        <p:xfrm>
          <a:off x="457200" y="533400"/>
          <a:ext cx="8229600" cy="5714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4026"/>
                <a:gridCol w="6745574"/>
              </a:tblGrid>
              <a:tr h="731678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lang="en-US" sz="1800" spc="-5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9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lang="en-US" sz="180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Diamond Star </a:t>
                      </a:r>
                      <a:r>
                        <a:rPr lang="en-US" sz="1800" spc="-1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Pattern</a:t>
                      </a:r>
                      <a:endParaRPr lang="en-US" sz="18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711903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Stateme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Write</a:t>
                      </a:r>
                      <a:r>
                        <a:rPr lang="en-US" sz="1800" baseline="0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a program</a:t>
                      </a:r>
                      <a:r>
                        <a:rPr lang="en-US"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to</a:t>
                      </a:r>
                      <a:r>
                        <a:rPr lang="en-US"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print a</a:t>
                      </a:r>
                      <a:r>
                        <a:rPr lang="en-US"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diamond pattern</a:t>
                      </a:r>
                      <a:r>
                        <a:rPr lang="en-US"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of</a:t>
                      </a:r>
                      <a:r>
                        <a:rPr lang="en-US"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stars using</a:t>
                      </a:r>
                      <a:r>
                        <a:rPr lang="en-US"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1800" spc="-10" dirty="0" smtClean="0">
                          <a:latin typeface="Arial MT"/>
                          <a:cs typeface="Arial MT"/>
                        </a:rPr>
                        <a:t>loops.</a:t>
                      </a:r>
                      <a:endParaRPr lang="en-US"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11903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 single integer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11903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Output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Print the</a:t>
                      </a:r>
                      <a:r>
                        <a:rPr lang="en-US"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diamond</a:t>
                      </a:r>
                      <a:r>
                        <a:rPr lang="en-US"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1800" spc="-10" dirty="0" smtClean="0">
                          <a:latin typeface="Arial MT"/>
                          <a:cs typeface="Arial MT"/>
                        </a:rPr>
                        <a:t>pattern.</a:t>
                      </a:r>
                      <a:endParaRPr lang="en-US"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11903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spc="-50" dirty="0" smtClean="0">
                          <a:latin typeface="Arial MT"/>
                          <a:cs typeface="Arial MT"/>
                        </a:rPr>
                        <a:t>3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2135709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R="39370"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R="3937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76200" marR="3937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Output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en-US" sz="1800" spc="-50" dirty="0" smtClean="0">
                          <a:latin typeface="Arial MT"/>
                          <a:cs typeface="Arial MT"/>
                        </a:rPr>
                        <a:t>*</a:t>
                      </a:r>
                      <a:endParaRPr lang="en-US" sz="1800" dirty="0" smtClean="0">
                        <a:latin typeface="Arial MT"/>
                        <a:cs typeface="Arial MT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* </a:t>
                      </a:r>
                      <a:r>
                        <a:rPr lang="en-US" sz="1800" spc="-50" dirty="0" smtClean="0">
                          <a:latin typeface="Arial MT"/>
                          <a:cs typeface="Arial MT"/>
                        </a:rPr>
                        <a:t>*</a:t>
                      </a:r>
                      <a:endParaRPr lang="en-US" sz="1800" dirty="0" smtClean="0">
                        <a:latin typeface="Arial MT"/>
                        <a:cs typeface="Arial MT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* * </a:t>
                      </a:r>
                      <a:r>
                        <a:rPr lang="en-US" sz="1800" spc="-50" dirty="0" smtClean="0">
                          <a:latin typeface="Arial MT"/>
                          <a:cs typeface="Arial MT"/>
                        </a:rPr>
                        <a:t>*</a:t>
                      </a:r>
                      <a:endParaRPr lang="en-US" sz="1800" dirty="0" smtClean="0">
                        <a:latin typeface="Arial MT"/>
                        <a:cs typeface="Arial MT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* </a:t>
                      </a:r>
                      <a:r>
                        <a:rPr lang="en-US" sz="1800" spc="-50" dirty="0" smtClean="0">
                          <a:latin typeface="Arial MT"/>
                          <a:cs typeface="Arial MT"/>
                        </a:rPr>
                        <a:t>*</a:t>
                      </a:r>
                      <a:endParaRPr lang="en-US" sz="1800" dirty="0" smtClean="0">
                        <a:latin typeface="Arial MT"/>
                        <a:cs typeface="Arial MT"/>
                      </a:endParaRPr>
                    </a:p>
                    <a:p>
                      <a:pPr marL="143510">
                        <a:lnSpc>
                          <a:spcPct val="100000"/>
                        </a:lnSpc>
                      </a:pPr>
                      <a:r>
                        <a:rPr lang="en-US" sz="1800" spc="-50" dirty="0" smtClean="0">
                          <a:latin typeface="Arial MT"/>
                          <a:cs typeface="Arial MT"/>
                        </a:rPr>
                        <a:t>*</a:t>
                      </a:r>
                      <a:endParaRPr lang="en-US"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498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52605"/>
              </p:ext>
            </p:extLst>
          </p:nvPr>
        </p:nvGraphicFramePr>
        <p:xfrm>
          <a:off x="457200" y="381000"/>
          <a:ext cx="8229600" cy="60363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4026"/>
                <a:gridCol w="6745574"/>
              </a:tblGrid>
              <a:tr h="702823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Pascal’s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Triangle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683827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Stateme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Write</a:t>
                      </a:r>
                      <a:r>
                        <a:rPr lang="en-US" sz="1800" baseline="0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 smtClean="0">
                          <a:latin typeface="Arial MT"/>
                          <a:cs typeface="Arial MT"/>
                        </a:rPr>
                        <a:t>a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program to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print Pascal’s triangle up to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N rows using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loops.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83827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 single integer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83827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Output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Print Pascal’s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triangle.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83827">
                <a:tc>
                  <a:txBody>
                    <a:bodyPr/>
                    <a:lstStyle/>
                    <a:p>
                      <a:pPr marL="76200" marR="393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588851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55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F4F4F4"/>
                    </a:solidFill>
                  </a:tcPr>
                </a:tc>
              </a:tr>
              <a:tr h="455885">
                <a:tc>
                  <a:txBody>
                    <a:bodyPr/>
                    <a:lstStyle/>
                    <a:p>
                      <a:pPr marL="0" marR="3937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lang="en-US" sz="1800" spc="-10" dirty="0" smtClean="0">
                          <a:latin typeface="Arial MT"/>
                          <a:cs typeface="Arial MT"/>
                        </a:rPr>
                        <a:t>Output</a:t>
                      </a:r>
                      <a:endParaRPr lang="en-US" sz="1800" dirty="0" smtClean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455885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455885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548961">
                <a:tc>
                  <a:txBody>
                    <a:bodyPr/>
                    <a:lstStyle/>
                    <a:p>
                      <a:pPr marL="76200" marR="39370">
                        <a:lnSpc>
                          <a:spcPts val="1145"/>
                        </a:lnSpc>
                      </a:pP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45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42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546</Words>
  <Application>Microsoft Office PowerPoint</Application>
  <PresentationFormat>On-screen Show (4:3)</PresentationFormat>
  <Paragraphs>184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MT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Nidhi Shalya</cp:lastModifiedBy>
  <cp:revision>27</cp:revision>
  <dcterms:created xsi:type="dcterms:W3CDTF">2025-10-14T08:24:07Z</dcterms:created>
  <dcterms:modified xsi:type="dcterms:W3CDTF">2025-11-04T08:21:17Z</dcterms:modified>
</cp:coreProperties>
</file>