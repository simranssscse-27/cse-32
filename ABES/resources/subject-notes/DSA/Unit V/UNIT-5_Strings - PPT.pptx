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25" r:id="rId3"/>
    <p:sldId id="326" r:id="rId4"/>
    <p:sldId id="327" r:id="rId5"/>
    <p:sldId id="328" r:id="rId6"/>
    <p:sldId id="329" r:id="rId7"/>
    <p:sldId id="362" r:id="rId8"/>
    <p:sldId id="363" r:id="rId9"/>
    <p:sldId id="331" r:id="rId10"/>
    <p:sldId id="364" r:id="rId11"/>
    <p:sldId id="332" r:id="rId12"/>
    <p:sldId id="334" r:id="rId13"/>
    <p:sldId id="365" r:id="rId14"/>
    <p:sldId id="366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82" r:id="rId27"/>
    <p:sldId id="379" r:id="rId28"/>
    <p:sldId id="380" r:id="rId29"/>
    <p:sldId id="381" r:id="rId30"/>
    <p:sldId id="383" r:id="rId31"/>
    <p:sldId id="384" r:id="rId32"/>
    <p:sldId id="361" r:id="rId3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242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5134" cy="6858000"/>
          </a:xfrm>
          <a:custGeom>
            <a:avLst/>
            <a:gdLst/>
            <a:ahLst/>
            <a:cxnLst/>
            <a:rect l="l" t="t" r="r" b="b"/>
            <a:pathLst>
              <a:path w="445134" h="6858000">
                <a:moveTo>
                  <a:pt x="0" y="6858000"/>
                </a:moveTo>
                <a:lnTo>
                  <a:pt x="445007" y="6858000"/>
                </a:lnTo>
                <a:lnTo>
                  <a:pt x="44500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3919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048" y="6858000"/>
                </a:lnTo>
                <a:lnTo>
                  <a:pt x="304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4880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0" y="6858000"/>
                </a:moveTo>
                <a:lnTo>
                  <a:pt x="45719" y="6858000"/>
                </a:lnTo>
                <a:lnTo>
                  <a:pt x="4571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7368" y="0"/>
            <a:ext cx="104139" cy="6858000"/>
          </a:xfrm>
          <a:custGeom>
            <a:avLst/>
            <a:gdLst/>
            <a:ahLst/>
            <a:cxnLst/>
            <a:rect l="l" t="t" r="r" b="b"/>
            <a:pathLst>
              <a:path w="104139" h="6858000">
                <a:moveTo>
                  <a:pt x="103632" y="0"/>
                </a:moveTo>
                <a:lnTo>
                  <a:pt x="0" y="0"/>
                </a:lnTo>
                <a:lnTo>
                  <a:pt x="0" y="6858000"/>
                </a:lnTo>
                <a:lnTo>
                  <a:pt x="103632" y="6858000"/>
                </a:lnTo>
                <a:lnTo>
                  <a:pt x="103632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39952" y="0"/>
            <a:ext cx="231775" cy="6858000"/>
          </a:xfrm>
          <a:custGeom>
            <a:avLst/>
            <a:gdLst/>
            <a:ahLst/>
            <a:cxnLst/>
            <a:rect l="l" t="t" r="r" b="b"/>
            <a:pathLst>
              <a:path w="231775" h="6858000">
                <a:moveTo>
                  <a:pt x="231647" y="0"/>
                </a:moveTo>
                <a:lnTo>
                  <a:pt x="0" y="0"/>
                </a:lnTo>
                <a:lnTo>
                  <a:pt x="0" y="6858000"/>
                </a:lnTo>
                <a:lnTo>
                  <a:pt x="231647" y="6858000"/>
                </a:lnTo>
                <a:lnTo>
                  <a:pt x="231647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204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912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86968" y="1523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0" y="6857999"/>
                </a:moveTo>
                <a:lnTo>
                  <a:pt x="57912" y="6857999"/>
                </a:lnTo>
                <a:lnTo>
                  <a:pt x="57912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F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26008" y="1523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0" y="6857999"/>
                </a:moveTo>
                <a:lnTo>
                  <a:pt x="57912" y="6857999"/>
                </a:lnTo>
                <a:lnTo>
                  <a:pt x="57912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26692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7432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68324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86088" y="1523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20" h="6858000">
                <a:moveTo>
                  <a:pt x="11557" y="0"/>
                </a:moveTo>
                <a:lnTo>
                  <a:pt x="0" y="0"/>
                </a:lnTo>
                <a:lnTo>
                  <a:pt x="0" y="6857987"/>
                </a:lnTo>
                <a:lnTo>
                  <a:pt x="11557" y="6857987"/>
                </a:lnTo>
                <a:lnTo>
                  <a:pt x="11557" y="0"/>
                </a:lnTo>
                <a:close/>
              </a:path>
              <a:path w="58420" h="6858000">
                <a:moveTo>
                  <a:pt x="57912" y="0"/>
                </a:moveTo>
                <a:lnTo>
                  <a:pt x="23114" y="0"/>
                </a:lnTo>
                <a:lnTo>
                  <a:pt x="23114" y="6857987"/>
                </a:lnTo>
                <a:lnTo>
                  <a:pt x="57912" y="6857987"/>
                </a:lnTo>
                <a:lnTo>
                  <a:pt x="57912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9600" y="3429000"/>
            <a:ext cx="1341120" cy="2078989"/>
          </a:xfrm>
          <a:custGeom>
            <a:avLst/>
            <a:gdLst/>
            <a:ahLst/>
            <a:cxnLst/>
            <a:rect l="l" t="t" r="r" b="b"/>
            <a:pathLst>
              <a:path w="1341120" h="2078989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120" h="2078989">
                <a:moveTo>
                  <a:pt x="1341120" y="1758696"/>
                </a:moveTo>
                <a:lnTo>
                  <a:pt x="1337640" y="1711401"/>
                </a:lnTo>
                <a:lnTo>
                  <a:pt x="1327569" y="1666265"/>
                </a:lnTo>
                <a:lnTo>
                  <a:pt x="1311376" y="1623771"/>
                </a:lnTo>
                <a:lnTo>
                  <a:pt x="1289558" y="1584426"/>
                </a:lnTo>
                <a:lnTo>
                  <a:pt x="1262621" y="1548714"/>
                </a:lnTo>
                <a:lnTo>
                  <a:pt x="1231061" y="1517154"/>
                </a:lnTo>
                <a:lnTo>
                  <a:pt x="1195349" y="1490218"/>
                </a:lnTo>
                <a:lnTo>
                  <a:pt x="1156004" y="1468399"/>
                </a:lnTo>
                <a:lnTo>
                  <a:pt x="1113510" y="1452206"/>
                </a:lnTo>
                <a:lnTo>
                  <a:pt x="1068374" y="1442135"/>
                </a:lnTo>
                <a:lnTo>
                  <a:pt x="1021080" y="1438656"/>
                </a:lnTo>
                <a:lnTo>
                  <a:pt x="973772" y="1442135"/>
                </a:lnTo>
                <a:lnTo>
                  <a:pt x="928636" y="1452206"/>
                </a:lnTo>
                <a:lnTo>
                  <a:pt x="886142" y="1468399"/>
                </a:lnTo>
                <a:lnTo>
                  <a:pt x="846797" y="1490218"/>
                </a:lnTo>
                <a:lnTo>
                  <a:pt x="811085" y="1517154"/>
                </a:lnTo>
                <a:lnTo>
                  <a:pt x="779526" y="1548714"/>
                </a:lnTo>
                <a:lnTo>
                  <a:pt x="752589" y="1584426"/>
                </a:lnTo>
                <a:lnTo>
                  <a:pt x="730770" y="1623771"/>
                </a:lnTo>
                <a:lnTo>
                  <a:pt x="714578" y="1666265"/>
                </a:lnTo>
                <a:lnTo>
                  <a:pt x="704507" y="1711401"/>
                </a:lnTo>
                <a:lnTo>
                  <a:pt x="701040" y="1758696"/>
                </a:lnTo>
                <a:lnTo>
                  <a:pt x="704507" y="1806003"/>
                </a:lnTo>
                <a:lnTo>
                  <a:pt x="714578" y="1851139"/>
                </a:lnTo>
                <a:lnTo>
                  <a:pt x="730770" y="1893633"/>
                </a:lnTo>
                <a:lnTo>
                  <a:pt x="752589" y="1932978"/>
                </a:lnTo>
                <a:lnTo>
                  <a:pt x="779526" y="1968690"/>
                </a:lnTo>
                <a:lnTo>
                  <a:pt x="811085" y="2000250"/>
                </a:lnTo>
                <a:lnTo>
                  <a:pt x="846797" y="2027186"/>
                </a:lnTo>
                <a:lnTo>
                  <a:pt x="886142" y="2049005"/>
                </a:lnTo>
                <a:lnTo>
                  <a:pt x="928636" y="2065197"/>
                </a:lnTo>
                <a:lnTo>
                  <a:pt x="973772" y="2075268"/>
                </a:lnTo>
                <a:lnTo>
                  <a:pt x="1021080" y="2078736"/>
                </a:lnTo>
                <a:lnTo>
                  <a:pt x="1068374" y="2075268"/>
                </a:lnTo>
                <a:lnTo>
                  <a:pt x="1113510" y="2065197"/>
                </a:lnTo>
                <a:lnTo>
                  <a:pt x="1156004" y="2049005"/>
                </a:lnTo>
                <a:lnTo>
                  <a:pt x="1195349" y="2027186"/>
                </a:lnTo>
                <a:lnTo>
                  <a:pt x="1231061" y="2000250"/>
                </a:lnTo>
                <a:lnTo>
                  <a:pt x="1262621" y="1968690"/>
                </a:lnTo>
                <a:lnTo>
                  <a:pt x="1289558" y="1932978"/>
                </a:lnTo>
                <a:lnTo>
                  <a:pt x="1311376" y="1893633"/>
                </a:lnTo>
                <a:lnTo>
                  <a:pt x="1327569" y="1851139"/>
                </a:lnTo>
                <a:lnTo>
                  <a:pt x="1337640" y="1806003"/>
                </a:lnTo>
                <a:lnTo>
                  <a:pt x="1341120" y="1758696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183" y="5501640"/>
            <a:ext cx="137159" cy="137159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4195" y="4495800"/>
            <a:ext cx="607060" cy="1567180"/>
          </a:xfrm>
          <a:custGeom>
            <a:avLst/>
            <a:gdLst/>
            <a:ahLst/>
            <a:cxnLst/>
            <a:rect l="l" t="t" r="r" b="b"/>
            <a:pathLst>
              <a:path w="607060" h="1567179">
                <a:moveTo>
                  <a:pt x="274332" y="1429512"/>
                </a:moveTo>
                <a:lnTo>
                  <a:pt x="267322" y="1386166"/>
                </a:lnTo>
                <a:lnTo>
                  <a:pt x="247840" y="1348511"/>
                </a:lnTo>
                <a:lnTo>
                  <a:pt x="218147" y="1318818"/>
                </a:lnTo>
                <a:lnTo>
                  <a:pt x="180492" y="1299349"/>
                </a:lnTo>
                <a:lnTo>
                  <a:pt x="137172" y="1292352"/>
                </a:lnTo>
                <a:lnTo>
                  <a:pt x="93840" y="1299349"/>
                </a:lnTo>
                <a:lnTo>
                  <a:pt x="56184" y="1318818"/>
                </a:lnTo>
                <a:lnTo>
                  <a:pt x="26492" y="1348511"/>
                </a:lnTo>
                <a:lnTo>
                  <a:pt x="7010" y="1386166"/>
                </a:lnTo>
                <a:lnTo>
                  <a:pt x="0" y="1429512"/>
                </a:lnTo>
                <a:lnTo>
                  <a:pt x="7010" y="1472869"/>
                </a:lnTo>
                <a:lnTo>
                  <a:pt x="26492" y="1510525"/>
                </a:lnTo>
                <a:lnTo>
                  <a:pt x="56184" y="1540217"/>
                </a:lnTo>
                <a:lnTo>
                  <a:pt x="93840" y="1559687"/>
                </a:lnTo>
                <a:lnTo>
                  <a:pt x="137172" y="1566672"/>
                </a:lnTo>
                <a:lnTo>
                  <a:pt x="180492" y="1559687"/>
                </a:lnTo>
                <a:lnTo>
                  <a:pt x="218147" y="1540217"/>
                </a:lnTo>
                <a:lnTo>
                  <a:pt x="247840" y="1510525"/>
                </a:lnTo>
                <a:lnTo>
                  <a:pt x="267322" y="1472869"/>
                </a:lnTo>
                <a:lnTo>
                  <a:pt x="274332" y="1429512"/>
                </a:lnTo>
                <a:close/>
              </a:path>
              <a:path w="607060" h="1567179">
                <a:moveTo>
                  <a:pt x="606564" y="182880"/>
                </a:moveTo>
                <a:lnTo>
                  <a:pt x="600024" y="134277"/>
                </a:lnTo>
                <a:lnTo>
                  <a:pt x="581583" y="90601"/>
                </a:lnTo>
                <a:lnTo>
                  <a:pt x="552983" y="53581"/>
                </a:lnTo>
                <a:lnTo>
                  <a:pt x="515962" y="24980"/>
                </a:lnTo>
                <a:lnTo>
                  <a:pt x="472287" y="6540"/>
                </a:lnTo>
                <a:lnTo>
                  <a:pt x="423684" y="0"/>
                </a:lnTo>
                <a:lnTo>
                  <a:pt x="375069" y="6540"/>
                </a:lnTo>
                <a:lnTo>
                  <a:pt x="331393" y="24980"/>
                </a:lnTo>
                <a:lnTo>
                  <a:pt x="294373" y="53581"/>
                </a:lnTo>
                <a:lnTo>
                  <a:pt x="265772" y="90601"/>
                </a:lnTo>
                <a:lnTo>
                  <a:pt x="247332" y="134277"/>
                </a:lnTo>
                <a:lnTo>
                  <a:pt x="240804" y="182880"/>
                </a:lnTo>
                <a:lnTo>
                  <a:pt x="247332" y="231495"/>
                </a:lnTo>
                <a:lnTo>
                  <a:pt x="265772" y="275170"/>
                </a:lnTo>
                <a:lnTo>
                  <a:pt x="294373" y="312191"/>
                </a:lnTo>
                <a:lnTo>
                  <a:pt x="331393" y="340791"/>
                </a:lnTo>
                <a:lnTo>
                  <a:pt x="375069" y="359232"/>
                </a:lnTo>
                <a:lnTo>
                  <a:pt x="423684" y="365760"/>
                </a:lnTo>
                <a:lnTo>
                  <a:pt x="472287" y="359232"/>
                </a:lnTo>
                <a:lnTo>
                  <a:pt x="515962" y="340791"/>
                </a:lnTo>
                <a:lnTo>
                  <a:pt x="552983" y="312191"/>
                </a:lnTo>
                <a:lnTo>
                  <a:pt x="581583" y="275170"/>
                </a:lnTo>
                <a:lnTo>
                  <a:pt x="600024" y="231495"/>
                </a:lnTo>
                <a:lnTo>
                  <a:pt x="606564" y="18288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74516" y="1472260"/>
            <a:ext cx="2950845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4523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9624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8768" y="1523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11582" y="0"/>
                </a:moveTo>
                <a:lnTo>
                  <a:pt x="0" y="0"/>
                </a:lnTo>
                <a:lnTo>
                  <a:pt x="0" y="6857987"/>
                </a:lnTo>
                <a:lnTo>
                  <a:pt x="11582" y="6857987"/>
                </a:lnTo>
                <a:lnTo>
                  <a:pt x="11582" y="0"/>
                </a:lnTo>
                <a:close/>
              </a:path>
              <a:path w="58419" h="6858000">
                <a:moveTo>
                  <a:pt x="57912" y="0"/>
                </a:moveTo>
                <a:lnTo>
                  <a:pt x="23164" y="0"/>
                </a:lnTo>
                <a:lnTo>
                  <a:pt x="23164" y="6857987"/>
                </a:lnTo>
                <a:lnTo>
                  <a:pt x="57912" y="6857987"/>
                </a:lnTo>
                <a:lnTo>
                  <a:pt x="57912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6923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4523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9624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8768" y="1523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11582" y="0"/>
                </a:moveTo>
                <a:lnTo>
                  <a:pt x="0" y="0"/>
                </a:lnTo>
                <a:lnTo>
                  <a:pt x="0" y="6857987"/>
                </a:lnTo>
                <a:lnTo>
                  <a:pt x="11582" y="6857987"/>
                </a:lnTo>
                <a:lnTo>
                  <a:pt x="11582" y="0"/>
                </a:lnTo>
                <a:close/>
              </a:path>
              <a:path w="58419" h="6858000">
                <a:moveTo>
                  <a:pt x="57912" y="0"/>
                </a:moveTo>
                <a:lnTo>
                  <a:pt x="23164" y="0"/>
                </a:lnTo>
                <a:lnTo>
                  <a:pt x="23164" y="6857987"/>
                </a:lnTo>
                <a:lnTo>
                  <a:pt x="57912" y="6857987"/>
                </a:lnTo>
                <a:lnTo>
                  <a:pt x="57912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6923" y="1523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144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044" y="237490"/>
            <a:ext cx="822391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350" y="1390650"/>
            <a:ext cx="7404100" cy="3013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505" dirty="0"/>
              <a:t>UNIT</a:t>
            </a:r>
            <a:r>
              <a:rPr sz="4400" spc="300" dirty="0"/>
              <a:t> </a:t>
            </a:r>
            <a:r>
              <a:rPr sz="4400" dirty="0"/>
              <a:t>–</a:t>
            </a:r>
            <a:r>
              <a:rPr sz="4400" spc="305" dirty="0"/>
              <a:t> </a:t>
            </a:r>
            <a:r>
              <a:rPr lang="en-US" sz="4400" spc="365" dirty="0"/>
              <a:t>V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128520" y="5525820"/>
            <a:ext cx="549275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125" dirty="0">
                <a:latin typeface="Cambria"/>
                <a:cs typeface="Cambria"/>
              </a:rPr>
              <a:t>Department</a:t>
            </a:r>
            <a:r>
              <a:rPr sz="2800" spc="10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Computer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Science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9996" y="3124200"/>
            <a:ext cx="1299361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cap="small" spc="345" dirty="0"/>
              <a:t>Strings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460044" y="1017854"/>
            <a:ext cx="8001634" cy="54027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7020" marR="5080" indent="-274320" algn="just">
              <a:spcBef>
                <a:spcPts val="11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lang="en-US" sz="2800" spc="120" dirty="0" smtClean="0">
                <a:latin typeface="Cambria"/>
                <a:cs typeface="Cambria"/>
              </a:rPr>
              <a:t>String is a collection of characters. C++ provides two types of String representations:</a:t>
            </a:r>
          </a:p>
          <a:p>
            <a:pPr marL="469900" marR="5080" indent="-6350" algn="just">
              <a:spcBef>
                <a:spcPts val="110"/>
              </a:spcBef>
              <a:buClr>
                <a:srgbClr val="FD8537"/>
              </a:buClr>
              <a:buSzPct val="69642"/>
              <a:buFont typeface="Wingdings" panose="05000000000000000000" pitchFamily="2" charset="2"/>
              <a:buChar char="§"/>
              <a:tabLst>
                <a:tab pos="287020" algn="l"/>
              </a:tabLst>
            </a:pPr>
            <a:r>
              <a:rPr lang="en-US" sz="2800" spc="120" dirty="0" smtClean="0">
                <a:latin typeface="Cambria"/>
                <a:cs typeface="Cambria"/>
              </a:rPr>
              <a:t>   The C-style String (</a:t>
            </a:r>
            <a:r>
              <a:rPr lang="en-US" sz="2800" spc="120" dirty="0">
                <a:latin typeface="Cambria"/>
                <a:cs typeface="Cambria"/>
              </a:rPr>
              <a:t>C</a:t>
            </a:r>
            <a:r>
              <a:rPr lang="en-US" sz="2800" spc="120" dirty="0" smtClean="0">
                <a:latin typeface="Cambria"/>
                <a:cs typeface="Cambria"/>
              </a:rPr>
              <a:t>haracter Array)</a:t>
            </a:r>
          </a:p>
          <a:p>
            <a:pPr marL="862013" marR="5080" indent="-398463" algn="just">
              <a:spcBef>
                <a:spcPts val="110"/>
              </a:spcBef>
              <a:buClr>
                <a:srgbClr val="FD8537"/>
              </a:buClr>
              <a:buSzPct val="69642"/>
              <a:buFont typeface="Wingdings" panose="05000000000000000000" pitchFamily="2" charset="2"/>
              <a:buChar char="§"/>
              <a:tabLst>
                <a:tab pos="287020" algn="l"/>
              </a:tabLst>
            </a:pPr>
            <a:r>
              <a:rPr lang="en-US" sz="2800" spc="120" dirty="0" smtClean="0">
                <a:latin typeface="Cambria"/>
                <a:cs typeface="Cambria"/>
              </a:rPr>
              <a:t>Strings that are objects of string class</a:t>
            </a:r>
          </a:p>
          <a:p>
            <a:pPr marL="463550" marR="5080" algn="just">
              <a:spcBef>
                <a:spcPts val="110"/>
              </a:spcBef>
              <a:buClr>
                <a:srgbClr val="FD8537"/>
              </a:buClr>
              <a:buSzPct val="69642"/>
              <a:tabLst>
                <a:tab pos="287020" algn="l"/>
              </a:tabLst>
            </a:pPr>
            <a:endParaRPr lang="en-US" sz="2800" spc="120" dirty="0" smtClean="0">
              <a:latin typeface="Cambria"/>
              <a:cs typeface="Cambria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  <a:buClr>
                <a:srgbClr val="FD8537"/>
              </a:buClr>
              <a:buSzPct val="69642"/>
              <a:tabLst>
                <a:tab pos="287020" algn="l"/>
              </a:tabLst>
            </a:pPr>
            <a:r>
              <a:rPr lang="en-US" sz="2800" b="1" spc="120" dirty="0" smtClean="0">
                <a:latin typeface="Cambria"/>
                <a:cs typeface="Cambria"/>
              </a:rPr>
              <a:t>The C-Style String (Character Array)</a:t>
            </a:r>
            <a:endParaRPr lang="en-US" sz="2800" spc="120" dirty="0" smtClean="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11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20" dirty="0" smtClean="0">
                <a:latin typeface="Cambria"/>
                <a:cs typeface="Cambria"/>
              </a:rPr>
              <a:t>The</a:t>
            </a:r>
            <a:r>
              <a:rPr sz="2800" spc="545" dirty="0" smtClean="0">
                <a:latin typeface="Cambria"/>
                <a:cs typeface="Cambria"/>
              </a:rPr>
              <a:t>  </a:t>
            </a:r>
            <a:r>
              <a:rPr sz="2800" spc="100" dirty="0" smtClean="0">
                <a:latin typeface="Cambria"/>
                <a:cs typeface="Cambria"/>
              </a:rPr>
              <a:t>string</a:t>
            </a:r>
            <a:r>
              <a:rPr sz="2800" spc="535" dirty="0" smtClean="0">
                <a:latin typeface="Cambria"/>
                <a:cs typeface="Cambria"/>
              </a:rPr>
              <a:t>  </a:t>
            </a:r>
            <a:r>
              <a:rPr sz="2800" spc="110" dirty="0" smtClean="0">
                <a:latin typeface="Cambria"/>
                <a:cs typeface="Cambria"/>
              </a:rPr>
              <a:t>can</a:t>
            </a:r>
            <a:r>
              <a:rPr sz="2800" spc="525" dirty="0" smtClean="0">
                <a:latin typeface="Cambria"/>
                <a:cs typeface="Cambria"/>
              </a:rPr>
              <a:t>  </a:t>
            </a:r>
            <a:r>
              <a:rPr sz="2800" dirty="0" smtClean="0">
                <a:latin typeface="Cambria"/>
                <a:cs typeface="Cambria"/>
              </a:rPr>
              <a:t>be</a:t>
            </a:r>
            <a:r>
              <a:rPr sz="2800" spc="545" dirty="0" smtClean="0">
                <a:latin typeface="Cambria"/>
                <a:cs typeface="Cambria"/>
              </a:rPr>
              <a:t>  </a:t>
            </a:r>
            <a:r>
              <a:rPr sz="2800" spc="65" dirty="0" smtClean="0">
                <a:latin typeface="Cambria"/>
                <a:cs typeface="Cambria"/>
              </a:rPr>
              <a:t>defined</a:t>
            </a:r>
            <a:r>
              <a:rPr sz="2800" spc="545" dirty="0" smtClean="0">
                <a:latin typeface="Cambria"/>
                <a:cs typeface="Cambria"/>
              </a:rPr>
              <a:t>  </a:t>
            </a:r>
            <a:r>
              <a:rPr sz="2800" spc="135" dirty="0" smtClean="0">
                <a:latin typeface="Cambria"/>
                <a:cs typeface="Cambria"/>
              </a:rPr>
              <a:t>as</a:t>
            </a:r>
            <a:r>
              <a:rPr sz="2800" spc="525" dirty="0" smtClean="0">
                <a:latin typeface="Cambria"/>
                <a:cs typeface="Cambria"/>
              </a:rPr>
              <a:t>  </a:t>
            </a:r>
            <a:r>
              <a:rPr sz="2800" spc="105" dirty="0" smtClean="0">
                <a:latin typeface="Cambria"/>
                <a:cs typeface="Cambria"/>
              </a:rPr>
              <a:t>the</a:t>
            </a:r>
            <a:r>
              <a:rPr sz="2800" spc="550" dirty="0" smtClean="0">
                <a:latin typeface="Cambria"/>
                <a:cs typeface="Cambria"/>
              </a:rPr>
              <a:t>  </a:t>
            </a:r>
            <a:r>
              <a:rPr sz="2800" dirty="0" smtClean="0">
                <a:latin typeface="Cambria"/>
                <a:cs typeface="Cambria"/>
              </a:rPr>
              <a:t>one</a:t>
            </a:r>
            <a:r>
              <a:rPr sz="2800" spc="545" dirty="0" smtClean="0">
                <a:latin typeface="Cambria"/>
                <a:cs typeface="Cambria"/>
              </a:rPr>
              <a:t>  </a:t>
            </a:r>
            <a:r>
              <a:rPr sz="2800" spc="-50" dirty="0" smtClean="0">
                <a:latin typeface="Cambria"/>
                <a:cs typeface="Cambria"/>
              </a:rPr>
              <a:t>- </a:t>
            </a:r>
            <a:r>
              <a:rPr sz="2800" spc="95" dirty="0" smtClean="0">
                <a:latin typeface="Cambria"/>
                <a:cs typeface="Cambria"/>
              </a:rPr>
              <a:t>dimensional</a:t>
            </a:r>
            <a:r>
              <a:rPr sz="2800" spc="235" dirty="0" smtClean="0">
                <a:latin typeface="Cambria"/>
                <a:cs typeface="Cambria"/>
              </a:rPr>
              <a:t> </a:t>
            </a:r>
            <a:r>
              <a:rPr sz="2800" spc="120" dirty="0" smtClean="0">
                <a:latin typeface="Cambria"/>
                <a:cs typeface="Cambria"/>
              </a:rPr>
              <a:t>array</a:t>
            </a:r>
            <a:r>
              <a:rPr sz="2800" spc="204" dirty="0" smtClean="0">
                <a:latin typeface="Cambria"/>
                <a:cs typeface="Cambria"/>
              </a:rPr>
              <a:t> </a:t>
            </a:r>
            <a:r>
              <a:rPr sz="2800" dirty="0" smtClean="0">
                <a:latin typeface="Cambria"/>
                <a:cs typeface="Cambria"/>
              </a:rPr>
              <a:t>of</a:t>
            </a:r>
            <a:r>
              <a:rPr sz="2800" spc="225" dirty="0" smtClean="0">
                <a:latin typeface="Cambria"/>
                <a:cs typeface="Cambria"/>
              </a:rPr>
              <a:t> </a:t>
            </a:r>
            <a:r>
              <a:rPr sz="2800" spc="90" dirty="0" smtClean="0">
                <a:latin typeface="Cambria"/>
                <a:cs typeface="Cambria"/>
              </a:rPr>
              <a:t>characters</a:t>
            </a:r>
            <a:r>
              <a:rPr sz="2800" spc="215" dirty="0" smtClean="0">
                <a:latin typeface="Cambria"/>
                <a:cs typeface="Cambria"/>
              </a:rPr>
              <a:t> </a:t>
            </a:r>
            <a:r>
              <a:rPr sz="2800" spc="105" dirty="0" smtClean="0">
                <a:latin typeface="Cambria"/>
                <a:cs typeface="Cambria"/>
              </a:rPr>
              <a:t>terminated</a:t>
            </a:r>
            <a:r>
              <a:rPr sz="2800" spc="235" dirty="0" smtClean="0">
                <a:latin typeface="Cambria"/>
                <a:cs typeface="Cambria"/>
              </a:rPr>
              <a:t> </a:t>
            </a:r>
            <a:r>
              <a:rPr sz="2800" spc="-25" dirty="0" smtClean="0">
                <a:latin typeface="Cambria"/>
                <a:cs typeface="Cambria"/>
              </a:rPr>
              <a:t>by </a:t>
            </a:r>
            <a:r>
              <a:rPr sz="2800" spc="190" dirty="0" smtClean="0">
                <a:latin typeface="Cambria"/>
                <a:cs typeface="Cambria"/>
              </a:rPr>
              <a:t>a</a:t>
            </a:r>
            <a:r>
              <a:rPr sz="2800" spc="150" dirty="0" smtClean="0">
                <a:latin typeface="Cambria"/>
                <a:cs typeface="Cambria"/>
              </a:rPr>
              <a:t> </a:t>
            </a:r>
            <a:r>
              <a:rPr sz="2800" spc="125" dirty="0" smtClean="0">
                <a:latin typeface="Cambria"/>
                <a:cs typeface="Cambria"/>
              </a:rPr>
              <a:t>null</a:t>
            </a:r>
            <a:r>
              <a:rPr sz="2800" spc="190" dirty="0" smtClean="0">
                <a:latin typeface="Cambria"/>
                <a:cs typeface="Cambria"/>
              </a:rPr>
              <a:t> </a:t>
            </a:r>
            <a:r>
              <a:rPr sz="2800" spc="-10" dirty="0" smtClean="0">
                <a:latin typeface="Cambria"/>
                <a:cs typeface="Cambria"/>
              </a:rPr>
              <a:t>('\0').</a:t>
            </a:r>
            <a:endParaRPr sz="2800" dirty="0" smtClean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b="1" spc="180" dirty="0" smtClean="0">
                <a:latin typeface="Cambria"/>
                <a:cs typeface="Cambria"/>
              </a:rPr>
              <a:t>Declaration</a:t>
            </a:r>
            <a:r>
              <a:rPr sz="2800" b="1" spc="204" dirty="0" smtClean="0">
                <a:latin typeface="Cambria"/>
                <a:cs typeface="Cambria"/>
              </a:rPr>
              <a:t> </a:t>
            </a:r>
            <a:r>
              <a:rPr sz="2800" b="1" spc="135" dirty="0">
                <a:latin typeface="Cambria"/>
                <a:cs typeface="Cambria"/>
              </a:rPr>
              <a:t>of</a:t>
            </a:r>
            <a:r>
              <a:rPr sz="2800" b="1" spc="190" dirty="0">
                <a:latin typeface="Cambria"/>
                <a:cs typeface="Cambria"/>
              </a:rPr>
              <a:t> </a:t>
            </a:r>
            <a:r>
              <a:rPr sz="2800" b="1" spc="145" dirty="0">
                <a:latin typeface="Cambria"/>
                <a:cs typeface="Cambria"/>
              </a:rPr>
              <a:t>string:</a:t>
            </a:r>
            <a:endParaRPr sz="28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spc="160" dirty="0">
                <a:latin typeface="Cambria"/>
                <a:cs typeface="Cambria"/>
              </a:rPr>
              <a:t>Syntax: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char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stringname[size];</a:t>
            </a:r>
            <a:endParaRPr sz="28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spc="245" dirty="0">
                <a:latin typeface="Cambria"/>
                <a:cs typeface="Cambria"/>
              </a:rPr>
              <a:t>Ex.</a:t>
            </a:r>
            <a:r>
              <a:rPr sz="2800" spc="14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char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s[20];</a:t>
            </a:r>
            <a:endParaRPr sz="28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0044" y="942616"/>
            <a:ext cx="8001634" cy="49053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b="1" spc="229" dirty="0">
                <a:latin typeface="Cambria"/>
                <a:cs typeface="Cambria"/>
              </a:rPr>
              <a:t>String</a:t>
            </a:r>
            <a:r>
              <a:rPr sz="2800" b="1" spc="145" dirty="0">
                <a:latin typeface="Cambria"/>
                <a:cs typeface="Cambria"/>
              </a:rPr>
              <a:t> </a:t>
            </a:r>
            <a:r>
              <a:rPr sz="2800" b="1" spc="150" dirty="0">
                <a:latin typeface="Cambria"/>
                <a:cs typeface="Cambria"/>
              </a:rPr>
              <a:t>Initialization:</a:t>
            </a:r>
            <a:endParaRPr sz="28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spc="210" dirty="0">
                <a:latin typeface="Cambria"/>
                <a:cs typeface="Cambria"/>
              </a:rPr>
              <a:t>Char</a:t>
            </a:r>
            <a:r>
              <a:rPr sz="2800" spc="56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s[6]={‘h’,’e’,’l’,’l’,’o’,’\0’};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spc="210" dirty="0">
                <a:latin typeface="Cambria"/>
                <a:cs typeface="Cambria"/>
              </a:rPr>
              <a:t>Char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40" dirty="0">
                <a:latin typeface="Cambria"/>
                <a:cs typeface="Cambria"/>
              </a:rPr>
              <a:t>s[]=”hello”;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7020" marR="11430" indent="-274320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  <a:tab pos="1393190" algn="l"/>
                <a:tab pos="3076575" algn="l"/>
                <a:tab pos="5482590" algn="l"/>
                <a:tab pos="6988175" algn="l"/>
                <a:tab pos="7324090" algn="l"/>
              </a:tabLst>
            </a:pPr>
            <a:r>
              <a:rPr sz="2800" b="1" spc="145" dirty="0">
                <a:latin typeface="Cambria"/>
                <a:cs typeface="Cambria"/>
              </a:rPr>
              <a:t>Note:</a:t>
            </a:r>
            <a:r>
              <a:rPr sz="2800" b="1" dirty="0">
                <a:latin typeface="Cambria"/>
                <a:cs typeface="Cambria"/>
              </a:rPr>
              <a:t>	</a:t>
            </a:r>
            <a:r>
              <a:rPr sz="2800" spc="50" dirty="0">
                <a:latin typeface="Cambria"/>
                <a:cs typeface="Cambria"/>
              </a:rPr>
              <a:t>computer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100" dirty="0">
                <a:latin typeface="Cambria"/>
                <a:cs typeface="Cambria"/>
              </a:rPr>
              <a:t>automatically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65" dirty="0">
                <a:latin typeface="Cambria"/>
                <a:cs typeface="Cambria"/>
              </a:rPr>
              <a:t>appends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140" dirty="0">
                <a:latin typeface="Cambria"/>
                <a:cs typeface="Cambria"/>
              </a:rPr>
              <a:t>a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100" dirty="0">
                <a:latin typeface="Cambria"/>
                <a:cs typeface="Cambria"/>
              </a:rPr>
              <a:t>null </a:t>
            </a:r>
            <a:r>
              <a:rPr sz="2800" spc="50" dirty="0">
                <a:latin typeface="Cambria"/>
                <a:cs typeface="Cambria"/>
              </a:rPr>
              <a:t>character(‘\0’)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155" dirty="0">
                <a:latin typeface="Cambria"/>
                <a:cs typeface="Cambria"/>
              </a:rPr>
              <a:t>at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end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string.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7020" marR="5080" indent="-274320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  <a:tab pos="1079500" algn="l"/>
                <a:tab pos="1866264" algn="l"/>
                <a:tab pos="2323465" algn="l"/>
                <a:tab pos="3463925" algn="l"/>
                <a:tab pos="4719955" algn="l"/>
                <a:tab pos="5253990" algn="l"/>
                <a:tab pos="5805170" algn="l"/>
                <a:tab pos="6263005" algn="l"/>
              </a:tabLst>
            </a:pPr>
            <a:r>
              <a:rPr sz="2800" spc="9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50" dirty="0">
                <a:latin typeface="Cambria"/>
                <a:cs typeface="Cambria"/>
              </a:rPr>
              <a:t>size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25" dirty="0">
                <a:latin typeface="Cambria"/>
                <a:cs typeface="Cambria"/>
              </a:rPr>
              <a:t>of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90" dirty="0">
                <a:latin typeface="Cambria"/>
                <a:cs typeface="Cambria"/>
              </a:rPr>
              <a:t>string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65" dirty="0">
                <a:latin typeface="Cambria"/>
                <a:cs typeface="Cambria"/>
              </a:rPr>
              <a:t>should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25" dirty="0">
                <a:latin typeface="Cambria"/>
                <a:cs typeface="Cambria"/>
              </a:rPr>
              <a:t>be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25" dirty="0">
                <a:latin typeface="Cambria"/>
                <a:cs typeface="Cambria"/>
              </a:rPr>
              <a:t>no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-25" dirty="0">
                <a:latin typeface="Cambria"/>
                <a:cs typeface="Cambria"/>
              </a:rPr>
              <a:t>of</a:t>
            </a:r>
            <a:r>
              <a:rPr sz="2800" dirty="0">
                <a:latin typeface="Cambria"/>
                <a:cs typeface="Cambria"/>
              </a:rPr>
              <a:t>	</a:t>
            </a:r>
            <a:r>
              <a:rPr sz="2800" spc="75" dirty="0">
                <a:latin typeface="Cambria"/>
                <a:cs typeface="Cambria"/>
              </a:rPr>
              <a:t>characters </a:t>
            </a:r>
            <a:r>
              <a:rPr sz="2800" spc="95" dirty="0">
                <a:latin typeface="Cambria"/>
                <a:cs typeface="Cambria"/>
              </a:rPr>
              <a:t>plus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1.</a:t>
            </a:r>
            <a:endParaRPr sz="28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0044" y="1017854"/>
            <a:ext cx="8001000" cy="571823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6385" indent="-273685" algn="just">
              <a:lnSpc>
                <a:spcPct val="100000"/>
              </a:lnSpc>
              <a:spcBef>
                <a:spcPts val="11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spc="100" dirty="0">
                <a:latin typeface="Cambria"/>
                <a:cs typeface="Cambria"/>
              </a:rPr>
              <a:t>char</a:t>
            </a:r>
            <a:r>
              <a:rPr sz="2800" spc="400" dirty="0">
                <a:latin typeface="Cambria"/>
                <a:cs typeface="Cambria"/>
              </a:rPr>
              <a:t>  </a:t>
            </a:r>
            <a:r>
              <a:rPr sz="2800" spc="-10" dirty="0">
                <a:latin typeface="Cambria"/>
                <a:cs typeface="Cambria"/>
              </a:rPr>
              <a:t>name[6]={‘r’,’a’,’h’,’u’,’l’,’\0’};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6385" indent="-273685" algn="just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spc="105" dirty="0">
                <a:latin typeface="Cambria"/>
                <a:cs typeface="Cambria"/>
              </a:rPr>
              <a:t>char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name[]=“rahul”;</a:t>
            </a:r>
            <a:endParaRPr sz="2800" dirty="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40" dirty="0">
                <a:latin typeface="Cambria"/>
                <a:cs typeface="Cambria"/>
              </a:rPr>
              <a:t>Here</a:t>
            </a:r>
            <a:r>
              <a:rPr sz="2800" spc="52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55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string</a:t>
            </a:r>
            <a:r>
              <a:rPr sz="2800" spc="54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“rahul”</a:t>
            </a:r>
            <a:r>
              <a:rPr sz="2800" spc="57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contains</a:t>
            </a:r>
            <a:r>
              <a:rPr sz="2800" spc="56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5</a:t>
            </a:r>
            <a:r>
              <a:rPr sz="2800" spc="535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characters </a:t>
            </a:r>
            <a:r>
              <a:rPr sz="2800" dirty="0">
                <a:latin typeface="Cambria"/>
                <a:cs typeface="Cambria"/>
              </a:rPr>
              <a:t>so</a:t>
            </a:r>
            <a:r>
              <a:rPr sz="2800" spc="500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compiler</a:t>
            </a:r>
            <a:r>
              <a:rPr sz="2800" spc="45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automatically</a:t>
            </a:r>
            <a:r>
              <a:rPr sz="2800" spc="48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allocates</a:t>
            </a:r>
            <a:r>
              <a:rPr sz="2800" spc="4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6</a:t>
            </a:r>
            <a:r>
              <a:rPr sz="2800" spc="484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memory </a:t>
            </a:r>
            <a:r>
              <a:rPr sz="2800" spc="65" dirty="0">
                <a:latin typeface="Cambria"/>
                <a:cs typeface="Cambria"/>
              </a:rPr>
              <a:t>locations</a:t>
            </a:r>
            <a:r>
              <a:rPr sz="2800" spc="11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(1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extra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for</a:t>
            </a:r>
            <a:r>
              <a:rPr sz="2800" spc="135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storing</a:t>
            </a:r>
            <a:r>
              <a:rPr sz="2800" spc="130" dirty="0">
                <a:latin typeface="Cambria"/>
                <a:cs typeface="Cambria"/>
              </a:rPr>
              <a:t> </a:t>
            </a:r>
            <a:r>
              <a:rPr sz="2800" spc="385" dirty="0">
                <a:latin typeface="Cambria"/>
                <a:cs typeface="Cambria"/>
              </a:rPr>
              <a:t>NULL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character).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b="1" spc="220" dirty="0">
                <a:latin typeface="Cambria"/>
                <a:cs typeface="Cambria"/>
              </a:rPr>
              <a:t>Print</a:t>
            </a:r>
            <a:r>
              <a:rPr sz="2800" b="1" spc="165" dirty="0">
                <a:latin typeface="Cambria"/>
                <a:cs typeface="Cambria"/>
              </a:rPr>
              <a:t> </a:t>
            </a:r>
            <a:r>
              <a:rPr sz="2800" b="1" spc="220" dirty="0">
                <a:latin typeface="Cambria"/>
                <a:cs typeface="Cambria"/>
              </a:rPr>
              <a:t>String</a:t>
            </a:r>
            <a:endParaRPr sz="28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640"/>
              </a:spcBef>
            </a:pPr>
            <a:r>
              <a:rPr sz="2500" dirty="0">
                <a:latin typeface="Cambria"/>
                <a:cs typeface="Cambria"/>
              </a:rPr>
              <a:t>for(i=0;</a:t>
            </a:r>
            <a:r>
              <a:rPr sz="2500" spc="240" dirty="0">
                <a:latin typeface="Cambria"/>
                <a:cs typeface="Cambria"/>
              </a:rPr>
              <a:t> </a:t>
            </a:r>
            <a:r>
              <a:rPr sz="2500" spc="60" dirty="0">
                <a:latin typeface="Cambria"/>
                <a:cs typeface="Cambria"/>
              </a:rPr>
              <a:t>name[i]</a:t>
            </a:r>
            <a:r>
              <a:rPr sz="2500" spc="254" dirty="0">
                <a:latin typeface="Cambria"/>
                <a:cs typeface="Cambria"/>
              </a:rPr>
              <a:t> </a:t>
            </a:r>
            <a:r>
              <a:rPr sz="2500" spc="75" dirty="0">
                <a:latin typeface="Cambria"/>
                <a:cs typeface="Cambria"/>
              </a:rPr>
              <a:t>!=</a:t>
            </a:r>
            <a:r>
              <a:rPr sz="2500" spc="24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‘\0’;</a:t>
            </a:r>
            <a:r>
              <a:rPr sz="2500" spc="270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i++)</a:t>
            </a:r>
            <a:endParaRPr sz="25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2500" spc="-50" dirty="0">
                <a:latin typeface="Cambria"/>
                <a:cs typeface="Cambria"/>
              </a:rPr>
              <a:t>{</a:t>
            </a:r>
            <a:endParaRPr sz="2500" dirty="0">
              <a:latin typeface="Cambria"/>
              <a:cs typeface="Cambria"/>
            </a:endParaRPr>
          </a:p>
          <a:p>
            <a:pPr marL="554990">
              <a:lnSpc>
                <a:spcPct val="100000"/>
              </a:lnSpc>
              <a:spcBef>
                <a:spcPts val="600"/>
              </a:spcBef>
            </a:pPr>
            <a:r>
              <a:rPr lang="en-US" sz="2500" spc="-10" dirty="0" smtClean="0">
                <a:latin typeface="Cambria"/>
                <a:cs typeface="Cambria"/>
              </a:rPr>
              <a:t>	</a:t>
            </a:r>
            <a:r>
              <a:rPr lang="en-US" sz="2500" spc="-10" dirty="0" err="1" smtClean="0">
                <a:latin typeface="Cambria"/>
                <a:cs typeface="Cambria"/>
              </a:rPr>
              <a:t>cout</a:t>
            </a:r>
            <a:r>
              <a:rPr lang="en-US" sz="2500" spc="-10" dirty="0" smtClean="0">
                <a:latin typeface="Cambria"/>
                <a:cs typeface="Cambria"/>
              </a:rPr>
              <a:t> &lt;&lt; </a:t>
            </a:r>
            <a:r>
              <a:rPr sz="2500" spc="-10" dirty="0" smtClean="0">
                <a:latin typeface="Cambria"/>
                <a:cs typeface="Cambria"/>
              </a:rPr>
              <a:t>name[</a:t>
            </a:r>
            <a:r>
              <a:rPr sz="2500" spc="-10" dirty="0" err="1" smtClean="0">
                <a:latin typeface="Cambria"/>
                <a:cs typeface="Cambria"/>
              </a:rPr>
              <a:t>i</a:t>
            </a:r>
            <a:r>
              <a:rPr sz="2500" spc="-10" dirty="0" smtClean="0">
                <a:latin typeface="Cambria"/>
                <a:cs typeface="Cambria"/>
              </a:rPr>
              <a:t>];</a:t>
            </a:r>
            <a:endParaRPr sz="2500" dirty="0">
              <a:latin typeface="Cambria"/>
              <a:cs typeface="Cambria"/>
            </a:endParaRPr>
          </a:p>
          <a:p>
            <a:pPr marL="378460">
              <a:lnSpc>
                <a:spcPct val="100000"/>
              </a:lnSpc>
              <a:spcBef>
                <a:spcPts val="605"/>
              </a:spcBef>
            </a:pPr>
            <a:r>
              <a:rPr sz="2500" spc="-50" dirty="0">
                <a:latin typeface="Cambria"/>
                <a:cs typeface="Cambria"/>
              </a:rPr>
              <a:t>}</a:t>
            </a:r>
            <a:endParaRPr sz="25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0044" y="972134"/>
            <a:ext cx="8155305" cy="3660616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87020" marR="10160" indent="-274320" algn="just">
              <a:lnSpc>
                <a:spcPts val="3030"/>
              </a:lnSpc>
              <a:spcBef>
                <a:spcPts val="484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b="1" spc="220" dirty="0">
                <a:latin typeface="Cambria"/>
                <a:cs typeface="Cambria"/>
              </a:rPr>
              <a:t>Reading</a:t>
            </a:r>
            <a:r>
              <a:rPr sz="2800" b="1" spc="465" dirty="0">
                <a:latin typeface="Cambria"/>
                <a:cs typeface="Cambria"/>
              </a:rPr>
              <a:t>   </a:t>
            </a:r>
            <a:r>
              <a:rPr sz="2800" b="1" spc="310" dirty="0">
                <a:latin typeface="Cambria"/>
                <a:cs typeface="Cambria"/>
              </a:rPr>
              <a:t>&amp;</a:t>
            </a:r>
            <a:r>
              <a:rPr sz="2800" b="1" spc="465" dirty="0">
                <a:latin typeface="Cambria"/>
                <a:cs typeface="Cambria"/>
              </a:rPr>
              <a:t>   </a:t>
            </a:r>
            <a:r>
              <a:rPr sz="2800" b="1" spc="160" dirty="0">
                <a:latin typeface="Cambria"/>
                <a:cs typeface="Cambria"/>
              </a:rPr>
              <a:t>Writing</a:t>
            </a:r>
            <a:r>
              <a:rPr sz="2800" b="1" spc="465" dirty="0">
                <a:latin typeface="Cambria"/>
                <a:cs typeface="Cambria"/>
              </a:rPr>
              <a:t>   </a:t>
            </a:r>
            <a:r>
              <a:rPr sz="2800" b="1" spc="114" dirty="0">
                <a:latin typeface="Cambria"/>
                <a:cs typeface="Cambria"/>
              </a:rPr>
              <a:t>of</a:t>
            </a:r>
            <a:r>
              <a:rPr sz="2800" b="1" spc="470" dirty="0">
                <a:latin typeface="Cambria"/>
                <a:cs typeface="Cambria"/>
              </a:rPr>
              <a:t>   </a:t>
            </a:r>
            <a:r>
              <a:rPr sz="2800" b="1" spc="225" dirty="0">
                <a:latin typeface="Cambria"/>
                <a:cs typeface="Cambria"/>
              </a:rPr>
              <a:t>String</a:t>
            </a:r>
            <a:r>
              <a:rPr sz="2800" b="1" spc="465" dirty="0">
                <a:latin typeface="Cambria"/>
                <a:cs typeface="Cambria"/>
              </a:rPr>
              <a:t>   </a:t>
            </a:r>
            <a:r>
              <a:rPr sz="2800" b="1" spc="180" dirty="0">
                <a:latin typeface="Cambria"/>
                <a:cs typeface="Cambria"/>
              </a:rPr>
              <a:t>using </a:t>
            </a:r>
            <a:r>
              <a:rPr sz="2800" b="1" spc="220" dirty="0">
                <a:latin typeface="Cambria"/>
                <a:cs typeface="Cambria"/>
              </a:rPr>
              <a:t>Character</a:t>
            </a:r>
            <a:r>
              <a:rPr sz="2800" b="1" spc="175" dirty="0">
                <a:latin typeface="Cambria"/>
                <a:cs typeface="Cambria"/>
              </a:rPr>
              <a:t> </a:t>
            </a:r>
            <a:r>
              <a:rPr sz="2800" b="1" spc="200" dirty="0">
                <a:latin typeface="Cambria"/>
                <a:cs typeface="Cambria"/>
              </a:rPr>
              <a:t>Array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</a:pPr>
            <a:endParaRPr sz="28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spc="105" dirty="0">
                <a:latin typeface="Cambria"/>
                <a:cs typeface="Cambria"/>
              </a:rPr>
              <a:t>char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40" dirty="0">
                <a:latin typeface="Cambria"/>
                <a:cs typeface="Cambria"/>
              </a:rPr>
              <a:t>name[12];</a:t>
            </a:r>
            <a:endParaRPr sz="28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27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lang="en-US" sz="2800" spc="50" dirty="0" err="1" smtClean="0">
                <a:latin typeface="Cambria"/>
                <a:cs typeface="Cambria"/>
              </a:rPr>
              <a:t>cin</a:t>
            </a:r>
            <a:r>
              <a:rPr lang="en-US" sz="2800" spc="50" dirty="0" smtClean="0">
                <a:latin typeface="Cambria"/>
                <a:cs typeface="Cambria"/>
              </a:rPr>
              <a:t> &gt;&gt;</a:t>
            </a:r>
            <a:r>
              <a:rPr sz="2800" spc="155" dirty="0" smtClean="0">
                <a:latin typeface="Cambria"/>
                <a:cs typeface="Cambria"/>
              </a:rPr>
              <a:t> </a:t>
            </a:r>
            <a:r>
              <a:rPr sz="2800" spc="60" dirty="0" smtClean="0">
                <a:latin typeface="Cambria"/>
                <a:cs typeface="Cambria"/>
              </a:rPr>
              <a:t>name;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0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lang="en-US" sz="2800" spc="50" dirty="0" err="1">
                <a:latin typeface="Cambria"/>
                <a:cs typeface="Cambria"/>
              </a:rPr>
              <a:t>c</a:t>
            </a:r>
            <a:r>
              <a:rPr lang="en-US" sz="2800" spc="50" dirty="0" err="1" smtClean="0">
                <a:latin typeface="Cambria"/>
                <a:cs typeface="Cambria"/>
              </a:rPr>
              <a:t>out</a:t>
            </a:r>
            <a:r>
              <a:rPr lang="en-US" sz="2800" spc="50" dirty="0" smtClean="0">
                <a:latin typeface="Cambria"/>
                <a:cs typeface="Cambria"/>
              </a:rPr>
              <a:t> &lt;&lt;</a:t>
            </a:r>
            <a:r>
              <a:rPr sz="2800" spc="175" dirty="0" smtClean="0">
                <a:latin typeface="Cambria"/>
                <a:cs typeface="Cambria"/>
              </a:rPr>
              <a:t> </a:t>
            </a:r>
            <a:r>
              <a:rPr sz="2800" spc="60" dirty="0" smtClean="0">
                <a:latin typeface="Cambria"/>
                <a:cs typeface="Cambria"/>
              </a:rPr>
              <a:t>name;</a:t>
            </a:r>
            <a:endParaRPr sz="28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717999"/>
              </p:ext>
            </p:extLst>
          </p:nvPr>
        </p:nvGraphicFramePr>
        <p:xfrm>
          <a:off x="838200" y="3352800"/>
          <a:ext cx="6092182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630"/>
                <a:gridCol w="468630"/>
                <a:gridCol w="468629"/>
                <a:gridCol w="468630"/>
                <a:gridCol w="468630"/>
                <a:gridCol w="550544"/>
                <a:gridCol w="386715"/>
                <a:gridCol w="468629"/>
                <a:gridCol w="468629"/>
                <a:gridCol w="468629"/>
                <a:gridCol w="468629"/>
                <a:gridCol w="468629"/>
                <a:gridCol w="468629"/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b="1" spc="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</a:t>
                      </a:r>
                      <a:endParaRPr sz="2000" dirty="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b="1" spc="8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b="1" spc="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h</a:t>
                      </a:r>
                      <a:endParaRPr sz="2000" dirty="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b="1" spc="10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b="1" spc="3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b="1" spc="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\0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0044" y="944111"/>
            <a:ext cx="8149590" cy="5003933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 () 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char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greeting[6] = {'H', 'e', 'l', 'l', 'o', '\0'}; 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“Welcome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message: "; 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Hello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0; 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229" dirty="0">
                <a:latin typeface="Cambria"/>
                <a:cs typeface="Cambria"/>
              </a:rPr>
              <a:t>OUTPUT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Welcome message: Hello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0044" y="944111"/>
            <a:ext cx="8149590" cy="4670508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[100];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a string: ";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"You entered: " &lt;&lt;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“\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nEnter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another string: ";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"You entered: " &lt;&lt;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97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0033" y="1447800"/>
            <a:ext cx="8149590" cy="3836947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spc="229" dirty="0" smtClean="0">
                <a:latin typeface="Cambria"/>
                <a:cs typeface="Cambria"/>
              </a:rPr>
              <a:t>OUTPUT</a:t>
            </a: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Enter a string: C++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You entered: C++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spc="13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Enter another string: Programming is fun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You entered: Programming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spc="13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spc="130" dirty="0" smtClean="0">
              <a:latin typeface="Cambria"/>
              <a:cs typeface="Cambria"/>
            </a:endParaRPr>
          </a:p>
          <a:p>
            <a:pPr marL="12700" algn="just">
              <a:spcBef>
                <a:spcPts val="120"/>
              </a:spcBef>
            </a:pPr>
            <a:r>
              <a:rPr lang="en-US" sz="2000" b="1" spc="105" dirty="0" smtClean="0">
                <a:latin typeface="Cambria"/>
                <a:cs typeface="Cambria"/>
              </a:rPr>
              <a:t>Note:</a:t>
            </a:r>
            <a:r>
              <a:rPr lang="en-US" sz="2000" b="1" spc="355" dirty="0" smtClean="0">
                <a:latin typeface="Cambria"/>
                <a:cs typeface="Cambria"/>
              </a:rPr>
              <a:t>  </a:t>
            </a:r>
            <a:r>
              <a:rPr lang="en-US" sz="2000" spc="80" dirty="0" smtClean="0">
                <a:latin typeface="Cambria"/>
                <a:cs typeface="Cambria"/>
              </a:rPr>
              <a:t>In the second example, only “Programming” is displayed instead of “Programming is fun”. This is because the extraction operator </a:t>
            </a:r>
            <a:r>
              <a:rPr lang="en-US" sz="2000" spc="8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spc="80" dirty="0" smtClean="0">
                <a:latin typeface="Cambria"/>
                <a:cs typeface="Cambria"/>
              </a:rPr>
              <a:t> considers a space </a:t>
            </a:r>
            <a:r>
              <a:rPr lang="en-US" sz="2000" spc="8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 ”</a:t>
            </a:r>
            <a:r>
              <a:rPr lang="en-US" sz="2000" spc="80" dirty="0" smtClean="0">
                <a:latin typeface="Cambria"/>
                <a:cs typeface="Cambria"/>
              </a:rPr>
              <a:t> as a terminating character.</a:t>
            </a:r>
            <a:endParaRPr lang="en-US" sz="2000" spc="13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spc="13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61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60044" y="929736"/>
            <a:ext cx="7921956" cy="5232843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/>
              <a:t>C++ program to read and display an entire line entered by the user</a:t>
            </a:r>
            <a:r>
              <a:rPr lang="en-US" sz="2000" b="1" dirty="0" smtClean="0"/>
              <a:t>.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86385" indent="-273685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[100];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a string: ";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cin.getline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100);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"You entered: " &lt;&lt;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0033" y="1447800"/>
            <a:ext cx="8149590" cy="4144723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spc="229" dirty="0" smtClean="0">
                <a:latin typeface="Cambria"/>
                <a:cs typeface="Cambria"/>
              </a:rPr>
              <a:t>OUTPUT</a:t>
            </a: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Enter another string: Programming is fun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You entered: Programming is fun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spc="130" dirty="0" smtClean="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2000" spc="130" dirty="0" smtClean="0">
                <a:latin typeface="Cambria"/>
                <a:cs typeface="Cambria"/>
              </a:rPr>
              <a:t>To read the text containing the blank space, </a:t>
            </a:r>
            <a:r>
              <a:rPr lang="en-US" sz="2000" spc="13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cin.getline</a:t>
            </a:r>
            <a:r>
              <a:rPr lang="en-US" sz="2000" spc="130" dirty="0" smtClean="0">
                <a:latin typeface="Cambria"/>
                <a:cs typeface="Cambria"/>
              </a:rPr>
              <a:t> function can be used. This function takes two arguments.</a:t>
            </a:r>
          </a:p>
          <a:p>
            <a:pPr marL="355600" indent="-342900">
              <a:lnSpc>
                <a:spcPct val="100000"/>
              </a:lnSpc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2000" spc="130" dirty="0" smtClean="0">
                <a:latin typeface="Cambria"/>
                <a:cs typeface="Cambria"/>
              </a:rPr>
              <a:t>The first argument is the name of the string, and the second argument is the size of the array.</a:t>
            </a:r>
          </a:p>
          <a:p>
            <a:pPr marL="355600" indent="-342900">
              <a:lnSpc>
                <a:spcPct val="100000"/>
              </a:lnSpc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2000" spc="13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2000" spc="13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spc="130" dirty="0" smtClean="0">
                <a:latin typeface="Cambria"/>
                <a:cs typeface="Cambria"/>
              </a:rPr>
              <a:t>will take input till it gets a new line(</a:t>
            </a:r>
            <a:r>
              <a:rPr lang="en-US" sz="2000" spc="13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sz="2000" spc="130" dirty="0" smtClean="0">
                <a:latin typeface="Cambria"/>
                <a:cs typeface="Cambria"/>
              </a:rPr>
              <a:t>) character.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 </a:t>
            </a:r>
            <a:endParaRPr lang="en-US" sz="2000" spc="13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spc="13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01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6751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  <a:tab pos="4234815" algn="l"/>
              </a:tabLst>
            </a:pPr>
            <a:r>
              <a:rPr sz="3600" cap="small" spc="380" dirty="0"/>
              <a:t>String</a:t>
            </a:r>
            <a:r>
              <a:rPr sz="3600" cap="small" dirty="0"/>
              <a:t>	</a:t>
            </a:r>
            <a:r>
              <a:rPr sz="3600" cap="small" spc="385" dirty="0"/>
              <a:t>Handling</a:t>
            </a:r>
            <a:r>
              <a:rPr sz="3600" cap="small" dirty="0"/>
              <a:t>	</a:t>
            </a:r>
            <a:r>
              <a:rPr sz="3600" cap="small" spc="365" dirty="0"/>
              <a:t>Functions</a:t>
            </a:r>
            <a:endParaRPr sz="36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691117"/>
              </p:ext>
            </p:extLst>
          </p:nvPr>
        </p:nvGraphicFramePr>
        <p:xfrm>
          <a:off x="603250" y="908050"/>
          <a:ext cx="7543165" cy="5637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3810"/>
                <a:gridCol w="2574290"/>
                <a:gridCol w="2425065"/>
              </a:tblGrid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1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Library</a:t>
                      </a:r>
                      <a:r>
                        <a:rPr sz="1800" b="1" spc="9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Function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1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b="1" spc="1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80" dirty="0" smtClean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&lt;</a:t>
                      </a:r>
                      <a:r>
                        <a:rPr lang="en-US" sz="1800" b="1" spc="80" dirty="0" err="1" smtClean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sz="1800" b="1" spc="80" dirty="0" err="1" smtClean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string</a:t>
                      </a:r>
                      <a:r>
                        <a:rPr sz="1800" b="1" spc="80" dirty="0" smtClean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&gt;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Use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5143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Description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</a:tr>
              <a:tr h="8839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strlen()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30"/>
                        </a:spcBef>
                        <a:tabLst>
                          <a:tab pos="2040255" algn="l"/>
                        </a:tabLst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strlen(“hello”);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or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strlen(s);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computes</a:t>
                      </a:r>
                      <a:r>
                        <a:rPr sz="1800" spc="4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string's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length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strcpy()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strcpy(s1,”hello”);</a:t>
                      </a:r>
                      <a:r>
                        <a:rPr sz="1800" spc="35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or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strcpy(s1,s2);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copies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8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string</a:t>
                      </a:r>
                      <a:r>
                        <a:rPr sz="18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to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800" spc="50" dirty="0">
                          <a:latin typeface="Cambria"/>
                          <a:cs typeface="Cambria"/>
                        </a:rPr>
                        <a:t>another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</a:tr>
              <a:tr h="12338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strcat()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635"/>
                        </a:spcBef>
                        <a:tabLst>
                          <a:tab pos="2064385" algn="l"/>
                        </a:tabLst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strcat(s1,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-20" dirty="0">
                          <a:latin typeface="Cambria"/>
                          <a:cs typeface="Cambria"/>
                        </a:rPr>
                        <a:t>s2);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or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45" dirty="0">
                          <a:latin typeface="Cambria"/>
                          <a:cs typeface="Cambria"/>
                        </a:rPr>
                        <a:t>strcat(s1,</a:t>
                      </a:r>
                      <a:r>
                        <a:rPr sz="18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“hello”);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spc="75" dirty="0">
                          <a:latin typeface="Cambria"/>
                          <a:cs typeface="Cambria"/>
                        </a:rPr>
                        <a:t>Concatenates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(joins)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70485" marR="273050">
                        <a:lnSpc>
                          <a:spcPct val="1501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second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argument</a:t>
                      </a:r>
                      <a:r>
                        <a:rPr sz="18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to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first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argument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strcmp()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just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strcmp(s1,</a:t>
                      </a:r>
                      <a:r>
                        <a:rPr sz="18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s2);</a:t>
                      </a:r>
                      <a:r>
                        <a:rPr sz="1800" spc="465" dirty="0">
                          <a:latin typeface="Cambria"/>
                          <a:cs typeface="Cambria"/>
                        </a:rPr>
                        <a:t>    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or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69215" marR="217170" algn="just">
                        <a:lnSpc>
                          <a:spcPct val="1501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strcmp(s1,</a:t>
                      </a:r>
                      <a:r>
                        <a:rPr sz="1800" spc="4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“hello”);</a:t>
                      </a:r>
                      <a:r>
                        <a:rPr sz="1800" spc="3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or </a:t>
                      </a:r>
                      <a:r>
                        <a:rPr sz="1800" spc="20" dirty="0">
                          <a:latin typeface="Cambria"/>
                          <a:cs typeface="Cambria"/>
                        </a:rPr>
                        <a:t>strcmp(“hello”,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0" dirty="0">
                          <a:latin typeface="Cambria"/>
                          <a:cs typeface="Cambria"/>
                        </a:rPr>
                        <a:t>s2);</a:t>
                      </a:r>
                      <a:r>
                        <a:rPr sz="1800" spc="2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or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strcmp(s1,</a:t>
                      </a:r>
                      <a:r>
                        <a:rPr sz="1800" spc="4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“hello”);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compares</a:t>
                      </a:r>
                      <a:r>
                        <a:rPr sz="1800" spc="229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two</a:t>
                      </a:r>
                      <a:r>
                        <a:rPr sz="1800" spc="2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strings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70485" marR="394970">
                        <a:lnSpc>
                          <a:spcPct val="150100"/>
                        </a:lnSpc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s1,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s2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and</a:t>
                      </a:r>
                      <a:r>
                        <a:rPr sz="18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they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matched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returns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0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otherwise</a:t>
                      </a:r>
                      <a:r>
                        <a:rPr sz="1800" spc="4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returns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non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zero</a:t>
                      </a:r>
                      <a:r>
                        <a:rPr sz="1800" spc="1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value.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6751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  <a:tab pos="4234815" algn="l"/>
              </a:tabLst>
            </a:pPr>
            <a:r>
              <a:rPr sz="3600" cap="small" spc="380" dirty="0"/>
              <a:t>String</a:t>
            </a:r>
            <a:r>
              <a:rPr sz="3600" cap="small" dirty="0"/>
              <a:t>	</a:t>
            </a:r>
            <a:r>
              <a:rPr sz="3600" cap="small" spc="385" dirty="0"/>
              <a:t>Handling</a:t>
            </a:r>
            <a:r>
              <a:rPr sz="3600" cap="small" dirty="0"/>
              <a:t>	</a:t>
            </a:r>
            <a:r>
              <a:rPr sz="3600" cap="small" spc="365" dirty="0"/>
              <a:t>Functions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524510"/>
            <a:ext cx="7932930" cy="6337631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cstring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[20];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[20];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[50];    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&lt;&lt;"Enter your first name: ";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&lt;&lt;"Enter your last name: ";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</a:t>
            </a:r>
          </a:p>
          <a:p>
            <a:pPr marL="914400" indent="-901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&lt;&lt;"Hi " &lt;&lt;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&lt;&lt;"! Your first name has "&lt;&lt;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)&lt;&lt;" characters."&lt;&lt;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&lt;&lt;"And your last name has "&lt;&lt;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)&lt;&lt;" characters."&lt;&lt;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full_name,f_name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" ");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full_name,l_name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&lt;&lt;"Your Full name is: "&lt;&lt;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    	if((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f_name,l_name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))==0)    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&lt;&lt;"Both strings are equal."&lt;&lt;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    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&lt;&lt;"Strings are not equal."&lt;&lt;</a:t>
            </a:r>
            <a:r>
              <a:rPr lang="en-US" sz="1500" b="1" spc="4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0;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500" b="1" spc="4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sz="1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6751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  <a:tab pos="4234815" algn="l"/>
              </a:tabLst>
            </a:pPr>
            <a:r>
              <a:rPr sz="3600" cap="small" spc="380" dirty="0"/>
              <a:t>String</a:t>
            </a:r>
            <a:r>
              <a:rPr sz="3600" cap="small" dirty="0"/>
              <a:t>	</a:t>
            </a:r>
            <a:r>
              <a:rPr sz="3600" cap="small" spc="385" dirty="0"/>
              <a:t>Handling</a:t>
            </a:r>
            <a:r>
              <a:rPr sz="3600" cap="small" dirty="0"/>
              <a:t>	</a:t>
            </a:r>
            <a:r>
              <a:rPr sz="3600" cap="small" spc="365" dirty="0"/>
              <a:t>Functions</a:t>
            </a:r>
            <a:endParaRPr sz="3600" dirty="0"/>
          </a:p>
        </p:txBody>
      </p:sp>
      <p:sp>
        <p:nvSpPr>
          <p:cNvPr id="4" name="Rectangle 3"/>
          <p:cNvSpPr/>
          <p:nvPr/>
        </p:nvSpPr>
        <p:spPr>
          <a:xfrm>
            <a:off x="762000" y="1219200"/>
            <a:ext cx="6934200" cy="356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spc="229" dirty="0" smtClean="0">
                <a:latin typeface="Cambria"/>
                <a:cs typeface="Cambria"/>
              </a:rPr>
              <a:t>OUTPUT</a:t>
            </a: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Enter your first name: John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Enter your last name: </a:t>
            </a:r>
            <a:r>
              <a:rPr lang="en-US" sz="2000" spc="130" dirty="0" err="1" smtClean="0">
                <a:latin typeface="Cambria"/>
                <a:cs typeface="Cambria"/>
              </a:rPr>
              <a:t>Winson</a:t>
            </a:r>
            <a:endParaRPr lang="en-US" sz="2000" spc="13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Hi John! Your first name has 4 characters.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And your last name has 6 characters.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Your Full name is: John </a:t>
            </a:r>
            <a:r>
              <a:rPr lang="en-US" sz="2000" spc="130" dirty="0" err="1" smtClean="0">
                <a:latin typeface="Cambria"/>
                <a:cs typeface="Cambria"/>
              </a:rPr>
              <a:t>Winson</a:t>
            </a:r>
            <a:endParaRPr lang="en-US" sz="2000" spc="13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Strings are not equal.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spc="13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b="1" spc="130" dirty="0" smtClean="0">
                <a:latin typeface="Cambria"/>
                <a:cs typeface="Cambria"/>
              </a:rPr>
              <a:t>Note:</a:t>
            </a:r>
            <a:r>
              <a:rPr lang="en-US" sz="2000" spc="130" dirty="0" smtClean="0">
                <a:latin typeface="Cambria"/>
                <a:cs typeface="Cambria"/>
              </a:rPr>
              <a:t> For using C-style character strings, &lt;</a:t>
            </a:r>
            <a:r>
              <a:rPr lang="en-US" sz="2000" spc="130" dirty="0" err="1" smtClean="0">
                <a:latin typeface="Cambria"/>
                <a:cs typeface="Cambria"/>
              </a:rPr>
              <a:t>cstring</a:t>
            </a:r>
            <a:r>
              <a:rPr lang="en-US" sz="2000" spc="130" dirty="0" smtClean="0">
                <a:latin typeface="Cambria"/>
                <a:cs typeface="Cambria"/>
              </a:rPr>
              <a:t>&gt; header must be used.</a:t>
            </a:r>
            <a:endParaRPr lang="en-US" sz="2000" spc="13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pc="130" dirty="0" smtClean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80881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7200" y="495300"/>
            <a:ext cx="8001634" cy="66877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3550" marR="5080" algn="just">
              <a:spcBef>
                <a:spcPts val="110"/>
              </a:spcBef>
              <a:buClr>
                <a:srgbClr val="FD8537"/>
              </a:buClr>
              <a:buSzPct val="69642"/>
              <a:tabLst>
                <a:tab pos="287020" algn="l"/>
              </a:tabLst>
            </a:pPr>
            <a:endParaRPr lang="en-US" sz="2800" spc="120" dirty="0" smtClean="0">
              <a:latin typeface="Cambria"/>
              <a:cs typeface="Cambria"/>
            </a:endParaRPr>
          </a:p>
          <a:p>
            <a:pPr marL="12700" marR="5080" algn="just">
              <a:lnSpc>
                <a:spcPct val="100000"/>
              </a:lnSpc>
              <a:spcBef>
                <a:spcPts val="110"/>
              </a:spcBef>
              <a:buClr>
                <a:srgbClr val="FD8537"/>
              </a:buClr>
              <a:buSzPct val="69642"/>
              <a:tabLst>
                <a:tab pos="287020" algn="l"/>
              </a:tabLst>
            </a:pPr>
            <a:r>
              <a:rPr lang="en-US" sz="2800" b="1" spc="120" dirty="0" err="1" smtClean="0">
                <a:latin typeface="Cambria"/>
                <a:cs typeface="Cambria"/>
              </a:rPr>
              <a:t>std</a:t>
            </a:r>
            <a:r>
              <a:rPr lang="en-US" sz="2800" b="1" spc="120" dirty="0" smtClean="0">
                <a:latin typeface="Cambria"/>
                <a:cs typeface="Cambria"/>
              </a:rPr>
              <a:t>::String class</a:t>
            </a:r>
            <a:endParaRPr lang="en-US" sz="2800" spc="120" dirty="0" smtClean="0">
              <a:latin typeface="Cambria"/>
              <a:cs typeface="Cambria"/>
            </a:endParaRPr>
          </a:p>
          <a:p>
            <a:pPr marL="287020" marR="5080" indent="-274320" algn="just">
              <a:lnSpc>
                <a:spcPct val="100000"/>
              </a:lnSpc>
              <a:spcBef>
                <a:spcPts val="11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20" dirty="0" smtClean="0">
                <a:latin typeface="Cambria"/>
                <a:cs typeface="Cambria"/>
              </a:rPr>
              <a:t>The</a:t>
            </a:r>
            <a:r>
              <a:rPr sz="2800" spc="545" dirty="0" smtClean="0">
                <a:latin typeface="Cambria"/>
                <a:cs typeface="Cambria"/>
              </a:rPr>
              <a:t> </a:t>
            </a:r>
            <a:r>
              <a:rPr lang="en-US" sz="2800" spc="545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800" spc="545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sz="2800" spc="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sz="2800" spc="535" dirty="0" smtClean="0">
                <a:latin typeface="Cambria"/>
                <a:cs typeface="Cambria"/>
              </a:rPr>
              <a:t> </a:t>
            </a:r>
            <a:r>
              <a:rPr sz="2800" spc="110" dirty="0" smtClean="0">
                <a:latin typeface="Cambria"/>
                <a:cs typeface="Cambria"/>
              </a:rPr>
              <a:t>c</a:t>
            </a:r>
            <a:r>
              <a:rPr lang="en-US" sz="2800" spc="110" dirty="0" smtClean="0">
                <a:latin typeface="Cambria"/>
                <a:cs typeface="Cambria"/>
              </a:rPr>
              <a:t>lass provides a convenient way to handle strings in C++</a:t>
            </a:r>
            <a:r>
              <a:rPr sz="2800" spc="-10" dirty="0" smtClean="0">
                <a:latin typeface="Cambria"/>
                <a:cs typeface="Cambria"/>
              </a:rPr>
              <a:t>.</a:t>
            </a:r>
            <a:r>
              <a:rPr lang="en-US" sz="2800" spc="-10" dirty="0" smtClean="0">
                <a:latin typeface="Cambria"/>
                <a:cs typeface="Cambria"/>
              </a:rPr>
              <a:t> It is part of </a:t>
            </a:r>
            <a:r>
              <a:rPr lang="en-US" sz="2800" spc="-1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&lt;string&gt; </a:t>
            </a:r>
            <a:r>
              <a:rPr lang="en-US" sz="2800" spc="-10" dirty="0" smtClean="0">
                <a:latin typeface="Cambria"/>
                <a:cs typeface="Cambria"/>
              </a:rPr>
              <a:t>header.</a:t>
            </a:r>
            <a:endParaRPr sz="2800" dirty="0" smtClean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b="1" spc="180" dirty="0" smtClean="0">
                <a:latin typeface="Cambria"/>
                <a:cs typeface="Cambria"/>
              </a:rPr>
              <a:t>Declaration</a:t>
            </a:r>
            <a:r>
              <a:rPr lang="en-US" sz="2800" b="1" spc="180" dirty="0" smtClean="0">
                <a:latin typeface="Cambria"/>
                <a:cs typeface="Cambria"/>
              </a:rPr>
              <a:t> and Initialization</a:t>
            </a:r>
            <a:r>
              <a:rPr sz="2800" b="1" spc="204" dirty="0" smtClean="0">
                <a:latin typeface="Cambria"/>
                <a:cs typeface="Cambria"/>
              </a:rPr>
              <a:t> </a:t>
            </a:r>
            <a:r>
              <a:rPr sz="2800" b="1" spc="135" dirty="0">
                <a:latin typeface="Cambria"/>
                <a:cs typeface="Cambria"/>
              </a:rPr>
              <a:t>of</a:t>
            </a:r>
            <a:r>
              <a:rPr sz="2800" b="1" spc="190" dirty="0">
                <a:latin typeface="Cambria"/>
                <a:cs typeface="Cambria"/>
              </a:rPr>
              <a:t> </a:t>
            </a:r>
            <a:r>
              <a:rPr sz="2800" b="1" spc="145" dirty="0">
                <a:latin typeface="Cambria"/>
                <a:cs typeface="Cambria"/>
              </a:rPr>
              <a:t>string:</a:t>
            </a:r>
            <a:endParaRPr sz="2800" dirty="0">
              <a:latin typeface="Cambria"/>
              <a:cs typeface="Cambria"/>
            </a:endParaRPr>
          </a:p>
          <a:p>
            <a:pPr marL="286385" indent="-273685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6385" algn="l"/>
              </a:tabLst>
            </a:pPr>
            <a:r>
              <a:rPr sz="2800" spc="160" dirty="0">
                <a:latin typeface="Cambria"/>
                <a:cs typeface="Cambria"/>
              </a:rPr>
              <a:t>Syntax: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lang="en-US" sz="2800" spc="125" dirty="0" smtClean="0">
                <a:latin typeface="Cambria"/>
                <a:cs typeface="Cambria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800" spc="125" dirty="0">
                <a:latin typeface="Cambria"/>
                <a:cs typeface="Cambria"/>
              </a:rPr>
              <a:t>	</a:t>
            </a:r>
            <a:r>
              <a:rPr lang="en-US" sz="2800" spc="125" dirty="0" smtClean="0">
                <a:latin typeface="Cambria"/>
                <a:cs typeface="Cambria"/>
              </a:rPr>
              <a:t>#include &lt;string&gt;    </a:t>
            </a:r>
          </a:p>
          <a:p>
            <a:pPr marL="12700" lvl="2">
              <a:spcBef>
                <a:spcPts val="6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800" spc="125" dirty="0" smtClean="0">
                <a:latin typeface="Cambria"/>
                <a:cs typeface="Cambria"/>
              </a:rPr>
              <a:t>	 </a:t>
            </a:r>
            <a:r>
              <a:rPr lang="en-US" sz="2800" spc="125" dirty="0" err="1" smtClean="0">
                <a:latin typeface="Cambria"/>
                <a:cs typeface="Cambria"/>
              </a:rPr>
              <a:t>std</a:t>
            </a:r>
            <a:r>
              <a:rPr lang="en-US" sz="2800" spc="125" dirty="0" smtClean="0">
                <a:latin typeface="Cambria"/>
                <a:cs typeface="Cambria"/>
              </a:rPr>
              <a:t>::string </a:t>
            </a:r>
            <a:r>
              <a:rPr lang="en-US" sz="2800" spc="125" dirty="0" err="1" smtClean="0">
                <a:latin typeface="Cambria"/>
                <a:cs typeface="Cambria"/>
              </a:rPr>
              <a:t>str</a:t>
            </a:r>
            <a:r>
              <a:rPr lang="en-US" sz="2800" spc="125" dirty="0" smtClean="0">
                <a:latin typeface="Cambria"/>
                <a:cs typeface="Cambria"/>
              </a:rPr>
              <a:t> = "Welcome";    </a:t>
            </a:r>
          </a:p>
          <a:p>
            <a:pPr marL="12700" lvl="2">
              <a:spcBef>
                <a:spcPts val="6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800" spc="125" dirty="0" smtClean="0">
                <a:latin typeface="Cambria"/>
                <a:cs typeface="Cambria"/>
              </a:rPr>
              <a:t>OR</a:t>
            </a:r>
          </a:p>
          <a:p>
            <a:pPr marL="12700" lvl="2">
              <a:spcBef>
                <a:spcPts val="6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800" spc="125" dirty="0">
                <a:latin typeface="Cambria"/>
                <a:cs typeface="Cambria"/>
              </a:rPr>
              <a:t>	</a:t>
            </a:r>
            <a:r>
              <a:rPr lang="en-US" sz="2800" spc="125" dirty="0" smtClean="0">
                <a:latin typeface="Cambria"/>
                <a:cs typeface="Cambria"/>
              </a:rPr>
              <a:t> </a:t>
            </a:r>
            <a:r>
              <a:rPr lang="en-US" sz="2800" spc="125" dirty="0" err="1" smtClean="0">
                <a:latin typeface="Cambria"/>
                <a:cs typeface="Cambria"/>
              </a:rPr>
              <a:t>std</a:t>
            </a:r>
            <a:r>
              <a:rPr lang="en-US" sz="2800" spc="125" dirty="0" smtClean="0">
                <a:latin typeface="Cambria"/>
                <a:cs typeface="Cambria"/>
              </a:rPr>
              <a:t>::string </a:t>
            </a:r>
            <a:r>
              <a:rPr lang="en-US" sz="2800" spc="125" dirty="0" err="1" smtClean="0">
                <a:latin typeface="Cambria"/>
                <a:cs typeface="Cambria"/>
              </a:rPr>
              <a:t>str</a:t>
            </a:r>
            <a:r>
              <a:rPr lang="en-US" sz="2800" spc="125" dirty="0" smtClean="0">
                <a:latin typeface="Cambria"/>
                <a:cs typeface="Cambria"/>
              </a:rPr>
              <a:t> = {"Welcome“}; </a:t>
            </a:r>
          </a:p>
          <a:p>
            <a:pPr marL="12700" lvl="2">
              <a:spcBef>
                <a:spcPts val="6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800" spc="125" dirty="0" smtClean="0">
                <a:latin typeface="Cambria"/>
                <a:cs typeface="Cambria"/>
              </a:rPr>
              <a:t>OR</a:t>
            </a:r>
          </a:p>
          <a:p>
            <a:pPr marL="12700" lvl="2">
              <a:spcBef>
                <a:spcPts val="6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800" spc="125" dirty="0" smtClean="0">
                <a:latin typeface="Cambria"/>
                <a:cs typeface="Cambria"/>
              </a:rPr>
              <a:t>    </a:t>
            </a:r>
            <a:r>
              <a:rPr lang="en-US" sz="2800" spc="125" dirty="0" err="1" smtClean="0">
                <a:latin typeface="Cambria"/>
                <a:cs typeface="Cambria"/>
              </a:rPr>
              <a:t>std</a:t>
            </a:r>
            <a:r>
              <a:rPr lang="en-US" sz="2800" spc="125" dirty="0" smtClean="0">
                <a:latin typeface="Cambria"/>
                <a:cs typeface="Cambria"/>
              </a:rPr>
              <a:t>::string </a:t>
            </a:r>
            <a:r>
              <a:rPr lang="en-US" sz="2800" spc="125" dirty="0" err="1" smtClean="0">
                <a:latin typeface="Cambria"/>
                <a:cs typeface="Cambria"/>
              </a:rPr>
              <a:t>str</a:t>
            </a:r>
            <a:r>
              <a:rPr lang="en-US" sz="2800" spc="125" dirty="0">
                <a:latin typeface="Cambria"/>
                <a:cs typeface="Cambria"/>
              </a:rPr>
              <a:t> </a:t>
            </a:r>
            <a:r>
              <a:rPr lang="en-US" sz="2800" spc="125" dirty="0" smtClean="0">
                <a:latin typeface="Cambria"/>
                <a:cs typeface="Cambria"/>
              </a:rPr>
              <a:t>{"Welcome“}; </a:t>
            </a:r>
            <a:endParaRPr lang="en-US" sz="2800" dirty="0" smtClean="0">
              <a:latin typeface="Cambria"/>
              <a:cs typeface="Cambria"/>
            </a:endParaRPr>
          </a:p>
          <a:p>
            <a:pPr marL="12700" lvl="2">
              <a:spcBef>
                <a:spcPts val="6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endParaRPr sz="28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012980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460044" y="944111"/>
            <a:ext cx="8149590" cy="433708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//Declaring a string object</a:t>
            </a:r>
          </a:p>
          <a:p>
            <a:pPr marL="12700" defTabSz="6223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string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"Enter a string: ";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cin,str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"You entered: " &lt;&lt;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 defTabSz="6223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966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33540" y="1143000"/>
            <a:ext cx="8149590" cy="3824123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spc="229" dirty="0" smtClean="0">
                <a:latin typeface="Cambria"/>
                <a:cs typeface="Cambria"/>
              </a:rPr>
              <a:t>OUTPUT</a:t>
            </a: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Enter a string: Programming is fun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You entered: Programming is fun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spc="130" dirty="0" smtClean="0"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2000" spc="13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2000" spc="13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spc="130" dirty="0" smtClean="0">
                <a:latin typeface="Cambria"/>
                <a:cs typeface="Cambria"/>
              </a:rPr>
              <a:t>will take input till it gets a new line(</a:t>
            </a:r>
            <a:r>
              <a:rPr lang="en-US" sz="2000" spc="13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sz="2000" spc="130" dirty="0" smtClean="0">
                <a:latin typeface="Cambria"/>
                <a:cs typeface="Cambria"/>
              </a:rPr>
              <a:t>) character.</a:t>
            </a:r>
          </a:p>
          <a:p>
            <a:pPr marL="355600" indent="-342900">
              <a:lnSpc>
                <a:spcPct val="100000"/>
              </a:lnSpc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US" sz="2000" spc="13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2000" spc="13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spc="130" dirty="0" smtClean="0">
                <a:latin typeface="Cambria"/>
                <a:cs typeface="Cambria"/>
              </a:rPr>
              <a:t>function takes the input stream as the first parameter, which is </a:t>
            </a:r>
            <a:r>
              <a:rPr lang="en-US" sz="2000" spc="13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spc="130" dirty="0" smtClean="0">
                <a:latin typeface="Cambria"/>
                <a:cs typeface="Cambria"/>
              </a:rPr>
              <a:t> and </a:t>
            </a:r>
            <a:r>
              <a:rPr lang="en-US" sz="2000" spc="13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spc="130" dirty="0" smtClean="0">
                <a:latin typeface="Cambria"/>
                <a:cs typeface="Cambria"/>
              </a:rPr>
              <a:t> as the location of the line to be stored.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 </a:t>
            </a:r>
            <a:endParaRPr lang="en-US" sz="2000" spc="13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spc="13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21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6751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  <a:tab pos="4234815" algn="l"/>
              </a:tabLst>
            </a:pPr>
            <a:r>
              <a:rPr sz="3600" cap="small" spc="380" dirty="0"/>
              <a:t>String</a:t>
            </a:r>
            <a:r>
              <a:rPr sz="3600" cap="small" dirty="0"/>
              <a:t>	</a:t>
            </a:r>
            <a:r>
              <a:rPr lang="en-US" sz="3600" cap="small" spc="385" dirty="0" smtClean="0"/>
              <a:t>Class </a:t>
            </a:r>
            <a:r>
              <a:rPr sz="3600" cap="small" spc="365" dirty="0" smtClean="0"/>
              <a:t>Functions</a:t>
            </a:r>
            <a:endParaRPr sz="360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57549"/>
              </p:ext>
            </p:extLst>
          </p:nvPr>
        </p:nvGraphicFramePr>
        <p:xfrm>
          <a:off x="499414" y="834723"/>
          <a:ext cx="7272986" cy="50461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3828"/>
                <a:gridCol w="4889158"/>
              </a:tblGrid>
              <a:tr h="589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1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Library</a:t>
                      </a:r>
                      <a:r>
                        <a:rPr sz="1800" b="1" spc="9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Function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1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b="1" spc="1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80" dirty="0" smtClean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&lt;string&gt;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5143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Description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537"/>
                    </a:solidFill>
                  </a:tcPr>
                </a:tc>
              </a:tr>
              <a:tr h="5828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800" spc="-10" dirty="0" smtClean="0">
                          <a:latin typeface="Cambria"/>
                          <a:cs typeface="Cambria"/>
                        </a:rPr>
                        <a:t>find</a:t>
                      </a:r>
                      <a:r>
                        <a:rPr sz="1800" spc="-10" dirty="0" smtClean="0">
                          <a:latin typeface="Cambria"/>
                          <a:cs typeface="Cambria"/>
                        </a:rPr>
                        <a:t>()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 substring in the string.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</a:tr>
              <a:tr h="584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800" spc="-10" dirty="0" err="1" smtClean="0">
                          <a:latin typeface="Cambria"/>
                          <a:cs typeface="Cambria"/>
                        </a:rPr>
                        <a:t>rfind</a:t>
                      </a:r>
                      <a:r>
                        <a:rPr sz="1800" spc="-10" dirty="0" smtClean="0">
                          <a:latin typeface="Cambria"/>
                          <a:cs typeface="Cambria"/>
                        </a:rPr>
                        <a:t>()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last occurrence of a substring in the string. </a:t>
                      </a:r>
                      <a:endParaRPr lang="en-US"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</a:tr>
              <a:tr h="584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lang="en-US" sz="1800" spc="-10" dirty="0" smtClean="0">
                          <a:latin typeface="Cambria"/>
                          <a:cs typeface="Cambria"/>
                        </a:rPr>
                        <a:t>append</a:t>
                      </a:r>
                      <a:r>
                        <a:rPr sz="1800" spc="-10" dirty="0" smtClean="0">
                          <a:latin typeface="Cambria"/>
                          <a:cs typeface="Cambria"/>
                        </a:rPr>
                        <a:t>()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lang="en-US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Append to the string.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6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</a:tr>
              <a:tr h="584367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sz="1800" spc="-10" dirty="0" smtClean="0">
                          <a:latin typeface="Cambria"/>
                          <a:cs typeface="Cambria"/>
                        </a:rPr>
                        <a:t>insert</a:t>
                      </a:r>
                      <a:r>
                        <a:rPr sz="1800" spc="-10" dirty="0" smtClean="0">
                          <a:latin typeface="Cambria"/>
                          <a:cs typeface="Cambria"/>
                        </a:rPr>
                        <a:t> ()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Append to the string.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</a:tr>
              <a:tr h="678272">
                <a:tc>
                  <a:txBody>
                    <a:bodyPr/>
                    <a:lstStyle/>
                    <a:p>
                      <a:pPr marL="254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10" dirty="0" smtClean="0">
                          <a:latin typeface="Cambria"/>
                          <a:cs typeface="Cambria"/>
                        </a:rPr>
                        <a:t>erase ()</a:t>
                      </a:r>
                      <a:endParaRPr lang="en-US" sz="1800" dirty="0" smtClean="0">
                        <a:latin typeface="Cambria"/>
                        <a:cs typeface="Cambria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Erase characters from the string.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</a:tr>
              <a:tr h="678272">
                <a:tc>
                  <a:txBody>
                    <a:bodyPr/>
                    <a:lstStyle/>
                    <a:p>
                      <a:pPr marL="254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10" dirty="0" smtClean="0">
                          <a:latin typeface="Cambria"/>
                          <a:cs typeface="Cambria"/>
                        </a:rPr>
                        <a:t>replace ()</a:t>
                      </a:r>
                      <a:endParaRPr lang="en-US" sz="1800" dirty="0" smtClean="0">
                        <a:latin typeface="Cambria"/>
                        <a:cs typeface="Cambria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Replace portions of the string.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</a:tr>
              <a:tr h="703013">
                <a:tc>
                  <a:txBody>
                    <a:bodyPr/>
                    <a:lstStyle/>
                    <a:p>
                      <a:pPr marL="254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10" dirty="0" smtClean="0">
                          <a:latin typeface="Cambria"/>
                          <a:cs typeface="Cambria"/>
                        </a:rPr>
                        <a:t>compare ()</a:t>
                      </a:r>
                      <a:endParaRPr lang="en-US" sz="1800" dirty="0" smtClean="0">
                        <a:latin typeface="Cambria"/>
                        <a:cs typeface="Cambria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two strings.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087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6751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3714" algn="l"/>
                <a:tab pos="4234815" algn="l"/>
              </a:tabLst>
            </a:pPr>
            <a:r>
              <a:rPr sz="3600" cap="small" spc="380" dirty="0"/>
              <a:t>String</a:t>
            </a:r>
            <a:r>
              <a:rPr sz="3600" cap="small" dirty="0"/>
              <a:t>	</a:t>
            </a:r>
            <a:r>
              <a:rPr lang="en-US" sz="3600" cap="small" spc="385" dirty="0" smtClean="0"/>
              <a:t>Class </a:t>
            </a:r>
            <a:r>
              <a:rPr sz="3600" cap="small" spc="365" dirty="0" smtClean="0"/>
              <a:t>Functions</a:t>
            </a:r>
            <a:endParaRPr sz="360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170074"/>
              </p:ext>
            </p:extLst>
          </p:nvPr>
        </p:nvGraphicFramePr>
        <p:xfrm>
          <a:off x="609600" y="1143000"/>
          <a:ext cx="7272986" cy="2924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3828"/>
                <a:gridCol w="4889158"/>
              </a:tblGrid>
              <a:tr h="589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1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Library</a:t>
                      </a:r>
                      <a:r>
                        <a:rPr sz="1800" b="1" spc="9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Function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1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b="1" spc="12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80" dirty="0" smtClean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&lt;string&gt;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5143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Description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537"/>
                    </a:solidFill>
                  </a:tcPr>
                </a:tc>
              </a:tr>
              <a:tr h="582856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sz="1800" dirty="0" err="1" smtClean="0">
                          <a:latin typeface="Cambria"/>
                          <a:cs typeface="Cambria"/>
                        </a:rPr>
                        <a:t>substr</a:t>
                      </a:r>
                      <a:r>
                        <a:rPr lang="en-US" sz="1800" dirty="0" smtClean="0">
                          <a:latin typeface="Cambria"/>
                          <a:cs typeface="Cambria"/>
                        </a:rPr>
                        <a:t>()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dirty="0" smtClean="0"/>
                        <a:t>Extract a substring from a string.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</a:tr>
              <a:tr h="5828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800" spc="-10" dirty="0" smtClean="0">
                          <a:latin typeface="Cambria"/>
                          <a:cs typeface="Cambria"/>
                        </a:rPr>
                        <a:t>length</a:t>
                      </a:r>
                      <a:r>
                        <a:rPr sz="1800" spc="-10" dirty="0" smtClean="0">
                          <a:latin typeface="Cambria"/>
                          <a:cs typeface="Cambria"/>
                        </a:rPr>
                        <a:t>()</a:t>
                      </a:r>
                      <a:r>
                        <a:rPr lang="en-US" sz="1800" spc="-10" dirty="0" smtClean="0">
                          <a:latin typeface="Cambria"/>
                          <a:cs typeface="Cambria"/>
                        </a:rPr>
                        <a:t> or size()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length of the string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</a:tr>
              <a:tr h="5828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800" dirty="0" smtClean="0">
                          <a:latin typeface="Cambria"/>
                          <a:cs typeface="Cambria"/>
                        </a:rPr>
                        <a:t>at() or using array index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dirty="0" smtClean="0"/>
                        <a:t>To access individual characters using array indexing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</a:tr>
              <a:tr h="584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sz="1800" spc="-10" dirty="0" err="1" smtClean="0">
                          <a:latin typeface="Cambria"/>
                          <a:cs typeface="Cambria"/>
                        </a:rPr>
                        <a:t>C_str</a:t>
                      </a:r>
                      <a:r>
                        <a:rPr sz="1800" spc="-10" dirty="0" smtClean="0">
                          <a:latin typeface="Cambria"/>
                          <a:cs typeface="Cambria"/>
                        </a:rPr>
                        <a:t>()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dirty="0" smtClean="0"/>
                        <a:t>To obtain a C-style string from a </a:t>
                      </a:r>
                      <a:r>
                        <a:rPr lang="en-US" dirty="0" err="1" smtClean="0"/>
                        <a:t>std</a:t>
                      </a:r>
                      <a:r>
                        <a:rPr lang="en-US" dirty="0" smtClean="0"/>
                        <a:t>::string.</a:t>
                      </a:r>
                      <a:endParaRPr lang="en-US" sz="1800" dirty="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138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0044" y="944111"/>
            <a:ext cx="8149590" cy="5952911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str1 = {"hello"};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str2 {"Joy"};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str3 {str2};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str4 (5,'a'); //Displaying 'a' 5 times   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&lt;&lt;str1&lt;&lt;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&lt;&lt;str2&lt;&lt;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&lt;&lt;str3&lt;&lt;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&lt;&lt;str4;    	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229" dirty="0">
                <a:latin typeface="Cambria"/>
                <a:cs typeface="Cambria"/>
              </a:rPr>
              <a:t>OUTPUT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Hello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Joy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Joy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err="1" smtClean="0">
                <a:latin typeface="Cambria"/>
                <a:cs typeface="Cambria"/>
              </a:rPr>
              <a:t>aaaaa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63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0044" y="944111"/>
            <a:ext cx="8149590" cy="5991383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string str1 = {"hello"};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string str2 {str1,3}; //Displaying characters 			from index 3 (starting from 0)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str3 {"Dipika",3}; //Displaying first 3 						characters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&lt;&lt;str1&lt;&lt;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&lt;&lt;str2&lt;&lt;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&lt;&lt;str3;    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2000" b="1" spc="229" dirty="0" smtClean="0">
                <a:latin typeface="Cambria"/>
                <a:cs typeface="Cambria"/>
              </a:rPr>
              <a:t>OUTPUT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Hello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lo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dirty="0" smtClean="0">
                <a:latin typeface="Cambria"/>
                <a:cs typeface="Cambria"/>
              </a:rPr>
              <a:t>Dip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0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79922" y="811530"/>
            <a:ext cx="7921956" cy="651524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/>
              <a:t>C++ program to </a:t>
            </a:r>
            <a:r>
              <a:rPr lang="en-US" sz="2000" b="1" dirty="0" smtClean="0"/>
              <a:t>accessing a character from a string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{“Welcome Home”};</a:t>
            </a:r>
          </a:p>
          <a:p>
            <a:pPr marL="3484563" indent="-347186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[6]&lt;&lt;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//Displays character at  index 6. No Bound Checking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str.at(6); //Displays character at 6</a:t>
            </a:r>
            <a:r>
              <a:rPr lang="en-US" sz="2000" b="1" baseline="30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index</a:t>
            </a:r>
          </a:p>
          <a:p>
            <a:pPr marL="127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spc="229" dirty="0" smtClean="0">
                <a:latin typeface="Cambria"/>
                <a:cs typeface="Cambria"/>
              </a:rPr>
              <a:t>OUTPUT</a:t>
            </a: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e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e</a:t>
            </a: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592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79922" y="811531"/>
            <a:ext cx="7749678" cy="639982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/>
              <a:t>C++ program to </a:t>
            </a:r>
            <a:r>
              <a:rPr lang="en-US" sz="2000" b="1" dirty="0" smtClean="0"/>
              <a:t>print the string using range based for loop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{“Welcome Home”};</a:t>
            </a:r>
          </a:p>
          <a:p>
            <a:pPr marL="3484563" indent="-347186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for(char c:str)</a:t>
            </a:r>
          </a:p>
          <a:p>
            <a:pPr marL="622300" indent="-6096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622300" indent="-6096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 </a:t>
            </a:r>
            <a:r>
              <a:rPr lang="en-US" sz="2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&lt;&lt;c;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22300" indent="-6096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127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spc="229" dirty="0" smtClean="0">
                <a:latin typeface="Cambria"/>
                <a:cs typeface="Cambria"/>
              </a:rPr>
              <a:t>OUTPUT</a:t>
            </a: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Welcome Home</a:t>
            </a: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519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4800" y="891044"/>
            <a:ext cx="7924800" cy="606896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/>
              <a:t>C++ program to </a:t>
            </a:r>
            <a:r>
              <a:rPr lang="en-US" sz="2000" b="1" dirty="0" smtClean="0"/>
              <a:t>concatenate two strings and display the length of a string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9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19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str1 = “Welcome”;    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string str2 = "Home";    	  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&lt;&lt;str1+str2&lt;&lt;</a:t>
            </a:r>
            <a:r>
              <a:rPr lang="en-US" sz="19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//Concatenates two   strings    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&lt;&lt;str1.append(str2); //Append str1 with   str2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&lt;&lt;str1+" "+str2+ " "+"Joy“&lt;&lt;</a:t>
            </a:r>
            <a:r>
              <a:rPr lang="en-US" sz="19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9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 "Length of str1: "&lt;&lt;str1.length()	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19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3826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79922" y="811531"/>
            <a:ext cx="7749678" cy="2962991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sz="2000" b="1" spc="229" dirty="0" smtClean="0">
                <a:latin typeface="Cambria"/>
                <a:cs typeface="Cambria"/>
              </a:rPr>
              <a:t>OUTPUT</a:t>
            </a:r>
            <a:endParaRPr lang="en-US" sz="2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err="1" smtClean="0">
                <a:latin typeface="Cambria"/>
                <a:cs typeface="Cambria"/>
              </a:rPr>
              <a:t>WelcomeHome</a:t>
            </a:r>
            <a:endParaRPr lang="en-US" sz="2000" spc="130" dirty="0" smtClean="0">
              <a:latin typeface="Cambria"/>
              <a:cs typeface="Cambria"/>
            </a:endParaRPr>
          </a:p>
          <a:p>
            <a:pPr marL="12700">
              <a:spcBef>
                <a:spcPts val="120"/>
              </a:spcBef>
            </a:pPr>
            <a:r>
              <a:rPr lang="en-US" sz="2000" spc="130" dirty="0" err="1" smtClean="0">
                <a:latin typeface="Cambria"/>
                <a:cs typeface="Cambria"/>
              </a:rPr>
              <a:t>WelcomeHome</a:t>
            </a:r>
            <a:endParaRPr lang="en-US" sz="2000" spc="13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spc="130" dirty="0" smtClean="0">
                <a:latin typeface="Cambria"/>
                <a:cs typeface="Cambria"/>
              </a:rPr>
              <a:t>Welcome Home Joy</a:t>
            </a:r>
            <a:br>
              <a:rPr lang="en-US" sz="2000" spc="130" dirty="0" smtClean="0">
                <a:latin typeface="Cambria"/>
                <a:cs typeface="Cambria"/>
              </a:rPr>
            </a:br>
            <a:r>
              <a:rPr lang="en-US" sz="2000" spc="130" dirty="0" smtClean="0">
                <a:latin typeface="Cambria"/>
                <a:cs typeface="Cambria"/>
              </a:rPr>
              <a:t>Length of str1: 7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2000" b="1" spc="130" dirty="0">
              <a:latin typeface="Cambria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2000" b="1" spc="130" dirty="0" smtClean="0">
                <a:latin typeface="Cambria"/>
                <a:cs typeface="Courier New" panose="02070309020205020404" pitchFamily="49" charset="0"/>
              </a:rPr>
              <a:t>Note: </a:t>
            </a:r>
            <a:r>
              <a:rPr lang="en-US" sz="2000" spc="130" dirty="0" smtClean="0">
                <a:latin typeface="Cambria"/>
                <a:cs typeface="Courier New" panose="02070309020205020404" pitchFamily="49" charset="0"/>
              </a:rPr>
              <a:t>For length of the string, </a:t>
            </a:r>
            <a:r>
              <a:rPr lang="en-US" sz="2000" spc="13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size()</a:t>
            </a:r>
            <a:r>
              <a:rPr lang="en-US" sz="2000" spc="130" dirty="0" smtClean="0">
                <a:latin typeface="Cambria"/>
                <a:cs typeface="Courier New" panose="02070309020205020404" pitchFamily="49" charset="0"/>
              </a:rPr>
              <a:t> function can also be used.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079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79922" y="811531"/>
            <a:ext cx="7749678" cy="6089488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/>
              <a:t>C++ program to compare strings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str1 = “Welcome”;    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string str2 = "Home";    	 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&lt;&lt;(str1==str2)&lt;&lt;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//Compares whether the Strings are same or not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&lt;&lt;(str1&lt;str2)&lt;&lt;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// Checks the ASCII Value of the First Character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spc="229" dirty="0" smtClean="0">
                <a:latin typeface="Cambria"/>
                <a:cs typeface="Cambria"/>
              </a:rPr>
              <a:t>OUTPUT</a:t>
            </a: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ambria"/>
              </a:rPr>
              <a:t>0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>
                <a:latin typeface="Cambria"/>
                <a:cs typeface="Cambria"/>
              </a:rPr>
              <a:t>0</a:t>
            </a:r>
            <a:r>
              <a:rPr lang="en-US" spc="130" dirty="0" smtClean="0">
                <a:latin typeface="Cambria"/>
                <a:cs typeface="Cambria"/>
              </a:rPr>
              <a:t/>
            </a:r>
            <a:br>
              <a:rPr lang="en-US" spc="130" dirty="0" smtClean="0">
                <a:latin typeface="Cambria"/>
                <a:cs typeface="Cambria"/>
              </a:rPr>
            </a:b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88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79922" y="811531"/>
            <a:ext cx="7749678" cy="5835572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 smtClean="0"/>
              <a:t>C++ program to compare strings using compare() function</a:t>
            </a:r>
            <a:endParaRPr lang="en-US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str1 = “Welcome”;    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string str2 = "Home";    	  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((str1.compare(str2)) == 0)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"String Matched" &lt;&lt;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"String Not Matched" &lt;&lt;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return 0;}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spc="229" dirty="0" smtClean="0">
                <a:latin typeface="Cambria"/>
                <a:cs typeface="Cambria"/>
              </a:rPr>
              <a:t>OUTPUT</a:t>
            </a: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ambria"/>
              </a:rPr>
              <a:t>String Not Matched</a:t>
            </a:r>
            <a:br>
              <a:rPr lang="en-US" spc="130" dirty="0" smtClean="0">
                <a:latin typeface="Cambria"/>
                <a:cs typeface="Cambria"/>
              </a:rPr>
            </a:b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98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4800" y="891044"/>
            <a:ext cx="7924800" cy="521232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/>
              <a:t>C++ program to </a:t>
            </a:r>
            <a:r>
              <a:rPr lang="en-US" sz="2000" b="1" dirty="0" smtClean="0"/>
              <a:t>display the substring of a string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str1 = “Welcome Home”;    	  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&lt;&lt;str1.substr(3,2)&lt;&lt;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//Display the substring from index 3. Length of substring is 2.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spc="229" dirty="0" smtClean="0">
                <a:latin typeface="Cambria"/>
                <a:cs typeface="Cambria"/>
              </a:rPr>
              <a:t>OUTPUT</a:t>
            </a: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>
                <a:latin typeface="Cambria"/>
                <a:cs typeface="Courier New" panose="02070309020205020404" pitchFamily="49" charset="0"/>
              </a:rPr>
              <a:t>c</a:t>
            </a: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o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b="1" spc="130" dirty="0" smtClean="0">
              <a:latin typeface="Cambria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534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4800" y="891044"/>
            <a:ext cx="7924800" cy="567655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/>
              <a:t>C++ program to </a:t>
            </a:r>
            <a:r>
              <a:rPr lang="en-US" sz="2000" b="1" dirty="0" smtClean="0"/>
              <a:t>find the substring of a string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"Hi! Welcome Home, Joy. Hi";        	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str.find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("Jo")&lt;&lt;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	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str.find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("Jo",19)&lt;&lt;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	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str.rfind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("Hi");</a:t>
            </a:r>
          </a:p>
          <a:p>
            <a:pPr marL="622300" indent="-609600" defTabSz="6223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spc="229" dirty="0" smtClean="0">
                <a:latin typeface="Cambria"/>
                <a:cs typeface="Cambria"/>
              </a:rPr>
              <a:t>OUTPUT</a:t>
            </a: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18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18446744073709551615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23</a:t>
            </a:r>
            <a:endParaRPr lang="en-US" b="1" spc="130" dirty="0" smtClean="0">
              <a:latin typeface="Cambria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778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4800" y="891044"/>
            <a:ext cx="7924800" cy="5753498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/>
              <a:t>C++ program </a:t>
            </a:r>
            <a:r>
              <a:rPr lang="en-US" sz="2000" b="1" dirty="0" smtClean="0"/>
              <a:t>of inserting into a string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"Hi! Welcome Home";        	    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 str1 = "I am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Nik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";    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str.insert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(4, "Joy, ")&lt;&lt;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	    	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str.insert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(4,str1)&lt;&lt;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	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str.insert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(21, ". What will you have?",4,5);		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spc="229" dirty="0" smtClean="0">
                <a:latin typeface="Cambria"/>
                <a:cs typeface="Cambria"/>
              </a:rPr>
              <a:t>OUTPUT</a:t>
            </a: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Hi! Joy, Welcome Home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Hi! I am </a:t>
            </a:r>
            <a:r>
              <a:rPr lang="en-US" spc="130" dirty="0" err="1" smtClean="0">
                <a:latin typeface="Cambria"/>
                <a:cs typeface="Courier New" panose="02070309020205020404" pitchFamily="49" charset="0"/>
              </a:rPr>
              <a:t>NikJoy</a:t>
            </a: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, Welcome Home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Hi! I am </a:t>
            </a:r>
            <a:r>
              <a:rPr lang="en-US" spc="130" dirty="0" err="1" smtClean="0">
                <a:latin typeface="Cambria"/>
                <a:cs typeface="Courier New" panose="02070309020205020404" pitchFamily="49" charset="0"/>
              </a:rPr>
              <a:t>NikJoy</a:t>
            </a: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, </a:t>
            </a:r>
            <a:r>
              <a:rPr lang="en-US" spc="130" dirty="0" err="1" smtClean="0">
                <a:latin typeface="Cambria"/>
                <a:cs typeface="Courier New" panose="02070309020205020404" pitchFamily="49" charset="0"/>
              </a:rPr>
              <a:t>Welcat</a:t>
            </a: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 </a:t>
            </a:r>
            <a:r>
              <a:rPr lang="en-US" spc="130" dirty="0" err="1" smtClean="0">
                <a:latin typeface="Cambria"/>
                <a:cs typeface="Courier New" panose="02070309020205020404" pitchFamily="49" charset="0"/>
              </a:rPr>
              <a:t>wiome</a:t>
            </a: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 Home</a:t>
            </a: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11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4800" y="891044"/>
            <a:ext cx="7924800" cy="5379037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/>
              <a:t>C++ program </a:t>
            </a:r>
            <a:r>
              <a:rPr lang="en-US" sz="2000" b="1" dirty="0" smtClean="0"/>
              <a:t>of Replacing a string using replace() function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str1 = "Hey World";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str2 = "Hello";</a:t>
            </a:r>
          </a:p>
          <a:p>
            <a:pPr marL="12700" defTabSz="569913"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str1.replace(0, 3, str2); // Replaces 3 characters from 0</a:t>
            </a:r>
            <a:r>
              <a:rPr lang="en-US" b="1" baseline="30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index by str2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str1 &lt;&lt;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spc="229" dirty="0" smtClean="0">
                <a:latin typeface="Cambria"/>
                <a:cs typeface="Cambria"/>
              </a:rPr>
              <a:t>OUTPUT</a:t>
            </a: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Hello World</a:t>
            </a: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153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914400" cy="990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44" y="237490"/>
            <a:ext cx="40849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7555" algn="l"/>
              </a:tabLst>
            </a:pPr>
            <a:r>
              <a:rPr sz="3600" cap="small" spc="385" dirty="0"/>
              <a:t>Strings</a:t>
            </a:r>
            <a:r>
              <a:rPr sz="3600" cap="small" dirty="0"/>
              <a:t>	</a:t>
            </a:r>
            <a:r>
              <a:rPr sz="3600" cap="small" spc="280" dirty="0"/>
              <a:t>(Cont…)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4800" y="891044"/>
            <a:ext cx="7924800" cy="540981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sz="2000" b="1" dirty="0"/>
              <a:t>C++ program </a:t>
            </a:r>
            <a:r>
              <a:rPr lang="en-US" sz="2000" b="1" dirty="0" smtClean="0"/>
              <a:t>of erasing a character from a string using erase() function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#include&lt;string&gt;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  <a:tabLst>
                <a:tab pos="286385" algn="l"/>
              </a:tabLst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string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"Hello, World";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// Erase a single character starting from index 5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str.erase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(5, 1);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</a:p>
          <a:p>
            <a:pPr marL="12700" defTabSz="569913">
              <a:lnSpc>
                <a:spcPct val="100000"/>
              </a:lnSpc>
              <a:spcBef>
                <a:spcPts val="805"/>
              </a:spcBef>
              <a:buClr>
                <a:srgbClr val="FD8537"/>
              </a:buClr>
              <a:buSzPct val="69642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 0;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lang="en-US" b="1" spc="229" dirty="0" smtClean="0">
                <a:latin typeface="Cambria"/>
                <a:cs typeface="Cambria"/>
              </a:rPr>
              <a:t>OUTPUT</a:t>
            </a:r>
            <a:endParaRPr lang="en-US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pc="130" dirty="0" smtClean="0">
                <a:latin typeface="Cambria"/>
                <a:cs typeface="Courier New" panose="02070309020205020404" pitchFamily="49" charset="0"/>
              </a:rPr>
              <a:t>Hello World</a:t>
            </a:r>
            <a:endParaRPr lang="en-US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104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44" y="1524000"/>
            <a:ext cx="5705856" cy="3810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5800" y="0"/>
            <a:ext cx="8382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3278</TotalTime>
  <Words>1342</Words>
  <Application>Microsoft Office PowerPoint</Application>
  <PresentationFormat>On-screen Show (4:3)</PresentationFormat>
  <Paragraphs>418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Calibri</vt:lpstr>
      <vt:lpstr>Cambria</vt:lpstr>
      <vt:lpstr>Courier New</vt:lpstr>
      <vt:lpstr>Times New Roman</vt:lpstr>
      <vt:lpstr>Wingdings</vt:lpstr>
      <vt:lpstr>Office Theme</vt:lpstr>
      <vt:lpstr>UNIT – V</vt:lpstr>
      <vt:lpstr>Strings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 Handling Functions</vt:lpstr>
      <vt:lpstr>String Handling Functions</vt:lpstr>
      <vt:lpstr>String Handling Functions</vt:lpstr>
      <vt:lpstr>Strings (Cont…)</vt:lpstr>
      <vt:lpstr>Strings (Cont…)</vt:lpstr>
      <vt:lpstr>Strings (Cont…)</vt:lpstr>
      <vt:lpstr>String Class Functions</vt:lpstr>
      <vt:lpstr>String Class Functions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Strings (Cont…)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– III</dc:title>
  <dc:creator>Nidhi Shalya</dc:creator>
  <cp:lastModifiedBy>Nidhi Shalya</cp:lastModifiedBy>
  <cp:revision>51</cp:revision>
  <dcterms:created xsi:type="dcterms:W3CDTF">2025-05-13T03:46:56Z</dcterms:created>
  <dcterms:modified xsi:type="dcterms:W3CDTF">2025-12-01T12:03:35Z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2025-05-13T00:00:00Z</vt:filetime>
  </property>
  <property fmtid="{D5CDD505-2E9C-101B-9397-08002B2CF9AE}" pid="3" name="LastSaved">
    <vt:filetime>2025-05-13T00:00:00Z</vt:filetime>
  </property>
  <property fmtid="{D5CDD505-2E9C-101B-9397-08002B2CF9AE}" pid="4" name="Producer">
    <vt:lpwstr>iLovePDF</vt:lpwstr>
  </property>
</Properties>
</file>